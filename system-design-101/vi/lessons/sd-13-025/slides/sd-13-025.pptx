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bold r:id="rId20"/>
    </p:embeddedFont>
    <p:embeddedFont>
      <p:font typeface="JetBrains Mon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Pod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chẩn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3000" dirty="0"/>
          </a:p>
        </p:txBody>
      </p:sp>
      <p:sp>
        <p:nvSpPr>
          <p:cNvPr id="5" name="Connector line-1792373813173-461104474"/>
          <p:cNvSpPr/>
          <p:nvPr/>
        </p:nvSpPr>
        <p:spPr>
          <a:xfrm>
            <a:off x="1333500" y="6096000"/>
            <a:ext cx="15621000" cy="0"/>
          </a:xfrm>
          <a:prstGeom prst="line">
            <a:avLst/>
          </a:prstGeom>
          <a:noFill/>
          <a:ln w="47625">
            <a:solidFill>
              <a:srgbClr val="3A3F4D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667000" y="5715000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96" dirty="0"/>
          </a:p>
        </p:txBody>
      </p:sp>
      <p:sp>
        <p:nvSpPr>
          <p:cNvPr id="7" name="Text 5"/>
          <p:cNvSpPr/>
          <p:nvPr/>
        </p:nvSpPr>
        <p:spPr>
          <a:xfrm>
            <a:off x="1143000" y="67627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Pending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3000" y="7334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762750" y="571500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96" dirty="0"/>
          </a:p>
        </p:txBody>
      </p:sp>
      <p:sp>
        <p:nvSpPr>
          <p:cNvPr id="10" name="Text 8"/>
          <p:cNvSpPr/>
          <p:nvPr/>
        </p:nvSpPr>
        <p:spPr>
          <a:xfrm>
            <a:off x="5238750" y="67627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ContainerCreating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238750" y="7334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858500" y="57150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96" dirty="0"/>
          </a:p>
        </p:txBody>
      </p:sp>
      <p:sp>
        <p:nvSpPr>
          <p:cNvPr id="13" name="Text 11"/>
          <p:cNvSpPr/>
          <p:nvPr/>
        </p:nvSpPr>
        <p:spPr>
          <a:xfrm>
            <a:off x="9334500" y="67627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334500" y="7334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954250" y="571500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96" dirty="0"/>
          </a:p>
        </p:txBody>
      </p:sp>
      <p:sp>
        <p:nvSpPr>
          <p:cNvPr id="16" name="Text 14"/>
          <p:cNvSpPr/>
          <p:nvPr/>
        </p:nvSpPr>
        <p:spPr>
          <a:xfrm>
            <a:off x="13430250" y="676275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Ready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430250" y="7334250"/>
            <a:ext cx="381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3e3e11d-0c6f-4eab-9e15-8b4659f2af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621000" cy="2857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chặng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84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8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Pod</a:t>
            </a:r>
            <a:r>
              <a:rPr lang="en-US" sz="84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r>
              <a:rPr lang="en-US" sz="8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84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524000" y="57150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30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3000" dirty="0" spc="4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khi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0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24000" y="65722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chặng:</a:t>
            </a:r>
            <a:r>
              <a:rPr lang="en-US" sz="30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thuộc,</a:t>
            </a:r>
            <a:r>
              <a:rPr lang="en-US" sz="30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00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e52d8e87-f23f-4b94-8f23-760e286a9b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1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PENDING: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Scheduler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chọn</a:t>
            </a:r>
            <a:r>
              <a:rPr lang="en-US" sz="69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node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4000500" cy="1619250"/>
          </a:xfrm>
          <a:prstGeom prst="roundRect">
            <a:avLst>
              <a:gd name="adj" fmla="val 16471"/>
            </a:avLst>
          </a:prstGeom>
          <a:solidFill>
            <a:srgbClr val="2A2E3A"/>
          </a:solidFill>
          <a:ln w="19050">
            <a:solidFill>
              <a:srgbClr val="3A3F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3000" dirty="0"/>
          </a:p>
        </p:txBody>
      </p:sp>
      <p:sp>
        <p:nvSpPr>
          <p:cNvPr id="5" name="Connector line-1792373837631-186850424"/>
          <p:cNvSpPr/>
          <p:nvPr/>
        </p:nvSpPr>
        <p:spPr>
          <a:xfrm>
            <a:off x="5010150" y="3857625"/>
            <a:ext cx="10858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191250" y="3048000"/>
            <a:ext cx="53340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Scheduler</a:t>
            </a:r>
            <a:r>
              <a:rPr lang="en-US" sz="25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requests,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taint,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nodeSelector</a:t>
            </a:r>
            <a:endParaRPr lang="en-US" sz="2550" dirty="0"/>
          </a:p>
        </p:txBody>
      </p:sp>
      <p:sp>
        <p:nvSpPr>
          <p:cNvPr id="7" name="Connector line-1792373837635-230310169"/>
          <p:cNvSpPr/>
          <p:nvPr/>
        </p:nvSpPr>
        <p:spPr>
          <a:xfrm>
            <a:off x="11620500" y="3857625"/>
            <a:ext cx="10858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2801600" y="3048000"/>
            <a:ext cx="4572000" cy="1619250"/>
          </a:xfrm>
          <a:prstGeom prst="roundRect">
            <a:avLst>
              <a:gd name="adj" fmla="val 16471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2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node</a:t>
            </a:r>
            <a:r>
              <a:rPr lang="en-US" sz="2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27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hợp:</a:t>
            </a:r>
            <a:r>
              <a:rPr lang="en-US" sz="2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Pending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523875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1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5810250"/>
            <a:ext cx="5334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77000" y="5810250"/>
            <a:ext cx="2286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Taint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991600" y="5810250"/>
            <a:ext cx="3048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nodeSelector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268200" y="5810250"/>
            <a:ext cx="32385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PVC</a:t>
            </a: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2A2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390650" y="7477125"/>
            <a:ext cx="285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100" b="1" spc="14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90650" y="800100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FailedScheduling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49153f3-abb4-44e7-bc4c-0941088f57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CONTAINERCREATING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Node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715000"/>
          </a:xfrm>
          <a:prstGeom prst="roundRect">
            <a:avLst>
              <a:gd name="adj" fmla="val 5333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3337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</a:t>
            </a:r>
            <a:r>
              <a:rPr lang="en-US" sz="2100" b="1" spc="13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</a:t>
            </a:r>
            <a:r>
              <a:rPr lang="en-US" sz="2100" b="1" spc="1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4000500"/>
            <a:ext cx="70485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ErrImagePull → ImagePullBackOff</a:t>
            </a:r>
            <a:endParaRPr lang="en-US" sz="2250" dirty="0"/>
          </a:p>
        </p:txBody>
      </p:sp>
      <p:sp>
        <p:nvSpPr>
          <p:cNvPr id="7" name="Text richtext-1792373850347-229414668"/>
          <p:cNvSpPr/>
          <p:nvPr/>
        </p:nvSpPr>
        <p:spPr>
          <a:xfrm>
            <a:off x="1390650" y="5143500"/>
            <a:ext cx="7048500" cy="3238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imagePullSecrets.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Registry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5715000"/>
          </a:xfrm>
          <a:prstGeom prst="roundRect">
            <a:avLst>
              <a:gd name="adj" fmla="val 5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850" y="33337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100" b="1" spc="14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VOLUME</a:t>
            </a:r>
            <a:r>
              <a:rPr lang="en-US" sz="2100" b="1" spc="1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848850" y="4000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42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4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4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ContainerCreating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848850" y="6096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kubelet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</a:t>
            </a:r>
            <a:r>
              <a:rPr lang="en-US" sz="25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bị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volume.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9ae58a0-eea0-4068-92ed-10f977be90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2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95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Container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chết: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4000500" cy="1905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Container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thoát</a:t>
            </a:r>
            <a:endParaRPr lang="en-US" sz="3000" dirty="0"/>
          </a:p>
        </p:txBody>
      </p:sp>
      <p:sp>
        <p:nvSpPr>
          <p:cNvPr id="5" name="Connector line-1792373867996-215858387"/>
          <p:cNvSpPr/>
          <p:nvPr/>
        </p:nvSpPr>
        <p:spPr>
          <a:xfrm flipV="1">
            <a:off x="5010150" y="3714750"/>
            <a:ext cx="1657350" cy="95250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6" name="Connector line-1792373867996-265715171"/>
          <p:cNvSpPr/>
          <p:nvPr/>
        </p:nvSpPr>
        <p:spPr>
          <a:xfrm>
            <a:off x="5010150" y="5429250"/>
            <a:ext cx="1657350" cy="10477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62750" y="2762250"/>
            <a:ext cx="1061085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3000375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F6A4D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CrashLoopBackOff</a:t>
            </a:r>
            <a:endParaRPr lang="en-US" sz="3000" dirty="0"/>
          </a:p>
        </p:txBody>
      </p:sp>
      <p:sp>
        <p:nvSpPr>
          <p:cNvPr id="9" name="Text richtext-1792373868000-19356967"/>
          <p:cNvSpPr/>
          <p:nvPr/>
        </p:nvSpPr>
        <p:spPr>
          <a:xfrm>
            <a:off x="7143750" y="3667125"/>
            <a:ext cx="9906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kubelet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dần.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logs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--previous.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762750" y="5429250"/>
            <a:ext cx="1061085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43750" y="5667375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F6A4D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OOMKilled</a:t>
            </a:r>
            <a:endParaRPr lang="en-US" sz="3000" dirty="0"/>
          </a:p>
        </p:txBody>
      </p:sp>
      <p:sp>
        <p:nvSpPr>
          <p:cNvPr id="12" name="Text richtext-1792373868011-694287110"/>
          <p:cNvSpPr/>
          <p:nvPr/>
        </p:nvSpPr>
        <p:spPr>
          <a:xfrm>
            <a:off x="7143750" y="6334125"/>
            <a:ext cx="9906000" cy="2190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limits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137.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c1c8d32-df49-44b3-b3d6-d96d4c5b5e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31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b="1" spc="28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rồi,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traffic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4775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67050"/>
            <a:ext cx="971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57300" y="4286250"/>
            <a:ext cx="9791700" cy="1238250"/>
          </a:xfrm>
          <a:prstGeom prst="roundRect">
            <a:avLst>
              <a:gd name="adj" fmla="val 18462"/>
            </a:avLst>
          </a:prstGeom>
          <a:solidFill>
            <a:srgbClr val="1F3FD1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38300" y="4495800"/>
            <a:ext cx="9029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Readiness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probe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600200" y="5715000"/>
            <a:ext cx="91059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1200" y="5924550"/>
            <a:ext cx="8343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Ready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981200" y="6419850"/>
            <a:ext cx="8343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943100" y="7143750"/>
            <a:ext cx="84201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4100" y="7353300"/>
            <a:ext cx="7658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Service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cấu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324100" y="7848600"/>
            <a:ext cx="7658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traffic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811000" y="2857500"/>
            <a:ext cx="5562600" cy="5810250"/>
          </a:xfrm>
          <a:prstGeom prst="roundRect">
            <a:avLst>
              <a:gd name="adj" fmla="val 5479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230100" y="3238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100" b="1" spc="1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spc="1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230100" y="3810000"/>
            <a:ext cx="4762500" cy="95250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b="1" dirty="0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kubectl describe pod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230100" y="4953000"/>
            <a:ext cx="4762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Events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230100" y="64770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NGOẠI</a:t>
            </a:r>
            <a:r>
              <a:rPr lang="en-US" sz="2100" b="1" spc="14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230100" y="7048500"/>
            <a:ext cx="4762500" cy="1428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publishNotReadyAddresses: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true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endpoint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ready.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6224ceed-49a1-42b0-8cce-38c49defd0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kiện,</a:t>
            </a:r>
            <a:r>
              <a:rPr lang="en-US" sz="7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đừng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334000" cy="4762500"/>
          </a:xfrm>
          <a:prstGeom prst="roundRect">
            <a:avLst>
              <a:gd name="adj" fmla="val 640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Cột</a:t>
            </a:r>
            <a:r>
              <a:rPr lang="en-US" sz="3900" dirty="0" spc="-10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STATUS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5143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5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 thị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3143250"/>
            <a:ext cx="5334000" cy="4762500"/>
          </a:xfrm>
          <a:prstGeom prst="roundRect">
            <a:avLst>
              <a:gd name="adj" fmla="val 640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524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858000" y="5143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kẹt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3143250"/>
            <a:ext cx="5334000" cy="4762500"/>
          </a:xfrm>
          <a:prstGeom prst="roundRect">
            <a:avLst>
              <a:gd name="adj" fmla="val 6400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52425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4765" rIns="0" bIns="-24765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9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Ngoài</a:t>
            </a:r>
            <a:r>
              <a:rPr lang="en-US" sz="3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phạm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420600" y="5143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437e1e1-3293-47b1-8122-499e77d087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Pod</a:t>
            </a:r>
            <a:r>
              <a:rPr lang="en-US" sz="25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Pending;</a:t>
            </a:r>
            <a:r>
              <a:rPr lang="en-US" sz="25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describe</a:t>
            </a:r>
            <a:r>
              <a:rPr lang="en-US" sz="255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5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báo: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2095500"/>
            <a:ext cx="8191500" cy="314325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2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0/3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914400" y="5334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b="1" dirty="0" kern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nodes are available: 3 Insufficient memory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6858000"/>
            <a:ext cx="8191500" cy="1524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Scheduler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63100" y="1428750"/>
            <a:ext cx="7810500" cy="7239000"/>
          </a:xfrm>
          <a:prstGeom prst="roundRect">
            <a:avLst>
              <a:gd name="adj" fmla="val 4211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39350" y="180975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10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b="1" spc="14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100" dirty="0"/>
          </a:p>
        </p:txBody>
      </p:sp>
      <p:sp>
        <p:nvSpPr>
          <p:cNvPr id="9" name="Text richtext-1792373913710-354308295"/>
          <p:cNvSpPr/>
          <p:nvPr/>
        </p:nvSpPr>
        <p:spPr>
          <a:xfrm>
            <a:off x="10039350" y="2476500"/>
            <a:ext cx="6858000" cy="5905500"/>
          </a:xfrm>
          <a:prstGeom prst="rect">
            <a:avLst/>
          </a:prstGeom>
          <a:noFill/>
          <a:ln/>
        </p:spPr>
        <p:txBody>
          <a:bodyPr wrap="square" lIns="0" tIns="5501" rIns="0" bIns="-5501" rtlCol="0" anchor="t"/>
          <a:lstStyle/>
          <a:p>
            <a:pPr algn="l" marL="314325" indent="-224566">
              <a:lnSpc>
                <a:spcPts val="346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7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475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</a:t>
            </a:r>
            <a:r>
              <a:rPr lang="en-US" sz="247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7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75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tay.</a:t>
            </a:r>
            <a:endParaRPr lang="en-US" sz="2475" dirty="0"/>
          </a:p>
          <a:p>
            <a:pPr algn="l" marL="314325" indent="-224566">
              <a:lnSpc>
                <a:spcPts val="346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7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75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75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7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node,</a:t>
            </a:r>
            <a:r>
              <a:rPr lang="en-US" sz="247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75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node.</a:t>
            </a:r>
            <a:endParaRPr lang="en-US" sz="2475" dirty="0"/>
          </a:p>
          <a:p>
            <a:pPr algn="l" marL="314325" indent="-224566">
              <a:lnSpc>
                <a:spcPts val="346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75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2475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75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requests:</a:t>
            </a:r>
            <a:r>
              <a:rPr lang="en-US" sz="2475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 quyết</a:t>
            </a:r>
            <a:r>
              <a:rPr lang="en-US" sz="2475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75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Pod.</a:t>
            </a:r>
            <a:endParaRPr lang="en-US" sz="2475" dirty="0"/>
          </a:p>
          <a:p>
            <a:pPr algn="l" marL="314325" indent="-224566">
              <a:lnSpc>
                <a:spcPts val="346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7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7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limits,</a:t>
            </a:r>
            <a:r>
              <a:rPr lang="en-US" sz="247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admission:</a:t>
            </a:r>
            <a:r>
              <a:rPr lang="en-US" sz="247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limits</a:t>
            </a:r>
            <a:r>
              <a:rPr lang="en-US" sz="247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requests.</a:t>
            </a:r>
            <a:endParaRPr lang="en-US" sz="2475" dirty="0"/>
          </a:p>
          <a:p>
            <a:pPr algn="l" marL="314325" indent="-224566">
              <a:lnSpc>
                <a:spcPts val="3465"/>
              </a:lnSpc>
              <a:buSzPct val="100000"/>
              <a:buFont typeface="Arial"/>
              <a:buChar char="•"/>
            </a:pPr>
            <a:r>
              <a:rPr lang="en-US" sz="2475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475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</a:t>
            </a:r>
            <a:r>
              <a:rPr lang="en-US" sz="2475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thật:</a:t>
            </a:r>
            <a:r>
              <a:rPr lang="en-US" sz="2475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kubectl</a:t>
            </a:r>
            <a:r>
              <a:rPr lang="en-US" sz="2475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</a:t>
            </a:r>
            <a:r>
              <a:rPr lang="en-US" sz="2475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r>
              <a:rPr lang="en-US" sz="247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-o</a:t>
            </a:r>
            <a:r>
              <a:rPr lang="en-US" sz="2475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yaml.</a:t>
            </a:r>
            <a:endParaRPr lang="en-US" sz="2475" dirty="0"/>
          </a:p>
        </p:txBody>
      </p:sp>
      <p:sp>
        <p:nvSpPr>
          <p:cNvPr id="10" name="Shape 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13ce0ffc-be70-4566-bb72-bdb2d17cf1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670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97180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kubectl describe pod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382000" y="29718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Events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9243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9243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422910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E8472B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kubectl logs --previous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382000" y="42291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của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1816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1816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548640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kubectl get events --sort-by=...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382000" y="54864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64389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64389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674370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E8472B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kubectl describe node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382000" y="67437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nghi node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7696200"/>
            <a:ext cx="16459200" cy="10668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7696200"/>
            <a:ext cx="152400" cy="1066800"/>
          </a:xfrm>
          <a:prstGeom prst="roundRect">
            <a:avLst>
              <a:gd name="adj" fmla="val 1500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800100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B45309"/>
                </a:solidFill>
                <a:latin typeface="JetBrains Mono ExtraBold" pitchFamily="34" charset="0"/>
                <a:ea typeface="JetBrains Mono ExtraBold" pitchFamily="34" charset="-122"/>
                <a:cs typeface="JetBrains Mono ExtraBold" pitchFamily="34" charset="-120"/>
              </a:rPr>
              <a:t>kubectl get pod -o yaml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382000" y="80010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requests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e959fda6-014b-4a20-88c1-6ccd22bcda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2116455"/>
                <a:gridCol w="7503795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10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21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r>
                        <a:rPr lang="en-US" sz="2100" b="1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1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nghĩa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PVC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PersistentVolumeClaim:</a:t>
                      </a:r>
                      <a:r>
                        <a:rPr lang="en-US" sz="210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yêu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cầu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cấp</a:t>
                      </a: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ổ</a:t>
                      </a:r>
                      <a:r>
                        <a:rPr lang="en-US" sz="2100" dirty="0" spc="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trữ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bền</a:t>
                      </a:r>
                      <a:r>
                        <a:rPr lang="en-US" sz="210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vững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OOM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Out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Of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Memory:</a:t>
                      </a: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hết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15650" y="2762250"/>
            <a:ext cx="645795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96650" y="3048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richtext-1792373952830-299919608"/>
          <p:cNvSpPr/>
          <p:nvPr/>
        </p:nvSpPr>
        <p:spPr>
          <a:xfrm>
            <a:off x="11296650" y="3619500"/>
            <a:ext cx="5810250" cy="4857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 cố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Pod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 container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kube-scheduler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OOM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91c6d7f-1e23-4077-9301-38180b230b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2026-10-19T02:05:53Z</dcterms:created>
  <dcterms:modified xsi:type="dcterms:W3CDTF">2026-10-19T02:05:53Z</dcterms:modified>
</cp:coreProperties>
</file>