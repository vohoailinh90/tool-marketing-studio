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334500" cy="381000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Ngăn</a:t>
            </a:r>
            <a:r>
              <a:rPr lang="en-US" sz="7500" dirty="0" spc="-8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 nghệ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Uber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-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3000" dirty="0" spc="-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</a:t>
            </a:r>
            <a:r>
              <a:rPr lang="en-US" sz="3000" dirty="0" spc="4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3000" dirty="0"/>
          </a:p>
        </p:txBody>
      </p:sp>
      <p:sp>
        <p:nvSpPr>
          <p:cNvPr id="5" name="Connector line-1792382176601-421485724"/>
          <p:cNvSpPr/>
          <p:nvPr/>
        </p:nvSpPr>
        <p:spPr>
          <a:xfrm>
            <a:off x="914400" y="7239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5247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6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Tám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mảng, từ</a:t>
            </a:r>
            <a:r>
              <a:rPr lang="en-US" sz="2100" dirty="0" spc="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6680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37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53750" y="27622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3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Web,</a:t>
            </a:r>
            <a:r>
              <a:rPr lang="en-US" sz="315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</a:t>
            </a:r>
            <a:r>
              <a:rPr lang="en-US" sz="315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141351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208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420850" y="27622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5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Lưới</a:t>
            </a:r>
            <a:r>
              <a:rPr lang="en-US" sz="315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315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vụ,</a:t>
            </a:r>
            <a:r>
              <a:rPr lang="en-US" sz="315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315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endParaRPr lang="en-US" sz="3150" dirty="0"/>
          </a:p>
        </p:txBody>
      </p:sp>
      <p:sp>
        <p:nvSpPr>
          <p:cNvPr id="14" name="Shape 12"/>
          <p:cNvSpPr/>
          <p:nvPr/>
        </p:nvSpPr>
        <p:spPr>
          <a:xfrm>
            <a:off x="106680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537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537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3150" dirty="0" spc="-1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trữ,</a:t>
            </a:r>
            <a:r>
              <a:rPr lang="en-US" sz="315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15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3150" dirty="0" spc="-2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endParaRPr lang="en-US" sz="3150" dirty="0"/>
          </a:p>
        </p:txBody>
      </p:sp>
      <p:sp>
        <p:nvSpPr>
          <p:cNvPr id="17" name="Shape 15"/>
          <p:cNvSpPr/>
          <p:nvPr/>
        </p:nvSpPr>
        <p:spPr>
          <a:xfrm>
            <a:off x="141351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208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4208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5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Xử</a:t>
            </a:r>
            <a:r>
              <a:rPr lang="en-US" sz="315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lý,</a:t>
            </a:r>
            <a:r>
              <a:rPr lang="en-US" sz="31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315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endParaRPr lang="en-US" sz="31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eca04054-736a-43cd-b3b1-29af89b4a6d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64592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mảng</a:t>
            </a:r>
            <a:r>
              <a:rPr lang="en-US" sz="48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 ngăn</a:t>
            </a:r>
            <a:r>
              <a:rPr lang="en-US" sz="48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Uber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685800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5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 từ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Uber.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f2ff1e05-0729-4bb2-83fb-d68933c461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 ĐỘNG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Uber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 cả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4325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65760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7526" rIns="0" bIns="-17526" rtlCol="0" anchor="t"/>
          <a:lstStyle/>
          <a:p>
            <a:pPr algn="l" indent="0" marL="0">
              <a:lnSpc>
                <a:spcPts val="3864"/>
              </a:lnSpc>
              <a:buNone/>
            </a:pPr>
            <a:r>
              <a:rPr lang="en-US" sz="345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Fusion.js:</a:t>
            </a:r>
            <a:r>
              <a:rPr lang="en-US" sz="345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framework</a:t>
            </a:r>
            <a:r>
              <a:rPr lang="en-US" sz="345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React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314325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r>
              <a:rPr lang="en-US" sz="195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753600" y="365760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7526" rIns="0" bIns="-17526" rtlCol="0" anchor="t"/>
          <a:lstStyle/>
          <a:p>
            <a:pPr algn="l" indent="0" marL="0">
              <a:lnSpc>
                <a:spcPts val="3864"/>
              </a:lnSpc>
              <a:buNone/>
            </a:pP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visualization.js</a:t>
            </a:r>
            <a:endParaRPr lang="en-US" sz="3450" dirty="0"/>
          </a:p>
        </p:txBody>
      </p:sp>
      <p:sp>
        <p:nvSpPr>
          <p:cNvPr id="10" name="Shape 8"/>
          <p:cNvSpPr/>
          <p:nvPr/>
        </p:nvSpPr>
        <p:spPr>
          <a:xfrm>
            <a:off x="914400" y="5334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61975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95400" y="613410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7526" rIns="0" bIns="-17526" rtlCol="0" anchor="t"/>
          <a:lstStyle/>
          <a:p>
            <a:pPr algn="l" indent="0" marL="0">
              <a:lnSpc>
                <a:spcPts val="3864"/>
              </a:lnSpc>
              <a:buNone/>
            </a:pP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Kiến</a:t>
            </a: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RIB,</a:t>
            </a:r>
            <a:r>
              <a:rPr lang="en-US" sz="345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dựa</a:t>
            </a:r>
            <a:r>
              <a:rPr lang="en-US" sz="345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VIPER</a:t>
            </a:r>
            <a:endParaRPr lang="en-US" sz="3450" dirty="0"/>
          </a:p>
        </p:txBody>
      </p:sp>
      <p:sp>
        <p:nvSpPr>
          <p:cNvPr id="13" name="Shape 11"/>
          <p:cNvSpPr/>
          <p:nvPr/>
        </p:nvSpPr>
        <p:spPr>
          <a:xfrm>
            <a:off x="9372600" y="5334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53600" y="561975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753600" y="613410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7526" rIns="0" bIns="-17526" rtlCol="0" anchor="t"/>
          <a:lstStyle/>
          <a:p>
            <a:pPr algn="l" indent="0" marL="0">
              <a:lnSpc>
                <a:spcPts val="3864"/>
              </a:lnSpc>
              <a:buNone/>
            </a:pPr>
            <a:r>
              <a:rPr lang="en-US" sz="345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Swift</a:t>
            </a: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iOS,</a:t>
            </a:r>
            <a:r>
              <a:rPr lang="en-US" sz="3450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Java</a:t>
            </a: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34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Android</a:t>
            </a:r>
            <a:endParaRPr lang="en-US" sz="345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0260e834-d8fd-4e6c-95cb-e54a6bffe2b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LƯỚI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950" b="1" spc="2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t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6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66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3609975" cy="3048000"/>
          </a:xfrm>
          <a:prstGeom prst="roundRect">
            <a:avLst>
              <a:gd name="adj" fmla="val 875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448050"/>
            <a:ext cx="29241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6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spc="21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7300" y="3924300"/>
            <a:ext cx="292417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Gửi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 cầu</a:t>
            </a:r>
            <a:endParaRPr lang="en-US" sz="3300" dirty="0"/>
          </a:p>
        </p:txBody>
      </p:sp>
      <p:sp>
        <p:nvSpPr>
          <p:cNvPr id="7" name="Connector line-1792382179379-160581063"/>
          <p:cNvSpPr/>
          <p:nvPr/>
        </p:nvSpPr>
        <p:spPr>
          <a:xfrm>
            <a:off x="4600575" y="4667250"/>
            <a:ext cx="5143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91125" y="3143250"/>
            <a:ext cx="3609975" cy="3048000"/>
          </a:xfrm>
          <a:prstGeom prst="roundRect">
            <a:avLst>
              <a:gd name="adj" fmla="val 875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5534025" y="3448050"/>
            <a:ext cx="29241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UBER</a:t>
            </a:r>
            <a:r>
              <a:rPr lang="en-US" sz="1800" b="1" spc="163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534025" y="3924300"/>
            <a:ext cx="292417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Cấu</a:t>
            </a:r>
            <a:r>
              <a:rPr lang="en-US" sz="33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3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33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NGINX</a:t>
            </a:r>
            <a:endParaRPr lang="en-US" sz="3300" dirty="0"/>
          </a:p>
        </p:txBody>
      </p:sp>
      <p:sp>
        <p:nvSpPr>
          <p:cNvPr id="11" name="Connector line-1792382179385-111418932"/>
          <p:cNvSpPr/>
          <p:nvPr/>
        </p:nvSpPr>
        <p:spPr>
          <a:xfrm>
            <a:off x="8877300" y="4667250"/>
            <a:ext cx="5143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467850" y="3143250"/>
            <a:ext cx="3609975" cy="3048000"/>
          </a:xfrm>
          <a:prstGeom prst="roundRect">
            <a:avLst>
              <a:gd name="adj" fmla="val 875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10750" y="3448050"/>
            <a:ext cx="29241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80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810750" y="3924300"/>
            <a:ext cx="292417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gRPC,</a:t>
            </a: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QUIC;</a:t>
            </a: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 Thrift</a:t>
            </a:r>
            <a:endParaRPr lang="en-US" sz="3300" dirty="0"/>
          </a:p>
        </p:txBody>
      </p:sp>
      <p:sp>
        <p:nvSpPr>
          <p:cNvPr id="15" name="Connector line-1792382179389-245308388"/>
          <p:cNvSpPr/>
          <p:nvPr/>
        </p:nvSpPr>
        <p:spPr>
          <a:xfrm>
            <a:off x="13154025" y="4667250"/>
            <a:ext cx="5143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3744575" y="3143250"/>
            <a:ext cx="3609975" cy="3048000"/>
          </a:xfrm>
          <a:prstGeom prst="roundRect">
            <a:avLst>
              <a:gd name="adj" fmla="val 875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087475" y="3448050"/>
            <a:ext cx="29241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1800" b="1" spc="22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087475" y="3924300"/>
            <a:ext cx="292417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Flipr,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H3,</a:t>
            </a:r>
            <a:r>
              <a:rPr lang="en-US" sz="33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uAct,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Cadence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914400" y="6858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Flipr: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r>
              <a:rPr lang="en-US" sz="25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H3: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vị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trí.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uAct: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kiện. Cadence: quy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f9d4a210-2851-47b4-8883-62f4d55bf78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1950" b="1" spc="30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1950" b="1" spc="25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1950" b="1" spc="27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t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1950" b="1" spc="23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95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1950" b="1" spc="22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6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OLTP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716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19812" rIns="0" bIns="-19812" rtlCol="0" anchor="t"/>
          <a:lstStyle/>
          <a:p>
            <a:pPr algn="l" indent="0" marL="0">
              <a:lnSpc>
                <a:spcPts val="4368"/>
              </a:lnSpc>
              <a:buNone/>
            </a:pPr>
            <a:r>
              <a:rPr lang="en-US" sz="3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DocStore</a:t>
            </a:r>
            <a:r>
              <a:rPr lang="en-US" sz="3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3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MySQL,</a:t>
            </a:r>
            <a:r>
              <a:rPr lang="en-US" sz="3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PostgreSQL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93726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98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b="1" spc="20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8298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19812" rIns="0" bIns="-19812" rtlCol="0" anchor="t"/>
          <a:lstStyle/>
          <a:p>
            <a:pPr algn="l" indent="0" marL="0">
              <a:lnSpc>
                <a:spcPts val="4368"/>
              </a:lnSpc>
              <a:buNone/>
            </a:pPr>
            <a:r>
              <a:rPr lang="en-US" sz="3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Hadoop,</a:t>
            </a:r>
            <a:r>
              <a:rPr lang="en-US" sz="3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Hudi,</a:t>
            </a:r>
            <a:r>
              <a:rPr lang="en-US" sz="3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Parquet;</a:t>
            </a: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Pinot,</a:t>
            </a:r>
            <a:r>
              <a:rPr lang="en-US" sz="39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AresDB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914400" y="7810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DocStore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mạnh, dùng</a:t>
            </a:r>
            <a:r>
              <a:rPr lang="en-US" sz="21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RocksDB.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Alluxio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1ee5ef00-b7dd-40e2-937e-ec77646882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1950" b="1" spc="1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b="1" spc="2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6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Đứng</a:t>
            </a:r>
            <a:r>
              <a:rPr lang="en-US" sz="69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ngoài</a:t>
            </a:r>
            <a:r>
              <a:rPr lang="en-US" sz="69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6900" dirty="0" spc="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17" kern="0">
                <a:solidFill>
                  <a:srgbClr val="CFE8E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Hive,</a:t>
            </a:r>
            <a:r>
              <a:rPr lang="en-US" sz="345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Spark,</a:t>
            </a:r>
            <a:r>
              <a:rPr lang="en-US" sz="345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Marmaray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29540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7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Marmaray:</a:t>
            </a:r>
            <a:r>
              <a:rPr lang="en-US" sz="2250" dirty="0" spc="0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250" dirty="0" spc="1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</a:t>
            </a:r>
            <a:r>
              <a:rPr lang="en-US" sz="2250" dirty="0" spc="5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3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3415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1515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691515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Kafka,</a:t>
            </a:r>
            <a:r>
              <a:rPr lang="en-US" sz="34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Flink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691515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4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Truyền</a:t>
            </a: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dirty="0" spc="-16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250" dirty="0" spc="5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1539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3490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253490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Monorepo,</a:t>
            </a:r>
            <a:r>
              <a:rPr lang="en-US" sz="345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Spinnaker,</a:t>
            </a:r>
            <a:r>
              <a:rPr lang="en-US" sz="34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M3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1253490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devpod;</a:t>
            </a: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uMetric,</a:t>
            </a:r>
            <a:r>
              <a:rPr lang="en-US" sz="2250" dirty="0" spc="-7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uMonitor</a:t>
            </a:r>
            <a:r>
              <a:rPr lang="en-US" sz="2250" dirty="0" spc="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250" dirty="0" spc="-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9878f2fa-6c71-4e55-97cd-aae09eaa6cd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nêu</a:t>
            </a:r>
            <a:r>
              <a:rPr lang="en-US" sz="69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527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38400" y="33432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cụ chỉ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7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70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77202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38400" y="496252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mô,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năm,</a:t>
            </a:r>
            <a:r>
              <a:rPr lang="en-US" sz="27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3912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38400" y="65817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8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của Flipr không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192585c4-2bb2-4fec-9ca3-eb0dbb4f574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Đặt</a:t>
            </a:r>
            <a:r>
              <a:rPr lang="en-US" sz="6900" dirty="0" spc="-1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iPhone</a:t>
            </a:r>
            <a:endParaRPr lang="en-US" sz="6900" dirty="0"/>
          </a:p>
        </p:txBody>
      </p:sp>
      <p:sp>
        <p:nvSpPr>
          <p:cNvPr id="4" name="Connector line-1792382230341-114620580"/>
          <p:cNvSpPr/>
          <p:nvPr/>
        </p:nvSpPr>
        <p:spPr>
          <a:xfrm>
            <a:off x="914400" y="4000500"/>
            <a:ext cx="164592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52500" y="3810000"/>
            <a:ext cx="381000" cy="381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143250"/>
            <a:ext cx="37338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3733800" cy="12382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34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34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iOS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914400" y="5905500"/>
            <a:ext cx="3638550" cy="1905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250" dirty="0" spc="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RIB,</a:t>
            </a:r>
            <a:r>
              <a:rPr lang="en-US" sz="2250" dirty="0" spc="-7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250" dirty="0" spc="-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Swift.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5067300" y="3810000"/>
            <a:ext cx="381000" cy="381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3143250"/>
            <a:ext cx="37338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5029200" y="4572000"/>
            <a:ext cx="3733800" cy="12382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Uber</a:t>
            </a:r>
            <a:r>
              <a:rPr lang="en-US" sz="345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5029200" y="5905500"/>
            <a:ext cx="3638550" cy="1905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</a:t>
            </a: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gRPC</a:t>
            </a:r>
            <a:r>
              <a:rPr lang="en-US" sz="2250" dirty="0" spc="-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dirty="0" spc="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QUIC.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82100" y="3810000"/>
            <a:ext cx="381000" cy="381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3143250"/>
            <a:ext cx="37338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144000" y="4572000"/>
            <a:ext cx="3733800" cy="12382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Dịch vụ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9144000" y="5905500"/>
            <a:ext cx="3638550" cy="1905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250" dirty="0" spc="-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3296900" y="3810000"/>
            <a:ext cx="381000" cy="381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8" name="Text 16"/>
          <p:cNvSpPr/>
          <p:nvPr/>
        </p:nvSpPr>
        <p:spPr>
          <a:xfrm>
            <a:off x="13258800" y="3143250"/>
            <a:ext cx="37338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3258800" y="4572000"/>
            <a:ext cx="3733800" cy="12382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DocStore</a:t>
            </a:r>
            <a:endParaRPr lang="en-US" sz="3450" dirty="0"/>
          </a:p>
        </p:txBody>
      </p:sp>
      <p:sp>
        <p:nvSpPr>
          <p:cNvPr id="20" name="Text 18"/>
          <p:cNvSpPr/>
          <p:nvPr/>
        </p:nvSpPr>
        <p:spPr>
          <a:xfrm>
            <a:off x="13258800" y="5905500"/>
            <a:ext cx="3638550" cy="1905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6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250" dirty="0" spc="-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dirty="0" spc="4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14400" y="8191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1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ngay: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lớn,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08/10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d389cc47-fcef-4e50-b080-77a4ecde677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 sao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Uber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 làm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 cụ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766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950" b="1" spc="19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676900" y="3181350"/>
            <a:ext cx="11315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8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850" b="1" dirty="0" spc="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1295400" y="4152900"/>
            <a:ext cx="156972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6400" y="45720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057900" y="4476750"/>
            <a:ext cx="10553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Khớp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 cầu,</a:t>
            </a:r>
            <a:r>
              <a:rPr lang="en-US" sz="2850" b="1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8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676400" y="5448300"/>
            <a:ext cx="14935200" cy="1143000"/>
          </a:xfrm>
          <a:prstGeom prst="roundRect">
            <a:avLst>
              <a:gd name="adj" fmla="val 16667"/>
            </a:avLst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2057400" y="58674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1950" b="1" spc="22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438900" y="5772150"/>
            <a:ext cx="9791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nguồn:</a:t>
            </a:r>
            <a:r>
              <a:rPr lang="en-US" sz="28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H3,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Cadence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69723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10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b73cfad2-8098-4cde-a425-2ea10c94e72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381250"/>
          <a:ext cx="13716000" cy="914400"/>
        </p:xfrm>
        <a:graphic>
          <a:graphicData uri="http://schemas.openxmlformats.org/drawingml/2006/table">
            <a:tbl>
              <a:tblPr/>
              <a:tblGrid>
                <a:gridCol w="1905000"/>
                <a:gridCol w="6096000"/>
              </a:tblGrid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7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5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r>
                        <a:rPr lang="en-US" sz="2100" b="1" dirty="0" spc="-1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10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2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RIB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</a:t>
                      </a:r>
                      <a:r>
                        <a:rPr lang="en-US" sz="2100" dirty="0" spc="1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r>
                        <a:rPr lang="en-US" sz="2100" dirty="0" spc="-1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tuyến,</a:t>
                      </a:r>
                      <a:r>
                        <a:rPr lang="en-US" sz="2100" dirty="0" spc="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tương</a:t>
                      </a:r>
                      <a:r>
                        <a:rPr lang="en-US" sz="210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tác,</a:t>
                      </a:r>
                      <a:r>
                        <a:rPr lang="en-US" sz="2100" dirty="0" spc="1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dựng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1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VIPER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kiến</a:t>
                      </a:r>
                      <a:r>
                        <a:rPr lang="en-US" sz="21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trúc</a:t>
                      </a:r>
                      <a:r>
                        <a:rPr lang="en-US" sz="210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di</a:t>
                      </a:r>
                      <a:r>
                        <a:rPr lang="en-US" sz="2100" dirty="0" spc="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động</a:t>
                      </a:r>
                      <a:r>
                        <a:rPr lang="en-US" sz="210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năm</a:t>
                      </a:r>
                      <a:r>
                        <a:rPr lang="en-US" sz="210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vai</a:t>
                      </a:r>
                      <a:r>
                        <a:rPr lang="en-US" sz="2100" dirty="0" spc="-2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trò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12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MVC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dữ</a:t>
                      </a:r>
                      <a:r>
                        <a:rPr lang="en-US" sz="210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liệu, giao diện,</a:t>
                      </a:r>
                      <a:r>
                        <a:rPr lang="en-US" sz="2100" dirty="0" spc="1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điều</a:t>
                      </a:r>
                      <a:r>
                        <a:rPr lang="en-US" sz="210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khiển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2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gRPC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hệ</a:t>
                      </a:r>
                      <a:r>
                        <a:rPr lang="en-US" sz="210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thống</a:t>
                      </a:r>
                      <a:r>
                        <a:rPr lang="en-US" sz="210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</a:t>
                      </a:r>
                      <a:r>
                        <a:rPr lang="en-US" sz="210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hàm</a:t>
                      </a:r>
                      <a:r>
                        <a:rPr lang="en-US" sz="21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</a:t>
                      </a:r>
                      <a:r>
                        <a:rPr lang="en-US" sz="2100" dirty="0" spc="-2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2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QUIC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2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trên</a:t>
                      </a:r>
                      <a:r>
                        <a:rPr lang="en-US" sz="210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UDP,</a:t>
                      </a:r>
                      <a:r>
                        <a:rPr lang="en-US" sz="210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nhiều</a:t>
                      </a:r>
                      <a:r>
                        <a:rPr lang="en-US" sz="21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luồng</a:t>
                      </a:r>
                      <a:r>
                        <a:rPr lang="en-US" sz="2100" dirty="0" spc="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độc</a:t>
                      </a:r>
                      <a:r>
                        <a:rPr lang="en-US" sz="210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lập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72600" y="2381250"/>
          <a:ext cx="13716000" cy="914400"/>
        </p:xfrm>
        <a:graphic>
          <a:graphicData uri="http://schemas.openxmlformats.org/drawingml/2006/table">
            <a:tbl>
              <a:tblPr/>
              <a:tblGrid>
                <a:gridCol w="1905000"/>
                <a:gridCol w="6096000"/>
              </a:tblGrid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7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5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r>
                        <a:rPr lang="en-US" sz="2100" b="1" dirty="0" spc="-1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10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4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UDP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4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gửi</a:t>
                      </a:r>
                      <a:r>
                        <a:rPr lang="en-US" sz="2100" dirty="0" spc="-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gói</a:t>
                      </a:r>
                      <a:r>
                        <a:rPr lang="en-US" sz="210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tin</a:t>
                      </a:r>
                      <a:r>
                        <a:rPr lang="en-US" sz="21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 cần</a:t>
                      </a:r>
                      <a:r>
                        <a:rPr lang="en-US" sz="2100" dirty="0" spc="-1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bắt</a:t>
                      </a:r>
                      <a:r>
                        <a:rPr lang="en-US" sz="2100" dirty="0" spc="-2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tay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giao diện</a:t>
                      </a:r>
                      <a:r>
                        <a:rPr lang="en-US" sz="210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lập</a:t>
                      </a:r>
                      <a:r>
                        <a:rPr lang="en-US" sz="2100" dirty="0" spc="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r>
                        <a:rPr lang="en-US" sz="2100" dirty="0" spc="2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ứng</a:t>
                      </a:r>
                      <a:r>
                        <a:rPr lang="en-US" sz="210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dụng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7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SQL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ngôn</a:t>
                      </a:r>
                      <a:r>
                        <a:rPr lang="en-US" sz="210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1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truy</a:t>
                      </a:r>
                      <a:r>
                        <a:rPr lang="en-US" sz="2100" dirty="0" spc="-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vấn</a:t>
                      </a:r>
                      <a:r>
                        <a:rPr lang="en-US" sz="210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10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cấu</a:t>
                      </a:r>
                      <a:r>
                        <a:rPr lang="en-US" sz="21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trúc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83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OLTP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xử</a:t>
                      </a:r>
                      <a:r>
                        <a:rPr lang="en-US" sz="210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lý</a:t>
                      </a:r>
                      <a:r>
                        <a:rPr lang="en-US" sz="21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giao dịch</a:t>
                      </a:r>
                      <a:r>
                        <a:rPr lang="en-US" sz="2100" dirty="0" spc="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trực</a:t>
                      </a:r>
                      <a:r>
                        <a:rPr lang="en-US" sz="2100" dirty="0" spc="-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tuyến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8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DevOps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phát</a:t>
                      </a:r>
                      <a:r>
                        <a:rPr lang="en-US" sz="2100" dirty="0" spc="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triển</a:t>
                      </a:r>
                      <a:r>
                        <a:rPr lang="en-US" sz="2100" dirty="0" spc="-1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100" dirty="0" spc="-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vận</a:t>
                      </a:r>
                      <a:r>
                        <a:rPr lang="en-US" sz="21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hành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914400" y="721995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914400" y="763905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8" name="Text 4"/>
          <p:cNvSpPr/>
          <p:nvPr/>
        </p:nvSpPr>
        <p:spPr>
          <a:xfrm>
            <a:off x="914400" y="817245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0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94a578c7-554e-4305-a16e-e894049898c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2026-10-19T04:47:37Z</dcterms:created>
  <dcterms:modified xsi:type="dcterms:W3CDTF">2026-10-19T04:47:37Z</dcterms:modified>
</cp:coreProperties>
</file>