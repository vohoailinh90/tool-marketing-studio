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096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16383000" cy="2286000"/>
          </a:xfrm>
          <a:prstGeom prst="rect">
            <a:avLst/>
          </a:prstGeom>
          <a:noFill/>
          <a:ln/>
        </p:spPr>
        <p:txBody>
          <a:bodyPr wrap="square" lIns="0" tIns="46990" rIns="0" bIns="-46990" rtlCol="0" anchor="t"/>
          <a:lstStyle/>
          <a:p>
            <a:pPr algn="l" indent="0" marL="0">
              <a:lnSpc>
                <a:spcPts val="8140"/>
              </a:lnSpc>
              <a:buNone/>
            </a:pPr>
            <a:r>
              <a:rPr lang="en-US" sz="7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</a:t>
            </a:r>
            <a:r>
              <a:rPr lang="en-US" sz="7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74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74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hiệu năng</a:t>
            </a:r>
            <a:r>
              <a:rPr lang="en-US" sz="74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web:</a:t>
            </a:r>
            <a:r>
              <a:rPr lang="en-US" sz="7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7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 số</a:t>
            </a:r>
            <a:r>
              <a:rPr lang="en-US" sz="74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4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74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4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7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952500" y="3619500"/>
            <a:ext cx="1638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52500" y="4953000"/>
            <a:ext cx="3905250" cy="314325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0625" y="5191125"/>
            <a:ext cx="342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Máy</a:t>
            </a:r>
            <a:r>
              <a:rPr lang="en-US" sz="240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chủ</a:t>
            </a:r>
            <a:r>
              <a:rPr lang="en-US" sz="2400" dirty="0" spc="-2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400" dirty="0" spc="-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mạng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90625" y="6572250"/>
            <a:ext cx="3429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TTFB,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RTT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114925" y="4953000"/>
            <a:ext cx="3905250" cy="314325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53050" y="5191125"/>
            <a:ext cx="342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Trang</a:t>
            </a:r>
            <a:r>
              <a:rPr lang="en-US" sz="2400" dirty="0" spc="-8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nặng</a:t>
            </a:r>
            <a:r>
              <a:rPr lang="en-US" sz="2400" dirty="0" spc="-7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cỡ</a:t>
            </a:r>
            <a:r>
              <a:rPr lang="en-US" sz="240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nào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353050" y="6572250"/>
            <a:ext cx="3429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lượng,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267825" y="4953000"/>
            <a:ext cx="3905250" cy="314325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5950" y="5191125"/>
            <a:ext cx="342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Người</a:t>
            </a:r>
            <a:r>
              <a:rPr lang="en-US" sz="240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dùng</a:t>
            </a:r>
            <a:r>
              <a:rPr lang="en-US" sz="2400" dirty="0" spc="-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thấy</a:t>
            </a:r>
            <a:r>
              <a:rPr lang="en-US" sz="24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gì, khi nào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505950" y="6572250"/>
            <a:ext cx="3429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DOMContentLoaded,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FCP,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3430250" y="4953000"/>
            <a:ext cx="3905250" cy="314325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668375" y="5191125"/>
            <a:ext cx="342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Thử</a:t>
            </a:r>
            <a:r>
              <a:rPr lang="en-US" sz="240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nghiệm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668375" y="6572250"/>
            <a:ext cx="3429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6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CSS</a:t>
            </a:r>
            <a:r>
              <a:rPr lang="en-US" sz="21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800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93941647-200e-4c6a-9683-b0d0fb91c88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giống</a:t>
            </a:r>
            <a:r>
              <a:rPr lang="en-US" sz="69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hệt,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CSS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52500" y="2190750"/>
            <a:ext cx="7810500" cy="4572000"/>
          </a:xfrm>
          <a:prstGeom prst="roundRect">
            <a:avLst>
              <a:gd name="adj" fmla="val 5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57175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Trang</a:t>
            </a:r>
            <a:r>
              <a:rPr lang="en-US" sz="3000" dirty="0" spc="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1:</a:t>
            </a:r>
            <a:r>
              <a:rPr lang="en-US" sz="3000" dirty="0" spc="1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CSS</a:t>
            </a:r>
            <a:r>
              <a:rPr lang="en-US" sz="300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chặn</a:t>
            </a:r>
            <a:endParaRPr lang="en-US" sz="3000" dirty="0"/>
          </a:p>
        </p:txBody>
      </p:sp>
      <p:sp>
        <p:nvSpPr>
          <p:cNvPr id="5" name="Text richtext-1792459440744-485546465"/>
          <p:cNvSpPr/>
          <p:nvPr/>
        </p:nvSpPr>
        <p:spPr>
          <a:xfrm>
            <a:off x="1333500" y="3429000"/>
            <a:ext cx="7048500" cy="314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23850" indent="-23137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blocking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muộn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0" y="2190750"/>
            <a:ext cx="7810500" cy="4572000"/>
          </a:xfrm>
          <a:prstGeom prst="roundRect">
            <a:avLst>
              <a:gd name="adj" fmla="val 5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257175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Trang</a:t>
            </a:r>
            <a:r>
              <a:rPr lang="en-US" sz="3000" dirty="0" spc="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2:</a:t>
            </a:r>
            <a:r>
              <a:rPr lang="en-US" sz="3000" dirty="0" spc="1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CSS</a:t>
            </a:r>
            <a:r>
              <a:rPr lang="en-US" sz="3000" dirty="0" spc="-1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3000" dirty="0" spc="-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chặn</a:t>
            </a:r>
            <a:endParaRPr lang="en-US" sz="3000" dirty="0"/>
          </a:p>
        </p:txBody>
      </p:sp>
      <p:sp>
        <p:nvSpPr>
          <p:cNvPr id="8" name="Text richtext-1792459440766-852930129"/>
          <p:cNvSpPr/>
          <p:nvPr/>
        </p:nvSpPr>
        <p:spPr>
          <a:xfrm>
            <a:off x="9906000" y="3429000"/>
            <a:ext cx="7048500" cy="314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23850" indent="-23137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non-blocking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khoảng 0,8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52500" y="7334250"/>
            <a:ext cx="16383000" cy="1238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8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Cùng</a:t>
            </a:r>
            <a:r>
              <a:rPr lang="en-US" sz="2700" dirty="0" spc="-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TTFB,</a:t>
            </a:r>
            <a:r>
              <a:rPr lang="en-US" sz="270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số</a:t>
            </a:r>
            <a:r>
              <a:rPr lang="en-US" sz="2700" dirty="0" spc="-2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yêu</a:t>
            </a:r>
            <a:r>
              <a:rPr lang="en-US" sz="2700" dirty="0" spc="-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cầu,</a:t>
            </a:r>
            <a:r>
              <a:rPr lang="en-US" sz="270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dung</a:t>
            </a:r>
            <a:r>
              <a:rPr lang="en-US" sz="2700" dirty="0" spc="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lượng</a:t>
            </a:r>
            <a:r>
              <a:rPr lang="en-US" sz="2700" dirty="0" spc="-28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70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thời</a:t>
            </a:r>
            <a:r>
              <a:rPr lang="en-US" sz="270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gian</a:t>
            </a:r>
            <a:r>
              <a:rPr lang="en-US" sz="27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load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Text 18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95d01d48-1b5a-4cea-a268-df084a9d7e2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 chủ</a:t>
            </a:r>
            <a:r>
              <a:rPr lang="en-US" sz="7500" dirty="0" spc="-8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mạng:</a:t>
            </a:r>
            <a:r>
              <a:rPr lang="en-US" sz="7500" dirty="0" spc="1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TTFB,</a:t>
            </a:r>
            <a:r>
              <a:rPr lang="en-US" sz="7500" dirty="0" spc="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RTT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4286250" y="190500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TTFB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763250" y="190500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3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RTT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2500" y="34290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3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</a:t>
            </a: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52500" y="60960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4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Lưu</a:t>
            </a:r>
            <a:r>
              <a:rPr lang="en-US" sz="25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ý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4191000" y="2571750"/>
            <a:ext cx="6096000" cy="2667000"/>
          </a:xfrm>
          <a:prstGeom prst="roundRect">
            <a:avLst>
              <a:gd name="adj" fmla="val 85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0668000" y="2571750"/>
            <a:ext cx="6096000" cy="2667000"/>
          </a:xfrm>
          <a:prstGeom prst="roundRect">
            <a:avLst>
              <a:gd name="adj" fmla="val 85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550" dirty="0" spc="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4191000" y="5524500"/>
            <a:ext cx="6096000" cy="3048000"/>
          </a:xfrm>
          <a:prstGeom prst="roundRect">
            <a:avLst>
              <a:gd name="adj" fmla="val 75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Gồm cả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DNS,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5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550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không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0668000" y="5524500"/>
            <a:ext cx="6096000" cy="3048000"/>
          </a:xfrm>
          <a:prstGeom prst="roundRect">
            <a:avLst>
              <a:gd name="adj" fmla="val 75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RTT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Text 19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899f271-67d4-49e8-94c7-466880cd1bb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5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Trang</a:t>
            </a:r>
            <a:r>
              <a:rPr lang="en-US" sz="75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nặng cỡ nào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2190750"/>
            <a:ext cx="16383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447925"/>
            <a:ext cx="723900" cy="723900"/>
          </a:xfrm>
          <a:prstGeom prst="ellipse">
            <a:avLst/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381250" y="2286000"/>
            <a:ext cx="14478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8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52500" y="3714750"/>
            <a:ext cx="16383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3500" y="3971925"/>
            <a:ext cx="723900" cy="723900"/>
          </a:xfrm>
          <a:prstGeom prst="ellipse">
            <a:avLst/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381250" y="3810000"/>
            <a:ext cx="14478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6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952500" y="5238750"/>
            <a:ext cx="16383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5495925"/>
            <a:ext cx="723900" cy="723900"/>
          </a:xfrm>
          <a:prstGeom prst="ellipse">
            <a:avLst/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381250" y="5334000"/>
            <a:ext cx="14478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 hiển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52500" y="7048500"/>
            <a:ext cx="16383000" cy="1619250"/>
          </a:xfrm>
          <a:prstGeom prst="roundRect">
            <a:avLst>
              <a:gd name="adj" fmla="val 14118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Hay</a:t>
            </a: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gặp</a:t>
            </a: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nhất:</a:t>
            </a:r>
            <a:r>
              <a:rPr lang="en-US" sz="2550" dirty="0" spc="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CSS</a:t>
            </a:r>
            <a:r>
              <a:rPr lang="en-US" sz="2550" dirty="0" spc="-2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55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JavaScript</a:t>
            </a:r>
            <a:r>
              <a:rPr lang="en-US" sz="25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nạp</a:t>
            </a:r>
            <a:r>
              <a:rPr lang="en-US" sz="25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từ</a:t>
            </a:r>
            <a:r>
              <a:rPr lang="en-US" sz="25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đầu; trình</a:t>
            </a:r>
            <a:r>
              <a:rPr lang="en-US" sz="2550" dirty="0" spc="-2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duyệt</a:t>
            </a:r>
            <a:r>
              <a:rPr lang="en-US" sz="25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chờ</a:t>
            </a:r>
            <a:r>
              <a:rPr lang="en-US" sz="25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chúng</a:t>
            </a:r>
            <a:r>
              <a:rPr lang="en-US" sz="255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rồi</a:t>
            </a: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mới</a:t>
            </a:r>
            <a:r>
              <a:rPr lang="en-US" sz="2550" dirty="0" spc="-2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vẽ</a:t>
            </a:r>
            <a:r>
              <a:rPr lang="en-US" sz="25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(MDN)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2" name="Shape 20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3" name="Text 21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28cb3860-4367-4c19-ab65-f3deb908300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8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75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75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7500" dirty="0" spc="-2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75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75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7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095500"/>
          <a:ext cx="13716000" cy="914400"/>
        </p:xfrm>
        <a:graphic>
          <a:graphicData uri="http://schemas.openxmlformats.org/drawingml/2006/table">
            <a:tbl>
              <a:tblPr/>
              <a:tblGrid>
                <a:gridCol w="4914900"/>
                <a:gridCol w="11468100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Chỉ</a:t>
                      </a:r>
                      <a:r>
                        <a:rPr lang="en-US" sz="2400" dirty="0" spc="-3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số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4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Ý</a:t>
                      </a:r>
                      <a:r>
                        <a:rPr lang="en-US" sz="2400" dirty="0" spc="-4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nghĩa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B45309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0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DOMContentLoaded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DF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HTML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phân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tích</a:t>
                      </a:r>
                      <a:r>
                        <a:rPr lang="en-US" sz="24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xong</a:t>
                      </a:r>
                      <a:r>
                        <a:rPr lang="en-US" sz="240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script</a:t>
                      </a:r>
                      <a:r>
                        <a:rPr lang="en-US" sz="240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defer</a:t>
                      </a:r>
                      <a:r>
                        <a:rPr lang="en-US" sz="2400" dirty="0" spc="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đã</a:t>
                      </a: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chạy;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script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đặt</a:t>
                      </a:r>
                      <a:r>
                        <a:rPr lang="en-US" sz="24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sau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CSS thì chờ CSS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DFB8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6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FCP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Lúc</a:t>
                      </a:r>
                      <a:r>
                        <a:rPr lang="en-US" sz="240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vẽ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nội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dung</a:t>
                      </a:r>
                      <a:r>
                        <a:rPr lang="en-US" sz="2400" dirty="0" spc="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đầu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tiên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Phần</a:t>
                      </a:r>
                      <a:r>
                        <a:rPr lang="en-US" sz="2400" dirty="0" spc="9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đầu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màn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hình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DF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Phần</a:t>
                      </a: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thấy</a:t>
                      </a:r>
                      <a:r>
                        <a:rPr lang="en-US" sz="2400" dirty="0" spc="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</a:t>
                      </a:r>
                      <a:r>
                        <a:rPr lang="en-US" sz="240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chưa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cuộn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DFB8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Thời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gian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tải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7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Tới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sự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kiện load:</a:t>
                      </a:r>
                      <a:r>
                        <a:rPr lang="en-US" sz="240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trang</a:t>
                      </a:r>
                      <a:r>
                        <a:rPr lang="en-US" sz="2400" dirty="0" spc="-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mọi</a:t>
                      </a:r>
                      <a:r>
                        <a:rPr lang="en-US" sz="24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tài nguyên</a:t>
                      </a:r>
                      <a:r>
                        <a:rPr lang="en-US" sz="2400" dirty="0" spc="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đã</a:t>
                      </a:r>
                      <a:r>
                        <a:rPr lang="en-US" sz="240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về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5" name="Shape 2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6" name="Shape 3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7" name="Shape 4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8" name="Shape 5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Shape 6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7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8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9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0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Text 11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14079bef-45bf-47de-8f7b-f6de107a0bc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762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75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nghiệm:</a:t>
            </a:r>
            <a:r>
              <a:rPr lang="en-US" sz="7500" dirty="0" spc="-4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FCP</a:t>
            </a:r>
            <a:r>
              <a:rPr lang="en-US" sz="7500" dirty="0" spc="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chênh</a:t>
            </a:r>
            <a:r>
              <a:rPr lang="en-US" sz="7500" dirty="0" spc="-1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gấp</a:t>
            </a:r>
            <a:r>
              <a:rPr lang="en-US" sz="75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bảy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1905000"/>
            <a:ext cx="7810500" cy="3619500"/>
          </a:xfrm>
          <a:prstGeom prst="roundRect">
            <a:avLst>
              <a:gd name="adj" fmla="val 631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8250" y="20955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940</a:t>
            </a:r>
            <a:r>
              <a:rPr lang="en-US" sz="9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ms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333500" y="381000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FCP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CSS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0" y="1905000"/>
            <a:ext cx="7810500" cy="3619500"/>
          </a:xfrm>
          <a:prstGeom prst="roundRect">
            <a:avLst>
              <a:gd name="adj" fmla="val 6316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10750" y="20955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0" dirty="0" spc="2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132</a:t>
            </a:r>
            <a:r>
              <a:rPr lang="en-US" sz="90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ms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9906000" y="381000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FCP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CSS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chặn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52500" y="5905500"/>
            <a:ext cx="5143500" cy="1238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TTFB: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104 ms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572250" y="5905500"/>
            <a:ext cx="5143500" cy="1238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DOMContentLoaded: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120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192000" y="5905500"/>
            <a:ext cx="5143500" cy="1238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load: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 920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52500" y="771525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Chromium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141 qua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Playwright;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19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9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r>
              <a:rPr lang="en-US" sz="19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CSS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800 ms; trung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Shape 20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3" name="Text 21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e05fa6bb-cfff-4afc-9ee5-d490cd04f5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2476500"/>
            <a:ext cx="5143500" cy="5715000"/>
          </a:xfrm>
          <a:prstGeom prst="roundRect">
            <a:avLst>
              <a:gd name="adj" fmla="val 444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4" name="Text richtext-1792459445125-759319280"/>
          <p:cNvSpPr/>
          <p:nvPr/>
        </p:nvSpPr>
        <p:spPr>
          <a:xfrm>
            <a:off x="1238250" y="2762250"/>
            <a:ext cx="4572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Phòng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(một</a:t>
            </a: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bộ) khác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web-vitals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24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Core</a:t>
            </a:r>
            <a:r>
              <a:rPr lang="en-US" sz="240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Vitals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72250" y="2476500"/>
            <a:ext cx="5143500" cy="5715000"/>
          </a:xfrm>
          <a:prstGeom prst="roundRect">
            <a:avLst>
              <a:gd name="adj" fmla="val 444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richtext-1792459445142-6357597"/>
          <p:cNvSpPr/>
          <p:nvPr/>
        </p:nvSpPr>
        <p:spPr>
          <a:xfrm>
            <a:off x="6858000" y="2762250"/>
            <a:ext cx="4572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Load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DOMContentLoaded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4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Gần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FCP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chênh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2192000" y="2476500"/>
            <a:ext cx="5143500" cy="5715000"/>
          </a:xfrm>
          <a:prstGeom prst="roundRect">
            <a:avLst>
              <a:gd name="adj" fmla="val 444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richtext-1792459445148-64547059"/>
          <p:cNvSpPr/>
          <p:nvPr/>
        </p:nvSpPr>
        <p:spPr>
          <a:xfrm>
            <a:off x="12477750" y="2762250"/>
            <a:ext cx="4572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INP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9" name="Text 17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37fd32ca-4976-4b98-8273-b8e5be1d8c2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7625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Load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giây,</a:t>
            </a:r>
            <a:r>
              <a:rPr lang="en-US" sz="69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trắng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lâu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52500" y="2476500"/>
            <a:ext cx="3619500" cy="314325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load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ánh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200650" y="2476500"/>
            <a:ext cx="3619500" cy="3143250"/>
          </a:xfrm>
          <a:prstGeom prst="roundRect">
            <a:avLst>
              <a:gd name="adj" fmla="val 7273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4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Xem</a:t>
            </a:r>
            <a:r>
              <a:rPr lang="en-US" sz="2850" dirty="0" spc="-2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FCP</a:t>
            </a:r>
            <a:r>
              <a:rPr lang="en-US" sz="2850" dirty="0" spc="-18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(và LCP)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448800" y="2476500"/>
            <a:ext cx="3619500" cy="314325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Nghi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 mới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696950" y="2476500"/>
            <a:ext cx="3619500" cy="3143250"/>
          </a:xfrm>
          <a:prstGeom prst="roundRect">
            <a:avLst>
              <a:gd name="adj" fmla="val 7273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renderBlockingStatus,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2250" dirty="0"/>
          </a:p>
        </p:txBody>
      </p:sp>
      <p:sp>
        <p:nvSpPr>
          <p:cNvPr id="7" name="Connector line-1792459446164-196804095"/>
          <p:cNvSpPr/>
          <p:nvPr/>
        </p:nvSpPr>
        <p:spPr>
          <a:xfrm>
            <a:off x="4572000" y="4048125"/>
            <a:ext cx="6286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59446165-975427689"/>
          <p:cNvSpPr/>
          <p:nvPr/>
        </p:nvSpPr>
        <p:spPr>
          <a:xfrm>
            <a:off x="8820150" y="4048125"/>
            <a:ext cx="6286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459446165-294725716"/>
          <p:cNvSpPr/>
          <p:nvPr/>
        </p:nvSpPr>
        <p:spPr>
          <a:xfrm>
            <a:off x="13068300" y="4048125"/>
            <a:ext cx="6286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52500" y="6477000"/>
            <a:ext cx="16383000" cy="1619250"/>
          </a:xfrm>
          <a:prstGeom prst="roundRect">
            <a:avLst>
              <a:gd name="adj" fmla="val 14118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nghiệm: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load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 nhau,</a:t>
            </a:r>
            <a:r>
              <a:rPr lang="en-US" sz="285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FCP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132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940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Text 19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3aeef570-47cd-4a8a-9dbd-ff6c88b24cc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7625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7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Ngưỡng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viện</a:t>
            </a: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web-vitals</a:t>
            </a:r>
            <a:endParaRPr lang="en-US" sz="6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1809750"/>
          <a:ext cx="13716000" cy="914400"/>
        </p:xfrm>
        <a:graphic>
          <a:graphicData uri="http://schemas.openxmlformats.org/drawingml/2006/table">
            <a:tbl>
              <a:tblPr/>
              <a:tblGrid>
                <a:gridCol w="5570220"/>
                <a:gridCol w="5406390"/>
                <a:gridCol w="5406390"/>
              </a:tblGrid>
              <a:tr h="8096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Chỉ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số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88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Tốt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6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Kém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9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LCP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tới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500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trên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4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000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INP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tới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200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trên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500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CLS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tới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0,1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trên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0,25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6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FCP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(chẩn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đoán)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800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TTFB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(chẩn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đoán)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800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CF"/>
                    </a:solidFill>
                  </a:tcPr>
                </a:tc>
              </a:tr>
            </a:tbl>
          </a:graphicData>
        </a:graphic>
      </p:graphicFrame>
      <p:sp>
        <p:nvSpPr>
          <p:cNvPr id="4" name="Text richtext-1792459446959-885342870"/>
          <p:cNvSpPr/>
          <p:nvPr/>
        </p:nvSpPr>
        <p:spPr>
          <a:xfrm>
            <a:off x="952500" y="7143750"/>
            <a:ext cx="16383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66700" indent="-19054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 chỉ</a:t>
            </a:r>
            <a:r>
              <a:rPr lang="en-US" sz="21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số,</a:t>
            </a:r>
            <a:r>
              <a:rPr lang="en-US" sz="21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Core</a:t>
            </a:r>
            <a:r>
              <a:rPr lang="en-US" sz="21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1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Vitals; bài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100" dirty="0"/>
          </a:p>
          <a:p>
            <a:pPr algn="l" marL="266700" indent="-190541">
              <a:buSzPct val="100000"/>
              <a:buFont typeface="Arial"/>
              <a:buChar char="•"/>
            </a:pP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CSS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chặn: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media=print</a:t>
            </a:r>
            <a:r>
              <a:rPr lang="en-US" sz="21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all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1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về;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CSS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cần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lần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21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6" name="Shape 3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7" name="Shape 4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8" name="Shape 5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6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7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8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9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0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1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Text 12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5a55f6a9-09d1-40aa-9dbf-6f6d3f5097f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85750"/>
            <a:ext cx="1638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 ngữ</a:t>
            </a:r>
            <a:r>
              <a:rPr lang="en-US" sz="60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52500" y="1333500"/>
            <a:ext cx="3905250" cy="1085850"/>
          </a:xfrm>
          <a:prstGeom prst="roundRect">
            <a:avLst>
              <a:gd name="adj" fmla="val 140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TTFB: thời gian</a:t>
            </a:r>
            <a:r>
              <a:rPr lang="en-US" sz="18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8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18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114925" y="1333500"/>
            <a:ext cx="3905250" cy="1085850"/>
          </a:xfrm>
          <a:prstGeom prst="roundRect">
            <a:avLst>
              <a:gd name="adj" fmla="val 140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RTT: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r>
              <a:rPr lang="en-US" sz="18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1800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8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277350" y="1333500"/>
            <a:ext cx="3905250" cy="1085850"/>
          </a:xfrm>
          <a:prstGeom prst="roundRect">
            <a:avLst>
              <a:gd name="adj" fmla="val 140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FCP: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8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8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439775" y="1333500"/>
            <a:ext cx="3905250" cy="1085850"/>
          </a:xfrm>
          <a:prstGeom prst="roundRect">
            <a:avLst>
              <a:gd name="adj" fmla="val 140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LCP: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18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18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tử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 lớn</a:t>
            </a:r>
            <a:r>
              <a:rPr lang="en-US" sz="18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" y="2571750"/>
            <a:ext cx="3905250" cy="1085850"/>
          </a:xfrm>
          <a:prstGeom prst="roundRect">
            <a:avLst>
              <a:gd name="adj" fmla="val 140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INP: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18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bấm,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chạm</a:t>
            </a:r>
            <a:r>
              <a:rPr lang="en-US" sz="18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8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gõ</a:t>
            </a:r>
            <a:r>
              <a:rPr lang="en-US" sz="18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18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 vẽ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14925" y="2571750"/>
            <a:ext cx="3905250" cy="1085850"/>
          </a:xfrm>
          <a:prstGeom prst="roundRect">
            <a:avLst>
              <a:gd name="adj" fmla="val 140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CLS:</a:t>
            </a:r>
            <a:r>
              <a:rPr lang="en-US" sz="18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18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18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xô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18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18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277350" y="2571750"/>
            <a:ext cx="3905250" cy="1085850"/>
          </a:xfrm>
          <a:prstGeom prst="roundRect">
            <a:avLst>
              <a:gd name="adj" fmla="val 140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CSS:</a:t>
            </a:r>
            <a:r>
              <a:rPr lang="en-US" sz="18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8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8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18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439775" y="2571750"/>
            <a:ext cx="3905250" cy="1085850"/>
          </a:xfrm>
          <a:prstGeom prst="roundRect">
            <a:avLst>
              <a:gd name="adj" fmla="val 140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DOM:</a:t>
            </a:r>
            <a:r>
              <a:rPr lang="en-US" sz="18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r>
              <a:rPr lang="en-US" sz="18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18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8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18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2500" y="3810000"/>
            <a:ext cx="3905250" cy="1085850"/>
          </a:xfrm>
          <a:prstGeom prst="roundRect">
            <a:avLst>
              <a:gd name="adj" fmla="val 140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HTML:</a:t>
            </a:r>
            <a:r>
              <a:rPr lang="en-US" sz="18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18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8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8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14925" y="3810000"/>
            <a:ext cx="3905250" cy="1085850"/>
          </a:xfrm>
          <a:prstGeom prst="roundRect">
            <a:avLst>
              <a:gd name="adj" fmla="val 140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DNS: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8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8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8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277350" y="3810000"/>
            <a:ext cx="3905250" cy="1085850"/>
          </a:xfrm>
          <a:prstGeom prst="roundRect">
            <a:avLst>
              <a:gd name="adj" fmla="val 140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TCP: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8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8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18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8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439775" y="3810000"/>
            <a:ext cx="3905250" cy="1085850"/>
          </a:xfrm>
          <a:prstGeom prst="roundRect">
            <a:avLst>
              <a:gd name="adj" fmla="val 140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TLS: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 mã hóa</a:t>
            </a:r>
            <a:r>
              <a:rPr lang="en-US" sz="18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nối,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8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 của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2500" y="5048250"/>
            <a:ext cx="3905250" cy="1085850"/>
          </a:xfrm>
          <a:prstGeom prst="roundRect">
            <a:avLst>
              <a:gd name="adj" fmla="val 140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HTTPS: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8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8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18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8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hóa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14925" y="5048250"/>
            <a:ext cx="3905250" cy="1085850"/>
          </a:xfrm>
          <a:prstGeom prst="roundRect">
            <a:avLst>
              <a:gd name="adj" fmla="val 140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MDN:</a:t>
            </a:r>
            <a:r>
              <a:rPr lang="en-US" sz="18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Mozilla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18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2500" y="6477000"/>
            <a:ext cx="1638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52500" y="6905625"/>
            <a:ext cx="16383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9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MDN:</a:t>
            </a:r>
            <a:r>
              <a:rPr lang="en-US" sz="19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Time</a:t>
            </a:r>
            <a:r>
              <a:rPr lang="en-US" sz="19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First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Byte;</a:t>
            </a:r>
            <a:r>
              <a:rPr lang="en-US" sz="19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First</a:t>
            </a:r>
            <a:r>
              <a:rPr lang="en-US" sz="19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Contentful</a:t>
            </a: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Paint;</a:t>
            </a:r>
            <a:r>
              <a:rPr lang="en-US" sz="195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Largest</a:t>
            </a:r>
            <a:r>
              <a:rPr lang="en-US" sz="19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Contentful</a:t>
            </a: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Paint;</a:t>
            </a:r>
            <a:r>
              <a:rPr lang="en-US" sz="19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Render-blocking;</a:t>
            </a:r>
            <a:r>
              <a:rPr lang="en-US" sz="19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Round</a:t>
            </a:r>
            <a:r>
              <a:rPr lang="en-US" sz="19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Trip</a:t>
            </a:r>
            <a:r>
              <a:rPr lang="en-US" sz="19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Time;</a:t>
            </a:r>
            <a:r>
              <a:rPr lang="en-US" sz="19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DOMContentLoaded;</a:t>
            </a:r>
            <a:r>
              <a:rPr lang="en-US" sz="19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Page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load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time;</a:t>
            </a: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renderBlockingStatus. web-vitals: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README;</a:t>
            </a:r>
            <a:r>
              <a:rPr lang="en-US" sz="19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onLCP;</a:t>
            </a:r>
            <a:r>
              <a:rPr lang="en-US" sz="19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onINP;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onCLS;</a:t>
            </a:r>
            <a:r>
              <a:rPr lang="en-US" sz="19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onFCP;</a:t>
            </a:r>
            <a:r>
              <a:rPr lang="en-US" sz="19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onTTFB.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1" name="Shape 19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3" name="Shape 21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5" name="Shape 23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6" name="Shape 24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7" name="Shape 25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8" name="Shape 26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9" name="Text 27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6a2aa287-d1df-4204-95a7-fcf9166cce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2026-10-20T01:24:50Z</dcterms:created>
  <dcterms:modified xsi:type="dcterms:W3CDTF">2026-10-20T01:24:50Z</dcterms:modified>
</cp:coreProperties>
</file>