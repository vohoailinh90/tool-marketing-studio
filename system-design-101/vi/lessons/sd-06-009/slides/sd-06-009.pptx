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 SemiBold"/>
      <p:regular r:id="rId16"/>
    </p:embeddedFont>
    <p:embeddedFont>
      <p:font typeface="Bricolage Grotesque ExtraBold"/>
      <p:regular r:id="rId17"/>
    </p:embeddedFont>
    <p:embeddedFont>
      <p:font typeface="Be Vietnam Pro"/>
      <p:regular r:id="rId18"/>
      <p:bold r:id="rId19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952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77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SYSTEM</a:t>
            </a:r>
            <a:r>
              <a:rPr lang="en-US" sz="1950" spc="298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DESIGN</a:t>
            </a:r>
            <a:r>
              <a:rPr lang="en-US" sz="1950" spc="297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101</a:t>
            </a:r>
            <a:r>
              <a:rPr lang="en-US" sz="1950" spc="299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1950" spc="296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BÀI</a:t>
            </a:r>
            <a:r>
              <a:rPr lang="en-US" sz="1950" spc="300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09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9525000" cy="5524500"/>
          </a:xfrm>
          <a:prstGeom prst="rect">
            <a:avLst/>
          </a:prstGeom>
          <a:noFill/>
          <a:ln/>
        </p:spPr>
        <p:txBody>
          <a:bodyPr wrap="square" lIns="0" tIns="69437" rIns="0" bIns="-69437" rtlCol="0" anchor="t"/>
          <a:lstStyle/>
          <a:p>
            <a:pPr algn="l" indent="0" marL="0">
              <a:lnSpc>
                <a:spcPts val="8505"/>
              </a:lnSpc>
              <a:buNone/>
            </a:pPr>
            <a:r>
              <a:rPr lang="en-US" sz="81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Những</a:t>
            </a:r>
            <a:r>
              <a:rPr lang="en-US" sz="8100" dirty="0" spc="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cân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nhắc</a:t>
            </a: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r>
              <a:rPr lang="en-US" sz="8100" dirty="0" spc="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đệm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7524750"/>
            <a:ext cx="8953500" cy="1047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-4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Trúng</a:t>
            </a:r>
            <a:r>
              <a:rPr lang="en-US" sz="3000" dirty="0" spc="-3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70%,</a:t>
            </a: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30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gấp</a:t>
            </a:r>
            <a:r>
              <a:rPr lang="en-US" sz="300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đôi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8953500"/>
            <a:ext cx="1333500" cy="762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6" name="Shape 4"/>
          <p:cNvSpPr/>
          <p:nvPr/>
        </p:nvSpPr>
        <p:spPr>
          <a:xfrm>
            <a:off x="10763250" y="914400"/>
            <a:ext cx="6610350" cy="2381250"/>
          </a:xfrm>
          <a:prstGeom prst="roundRect">
            <a:avLst>
              <a:gd name="adj" fmla="val 9600"/>
            </a:avLst>
          </a:prstGeom>
          <a:solidFill>
            <a:srgbClr val="1E212B"/>
          </a:solidFill>
          <a:ln/>
        </p:spPr>
      </p:sp>
      <p:sp>
        <p:nvSpPr>
          <p:cNvPr id="7" name="Shape 5"/>
          <p:cNvSpPr/>
          <p:nvPr/>
        </p:nvSpPr>
        <p:spPr>
          <a:xfrm>
            <a:off x="10763250" y="914400"/>
            <a:ext cx="95250" cy="2381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8" name="Text 6"/>
          <p:cNvSpPr/>
          <p:nvPr/>
        </p:nvSpPr>
        <p:spPr>
          <a:xfrm>
            <a:off x="11163300" y="1238250"/>
            <a:ext cx="5905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Khi</a:t>
            </a:r>
            <a:r>
              <a:rPr lang="en-US" sz="33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3300" dirty="0" spc="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đáng</a:t>
            </a:r>
            <a:r>
              <a:rPr lang="en-US" sz="330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11163300" y="2038350"/>
            <a:ext cx="5905500" cy="952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nhiều,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4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10763250" y="3676650"/>
            <a:ext cx="6610350" cy="2381250"/>
          </a:xfrm>
          <a:prstGeom prst="roundRect">
            <a:avLst>
              <a:gd name="adj" fmla="val 9600"/>
            </a:avLst>
          </a:prstGeom>
          <a:solidFill>
            <a:srgbClr val="1E212B"/>
          </a:solidFill>
          <a:ln/>
        </p:spPr>
      </p:sp>
      <p:sp>
        <p:nvSpPr>
          <p:cNvPr id="11" name="Shape 9"/>
          <p:cNvSpPr/>
          <p:nvPr/>
        </p:nvSpPr>
        <p:spPr>
          <a:xfrm>
            <a:off x="10763250" y="3676650"/>
            <a:ext cx="95250" cy="2381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2" name="Text 10"/>
          <p:cNvSpPr/>
          <p:nvPr/>
        </p:nvSpPr>
        <p:spPr>
          <a:xfrm>
            <a:off x="11163300" y="4000500"/>
            <a:ext cx="5905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Đo</a:t>
            </a:r>
            <a:r>
              <a:rPr lang="en-US" sz="3300" dirty="0" spc="-17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endParaRPr lang="en-US" sz="3300" dirty="0"/>
          </a:p>
        </p:txBody>
      </p:sp>
      <p:sp>
        <p:nvSpPr>
          <p:cNvPr id="13" name="Text 11"/>
          <p:cNvSpPr/>
          <p:nvPr/>
        </p:nvSpPr>
        <p:spPr>
          <a:xfrm>
            <a:off x="11163300" y="4800600"/>
            <a:ext cx="5905500" cy="952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4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4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4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INFO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10763250" y="6438900"/>
            <a:ext cx="6610350" cy="2381250"/>
          </a:xfrm>
          <a:prstGeom prst="roundRect">
            <a:avLst>
              <a:gd name="adj" fmla="val 9600"/>
            </a:avLst>
          </a:prstGeom>
          <a:solidFill>
            <a:srgbClr val="1E212B"/>
          </a:solidFill>
          <a:ln/>
        </p:spPr>
      </p:sp>
      <p:sp>
        <p:nvSpPr>
          <p:cNvPr id="15" name="Shape 13"/>
          <p:cNvSpPr/>
          <p:nvPr/>
        </p:nvSpPr>
        <p:spPr>
          <a:xfrm>
            <a:off x="10763250" y="6438900"/>
            <a:ext cx="95250" cy="23812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6" name="Text 14"/>
          <p:cNvSpPr/>
          <p:nvPr/>
        </p:nvSpPr>
        <p:spPr>
          <a:xfrm>
            <a:off x="11163300" y="6762750"/>
            <a:ext cx="5905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94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Hạn</a:t>
            </a:r>
            <a:r>
              <a:rPr lang="en-US" sz="3094" dirty="0" spc="1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sống,</a:t>
            </a:r>
            <a:r>
              <a:rPr lang="en-US" sz="3094" dirty="0" spc="-1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khởi</a:t>
            </a:r>
            <a:r>
              <a:rPr lang="en-US" sz="3094" dirty="0" spc="6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r>
              <a:rPr lang="en-US" sz="3094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nguội</a:t>
            </a:r>
            <a:endParaRPr lang="en-US" sz="3094" dirty="0"/>
          </a:p>
        </p:txBody>
      </p:sp>
      <p:sp>
        <p:nvSpPr>
          <p:cNvPr id="17" name="Text 15"/>
          <p:cNvSpPr/>
          <p:nvPr/>
        </p:nvSpPr>
        <p:spPr>
          <a:xfrm>
            <a:off x="11163300" y="7562850"/>
            <a:ext cx="5905500" cy="952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TTL</a:t>
            </a:r>
            <a:r>
              <a:rPr lang="en-US" sz="24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nạp</a:t>
            </a:r>
            <a:r>
              <a:rPr lang="en-US" sz="24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2f1b4619-c43a-4916-a67a-9c124598af5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4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TÌNH</a:t>
            </a:r>
            <a:r>
              <a:rPr lang="en-US" sz="1950" spc="22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HUỐNG</a:t>
            </a:r>
            <a:r>
              <a:rPr lang="en-US" sz="1950" spc="173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1950" spc="22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MỤC</a:t>
            </a:r>
            <a:r>
              <a:rPr lang="en-US" sz="1950" spc="224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809750"/>
            <a:ext cx="16459200" cy="4572000"/>
          </a:xfrm>
          <a:prstGeom prst="rect">
            <a:avLst/>
          </a:prstGeom>
          <a:noFill/>
          <a:ln/>
        </p:spPr>
        <p:txBody>
          <a:bodyPr wrap="square" lIns="0" tIns="75438" rIns="0" bIns="-75438" rtlCol="0" anchor="t"/>
          <a:lstStyle/>
          <a:p>
            <a:pPr algn="l" indent="0" marL="0">
              <a:lnSpc>
                <a:spcPts val="10692"/>
              </a:lnSpc>
              <a:buNone/>
            </a:pPr>
            <a:r>
              <a:rPr lang="en-US" sz="9900" dirty="0" spc="-30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Tới</a:t>
            </a:r>
            <a:r>
              <a:rPr lang="en-US" sz="9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9900" dirty="0" spc="-8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mức,</a:t>
            </a:r>
            <a:r>
              <a:rPr lang="en-US" sz="9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r>
              <a:rPr lang="en-US" sz="9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9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 không</a:t>
            </a:r>
            <a:r>
              <a:rPr lang="en-US" sz="9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mua</a:t>
            </a:r>
            <a:r>
              <a:rPr lang="en-US" sz="9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r>
              <a:rPr lang="en-US" sz="9900" dirty="0" spc="-3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gì.</a:t>
            </a:r>
            <a:endParaRPr lang="en-US" sz="9900" dirty="0"/>
          </a:p>
        </p:txBody>
      </p:sp>
      <p:sp>
        <p:nvSpPr>
          <p:cNvPr id="4" name="Shape 2"/>
          <p:cNvSpPr/>
          <p:nvPr/>
        </p:nvSpPr>
        <p:spPr>
          <a:xfrm>
            <a:off x="914400" y="7048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7391400"/>
            <a:ext cx="7239000" cy="74295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Phép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5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b="1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8915400" y="7391400"/>
            <a:ext cx="8077200" cy="74295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r>
              <a:rPr lang="en-US" sz="25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8" name="Shape 6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9" name="Shape 7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0" name="Shape 8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1" name="Shape 9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2" name="Shape 10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3" name="Shape 11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4" name="Shape 12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5" name="Shape 13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6" name="Text 14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f76d8135-df8e-4591-b2b0-bc01abbedd7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3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KHI</a:t>
            </a:r>
            <a:r>
              <a:rPr lang="en-US" sz="1950" spc="208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NÀO ĐÁNG</a:t>
            </a:r>
            <a:r>
              <a:rPr lang="en-US" sz="1950" spc="225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Đọc</a:t>
            </a:r>
            <a:r>
              <a:rPr lang="en-US" sz="7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nhiều,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ít</a:t>
            </a:r>
            <a:r>
              <a:rPr lang="en-US" sz="7800" dirty="0" spc="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780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7800" dirty="0" spc="-5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hợp</a:t>
            </a:r>
            <a:endParaRPr lang="en-US" sz="7800" dirty="0"/>
          </a:p>
        </p:txBody>
      </p:sp>
      <p:sp>
        <p:nvSpPr>
          <p:cNvPr id="4" name="Connector line-1792371165275-774555619"/>
          <p:cNvSpPr/>
          <p:nvPr/>
        </p:nvSpPr>
        <p:spPr>
          <a:xfrm>
            <a:off x="2571750" y="4000500"/>
            <a:ext cx="13144500" cy="0"/>
          </a:xfrm>
          <a:prstGeom prst="line">
            <a:avLst/>
          </a:prstGeom>
          <a:noFill/>
          <a:ln w="57150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2190750" y="3619500"/>
            <a:ext cx="762000" cy="7620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6" name="Shape 4"/>
          <p:cNvSpPr/>
          <p:nvPr/>
        </p:nvSpPr>
        <p:spPr>
          <a:xfrm>
            <a:off x="8763000" y="3619500"/>
            <a:ext cx="762000" cy="7620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7" name="Shape 5"/>
          <p:cNvSpPr/>
          <p:nvPr/>
        </p:nvSpPr>
        <p:spPr>
          <a:xfrm>
            <a:off x="15335250" y="3619500"/>
            <a:ext cx="762000" cy="7620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4857750"/>
            <a:ext cx="5143500" cy="4000500"/>
          </a:xfrm>
          <a:prstGeom prst="roundRect">
            <a:avLst>
              <a:gd name="adj" fmla="val 5714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38250" y="5143500"/>
            <a:ext cx="44958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22" dirty="0" spc="-2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Hợp</a:t>
            </a:r>
            <a:endParaRPr lang="en-US" sz="3122" dirty="0"/>
          </a:p>
        </p:txBody>
      </p:sp>
      <p:sp>
        <p:nvSpPr>
          <p:cNvPr id="10" name="Text 8"/>
          <p:cNvSpPr/>
          <p:nvPr/>
        </p:nvSpPr>
        <p:spPr>
          <a:xfrm>
            <a:off x="1238250" y="5810250"/>
            <a:ext cx="4495800" cy="2857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 liệu</a:t>
            </a:r>
            <a:r>
              <a:rPr lang="en-US" sz="27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7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7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xuyên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7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7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6572250" y="4857750"/>
            <a:ext cx="5143500" cy="4000500"/>
          </a:xfrm>
          <a:prstGeom prst="roundRect">
            <a:avLst>
              <a:gd name="adj" fmla="val 5714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6896100" y="5143500"/>
            <a:ext cx="44958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22" dirty="0" spc="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3122" dirty="0" spc="-17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hợp</a:t>
            </a:r>
            <a:endParaRPr lang="en-US" sz="3122" dirty="0"/>
          </a:p>
        </p:txBody>
      </p:sp>
      <p:sp>
        <p:nvSpPr>
          <p:cNvPr id="13" name="Text 11"/>
          <p:cNvSpPr/>
          <p:nvPr/>
        </p:nvSpPr>
        <p:spPr>
          <a:xfrm>
            <a:off x="6896100" y="5810250"/>
            <a:ext cx="4495800" cy="2857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7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 nhanh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12230100" y="4857750"/>
            <a:ext cx="5143500" cy="4000500"/>
          </a:xfrm>
          <a:prstGeom prst="roundRect">
            <a:avLst>
              <a:gd name="adj" fmla="val 5714"/>
            </a:avLst>
          </a:prstGeom>
          <a:solidFill>
            <a:srgbClr val="1E212B"/>
          </a:solidFill>
          <a:ln/>
        </p:spPr>
      </p:sp>
      <p:sp>
        <p:nvSpPr>
          <p:cNvPr id="15" name="Text 13"/>
          <p:cNvSpPr/>
          <p:nvPr/>
        </p:nvSpPr>
        <p:spPr>
          <a:xfrm>
            <a:off x="12553950" y="5143500"/>
            <a:ext cx="44958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22" dirty="0" spc="-6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Luôn</a:t>
            </a:r>
            <a:r>
              <a:rPr lang="en-US" sz="3122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3122" dirty="0"/>
          </a:p>
        </p:txBody>
      </p:sp>
      <p:sp>
        <p:nvSpPr>
          <p:cNvPr id="16" name="Text 14"/>
          <p:cNvSpPr/>
          <p:nvPr/>
        </p:nvSpPr>
        <p:spPr>
          <a:xfrm>
            <a:off x="12553950" y="5810250"/>
            <a:ext cx="4495800" cy="2857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27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thể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27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mất;</a:t>
            </a: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quý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 kho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endParaRPr lang="en-US" sz="2700" dirty="0"/>
          </a:p>
        </p:txBody>
      </p:sp>
      <p:sp>
        <p:nvSpPr>
          <p:cNvPr id="17" name="Shape 15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8" name="Shape 16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9" name="Shape 17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0" name="Shape 18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1" name="Shape 19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2" name="Shape 20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3" name="Shape 21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4" name="Shape 22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5" name="Shape 23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6" name="Text 24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9b705f06-3ea9-4fba-9d35-f459da4b946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4" kern="0" dirty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ĐO</a:t>
            </a:r>
            <a:r>
              <a:rPr lang="en-US" sz="1950" spc="222" kern="0" dirty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GÌ:</a:t>
            </a:r>
            <a:r>
              <a:rPr lang="en-US" sz="1950" spc="225" kern="0" dirty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LỆNH</a:t>
            </a:r>
            <a:r>
              <a:rPr lang="en-US" sz="1950" spc="213" kern="0" dirty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INFO</a:t>
            </a:r>
            <a:r>
              <a:rPr lang="en-US" sz="1950" spc="217" kern="0" dirty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1950" spc="224" kern="0" dirty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REDIS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78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800" dirty="0" spc="-9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xem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8001000" cy="3048000"/>
          </a:xfrm>
          <a:prstGeom prst="roundRect">
            <a:avLst>
              <a:gd name="adj" fmla="val 7500"/>
            </a:avLst>
          </a:prstGeom>
          <a:solidFill>
            <a:srgbClr val="CFE8E2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086100"/>
            <a:ext cx="723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TỶ</a:t>
            </a:r>
            <a:r>
              <a:rPr lang="en-US" sz="21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r>
              <a:rPr lang="en-US" sz="2100" b="1" dirty="0" spc="-1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TRÚNG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295400" y="361950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9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keyspace_hits, keyspace_misses</a:t>
            </a:r>
            <a:endParaRPr lang="en-US" sz="3809" dirty="0"/>
          </a:p>
        </p:txBody>
      </p:sp>
      <p:sp>
        <p:nvSpPr>
          <p:cNvPr id="7" name="Text 5"/>
          <p:cNvSpPr/>
          <p:nvPr/>
        </p:nvSpPr>
        <p:spPr>
          <a:xfrm>
            <a:off x="1295400" y="4476750"/>
            <a:ext cx="72390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hits chia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hits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misses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372600" y="2762250"/>
            <a:ext cx="8001000" cy="3048000"/>
          </a:xfrm>
          <a:prstGeom prst="roundRect">
            <a:avLst>
              <a:gd name="adj" fmla="val 7500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9753600" y="3086100"/>
            <a:ext cx="723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9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1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100" b="1" dirty="0" spc="-7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r>
              <a:rPr lang="en-US" sz="210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753600" y="361950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evicted_keys</a:t>
            </a:r>
            <a:endParaRPr lang="en-US" sz="3900" dirty="0"/>
          </a:p>
        </p:txBody>
      </p:sp>
      <p:sp>
        <p:nvSpPr>
          <p:cNvPr id="11" name="Text 9"/>
          <p:cNvSpPr/>
          <p:nvPr/>
        </p:nvSpPr>
        <p:spPr>
          <a:xfrm>
            <a:off x="9753600" y="4476750"/>
            <a:ext cx="72390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r>
              <a:rPr lang="en-US" sz="25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5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6096000"/>
            <a:ext cx="8001000" cy="2952750"/>
          </a:xfrm>
          <a:prstGeom prst="roundRect">
            <a:avLst>
              <a:gd name="adj" fmla="val 7742"/>
            </a:avLst>
          </a:prstGeom>
          <a:solidFill>
            <a:srgbClr val="E8E0CF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6419850"/>
            <a:ext cx="723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10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295400" y="695325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Bộ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r>
              <a:rPr lang="en-US" sz="3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3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endParaRPr lang="en-US" sz="3900" dirty="0"/>
          </a:p>
        </p:txBody>
      </p:sp>
      <p:sp>
        <p:nvSpPr>
          <p:cNvPr id="15" name="Text 13"/>
          <p:cNvSpPr/>
          <p:nvPr/>
        </p:nvSpPr>
        <p:spPr>
          <a:xfrm>
            <a:off x="1295400" y="7810500"/>
            <a:ext cx="72390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5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372600" y="6096000"/>
            <a:ext cx="8001000" cy="2952750"/>
          </a:xfrm>
          <a:prstGeom prst="roundRect">
            <a:avLst>
              <a:gd name="adj" fmla="val 7742"/>
            </a:avLst>
          </a:prstGeom>
          <a:solidFill>
            <a:srgbClr val="CFE8E2"/>
          </a:solidFill>
          <a:ln/>
        </p:spPr>
      </p:sp>
      <p:sp>
        <p:nvSpPr>
          <p:cNvPr id="17" name="Text 15"/>
          <p:cNvSpPr/>
          <p:nvPr/>
        </p:nvSpPr>
        <p:spPr>
          <a:xfrm>
            <a:off x="9753600" y="6419850"/>
            <a:ext cx="723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LỆNH</a:t>
            </a:r>
            <a:r>
              <a:rPr lang="en-US" sz="21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10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9753600" y="695325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Lệnh</a:t>
            </a:r>
            <a:r>
              <a:rPr lang="en-US" sz="3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r>
              <a:rPr lang="en-US" sz="3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chối</a:t>
            </a:r>
            <a:endParaRPr lang="en-US" sz="3900" dirty="0"/>
          </a:p>
        </p:txBody>
      </p:sp>
      <p:sp>
        <p:nvSpPr>
          <p:cNvPr id="19" name="Text 17"/>
          <p:cNvSpPr/>
          <p:nvPr/>
        </p:nvSpPr>
        <p:spPr>
          <a:xfrm>
            <a:off x="9753600" y="7810500"/>
            <a:ext cx="72390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1" name="Shape 1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2" name="Shape 2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3" name="Shape 2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4" name="Shape 2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5" name="Shape 2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6" name="Shape 2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7" name="Shape 2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8" name="Shape 2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9" name="Text 27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5bc956ab-095c-40d2-883f-208a6181307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6" kern="0" dirty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HẠN</a:t>
            </a:r>
            <a:r>
              <a:rPr lang="en-US" sz="1950" spc="231" kern="0" dirty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SỐNG</a:t>
            </a:r>
            <a:r>
              <a:rPr lang="en-US" sz="1950" spc="172" kern="0" dirty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1950" spc="224" kern="0" dirty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KHỞI ĐỘNG</a:t>
            </a:r>
            <a:r>
              <a:rPr lang="en-US" sz="1950" spc="225" kern="0" dirty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NGUỘI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7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</a:t>
            </a:r>
            <a:r>
              <a:rPr lang="en-US" sz="7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dễ</a:t>
            </a:r>
            <a:r>
              <a:rPr lang="en-US" sz="7800" dirty="0" spc="-6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trượt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8001000" cy="6096000"/>
          </a:xfrm>
          <a:prstGeom prst="roundRect">
            <a:avLst>
              <a:gd name="adj" fmla="val 3750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762250"/>
            <a:ext cx="8001000" cy="95250"/>
          </a:xfrm>
          <a:prstGeom prst="rect">
            <a:avLst/>
          </a:prstGeom>
          <a:solidFill>
            <a:srgbClr val="FF6A4D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3219450"/>
            <a:ext cx="723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1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Hạn</a:t>
            </a:r>
            <a:r>
              <a:rPr lang="en-US" sz="51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sống</a:t>
            </a:r>
            <a:r>
              <a:rPr lang="en-US" sz="5100" dirty="0" spc="-7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(TTL)</a:t>
            </a:r>
            <a:endParaRPr lang="en-US" sz="5100" dirty="0"/>
          </a:p>
        </p:txBody>
      </p:sp>
      <p:sp>
        <p:nvSpPr>
          <p:cNvPr id="7" name="Text richtext-1792371191458-324357107"/>
          <p:cNvSpPr/>
          <p:nvPr/>
        </p:nvSpPr>
        <p:spPr>
          <a:xfrm>
            <a:off x="1295400" y="4476750"/>
            <a:ext cx="7239000" cy="41910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marL="381000" indent="-272202">
              <a:lnSpc>
                <a:spcPts val="3900"/>
              </a:lnSpc>
              <a:spcAft>
                <a:spcPts val="1800"/>
              </a:spcAft>
              <a:buSzPct val="100000"/>
              <a:buFont typeface="Arial"/>
              <a:buChar char="•"/>
            </a:pP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Quá</a:t>
            </a:r>
            <a:r>
              <a:rPr lang="en-US" sz="30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ngắn: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30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30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kịp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 lại</a:t>
            </a:r>
            <a:endParaRPr lang="en-US" sz="3000" dirty="0"/>
          </a:p>
          <a:p>
            <a:pPr algn="l" marL="381000" indent="-272202">
              <a:lnSpc>
                <a:spcPts val="3900"/>
              </a:lnSpc>
              <a:buSzPct val="100000"/>
              <a:buFont typeface="Arial"/>
              <a:buChar char="•"/>
            </a:pP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Quá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dài: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 lâu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9372600" y="2762250"/>
            <a:ext cx="8001000" cy="6096000"/>
          </a:xfrm>
          <a:prstGeom prst="roundRect">
            <a:avLst>
              <a:gd name="adj" fmla="val 3750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2762250"/>
            <a:ext cx="8001000" cy="95250"/>
          </a:xfrm>
          <a:prstGeom prst="rect">
            <a:avLst/>
          </a:prstGeom>
          <a:solidFill>
            <a:srgbClr val="FF6A4D"/>
          </a:solidFill>
          <a:ln/>
        </p:spPr>
      </p:sp>
      <p:sp>
        <p:nvSpPr>
          <p:cNvPr id="10" name="Text 8"/>
          <p:cNvSpPr/>
          <p:nvPr/>
        </p:nvSpPr>
        <p:spPr>
          <a:xfrm>
            <a:off x="9753600" y="3219450"/>
            <a:ext cx="723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100" dirty="0" spc="-2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Khởi</a:t>
            </a:r>
            <a:r>
              <a:rPr lang="en-US" sz="5100" dirty="0" spc="9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r>
              <a:rPr lang="en-US" sz="510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nguội</a:t>
            </a:r>
            <a:endParaRPr lang="en-US" sz="5100" dirty="0"/>
          </a:p>
        </p:txBody>
      </p:sp>
      <p:sp>
        <p:nvSpPr>
          <p:cNvPr id="11" name="Text richtext-1792371191481-470445532"/>
          <p:cNvSpPr/>
          <p:nvPr/>
        </p:nvSpPr>
        <p:spPr>
          <a:xfrm>
            <a:off x="9753600" y="4476750"/>
            <a:ext cx="7239000" cy="41910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marL="381000" indent="-272202">
              <a:lnSpc>
                <a:spcPts val="3900"/>
              </a:lnSpc>
              <a:spcAft>
                <a:spcPts val="1800"/>
              </a:spcAft>
              <a:buSzPct val="100000"/>
              <a:buFont typeface="Arial"/>
              <a:buChar char="•"/>
            </a:pP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</a:t>
            </a:r>
            <a:r>
              <a:rPr lang="en-US" sz="30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3000" dirty="0" spc="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300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300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trượt,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dồn</a:t>
            </a:r>
            <a:r>
              <a:rPr lang="en-US" sz="30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endParaRPr lang="en-US" sz="3000" dirty="0"/>
          </a:p>
          <a:p>
            <a:pPr algn="l" marL="381000" indent="-272202">
              <a:lnSpc>
                <a:spcPts val="3900"/>
              </a:lnSpc>
              <a:buSzPct val="100000"/>
              <a:buFont typeface="Arial"/>
              <a:buChar char="•"/>
            </a:pP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Nạp</a:t>
            </a:r>
            <a:r>
              <a:rPr lang="en-US" sz="30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30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(seed)</a:t>
            </a:r>
            <a:r>
              <a:rPr lang="en-US" sz="300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</a:t>
            </a:r>
            <a:r>
              <a:rPr lang="en-US" sz="30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3000" dirty="0" spc="2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3" name="Shape 11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4" name="Shape 12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5" name="Shape 13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6" name="Shape 14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7" name="Shape 15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8" name="Shape 16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9" name="Shape 17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0" name="Shape 18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1" name="Text 19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97be5c57-60cc-4896-b488-6676629fedd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3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GIỚI</a:t>
            </a:r>
            <a:r>
              <a:rPr lang="en-US" sz="1950" spc="22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HẠN</a:t>
            </a:r>
            <a:r>
              <a:rPr lang="en-US" sz="1950" spc="20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CẦN</a:t>
            </a:r>
            <a:r>
              <a:rPr lang="en-US" sz="1950" spc="22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Số</a:t>
            </a:r>
            <a:r>
              <a:rPr lang="en-US" sz="78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trúng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 của</a:t>
            </a:r>
            <a:r>
              <a:rPr lang="en-US" sz="7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riêng</a:t>
            </a:r>
            <a:r>
              <a:rPr lang="en-US" sz="78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905000"/>
          </a:xfrm>
          <a:prstGeom prst="roundRect">
            <a:avLst>
              <a:gd name="adj" fmla="val 12000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990850"/>
            <a:ext cx="14287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9000" dirty="0"/>
          </a:p>
        </p:txBody>
      </p:sp>
      <p:sp>
        <p:nvSpPr>
          <p:cNvPr id="6" name="Text 4"/>
          <p:cNvSpPr/>
          <p:nvPr/>
        </p:nvSpPr>
        <p:spPr>
          <a:xfrm>
            <a:off x="2857500" y="2857500"/>
            <a:ext cx="14097000" cy="1714500"/>
          </a:xfrm>
          <a:prstGeom prst="rect">
            <a:avLst/>
          </a:prstGeom>
          <a:noFill/>
          <a:ln/>
        </p:spPr>
        <p:txBody>
          <a:bodyPr wrap="square" lIns="0" tIns="24082" rIns="0" bIns="-24082" rtlCol="0" anchor="ctr"/>
          <a:lstStyle/>
          <a:p>
            <a:pPr algn="l" indent="0" marL="0">
              <a:lnSpc>
                <a:spcPts val="4313"/>
              </a:lnSpc>
              <a:buNone/>
            </a:pPr>
            <a:r>
              <a:rPr lang="en-US" sz="3450" dirty="0" spc="-13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Tỷ</a:t>
            </a:r>
            <a:r>
              <a:rPr lang="en-US" sz="34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lệ</a:t>
            </a:r>
            <a:r>
              <a:rPr lang="en-US" sz="34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trúng</a:t>
            </a:r>
            <a:r>
              <a:rPr lang="en-US" sz="34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phụ</a:t>
            </a:r>
            <a:r>
              <a:rPr lang="en-US" sz="34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thuộc</a:t>
            </a:r>
            <a:r>
              <a:rPr lang="en-US" sz="34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kiểu</a:t>
            </a:r>
            <a:r>
              <a:rPr lang="en-US" sz="34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truy</a:t>
            </a:r>
            <a:r>
              <a:rPr lang="en-US" sz="34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cập</a:t>
            </a:r>
            <a:r>
              <a:rPr lang="en-US" sz="34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34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bạn</a:t>
            </a:r>
            <a:endParaRPr lang="en-US" sz="3450" dirty="0"/>
          </a:p>
        </p:txBody>
      </p:sp>
      <p:sp>
        <p:nvSpPr>
          <p:cNvPr id="7" name="Shape 5"/>
          <p:cNvSpPr/>
          <p:nvPr/>
        </p:nvSpPr>
        <p:spPr>
          <a:xfrm>
            <a:off x="914400" y="4953000"/>
            <a:ext cx="16459200" cy="1905000"/>
          </a:xfrm>
          <a:prstGeom prst="roundRect">
            <a:avLst>
              <a:gd name="adj" fmla="val 12000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5181600"/>
            <a:ext cx="14287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0" dirty="0" spc="-4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9000" dirty="0"/>
          </a:p>
        </p:txBody>
      </p:sp>
      <p:sp>
        <p:nvSpPr>
          <p:cNvPr id="9" name="Text 7"/>
          <p:cNvSpPr/>
          <p:nvPr/>
        </p:nvSpPr>
        <p:spPr>
          <a:xfrm>
            <a:off x="2857500" y="5048250"/>
            <a:ext cx="14097000" cy="1714500"/>
          </a:xfrm>
          <a:prstGeom prst="rect">
            <a:avLst/>
          </a:prstGeom>
          <a:noFill/>
          <a:ln/>
        </p:spPr>
        <p:txBody>
          <a:bodyPr wrap="square" lIns="0" tIns="24082" rIns="0" bIns="-24082" rtlCol="0" anchor="ctr"/>
          <a:lstStyle/>
          <a:p>
            <a:pPr algn="l" indent="0" marL="0">
              <a:lnSpc>
                <a:spcPts val="4313"/>
              </a:lnSpc>
              <a:buNone/>
            </a:pPr>
            <a:r>
              <a:rPr lang="en-US" sz="34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Đo</a:t>
            </a:r>
            <a:r>
              <a:rPr lang="en-US" sz="3450" dirty="0" spc="-2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trên</a:t>
            </a:r>
            <a:r>
              <a:rPr lang="en-US" sz="3450" dirty="0" spc="4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lưu</a:t>
            </a:r>
            <a:r>
              <a:rPr lang="en-US" sz="34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lượng</a:t>
            </a:r>
            <a:r>
              <a:rPr lang="en-US" sz="345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thật</a:t>
            </a:r>
            <a:r>
              <a:rPr lang="en-US" sz="3450" dirty="0" spc="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</a:t>
            </a:r>
            <a:r>
              <a:rPr lang="en-US" sz="34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</a:t>
            </a:r>
            <a:r>
              <a:rPr lang="en-US" sz="34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chọn</a:t>
            </a:r>
            <a:r>
              <a:rPr lang="en-US" sz="34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kích</a:t>
            </a:r>
            <a:r>
              <a:rPr lang="en-US" sz="345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thước</a:t>
            </a:r>
            <a:endParaRPr lang="en-US" sz="3450" dirty="0"/>
          </a:p>
        </p:txBody>
      </p:sp>
      <p:sp>
        <p:nvSpPr>
          <p:cNvPr id="10" name="Shape 8"/>
          <p:cNvSpPr/>
          <p:nvPr/>
        </p:nvSpPr>
        <p:spPr>
          <a:xfrm>
            <a:off x="914400" y="7143750"/>
            <a:ext cx="16459200" cy="1905000"/>
          </a:xfrm>
          <a:prstGeom prst="roundRect">
            <a:avLst>
              <a:gd name="adj" fmla="val 12000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7372350"/>
            <a:ext cx="14287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0" dirty="0" spc="-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9000" dirty="0"/>
          </a:p>
        </p:txBody>
      </p:sp>
      <p:sp>
        <p:nvSpPr>
          <p:cNvPr id="12" name="Text 10"/>
          <p:cNvSpPr/>
          <p:nvPr/>
        </p:nvSpPr>
        <p:spPr>
          <a:xfrm>
            <a:off x="2857500" y="7239000"/>
            <a:ext cx="14097000" cy="1714500"/>
          </a:xfrm>
          <a:prstGeom prst="rect">
            <a:avLst/>
          </a:prstGeom>
          <a:noFill/>
          <a:ln/>
        </p:spPr>
        <p:txBody>
          <a:bodyPr wrap="square" lIns="0" tIns="24082" rIns="0" bIns="-24082" rtlCol="0" anchor="ctr"/>
          <a:lstStyle/>
          <a:p>
            <a:pPr algn="l" indent="0" marL="0">
              <a:lnSpc>
                <a:spcPts val="4313"/>
              </a:lnSpc>
              <a:buNone/>
            </a:pPr>
            <a:r>
              <a:rPr lang="en-US" sz="34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Thêm</a:t>
            </a:r>
            <a:r>
              <a:rPr lang="en-US" sz="345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34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nơi</a:t>
            </a:r>
            <a:r>
              <a:rPr lang="en-US" sz="34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dữ</a:t>
            </a:r>
            <a:r>
              <a:rPr lang="en-US" sz="34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</a:t>
            </a:r>
            <a:r>
              <a:rPr lang="en-US" sz="34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cũ,</a:t>
            </a:r>
            <a:r>
              <a:rPr lang="en-US" sz="345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34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hệ</a:t>
            </a:r>
            <a:r>
              <a:rPr lang="en-US" sz="34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thống</a:t>
            </a:r>
            <a:r>
              <a:rPr lang="en-US" sz="3450" dirty="0" spc="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nữa</a:t>
            </a:r>
            <a:endParaRPr lang="en-US" sz="3450" dirty="0"/>
          </a:p>
        </p:txBody>
      </p:sp>
      <p:sp>
        <p:nvSpPr>
          <p:cNvPr id="13" name="Shape 11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4" name="Shape 12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5" name="Shape 13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6" name="Shape 14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7" name="Shape 15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8" name="Shape 16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9" name="Shape 17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0" name="Shape 18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1" name="Shape 19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2" name="Text 20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d66fca51-af0f-49d0-89fb-628e4c05902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3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NHÌN</a:t>
            </a:r>
            <a:r>
              <a:rPr lang="en-US" sz="1950" spc="224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HÌNH</a:t>
            </a:r>
            <a:r>
              <a:rPr lang="en-US" sz="1950" spc="225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TRẢ</a:t>
            </a:r>
            <a:r>
              <a:rPr lang="en-US" sz="1950" spc="199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Trúng</a:t>
            </a:r>
            <a:r>
              <a:rPr lang="en-US" sz="7800" dirty="0" spc="-3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70%,</a:t>
            </a:r>
            <a:r>
              <a:rPr lang="en-US" sz="78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gấp</a:t>
            </a:r>
            <a:r>
              <a:rPr lang="en-US" sz="7800" dirty="0" spc="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đôi</a:t>
            </a:r>
            <a:r>
              <a:rPr lang="en-US" sz="7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78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nhớ?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2571750"/>
            <a:ext cx="7048500" cy="3810000"/>
          </a:xfrm>
          <a:prstGeom prst="rect">
            <a:avLst/>
          </a:prstGeom>
          <a:noFill/>
          <a:ln/>
        </p:spPr>
        <p:txBody>
          <a:bodyPr wrap="square" lIns="0" tIns="228600" rIns="0" bIns="-228600" rtlCol="0" anchor="t"/>
          <a:lstStyle/>
          <a:p>
            <a:pPr algn="l" indent="0" marL="0">
              <a:lnSpc>
                <a:spcPts val="22500"/>
              </a:lnSpc>
              <a:buNone/>
            </a:pPr>
            <a:r>
              <a:rPr lang="en-US" sz="22500" dirty="0" spc="-15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70%</a:t>
            </a:r>
            <a:endParaRPr lang="en-US" sz="22500" dirty="0"/>
          </a:p>
        </p:txBody>
      </p:sp>
      <p:sp>
        <p:nvSpPr>
          <p:cNvPr id="5" name="Text 3"/>
          <p:cNvSpPr/>
          <p:nvPr/>
        </p:nvSpPr>
        <p:spPr>
          <a:xfrm>
            <a:off x="914400" y="5905500"/>
            <a:ext cx="7048500" cy="19050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dirty="0" spc="-4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Trúng</a:t>
            </a:r>
            <a:r>
              <a:rPr lang="en-US" sz="285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70%;</a:t>
            </a:r>
            <a:r>
              <a:rPr lang="en-US" sz="28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nghiệp</a:t>
            </a:r>
            <a:r>
              <a:rPr lang="en-US" sz="285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nghị</a:t>
            </a:r>
            <a:r>
              <a:rPr lang="en-US" sz="28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gấp</a:t>
            </a:r>
            <a:r>
              <a:rPr lang="en-US" sz="285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đôi</a:t>
            </a:r>
            <a:r>
              <a:rPr lang="en-US" sz="28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2850" dirty="0"/>
          </a:p>
        </p:txBody>
      </p:sp>
      <p:sp>
        <p:nvSpPr>
          <p:cNvPr id="6" name="Shape 4"/>
          <p:cNvSpPr/>
          <p:nvPr/>
        </p:nvSpPr>
        <p:spPr>
          <a:xfrm>
            <a:off x="8572500" y="2762250"/>
            <a:ext cx="8801100" cy="1524000"/>
          </a:xfrm>
          <a:prstGeom prst="roundRect">
            <a:avLst>
              <a:gd name="adj" fmla="val 15000"/>
            </a:avLst>
          </a:prstGeom>
          <a:solidFill>
            <a:srgbClr val="F3EEE3"/>
          </a:solidFill>
          <a:ln/>
        </p:spPr>
      </p:sp>
      <p:sp>
        <p:nvSpPr>
          <p:cNvPr id="7" name="Text 5"/>
          <p:cNvSpPr/>
          <p:nvPr/>
        </p:nvSpPr>
        <p:spPr>
          <a:xfrm>
            <a:off x="8915400" y="2819400"/>
            <a:ext cx="8115300" cy="14097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ctr"/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dirty="0" spc="-6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Xem</a:t>
            </a:r>
            <a:r>
              <a:rPr lang="en-US" sz="36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36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36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cấu</a:t>
            </a:r>
            <a:r>
              <a:rPr lang="en-US" sz="36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r>
              <a:rPr lang="en-US" sz="3600" dirty="0" spc="-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36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INFO</a:t>
            </a:r>
            <a:r>
              <a:rPr lang="en-US" sz="3600" dirty="0" spc="-3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r>
              <a:rPr lang="en-US" sz="3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36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đồng</a:t>
            </a:r>
            <a:r>
              <a:rPr lang="en-US" sz="3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ý?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8572500" y="4572000"/>
            <a:ext cx="8801100" cy="4476750"/>
          </a:xfrm>
          <a:prstGeom prst="roundRect">
            <a:avLst>
              <a:gd name="adj" fmla="val 5106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8572500" y="4572000"/>
            <a:ext cx="8801100" cy="95250"/>
          </a:xfrm>
          <a:prstGeom prst="rect">
            <a:avLst/>
          </a:prstGeom>
          <a:solidFill>
            <a:srgbClr val="3DD6A0"/>
          </a:solidFill>
          <a:ln/>
        </p:spPr>
      </p:sp>
      <p:sp>
        <p:nvSpPr>
          <p:cNvPr id="10" name="Text 8"/>
          <p:cNvSpPr/>
          <p:nvPr/>
        </p:nvSpPr>
        <p:spPr>
          <a:xfrm>
            <a:off x="8953500" y="4914900"/>
            <a:ext cx="80391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6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Xem</a:t>
            </a:r>
            <a:r>
              <a:rPr lang="en-US" sz="36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chính sách</a:t>
            </a:r>
            <a:r>
              <a:rPr lang="en-US" sz="3600" dirty="0" spc="-39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endParaRPr lang="en-US" sz="3600" dirty="0"/>
          </a:p>
        </p:txBody>
      </p:sp>
      <p:sp>
        <p:nvSpPr>
          <p:cNvPr id="11" name="Text richtext-1792371195441-842450428"/>
          <p:cNvSpPr/>
          <p:nvPr/>
        </p:nvSpPr>
        <p:spPr>
          <a:xfrm>
            <a:off x="8953500" y="5810250"/>
            <a:ext cx="8039100" cy="31432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700" dirty="0" spc="-3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maxmemory-policy</a:t>
            </a:r>
            <a:r>
              <a:rPr lang="en-US" sz="27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70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7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noeviction,</a:t>
            </a:r>
            <a:r>
              <a:rPr lang="en-US" sz="27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volatile:</a:t>
            </a:r>
            <a:r>
              <a:rPr lang="en-US" sz="270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evicted_keys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luôn</a:t>
            </a:r>
            <a:r>
              <a:rPr lang="en-US" sz="27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</a:t>
            </a:r>
            <a:r>
              <a:rPr lang="en-US" sz="2700" dirty="0" spc="-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 bị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7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khóa:</a:t>
            </a:r>
            <a:r>
              <a:rPr lang="en-US" sz="270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evicted_keys</a:t>
            </a:r>
            <a:r>
              <a:rPr lang="en-US" sz="27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 thì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3" name="Shape 11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4" name="Shape 12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5" name="Shape 13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6" name="Shape 14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7" name="Shape 15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8" name="Shape 16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9" name="Shape 17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0" name="Shape 18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1" name="Text 19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1989f47c-3454-470d-9846-ba4e27c625b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XEM</a:t>
            </a:r>
            <a:r>
              <a:rPr lang="en-US" sz="1950" spc="21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SÂU</a:t>
            </a:r>
            <a:r>
              <a:rPr lang="en-US" sz="1950" spc="224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HƠN:</a:t>
            </a:r>
            <a:r>
              <a:rPr lang="en-US" sz="1950" spc="22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THỬ</a:t>
            </a:r>
            <a:r>
              <a:rPr lang="en-US" sz="1950" spc="224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TRÊN REDIS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7560"/>
              </a:lnSpc>
              <a:buNone/>
            </a:pPr>
            <a:r>
              <a:rPr lang="en-US" sz="72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Thêm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7200" dirty="0" spc="-6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nhớ,</a:t>
            </a:r>
            <a:r>
              <a:rPr lang="en-US" sz="72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trúng</a:t>
            </a:r>
            <a:r>
              <a:rPr lang="en-US" sz="72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r>
              <a:rPr lang="en-US" sz="72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bao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nhiêu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8629650"/>
            <a:ext cx="1645920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10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MB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trúng thêm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6" name="Shape 4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7" name="Shape 5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8" name="Shape 6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9" name="Shape 7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0" name="Shape 8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1" name="Shape 9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2" name="Shape 10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3" name="Shape 11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4" name="Text 12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667000"/>
          <a:ext cx="13716000" cy="914400"/>
        </p:xfrm>
        <a:graphic>
          <a:graphicData uri="http://schemas.openxmlformats.org/drawingml/2006/table">
            <a:tbl>
              <a:tblPr/>
              <a:tblGrid>
                <a:gridCol w="4608576"/>
                <a:gridCol w="5925312"/>
                <a:gridCol w="5925312"/>
              </a:tblGrid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b="1" dirty="0" spc="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Giới</a:t>
                      </a:r>
                      <a:r>
                        <a:rPr lang="en-US" sz="3000" b="1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hạn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b="1" dirty="0" spc="-10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Tỷ</a:t>
                      </a:r>
                      <a:r>
                        <a:rPr lang="en-US" sz="3000" b="1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lệ trúng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b="1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Khóa</a:t>
                      </a:r>
                      <a:r>
                        <a:rPr lang="en-US" sz="3000" b="1" dirty="0" spc="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bị</a:t>
                      </a:r>
                      <a:r>
                        <a:rPr lang="en-US" sz="3000" b="1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đẩy</a:t>
                      </a:r>
                      <a:r>
                        <a:rPr lang="en-US" sz="3000" b="1" dirty="0" spc="-2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ra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-5" kern="0">
                          <a:solidFill>
                            <a:srgbClr val="14161C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2</a:t>
                      </a:r>
                      <a:r>
                        <a:rPr lang="en-US" sz="3000" dirty="0" spc="1" kern="0">
                          <a:solidFill>
                            <a:srgbClr val="14161C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 MB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-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63%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-1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21.024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-6" kern="0">
                          <a:solidFill>
                            <a:srgbClr val="14161C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4</a:t>
                      </a:r>
                      <a:r>
                        <a:rPr lang="en-US" sz="3000" dirty="0" spc="1" kern="0">
                          <a:solidFill>
                            <a:srgbClr val="14161C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 MB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79%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9.620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0" kern="0">
                          <a:solidFill>
                            <a:srgbClr val="14161C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8</a:t>
                      </a:r>
                      <a:r>
                        <a:rPr lang="en-US" sz="3000" dirty="0" spc="1" kern="0">
                          <a:solidFill>
                            <a:srgbClr val="14161C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 MB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88%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549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3" kern="0">
                          <a:solidFill>
                            <a:srgbClr val="E8472B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16</a:t>
                      </a:r>
                      <a:r>
                        <a:rPr lang="en-US" sz="3000" dirty="0" spc="1" kern="0">
                          <a:solidFill>
                            <a:srgbClr val="E8472B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 MB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-2" kern="0">
                          <a:solidFill>
                            <a:srgbClr val="E8472B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88%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-1" kern="0">
                          <a:solidFill>
                            <a:srgbClr val="E8472B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5ac72f4e-78fc-4b4c-937e-a4ff5e1f441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7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TỪ</a:t>
            </a:r>
            <a:r>
              <a:rPr lang="en-US" sz="1950" spc="224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VIẾT</a:t>
            </a:r>
            <a:r>
              <a:rPr lang="en-US" sz="1950" spc="134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TẮT</a:t>
            </a:r>
            <a:r>
              <a:rPr lang="en-US" sz="1950" spc="173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1950" spc="225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Thuật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</a:t>
            </a:r>
            <a:r>
              <a:rPr lang="en-US" sz="78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8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5334000" cy="2476500"/>
          </a:xfrm>
          <a:prstGeom prst="roundRect">
            <a:avLst>
              <a:gd name="adj" fmla="val 7692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2857500"/>
            <a:ext cx="4762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MB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1238250" y="371475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MegaByte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38250" y="4133850"/>
            <a:ext cx="4762500" cy="85725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 spc="-1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Megabyte,</a:t>
            </a:r>
            <a:r>
              <a:rPr lang="en-US" sz="2400" dirty="0" spc="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đơn</a:t>
            </a:r>
            <a:r>
              <a:rPr lang="en-US" sz="2400" dirty="0" spc="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vị</a:t>
            </a:r>
            <a:r>
              <a:rPr lang="en-US" sz="240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dung</a:t>
            </a:r>
            <a:r>
              <a:rPr lang="en-US" sz="2400" dirty="0" spc="6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lượng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477000" y="2667000"/>
            <a:ext cx="5334000" cy="2476500"/>
          </a:xfrm>
          <a:prstGeom prst="roundRect">
            <a:avLst>
              <a:gd name="adj" fmla="val 7692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6800850" y="2857500"/>
            <a:ext cx="4762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TTL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6800850" y="371475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Time</a:t>
            </a:r>
            <a:r>
              <a:rPr lang="en-US" sz="1800" dirty="0" spc="-58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</a:t>
            </a:r>
            <a:r>
              <a:rPr lang="en-US" sz="1800" dirty="0" spc="-10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Live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800850" y="4133850"/>
            <a:ext cx="4762500" cy="85725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 spc="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Thời</a:t>
            </a:r>
            <a:r>
              <a:rPr lang="en-US" sz="2400" dirty="0" spc="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gian</a:t>
            </a:r>
            <a:r>
              <a:rPr lang="en-US" sz="2400" dirty="0" spc="-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sống</a:t>
            </a:r>
            <a:r>
              <a:rPr lang="en-US" sz="24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40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khóa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12039600" y="2667000"/>
            <a:ext cx="5334000" cy="2476500"/>
          </a:xfrm>
          <a:prstGeom prst="roundRect">
            <a:avLst>
              <a:gd name="adj" fmla="val 7692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363450" y="2857500"/>
            <a:ext cx="4762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OOM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12363450" y="371475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2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Out</a:t>
            </a:r>
            <a:r>
              <a:rPr lang="en-US" sz="1800" dirty="0" spc="0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Of</a:t>
            </a:r>
            <a:r>
              <a:rPr lang="en-US" sz="1800" dirty="0" spc="-1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Memory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363450" y="4133850"/>
            <a:ext cx="4762500" cy="85725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 spc="-9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Hết</a:t>
            </a:r>
            <a:r>
              <a:rPr lang="en-US" sz="240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bộ</a:t>
            </a:r>
            <a:r>
              <a:rPr lang="en-US" sz="24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nhớ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14400" y="5429250"/>
            <a:ext cx="16459200" cy="3619500"/>
          </a:xfrm>
          <a:prstGeom prst="roundRect">
            <a:avLst>
              <a:gd name="adj" fmla="val 5263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5657850"/>
            <a:ext cx="571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6" kern="0" dirty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NGUỒN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1658600" y="5657850"/>
            <a:ext cx="533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9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</a:t>
            </a:r>
            <a:endParaRPr lang="en-US" sz="1950" dirty="0"/>
          </a:p>
        </p:txBody>
      </p:sp>
      <p:sp>
        <p:nvSpPr>
          <p:cNvPr id="19" name="Text richtext-1792371218327-690177432"/>
          <p:cNvSpPr/>
          <p:nvPr/>
        </p:nvSpPr>
        <p:spPr>
          <a:xfrm>
            <a:off x="1295400" y="6153150"/>
            <a:ext cx="15697200" cy="2762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Microsoft: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5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5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Redis: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eviction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1" name="Shape 1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2" name="Shape 2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3" name="Shape 2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4" name="Shape 2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5" name="Shape 2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6" name="Shape 2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7" name="Shape 2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9" name="Text 27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01700078-f3c4-4066-8cdd-3d888d05e06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2026-10-19T13:54:26Z</dcterms:created>
  <dcterms:modified xsi:type="dcterms:W3CDTF">2026-10-19T13:54:26Z</dcterms:modified>
</cp:coreProperties>
</file>