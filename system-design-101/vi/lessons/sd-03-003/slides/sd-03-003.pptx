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 SemiBold"/>
      <p:regular r:id="rId17"/>
    </p:embeddedFont>
    <p:embeddedFont>
      <p:font typeface="Bricolage Grotesque ExtraBold"/>
      <p:regular r:id="rId18"/>
    </p:embeddedFont>
    <p:embeddedFont>
      <p:font typeface="Be Vietnam Pro Medium"/>
      <p:regular r:id="rId19"/>
    </p:embeddedFont>
    <p:embeddedFont>
      <p:font typeface="Be Vietnam Pro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2000250"/>
            <a:ext cx="9525000" cy="37338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Dòng</a:t>
            </a:r>
            <a:r>
              <a:rPr lang="en-US" sz="81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dẫn</a:t>
            </a:r>
            <a:r>
              <a:rPr lang="en-US" sz="81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ChatGPT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810250"/>
            <a:ext cx="8953500" cy="1238250"/>
          </a:xfrm>
          <a:prstGeom prst="rect">
            <a:avLst/>
          </a:prstGeom>
          <a:noFill/>
          <a:ln/>
        </p:spPr>
        <p:txBody>
          <a:bodyPr wrap="square" lIns="0" tIns="11986" rIns="0" bIns="-11986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3150" dirty="0" spc="-2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ChatGPT</a:t>
            </a:r>
            <a:r>
              <a:rPr lang="en-US" sz="315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3150" dirty="0" spc="-9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xuất</a:t>
            </a:r>
            <a:r>
              <a:rPr lang="en-US" sz="31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hiện</a:t>
            </a:r>
            <a:r>
              <a:rPr lang="en-US" sz="3150" dirty="0" spc="-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3150" dirty="0" spc="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hư</a:t>
            </a:r>
            <a:r>
              <a:rPr lang="en-US" sz="315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không.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14400" y="752475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Shape 4"/>
          <p:cNvSpPr/>
          <p:nvPr/>
        </p:nvSpPr>
        <p:spPr>
          <a:xfrm>
            <a:off x="10858500" y="14287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0858500" y="14287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11277600" y="16002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5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Trước</a:t>
            </a:r>
            <a:r>
              <a:rPr lang="en-US" sz="330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2017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1277600" y="21717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CNN,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RNN,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GAN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858500" y="31813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8500" y="31813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1277600" y="33528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2017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1277600" y="39243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Transformer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858500" y="49339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58500" y="49339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11277600" y="51054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2018</a:t>
            </a:r>
            <a:r>
              <a:rPr lang="en-US" sz="3300" dirty="0" spc="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330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2020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1277600" y="56769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6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GPT,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GPT-3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0858500" y="66865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58500" y="66865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1277600" y="68580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2022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1277600" y="74295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InstructGPT,</a:t>
            </a:r>
            <a:r>
              <a:rPr lang="en-US" sz="22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ChatGPT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09f25d98-33ce-4e83-9711-0bcdd891975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Chỗ</a:t>
            </a:r>
            <a:r>
              <a:rPr lang="en-US" sz="78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gặp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 của</a:t>
            </a:r>
            <a:r>
              <a:rPr lang="en-US" sz="78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5524500"/>
          </a:xfrm>
          <a:prstGeom prst="roundRect">
            <a:avLst>
              <a:gd name="adj" fmla="val 4286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0515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52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THỨ</a:t>
            </a:r>
            <a:r>
              <a:rPr lang="en-US" sz="1950" spc="148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581400"/>
            <a:ext cx="4572000" cy="2476500"/>
          </a:xfrm>
          <a:prstGeom prst="rect">
            <a:avLst/>
          </a:prstGeom>
          <a:noFill/>
          <a:ln/>
        </p:spPr>
        <p:txBody>
          <a:bodyPr wrap="square" lIns="0" tIns="27622" rIns="0" bIns="-27622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Kiến</a:t>
            </a:r>
            <a:r>
              <a:rPr lang="en-US" sz="43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endParaRPr lang="en-US" sz="4350" dirty="0"/>
          </a:p>
          <a:p>
            <a:pPr algn="l" indent="0" marL="0">
              <a:lnSpc>
                <a:spcPts val="4785"/>
              </a:lnSpc>
              <a:buNone/>
            </a:pPr>
            <a:r>
              <a:rPr lang="en-US" sz="435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Transformer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1295400" y="7048500"/>
            <a:ext cx="457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2017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6477000" y="2762250"/>
            <a:ext cx="5334000" cy="5524500"/>
          </a:xfrm>
          <a:prstGeom prst="roundRect">
            <a:avLst>
              <a:gd name="adj" fmla="val 4286"/>
            </a:avLst>
          </a:prstGeom>
          <a:solidFill>
            <a:srgbClr val="CFE8E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0" y="310515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52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THỨ</a:t>
            </a:r>
            <a:r>
              <a:rPr lang="en-US" sz="1950" spc="149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858000" y="3581400"/>
            <a:ext cx="4572000" cy="2476500"/>
          </a:xfrm>
          <a:prstGeom prst="rect">
            <a:avLst/>
          </a:prstGeom>
          <a:noFill/>
          <a:ln/>
        </p:spPr>
        <p:txBody>
          <a:bodyPr wrap="square" lIns="0" tIns="27622" rIns="0" bIns="-27622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Tiền</a:t>
            </a:r>
            <a:r>
              <a:rPr lang="en-US" sz="43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huấn</a:t>
            </a:r>
            <a:r>
              <a:rPr lang="en-US" sz="43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luyện</a:t>
            </a:r>
            <a:endParaRPr lang="en-US" sz="4350" dirty="0"/>
          </a:p>
          <a:p>
            <a:pPr algn="l" indent="0" marL="0">
              <a:lnSpc>
                <a:spcPts val="4785"/>
              </a:lnSpc>
              <a:buNone/>
            </a:pPr>
            <a:r>
              <a:rPr lang="en-US" sz="435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ở quy</a:t>
            </a:r>
            <a:r>
              <a:rPr lang="en-US" sz="43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435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6858000" y="7048500"/>
            <a:ext cx="457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1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2018</a:t>
            </a:r>
            <a:r>
              <a:rPr lang="en-US" sz="4500" dirty="0" spc="1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4500" dirty="0" spc="-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2020</a:t>
            </a:r>
            <a:endParaRPr lang="en-US" sz="4500" dirty="0"/>
          </a:p>
        </p:txBody>
      </p:sp>
      <p:sp>
        <p:nvSpPr>
          <p:cNvPr id="12" name="Shape 10"/>
          <p:cNvSpPr/>
          <p:nvPr/>
        </p:nvSpPr>
        <p:spPr>
          <a:xfrm>
            <a:off x="12039600" y="2762250"/>
            <a:ext cx="5334000" cy="5524500"/>
          </a:xfrm>
          <a:prstGeom prst="roundRect">
            <a:avLst>
              <a:gd name="adj" fmla="val 4286"/>
            </a:avLst>
          </a:prstGeom>
          <a:solidFill>
            <a:srgbClr val="F8D9D0"/>
          </a:solidFill>
          <a:ln/>
        </p:spPr>
      </p:sp>
      <p:sp>
        <p:nvSpPr>
          <p:cNvPr id="13" name="Text 11"/>
          <p:cNvSpPr/>
          <p:nvPr/>
        </p:nvSpPr>
        <p:spPr>
          <a:xfrm>
            <a:off x="12420600" y="310515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52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THỨ</a:t>
            </a:r>
            <a:r>
              <a:rPr lang="en-US" sz="1950" spc="150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420600" y="35814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27622" rIns="0" bIns="-27622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Dạy</a:t>
            </a:r>
            <a:r>
              <a:rPr lang="en-US" sz="43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43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endParaRPr lang="en-US" sz="4350" dirty="0"/>
          </a:p>
          <a:p>
            <a:pPr algn="l" indent="0" marL="0">
              <a:lnSpc>
                <a:spcPts val="4785"/>
              </a:lnSpc>
              <a:buNone/>
            </a:pPr>
            <a:r>
              <a:rPr lang="en-US" sz="43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43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</a:t>
            </a:r>
            <a:r>
              <a:rPr lang="en-US" sz="43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endParaRPr lang="en-US" sz="4350" dirty="0"/>
          </a:p>
          <a:p>
            <a:pPr algn="l" indent="0" marL="0">
              <a:lnSpc>
                <a:spcPts val="4785"/>
              </a:lnSpc>
              <a:buNone/>
            </a:pPr>
            <a:r>
              <a:rPr lang="en-US" sz="43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phản hồi</a:t>
            </a:r>
            <a:r>
              <a:rPr lang="en-US" sz="43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endParaRPr lang="en-US" sz="4350" dirty="0"/>
          </a:p>
          <a:p>
            <a:pPr algn="l" indent="0" marL="0">
              <a:lnSpc>
                <a:spcPts val="4785"/>
              </a:lnSpc>
              <a:buNone/>
            </a:pPr>
            <a:r>
              <a:rPr lang="en-US" sz="43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</a:t>
            </a:r>
            <a:r>
              <a:rPr lang="en-US" sz="435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4350" dirty="0"/>
          </a:p>
        </p:txBody>
      </p:sp>
      <p:sp>
        <p:nvSpPr>
          <p:cNvPr id="15" name="Text 13"/>
          <p:cNvSpPr/>
          <p:nvPr/>
        </p:nvSpPr>
        <p:spPr>
          <a:xfrm>
            <a:off x="12420600" y="7048500"/>
            <a:ext cx="457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2022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Text 24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1584f2ba-092b-4917-af64-d7c67d49c2d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1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TRƯỚC</a:t>
            </a: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2017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luật</a:t>
            </a:r>
            <a:r>
              <a:rPr lang="en-US" sz="7800" dirty="0" spc="-7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</a:t>
            </a:r>
            <a:r>
              <a:rPr lang="en-US" sz="78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nơ-ron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30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Nhường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CNN</a:t>
            </a:r>
            <a:r>
              <a:rPr lang="en-US" sz="300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RNN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CNN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ảnh,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RNN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GAN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(2014)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Connector line-1792287696507-127333878"/>
          <p:cNvSpPr/>
          <p:nvPr/>
        </p:nvSpPr>
        <p:spPr>
          <a:xfrm>
            <a:off x="8382000" y="3619500"/>
            <a:ext cx="0" cy="371475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8191500" y="3429000"/>
            <a:ext cx="381000" cy="381000"/>
          </a:xfrm>
          <a:prstGeom prst="ellipse">
            <a:avLst/>
          </a:prstGeom>
          <a:solidFill>
            <a:srgbClr val="FBF8F2"/>
          </a:solidFill>
          <a:ln w="57150">
            <a:solidFill>
              <a:srgbClr val="1F3F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91500" y="4667250"/>
            <a:ext cx="381000" cy="381000"/>
          </a:xfrm>
          <a:prstGeom prst="ellipse">
            <a:avLst/>
          </a:prstGeom>
          <a:solidFill>
            <a:srgbClr val="FBF8F2"/>
          </a:solidFill>
          <a:ln w="57150">
            <a:solidFill>
              <a:srgbClr val="1F3F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91500" y="5905500"/>
            <a:ext cx="381000" cy="381000"/>
          </a:xfrm>
          <a:prstGeom prst="ellipse">
            <a:avLst/>
          </a:prstGeom>
          <a:solidFill>
            <a:srgbClr val="FBF8F2"/>
          </a:solidFill>
          <a:ln w="57150">
            <a:solidFill>
              <a:srgbClr val="1F3F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1500" y="7143750"/>
            <a:ext cx="381000" cy="381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9" name="Text 17"/>
          <p:cNvSpPr/>
          <p:nvPr/>
        </p:nvSpPr>
        <p:spPr>
          <a:xfrm>
            <a:off x="8953500" y="3295650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Thập</a:t>
            </a:r>
            <a:r>
              <a:rPr lang="en-US" sz="33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niên</a:t>
            </a:r>
            <a:r>
              <a:rPr lang="en-US" sz="3300" dirty="0" spc="-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1950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8953500" y="3790950"/>
            <a:ext cx="7810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4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953500" y="4533900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Thập</a:t>
            </a:r>
            <a:r>
              <a:rPr lang="en-US" sz="33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niên</a:t>
            </a:r>
            <a:r>
              <a:rPr lang="en-US" sz="3300" dirty="0" spc="-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1980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8953500" y="5029200"/>
            <a:ext cx="7810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953500" y="5772150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1990</a:t>
            </a:r>
            <a:r>
              <a:rPr lang="en-US" sz="3300" dirty="0" spc="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3300" dirty="0" spc="-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2010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8953500" y="6267450"/>
            <a:ext cx="7810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nơ-ron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CNN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RNN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953500" y="7010400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2014</a:t>
            </a:r>
            <a:endParaRPr lang="en-US" sz="3300" dirty="0"/>
          </a:p>
        </p:txBody>
      </p:sp>
      <p:sp>
        <p:nvSpPr>
          <p:cNvPr id="26" name="Text 24"/>
          <p:cNvSpPr/>
          <p:nvPr/>
        </p:nvSpPr>
        <p:spPr>
          <a:xfrm>
            <a:off x="8953500" y="7505700"/>
            <a:ext cx="7810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GAN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001000" y="8172450"/>
            <a:ext cx="895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19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</a:t>
            </a:r>
            <a:r>
              <a:rPr lang="en-US" sz="19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hướng,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19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19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xác.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Text 36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6abf898e-afde-43fe-a143-2dcc0ce6d8d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2017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0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TRANSFORMER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78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attention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952750"/>
            <a:ext cx="5429250" cy="1428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2017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Attention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All</a:t>
            </a:r>
            <a:r>
              <a:rPr lang="en-US" sz="2400" dirty="0" spc="-6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You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857750"/>
            <a:ext cx="5429250" cy="1428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attention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762750"/>
            <a:ext cx="5429250" cy="1428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Huấn</a:t>
            </a:r>
            <a:r>
              <a:rPr lang="en-US" sz="30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 của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31623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Phép</a:t>
            </a:r>
            <a:r>
              <a:rPr lang="en-US" sz="1950" dirty="0" spc="0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lặp</a:t>
            </a:r>
            <a:r>
              <a:rPr lang="en-US" sz="1950" dirty="0" spc="-6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1950" dirty="0" spc="1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chuỗi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657600"/>
            <a:ext cx="1238250" cy="647700"/>
          </a:xfrm>
          <a:prstGeom prst="roundRect">
            <a:avLst>
              <a:gd name="adj" fmla="val 17647"/>
            </a:avLst>
          </a:prstGeom>
          <a:solidFill>
            <a:srgbClr val="2C303D"/>
          </a:solidFill>
          <a:ln w="19050">
            <a:solidFill>
              <a:srgbClr val="A3A09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06000" y="3657600"/>
            <a:ext cx="1238250" cy="647700"/>
          </a:xfrm>
          <a:prstGeom prst="roundRect">
            <a:avLst>
              <a:gd name="adj" fmla="val 17647"/>
            </a:avLst>
          </a:prstGeom>
          <a:solidFill>
            <a:srgbClr val="2C303D"/>
          </a:solidFill>
          <a:ln w="19050">
            <a:solidFill>
              <a:srgbClr val="A3A09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11000" y="3657600"/>
            <a:ext cx="1238250" cy="647700"/>
          </a:xfrm>
          <a:prstGeom prst="roundRect">
            <a:avLst>
              <a:gd name="adj" fmla="val 17647"/>
            </a:avLst>
          </a:prstGeom>
          <a:solidFill>
            <a:srgbClr val="2C303D"/>
          </a:solidFill>
          <a:ln w="19050">
            <a:solidFill>
              <a:srgbClr val="A3A0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0" y="3657600"/>
            <a:ext cx="1238250" cy="647700"/>
          </a:xfrm>
          <a:prstGeom prst="roundRect">
            <a:avLst>
              <a:gd name="adj" fmla="val 17647"/>
            </a:avLst>
          </a:prstGeom>
          <a:solidFill>
            <a:srgbClr val="2C303D"/>
          </a:solidFill>
          <a:ln w="19050">
            <a:solidFill>
              <a:srgbClr val="A3A095"/>
            </a:solidFill>
            <a:prstDash val="solid"/>
          </a:ln>
        </p:spPr>
      </p:sp>
      <p:sp>
        <p:nvSpPr>
          <p:cNvPr id="19" name="Connector line-1792287734567-431882905"/>
          <p:cNvSpPr/>
          <p:nvPr/>
        </p:nvSpPr>
        <p:spPr>
          <a:xfrm>
            <a:off x="9315450" y="3981450"/>
            <a:ext cx="514350" cy="0"/>
          </a:xfrm>
          <a:prstGeom prst="line">
            <a:avLst/>
          </a:prstGeom>
          <a:noFill/>
          <a:ln w="38100">
            <a:solidFill>
              <a:srgbClr val="A3A095"/>
            </a:solidFill>
            <a:prstDash val="solid"/>
            <a:headEnd type="none"/>
            <a:tailEnd type="triangle"/>
          </a:ln>
        </p:spPr>
      </p:sp>
      <p:sp>
        <p:nvSpPr>
          <p:cNvPr id="20" name="Connector line-1792287734568-706904598"/>
          <p:cNvSpPr/>
          <p:nvPr/>
        </p:nvSpPr>
        <p:spPr>
          <a:xfrm>
            <a:off x="11220450" y="3981450"/>
            <a:ext cx="514350" cy="0"/>
          </a:xfrm>
          <a:prstGeom prst="line">
            <a:avLst/>
          </a:prstGeom>
          <a:noFill/>
          <a:ln w="38100">
            <a:solidFill>
              <a:srgbClr val="A3A095"/>
            </a:solidFill>
            <a:prstDash val="solid"/>
            <a:headEnd type="none"/>
            <a:tailEnd type="triangle"/>
          </a:ln>
        </p:spPr>
      </p:sp>
      <p:sp>
        <p:nvSpPr>
          <p:cNvPr id="21" name="Connector line-1792287734568-479729727"/>
          <p:cNvSpPr/>
          <p:nvPr/>
        </p:nvSpPr>
        <p:spPr>
          <a:xfrm>
            <a:off x="13125450" y="3981450"/>
            <a:ext cx="514350" cy="0"/>
          </a:xfrm>
          <a:prstGeom prst="line">
            <a:avLst/>
          </a:prstGeom>
          <a:noFill/>
          <a:ln w="38100">
            <a:solidFill>
              <a:srgbClr val="A3A095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5430500" y="3657600"/>
            <a:ext cx="1562100" cy="6477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A3A09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41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Tuần</a:t>
            </a:r>
            <a:r>
              <a:rPr lang="en-US" sz="2100" dirty="0" spc="-1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endParaRPr lang="en-US" sz="2100" dirty="0"/>
          </a:p>
        </p:txBody>
      </p:sp>
      <p:sp>
        <p:nvSpPr>
          <p:cNvPr id="23" name="Connector line-1792287734572-764768589"/>
          <p:cNvSpPr/>
          <p:nvPr/>
        </p:nvSpPr>
        <p:spPr>
          <a:xfrm>
            <a:off x="8001000" y="4953000"/>
            <a:ext cx="8991600" cy="0"/>
          </a:xfrm>
          <a:prstGeom prst="line">
            <a:avLst/>
          </a:prstGeom>
          <a:noFill/>
          <a:ln w="19050">
            <a:solidFill>
              <a:srgbClr val="3A3F50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8001000" y="52578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Chỉ</a:t>
            </a:r>
            <a:r>
              <a:rPr lang="en-US" sz="195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195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195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r>
              <a:rPr lang="en-US" sz="1950" dirty="0" spc="-1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attention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8001000" y="5753100"/>
            <a:ext cx="6953250" cy="685800"/>
          </a:xfrm>
          <a:prstGeom prst="roundRect">
            <a:avLst>
              <a:gd name="adj" fmla="val 19444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attention</a:t>
            </a:r>
            <a:endParaRPr lang="en-US" sz="2850" dirty="0"/>
          </a:p>
        </p:txBody>
      </p:sp>
      <p:sp>
        <p:nvSpPr>
          <p:cNvPr id="26" name="Connector line-1792287734576-582022469"/>
          <p:cNvSpPr/>
          <p:nvPr/>
        </p:nvSpPr>
        <p:spPr>
          <a:xfrm>
            <a:off x="8620125" y="6438900"/>
            <a:ext cx="0" cy="59055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001000" y="7143750"/>
            <a:ext cx="1238250" cy="647700"/>
          </a:xfrm>
          <a:prstGeom prst="roundRect">
            <a:avLst>
              <a:gd name="adj" fmla="val 17647"/>
            </a:avLst>
          </a:prstGeom>
          <a:solidFill>
            <a:srgbClr val="2C303D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8" name="Connector line-1792287734577-842868714"/>
          <p:cNvSpPr/>
          <p:nvPr/>
        </p:nvSpPr>
        <p:spPr>
          <a:xfrm>
            <a:off x="10525125" y="6438900"/>
            <a:ext cx="0" cy="59055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906000" y="7143750"/>
            <a:ext cx="1238250" cy="647700"/>
          </a:xfrm>
          <a:prstGeom prst="roundRect">
            <a:avLst>
              <a:gd name="adj" fmla="val 17647"/>
            </a:avLst>
          </a:prstGeom>
          <a:solidFill>
            <a:srgbClr val="2C303D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30" name="Connector line-1792287734577-354526544"/>
          <p:cNvSpPr/>
          <p:nvPr/>
        </p:nvSpPr>
        <p:spPr>
          <a:xfrm>
            <a:off x="12430125" y="6438900"/>
            <a:ext cx="0" cy="59055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1811000" y="7143750"/>
            <a:ext cx="1238250" cy="647700"/>
          </a:xfrm>
          <a:prstGeom prst="roundRect">
            <a:avLst>
              <a:gd name="adj" fmla="val 17647"/>
            </a:avLst>
          </a:prstGeom>
          <a:solidFill>
            <a:srgbClr val="2C303D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32" name="Connector line-1792287734577-571317876"/>
          <p:cNvSpPr/>
          <p:nvPr/>
        </p:nvSpPr>
        <p:spPr>
          <a:xfrm>
            <a:off x="14335125" y="6438900"/>
            <a:ext cx="0" cy="59055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3716000" y="7143750"/>
            <a:ext cx="1238250" cy="647700"/>
          </a:xfrm>
          <a:prstGeom prst="roundRect">
            <a:avLst>
              <a:gd name="adj" fmla="val 17647"/>
            </a:avLst>
          </a:prstGeom>
          <a:solidFill>
            <a:srgbClr val="2C303D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430500" y="7143750"/>
            <a:ext cx="1562100" cy="6477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Song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6" name="Shape 3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7" name="Shape 3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8" name="Shape 3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9" name="Shape 3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0" name="Shape 3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1" name="Shape 3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2" name="Shape 4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3" name="Shape 4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4" name="Shape 42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5" name="Text 43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2c64f408-a23e-4113-818e-4515da7aadd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5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2018</a:t>
            </a:r>
            <a:r>
              <a:rPr lang="en-US" sz="1950" spc="223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1950" spc="224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2020 ·</a:t>
            </a:r>
            <a:r>
              <a:rPr lang="en-US" sz="1950" spc="214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GPT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Tiền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huấn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luyện</a:t>
            </a:r>
            <a:r>
              <a:rPr lang="en-US" sz="78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952750"/>
            <a:ext cx="5429250" cy="1428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30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GPT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Huấn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857750"/>
            <a:ext cx="5429250" cy="1428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GPT-3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(2020)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175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762750"/>
            <a:ext cx="5429250" cy="1428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30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cập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0" y="3238500"/>
            <a:ext cx="2571750" cy="1619250"/>
          </a:xfrm>
          <a:prstGeom prst="roundRect">
            <a:avLst>
              <a:gd name="adj" fmla="val 11765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91500" y="3333750"/>
            <a:ext cx="2190750" cy="14287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ctr" indent="0" marL="0">
              <a:lnSpc>
                <a:spcPts val="3563"/>
              </a:lnSpc>
              <a:buNone/>
            </a:pPr>
            <a:r>
              <a:rPr lang="en-US" sz="2850" b="1" dirty="0" spc="-5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Văn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850" dirty="0"/>
          </a:p>
          <a:p>
            <a:pPr algn="ctr" indent="0" marL="0">
              <a:lnSpc>
                <a:spcPts val="3563"/>
              </a:lnSpc>
              <a:buNone/>
            </a:pPr>
            <a:r>
              <a:rPr lang="en-US" sz="285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rất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850" dirty="0"/>
          </a:p>
        </p:txBody>
      </p:sp>
      <p:sp>
        <p:nvSpPr>
          <p:cNvPr id="16" name="Connector line-1792287756779-700652225"/>
          <p:cNvSpPr/>
          <p:nvPr/>
        </p:nvSpPr>
        <p:spPr>
          <a:xfrm>
            <a:off x="10706100" y="4048125"/>
            <a:ext cx="5334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1372850" y="3238500"/>
            <a:ext cx="2571750" cy="1619250"/>
          </a:xfrm>
          <a:prstGeom prst="roundRect">
            <a:avLst>
              <a:gd name="adj" fmla="val 11765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563350" y="3333750"/>
            <a:ext cx="2190750" cy="14287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ctr" indent="0" marL="0">
              <a:lnSpc>
                <a:spcPts val="3563"/>
              </a:lnSpc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Tiền</a:t>
            </a:r>
            <a:endParaRPr lang="en-US" sz="2850" dirty="0"/>
          </a:p>
          <a:p>
            <a:pPr algn="ctr" indent="0" marL="0">
              <a:lnSpc>
                <a:spcPts val="3563"/>
              </a:lnSpc>
              <a:buNone/>
            </a:pP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huấn</a:t>
            </a:r>
            <a:r>
              <a:rPr lang="en-US" sz="28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endParaRPr lang="en-US" sz="2850" dirty="0"/>
          </a:p>
        </p:txBody>
      </p:sp>
      <p:sp>
        <p:nvSpPr>
          <p:cNvPr id="19" name="Connector line-1792287756782-121507702"/>
          <p:cNvSpPr/>
          <p:nvPr/>
        </p:nvSpPr>
        <p:spPr>
          <a:xfrm>
            <a:off x="14077950" y="4048125"/>
            <a:ext cx="5334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4744700" y="3238500"/>
            <a:ext cx="2247900" cy="1619250"/>
          </a:xfrm>
          <a:prstGeom prst="roundRect">
            <a:avLst>
              <a:gd name="adj" fmla="val 11765"/>
            </a:avLst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14839950" y="3333750"/>
            <a:ext cx="20574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GPT-3</a:t>
            </a:r>
            <a:endParaRPr lang="en-US" sz="4200" dirty="0"/>
          </a:p>
        </p:txBody>
      </p:sp>
      <p:sp>
        <p:nvSpPr>
          <p:cNvPr id="22" name="Shape 20"/>
          <p:cNvSpPr/>
          <p:nvPr/>
        </p:nvSpPr>
        <p:spPr>
          <a:xfrm>
            <a:off x="8001000" y="5334000"/>
            <a:ext cx="4000500" cy="3048000"/>
          </a:xfrm>
          <a:prstGeom prst="roundRect">
            <a:avLst>
              <a:gd name="adj" fmla="val 6250"/>
            </a:avLst>
          </a:prstGeom>
          <a:solidFill>
            <a:srgbClr val="CFE8E2"/>
          </a:solidFill>
          <a:ln/>
        </p:spPr>
      </p:sp>
      <p:sp>
        <p:nvSpPr>
          <p:cNvPr id="23" name="Text 21"/>
          <p:cNvSpPr/>
          <p:nvPr/>
        </p:nvSpPr>
        <p:spPr>
          <a:xfrm>
            <a:off x="8286750" y="5619750"/>
            <a:ext cx="3429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0" dirty="0" spc="-39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175</a:t>
            </a:r>
            <a:r>
              <a:rPr lang="en-US" sz="825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tỷ</a:t>
            </a:r>
            <a:endParaRPr lang="en-US" sz="8250" dirty="0"/>
          </a:p>
        </p:txBody>
      </p:sp>
      <p:sp>
        <p:nvSpPr>
          <p:cNvPr id="24" name="Text 22"/>
          <p:cNvSpPr/>
          <p:nvPr/>
        </p:nvSpPr>
        <p:spPr>
          <a:xfrm>
            <a:off x="8286750" y="7048500"/>
            <a:ext cx="3429000" cy="9525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tham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0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GPT-3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2668250" y="5334000"/>
            <a:ext cx="4324350" cy="7239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Mô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4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prompt</a:t>
            </a:r>
            <a:endParaRPr lang="en-US" sz="2400" dirty="0"/>
          </a:p>
        </p:txBody>
      </p:sp>
      <p:sp>
        <p:nvSpPr>
          <p:cNvPr id="26" name="Connector line-1792287756794-431916817"/>
          <p:cNvSpPr/>
          <p:nvPr/>
        </p:nvSpPr>
        <p:spPr>
          <a:xfrm>
            <a:off x="14830425" y="6134100"/>
            <a:ext cx="0" cy="57150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2668250" y="6819900"/>
            <a:ext cx="4324350" cy="7239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2668250" y="7810500"/>
            <a:ext cx="43243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2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2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9" name="Text 37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35b8cb1c-db37-4c9c-b61d-1e3c64c42bd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2022</a:t>
            </a:r>
            <a:r>
              <a:rPr lang="en-US" sz="1950" spc="225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197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INSTRUCTGPT</a:t>
            </a:r>
            <a:r>
              <a:rPr lang="en-US" sz="1950" spc="173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184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CHATGPT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Dạy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 dẫn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952750"/>
            <a:ext cx="5429250" cy="1428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InstructGPT</a:t>
            </a:r>
            <a:r>
              <a:rPr lang="en-US" sz="30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(3/2022)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Tinh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 bằng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857750"/>
            <a:ext cx="5429250" cy="1428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ChatGPT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(30/11/2022)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Phương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762750"/>
            <a:ext cx="5429250" cy="1428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3000" b="1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miễn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31623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Cách</a:t>
            </a:r>
            <a:r>
              <a:rPr lang="en-US" sz="1950" dirty="0" spc="-7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InstructGPT</a:t>
            </a:r>
            <a:r>
              <a:rPr lang="en-US" sz="1950" dirty="0" spc="7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1950" dirty="0" spc="-7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dạy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657600"/>
            <a:ext cx="2762250" cy="1905000"/>
          </a:xfrm>
          <a:prstGeom prst="roundRect">
            <a:avLst>
              <a:gd name="adj" fmla="val 10000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1500" y="3752850"/>
            <a:ext cx="2381250" cy="1714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550" dirty="0"/>
          </a:p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endParaRPr lang="en-US" sz="2550" dirty="0"/>
          </a:p>
        </p:txBody>
      </p:sp>
      <p:sp>
        <p:nvSpPr>
          <p:cNvPr id="17" name="Connector line-1792287774315-336022359"/>
          <p:cNvSpPr/>
          <p:nvPr/>
        </p:nvSpPr>
        <p:spPr>
          <a:xfrm>
            <a:off x="10877550" y="4610100"/>
            <a:ext cx="49530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487150" y="3657600"/>
            <a:ext cx="2762250" cy="1905000"/>
          </a:xfrm>
          <a:prstGeom prst="roundRect">
            <a:avLst>
              <a:gd name="adj" fmla="val 10000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677650" y="3752850"/>
            <a:ext cx="2381250" cy="1714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endParaRPr lang="en-US" sz="2550" dirty="0"/>
          </a:p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của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2550" dirty="0"/>
          </a:p>
        </p:txBody>
      </p:sp>
      <p:sp>
        <p:nvSpPr>
          <p:cNvPr id="20" name="Connector line-1792287774318-607041084"/>
          <p:cNvSpPr/>
          <p:nvPr/>
        </p:nvSpPr>
        <p:spPr>
          <a:xfrm>
            <a:off x="14363700" y="4610100"/>
            <a:ext cx="49530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4973300" y="3657600"/>
            <a:ext cx="2019300" cy="1905000"/>
          </a:xfrm>
          <a:prstGeom prst="roundRect">
            <a:avLst>
              <a:gd name="adj" fmla="val 10000"/>
            </a:avLst>
          </a:prstGeom>
          <a:solidFill>
            <a:srgbClr val="FF6A4D"/>
          </a:solidFill>
          <a:ln/>
        </p:spPr>
      </p:sp>
      <p:sp>
        <p:nvSpPr>
          <p:cNvPr id="22" name="Text 20"/>
          <p:cNvSpPr/>
          <p:nvPr/>
        </p:nvSpPr>
        <p:spPr>
          <a:xfrm>
            <a:off x="15068550" y="3752850"/>
            <a:ext cx="1828800" cy="1714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endParaRPr lang="en-US" sz="2550" dirty="0"/>
          </a:p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cường</a:t>
            </a:r>
            <a:endParaRPr lang="en-US" sz="2550" dirty="0"/>
          </a:p>
        </p:txBody>
      </p:sp>
      <p:sp>
        <p:nvSpPr>
          <p:cNvPr id="23" name="Connector line-1792287774320-295998836"/>
          <p:cNvSpPr/>
          <p:nvPr/>
        </p:nvSpPr>
        <p:spPr>
          <a:xfrm>
            <a:off x="8001000" y="6096000"/>
            <a:ext cx="8991600" cy="0"/>
          </a:xfrm>
          <a:prstGeom prst="line">
            <a:avLst/>
          </a:prstGeom>
          <a:noFill/>
          <a:ln w="19050">
            <a:solidFill>
              <a:srgbClr val="3A3F50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8001000" y="6572250"/>
            <a:ext cx="4191000" cy="857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3/2022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InstructGPT</a:t>
            </a:r>
            <a:endParaRPr lang="en-US" sz="2400" dirty="0"/>
          </a:p>
        </p:txBody>
      </p:sp>
      <p:sp>
        <p:nvSpPr>
          <p:cNvPr id="25" name="Connector line-1792287774322-265708523"/>
          <p:cNvSpPr/>
          <p:nvPr/>
        </p:nvSpPr>
        <p:spPr>
          <a:xfrm>
            <a:off x="12344400" y="7000875"/>
            <a:ext cx="60960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3106400" y="6572250"/>
            <a:ext cx="3886200" cy="857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30/11/2022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ChatGPT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001000" y="7715250"/>
            <a:ext cx="8991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ChatGPT</a:t>
            </a:r>
            <a:r>
              <a:rPr lang="en-US" sz="225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250" dirty="0" spc="8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250" dirty="0" spc="0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25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-18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250" dirty="0" spc="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25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miễn</a:t>
            </a:r>
            <a:r>
              <a:rPr lang="en-US" sz="2250" dirty="0" spc="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phí.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9" name="Shape 2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0" name="Shape 2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1" name="Shape 2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2" name="Shape 3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3" name="Shape 3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5" name="Shape 3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6" name="Shape 3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7" name="Shape 35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8" name="Text 36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6aef6ce6-665f-459b-a1a7-9f36c18dad6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8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lát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cắt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861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0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</a:t>
            </a:r>
            <a:r>
              <a:rPr lang="en-US" sz="1950" spc="150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THỜI</a:t>
            </a:r>
            <a:r>
              <a:rPr lang="en-US" sz="1950" spc="149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KỲ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54330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25718" rIns="0" bIns="-25718" rtlCol="0" anchor="t"/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40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Chồng</a:t>
            </a:r>
            <a:r>
              <a:rPr lang="en-US" sz="40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40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4050" dirty="0"/>
          </a:p>
        </p:txBody>
      </p:sp>
      <p:sp>
        <p:nvSpPr>
          <p:cNvPr id="7" name="Shape 5"/>
          <p:cNvSpPr/>
          <p:nvPr/>
        </p:nvSpPr>
        <p:spPr>
          <a:xfrm>
            <a:off x="1295400" y="5143500"/>
            <a:ext cx="3048000" cy="495300"/>
          </a:xfrm>
          <a:prstGeom prst="roundRect">
            <a:avLst>
              <a:gd name="adj" fmla="val 26923"/>
            </a:avLst>
          </a:prstGeom>
          <a:solidFill>
            <a:srgbClr val="1F3FD1"/>
          </a:solidFill>
          <a:ln/>
        </p:spPr>
      </p:sp>
      <p:sp>
        <p:nvSpPr>
          <p:cNvPr id="8" name="Shape 6"/>
          <p:cNvSpPr/>
          <p:nvPr/>
        </p:nvSpPr>
        <p:spPr>
          <a:xfrm>
            <a:off x="2247900" y="5791200"/>
            <a:ext cx="3048000" cy="495300"/>
          </a:xfrm>
          <a:prstGeom prst="roundRect">
            <a:avLst>
              <a:gd name="adj" fmla="val 26923"/>
            </a:avLst>
          </a:prstGeom>
          <a:solidFill>
            <a:srgbClr val="B45309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0" y="6438900"/>
            <a:ext cx="2667000" cy="495300"/>
          </a:xfrm>
          <a:prstGeom prst="roundRect">
            <a:avLst>
              <a:gd name="adj" fmla="val 26923"/>
            </a:avLst>
          </a:prstGeom>
          <a:solidFill>
            <a:srgbClr val="0F766E"/>
          </a:solidFill>
          <a:ln/>
        </p:spPr>
      </p:sp>
      <p:sp>
        <p:nvSpPr>
          <p:cNvPr id="10" name="Shape 8"/>
          <p:cNvSpPr/>
          <p:nvPr/>
        </p:nvSpPr>
        <p:spPr>
          <a:xfrm>
            <a:off x="64770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30861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49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1950" spc="150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MỐC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858000" y="354330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25718" rIns="0" bIns="-25718" rtlCol="0" anchor="t"/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40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Gồm</a:t>
            </a:r>
            <a:r>
              <a:rPr lang="en-US" sz="40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endParaRPr lang="en-US" sz="4050" dirty="0"/>
          </a:p>
          <a:p>
            <a:pPr algn="l" indent="0" marL="0">
              <a:lnSpc>
                <a:spcPts val="4455"/>
              </a:lnSpc>
              <a:buNone/>
            </a:pPr>
            <a:r>
              <a:rPr lang="en-US" sz="40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công</a:t>
            </a:r>
            <a:r>
              <a:rPr lang="en-US" sz="405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4050" dirty="0"/>
          </a:p>
        </p:txBody>
      </p:sp>
      <p:sp>
        <p:nvSpPr>
          <p:cNvPr id="13" name="Shape 11"/>
          <p:cNvSpPr/>
          <p:nvPr/>
        </p:nvSpPr>
        <p:spPr>
          <a:xfrm>
            <a:off x="6858000" y="5334000"/>
            <a:ext cx="4191000" cy="1619250"/>
          </a:xfrm>
          <a:prstGeom prst="roundRect">
            <a:avLst>
              <a:gd name="adj" fmla="val 11765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43750" y="5715000"/>
            <a:ext cx="1047750" cy="857250"/>
          </a:xfrm>
          <a:prstGeom prst="roundRect">
            <a:avLst>
              <a:gd name="adj" fmla="val 13333"/>
            </a:avLst>
          </a:prstGeom>
          <a:solidFill>
            <a:srgbClr val="B45309"/>
          </a:solidFill>
          <a:ln/>
        </p:spPr>
      </p:sp>
      <p:sp>
        <p:nvSpPr>
          <p:cNvPr id="15" name="Shape 13"/>
          <p:cNvSpPr/>
          <p:nvPr/>
        </p:nvSpPr>
        <p:spPr>
          <a:xfrm>
            <a:off x="8382000" y="5715000"/>
            <a:ext cx="1047750" cy="857250"/>
          </a:xfrm>
          <a:prstGeom prst="roundRect">
            <a:avLst>
              <a:gd name="adj" fmla="val 13333"/>
            </a:avLst>
          </a:prstGeom>
          <a:solidFill>
            <a:srgbClr val="B45309"/>
          </a:solidFill>
          <a:ln/>
        </p:spPr>
      </p:sp>
      <p:sp>
        <p:nvSpPr>
          <p:cNvPr id="16" name="Shape 14"/>
          <p:cNvSpPr/>
          <p:nvPr/>
        </p:nvSpPr>
        <p:spPr>
          <a:xfrm>
            <a:off x="9620250" y="5715000"/>
            <a:ext cx="1047750" cy="857250"/>
          </a:xfrm>
          <a:prstGeom prst="roundRect">
            <a:avLst>
              <a:gd name="adj" fmla="val 13333"/>
            </a:avLst>
          </a:prstGeom>
          <a:solidFill>
            <a:srgbClr val="B45309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396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E8E0CF"/>
          </a:solidFill>
          <a:ln/>
        </p:spPr>
      </p:sp>
      <p:sp>
        <p:nvSpPr>
          <p:cNvPr id="18" name="Text 16"/>
          <p:cNvSpPr/>
          <p:nvPr/>
        </p:nvSpPr>
        <p:spPr>
          <a:xfrm>
            <a:off x="12420600" y="30861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1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1950" spc="10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MẮT</a:t>
            </a:r>
            <a:r>
              <a:rPr lang="en-US" sz="1950" spc="151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XÍCH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420600" y="354330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25718" rIns="0" bIns="-25718" rtlCol="0" anchor="t"/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405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2017</a:t>
            </a:r>
            <a:r>
              <a:rPr lang="en-US" sz="40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tự</a:t>
            </a:r>
            <a:endParaRPr lang="en-US" sz="4050" dirty="0"/>
          </a:p>
          <a:p>
            <a:pPr algn="l" indent="0" marL="0">
              <a:lnSpc>
                <a:spcPts val="4455"/>
              </a:lnSpc>
              <a:buNone/>
            </a:pPr>
            <a:r>
              <a:rPr lang="en-US" sz="405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tạo</a:t>
            </a:r>
            <a:r>
              <a:rPr lang="en-US" sz="405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40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ChatGPT</a:t>
            </a:r>
            <a:endParaRPr lang="en-US" sz="4050" dirty="0"/>
          </a:p>
        </p:txBody>
      </p:sp>
      <p:sp>
        <p:nvSpPr>
          <p:cNvPr id="20" name="Connector line-1792287798009-658179858"/>
          <p:cNvSpPr/>
          <p:nvPr/>
        </p:nvSpPr>
        <p:spPr>
          <a:xfrm>
            <a:off x="12706350" y="6096000"/>
            <a:ext cx="38100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2401550" y="5791200"/>
            <a:ext cx="609600" cy="6096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22" name="Shape 20"/>
          <p:cNvSpPr/>
          <p:nvPr/>
        </p:nvSpPr>
        <p:spPr>
          <a:xfrm>
            <a:off x="13554075" y="5676900"/>
            <a:ext cx="838200" cy="838200"/>
          </a:xfrm>
          <a:prstGeom prst="ellipse">
            <a:avLst/>
          </a:prstGeom>
          <a:solidFill>
            <a:srgbClr val="B45309"/>
          </a:solidFill>
          <a:ln w="47625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935200" y="5791200"/>
            <a:ext cx="609600" cy="6096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4" name="Shape 22"/>
          <p:cNvSpPr/>
          <p:nvPr/>
        </p:nvSpPr>
        <p:spPr>
          <a:xfrm>
            <a:off x="16211550" y="5791200"/>
            <a:ext cx="609600" cy="6096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Text 23"/>
          <p:cNvSpPr/>
          <p:nvPr/>
        </p:nvSpPr>
        <p:spPr>
          <a:xfrm>
            <a:off x="13211175" y="6667500"/>
            <a:ext cx="152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2017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27" name="Text 25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652" rIns="0" bIns="-7652" rtlCol="0" anchor="ctr"/>
          <a:lstStyle/>
          <a:p>
            <a:pPr algn="l" indent="0" marL="0">
              <a:lnSpc>
                <a:spcPts val="4313"/>
              </a:lnSpc>
              <a:buNone/>
            </a:pPr>
            <a:r>
              <a:rPr lang="en-US" sz="345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Đừng</a:t>
            </a:r>
            <a:r>
              <a:rPr lang="en-US" sz="345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“2017”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</a:t>
            </a:r>
            <a:r>
              <a:rPr lang="en-US" sz="34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 bài</a:t>
            </a: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34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</a:t>
            </a:r>
            <a:r>
              <a:rPr lang="en-US" sz="345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345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ChatGPT.</a:t>
            </a:r>
            <a:endParaRPr lang="en-US" sz="3450" dirty="0"/>
          </a:p>
        </p:txBody>
      </p:sp>
      <p:sp>
        <p:nvSpPr>
          <p:cNvPr id="28" name="Shape 2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Text 36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c8649e57-b39c-4248-abdb-bc00615c2be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4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1950" spc="223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1950" spc="224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8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8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5905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004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28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149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3771900"/>
            <a:ext cx="5334000" cy="4572000"/>
          </a:xfrm>
          <a:prstGeom prst="rect">
            <a:avLst/>
          </a:prstGeom>
          <a:noFill/>
          <a:ln/>
        </p:spPr>
        <p:txBody>
          <a:bodyPr wrap="square" lIns="0" tIns="13129" rIns="0" bIns="-13129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Điều</a:t>
            </a:r>
            <a:r>
              <a:rPr lang="en-US" sz="34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gì</a:t>
            </a:r>
            <a:r>
              <a:rPr lang="en-US" sz="34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phân</a:t>
            </a:r>
            <a:r>
              <a:rPr lang="en-US" sz="34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biệt</a:t>
            </a:r>
            <a:r>
              <a:rPr lang="en-US" sz="34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InstructGPT</a:t>
            </a:r>
            <a:r>
              <a:rPr lang="en-US" sz="34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34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34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34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34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34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tiền</a:t>
            </a:r>
            <a:r>
              <a:rPr lang="en-US" sz="34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huấn</a:t>
            </a:r>
            <a:r>
              <a:rPr lang="en-US" sz="34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luyện</a:t>
            </a:r>
            <a:r>
              <a:rPr lang="en-US" sz="34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</a:t>
            </a:r>
            <a:r>
              <a:rPr lang="en-US" sz="34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GPT-3?</a:t>
            </a:r>
            <a:endParaRPr lang="en-US" sz="3450" dirty="0"/>
          </a:p>
        </p:txBody>
      </p:sp>
      <p:sp>
        <p:nvSpPr>
          <p:cNvPr id="8" name="Shape 6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0" y="32004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24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1950" spc="150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8001000" y="3733800"/>
            <a:ext cx="8991600" cy="1809750"/>
          </a:xfrm>
          <a:prstGeom prst="roundRect">
            <a:avLst>
              <a:gd name="adj" fmla="val 10526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5800" y="4000500"/>
            <a:ext cx="1809750" cy="571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GPT-3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05800" y="4743450"/>
            <a:ext cx="8382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Dùng</a:t>
            </a:r>
            <a:r>
              <a:rPr lang="en-US" sz="28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</a:t>
            </a:r>
            <a:r>
              <a:rPr lang="en-US" sz="28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prompt,</a:t>
            </a:r>
            <a:r>
              <a:rPr lang="en-US" sz="28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8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tinh chỉnh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8001000" y="5810250"/>
            <a:ext cx="8991600" cy="2667000"/>
          </a:xfrm>
          <a:prstGeom prst="roundRect">
            <a:avLst>
              <a:gd name="adj" fmla="val 7143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5800" y="6076950"/>
            <a:ext cx="2762250" cy="571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InstructGPT</a:t>
            </a:r>
            <a:endParaRPr lang="en-US" sz="2400" dirty="0"/>
          </a:p>
        </p:txBody>
      </p:sp>
      <p:sp>
        <p:nvSpPr>
          <p:cNvPr id="15" name="Text richtext-1792287816947-258466888"/>
          <p:cNvSpPr/>
          <p:nvPr/>
        </p:nvSpPr>
        <p:spPr>
          <a:xfrm>
            <a:off x="8305800" y="6819900"/>
            <a:ext cx="8382000" cy="14859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marL="361950" indent="-258592">
              <a:lnSpc>
                <a:spcPts val="3848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8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Tinh chỉnh</a:t>
            </a:r>
            <a:r>
              <a:rPr lang="en-US" sz="28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thêm</a:t>
            </a:r>
            <a:r>
              <a:rPr lang="en-US" sz="285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28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28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8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 dẫn</a:t>
            </a:r>
            <a:endParaRPr lang="en-US" sz="2850" dirty="0"/>
          </a:p>
          <a:p>
            <a:pPr algn="l" marL="361950" indent="-258592">
              <a:lnSpc>
                <a:spcPts val="3848"/>
              </a:lnSpc>
              <a:buSzPct val="100000"/>
              <a:buFont typeface="Arial"/>
              <a:buChar char="•"/>
            </a:pPr>
            <a:r>
              <a:rPr lang="en-US" sz="28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Bằng</a:t>
            </a:r>
            <a:r>
              <a:rPr lang="en-US" sz="28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câu</a:t>
            </a:r>
            <a:r>
              <a:rPr lang="en-US" sz="2850" dirty="0" spc="-2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trả</a:t>
            </a:r>
            <a:r>
              <a:rPr lang="en-US" sz="28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lời</a:t>
            </a:r>
            <a:r>
              <a:rPr lang="en-US" sz="28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mẫu</a:t>
            </a:r>
            <a:r>
              <a:rPr lang="en-US" sz="2850" dirty="0" spc="-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8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phản</a:t>
            </a:r>
            <a:r>
              <a:rPr lang="en-US" sz="28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hồi</a:t>
            </a:r>
            <a:r>
              <a:rPr lang="en-US" sz="28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850" dirty="0" spc="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5" name="Shape 23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6" name="Text 24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0e12f78f-14b2-4fc6-91fa-5c3f96519f3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5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78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chỉnh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7800" dirty="0" spc="-9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6000750"/>
          </a:xfrm>
          <a:prstGeom prst="roundRect">
            <a:avLst>
              <a:gd name="adj" fmla="val 4286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861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50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GAN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543300"/>
            <a:ext cx="4572000" cy="1428750"/>
          </a:xfrm>
          <a:prstGeom prst="rect">
            <a:avLst/>
          </a:prstGeom>
          <a:noFill/>
          <a:ln/>
        </p:spPr>
        <p:txBody>
          <a:bodyPr wrap="square" lIns="0" tIns="25718" rIns="0" bIns="-25718" rtlCol="0" anchor="t"/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405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Đặt</a:t>
            </a:r>
            <a:r>
              <a:rPr lang="en-US" sz="40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 năm</a:t>
            </a:r>
            <a:r>
              <a:rPr lang="en-US" sz="405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2014</a:t>
            </a:r>
            <a:endParaRPr lang="en-US" sz="4050" dirty="0"/>
          </a:p>
        </p:txBody>
      </p:sp>
      <p:sp>
        <p:nvSpPr>
          <p:cNvPr id="7" name="Text 5"/>
          <p:cNvSpPr/>
          <p:nvPr/>
        </p:nvSpPr>
        <p:spPr>
          <a:xfrm>
            <a:off x="1295400" y="5143500"/>
            <a:ext cx="2190750" cy="6477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6B6A6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1990–2000</a:t>
            </a:r>
            <a:endParaRPr lang="en-US" sz="2250" dirty="0"/>
          </a:p>
        </p:txBody>
      </p:sp>
      <p:sp>
        <p:nvSpPr>
          <p:cNvPr id="8" name="Connector line-1792287840524-957628727"/>
          <p:cNvSpPr/>
          <p:nvPr/>
        </p:nvSpPr>
        <p:spPr>
          <a:xfrm>
            <a:off x="1524000" y="5467350"/>
            <a:ext cx="1733550" cy="0"/>
          </a:xfrm>
          <a:prstGeom prst="line">
            <a:avLst/>
          </a:prstGeom>
          <a:noFill/>
          <a:ln w="28575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9" name="Connector line-1792287840525-670269036"/>
          <p:cNvSpPr/>
          <p:nvPr/>
        </p:nvSpPr>
        <p:spPr>
          <a:xfrm>
            <a:off x="3600450" y="5467350"/>
            <a:ext cx="4953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248150" y="5143500"/>
            <a:ext cx="1619250" cy="6477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2014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95400" y="6191250"/>
            <a:ext cx="4572000" cy="1428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GAN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2014.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77000" y="2762250"/>
            <a:ext cx="5334000" cy="6000750"/>
          </a:xfrm>
          <a:prstGeom prst="roundRect">
            <a:avLst>
              <a:gd name="adj" fmla="val 4286"/>
            </a:avLst>
          </a:prstGeom>
          <a:solidFill>
            <a:srgbClr val="E8E0C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30861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4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1950" spc="150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NGUỒN:</a:t>
            </a:r>
            <a:r>
              <a:rPr lang="en-US" sz="1950" spc="149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“2018</a:t>
            </a:r>
            <a:r>
              <a:rPr lang="en-US" sz="1950" spc="147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1950" spc="11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NAY”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858000" y="3543300"/>
            <a:ext cx="4572000" cy="1428750"/>
          </a:xfrm>
          <a:prstGeom prst="rect">
            <a:avLst/>
          </a:prstGeom>
          <a:noFill/>
          <a:ln/>
        </p:spPr>
        <p:txBody>
          <a:bodyPr wrap="square" lIns="0" tIns="25718" rIns="0" bIns="-25718" rtlCol="0" anchor="t"/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4050" dirty="0" spc="-7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Tách</a:t>
            </a:r>
            <a:r>
              <a:rPr lang="en-US" sz="405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405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mốc</a:t>
            </a:r>
            <a:endParaRPr lang="en-US" sz="4050" dirty="0"/>
          </a:p>
          <a:p>
            <a:pPr algn="l" indent="0" marL="0">
              <a:lnSpc>
                <a:spcPts val="4455"/>
              </a:lnSpc>
              <a:buNone/>
            </a:pPr>
            <a:r>
              <a:rPr lang="en-US" sz="405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đối</a:t>
            </a:r>
            <a:r>
              <a:rPr lang="en-US" sz="40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r>
              <a:rPr lang="en-US" sz="4050" dirty="0" spc="-5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4050" dirty="0"/>
          </a:p>
        </p:txBody>
      </p:sp>
      <p:sp>
        <p:nvSpPr>
          <p:cNvPr id="15" name="Text 13"/>
          <p:cNvSpPr/>
          <p:nvPr/>
        </p:nvSpPr>
        <p:spPr>
          <a:xfrm>
            <a:off x="6858000" y="5334000"/>
            <a:ext cx="4191000" cy="6477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GPT-3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58000" y="6134100"/>
            <a:ext cx="4191000" cy="6477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InstructGPT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58000" y="6934200"/>
            <a:ext cx="4191000" cy="6477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Ngày</a:t>
            </a:r>
            <a:r>
              <a:rPr lang="en-US" sz="24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mắt</a:t>
            </a: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ChatGPT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2039600" y="2762250"/>
            <a:ext cx="5334000" cy="6000750"/>
          </a:xfrm>
          <a:prstGeom prst="roundRect">
            <a:avLst>
              <a:gd name="adj" fmla="val 4286"/>
            </a:avLst>
          </a:prstGeom>
          <a:solidFill>
            <a:srgbClr val="E8E0CF"/>
          </a:solidFill>
          <a:ln/>
        </p:spPr>
      </p:sp>
      <p:sp>
        <p:nvSpPr>
          <p:cNvPr id="19" name="Text 17"/>
          <p:cNvSpPr/>
          <p:nvPr/>
        </p:nvSpPr>
        <p:spPr>
          <a:xfrm>
            <a:off x="12420600" y="30861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0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</a:t>
            </a:r>
            <a:r>
              <a:rPr lang="en-US" sz="1950" spc="150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MỐC</a:t>
            </a:r>
            <a:r>
              <a:rPr lang="en-US" sz="1950" spc="131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420600" y="3543300"/>
            <a:ext cx="4572000" cy="1428750"/>
          </a:xfrm>
          <a:prstGeom prst="rect">
            <a:avLst/>
          </a:prstGeom>
          <a:noFill/>
          <a:ln/>
        </p:spPr>
        <p:txBody>
          <a:bodyPr wrap="square" lIns="0" tIns="25718" rIns="0" bIns="-25718" rtlCol="0" anchor="t"/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40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40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 xu</a:t>
            </a:r>
            <a:r>
              <a:rPr lang="en-US" sz="405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hướng</a:t>
            </a:r>
            <a:endParaRPr lang="en-US" sz="4050" dirty="0"/>
          </a:p>
          <a:p>
            <a:pPr algn="l" indent="0" marL="0">
              <a:lnSpc>
                <a:spcPts val="4455"/>
              </a:lnSpc>
              <a:buNone/>
            </a:pPr>
            <a:r>
              <a:rPr lang="en-US" sz="405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chung</a:t>
            </a:r>
            <a:endParaRPr lang="en-US" sz="4050" dirty="0"/>
          </a:p>
        </p:txBody>
      </p:sp>
      <p:sp>
        <p:nvSpPr>
          <p:cNvPr id="21" name="Text 19"/>
          <p:cNvSpPr/>
          <p:nvPr/>
        </p:nvSpPr>
        <p:spPr>
          <a:xfrm>
            <a:off x="12420600" y="5334000"/>
            <a:ext cx="1905000" cy="6477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1950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4478000" y="5334000"/>
            <a:ext cx="1905000" cy="6477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1980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2420600" y="6134100"/>
            <a:ext cx="2476500" cy="6477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1990–2010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2420600" y="714375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thể.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Text 33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fc82bf40-fb08-4d8c-b9d0-e7ed9dd0d9c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9906000" cy="6000750"/>
          </a:xfrm>
          <a:prstGeom prst="roundRect">
            <a:avLst>
              <a:gd name="adj" fmla="val 381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95400" y="3314700"/>
            <a:ext cx="4381500" cy="2571750"/>
          </a:xfrm>
          <a:prstGeom prst="roundRect">
            <a:avLst>
              <a:gd name="adj" fmla="val 5926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3429000"/>
            <a:ext cx="381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CNN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524000" y="4324350"/>
            <a:ext cx="3905250" cy="14287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9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Convolutional</a:t>
            </a:r>
            <a:r>
              <a:rPr lang="en-US" sz="1950" dirty="0" spc="-10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Neural Network</a:t>
            </a:r>
            <a:endParaRPr lang="en-US" sz="195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nơ-ron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chập</a:t>
            </a:r>
            <a:endParaRPr lang="en-US" sz="1950" dirty="0"/>
          </a:p>
          <a:p>
            <a:pPr algn="l" indent="0" marL="0">
              <a:lnSpc>
                <a:spcPts val="2535"/>
              </a:lnSpc>
              <a:buNone/>
            </a:pPr>
            <a:r>
              <a:rPr lang="en-US" sz="195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Mạnh</a:t>
            </a:r>
            <a:r>
              <a:rPr lang="en-US" sz="1950" dirty="0" spc="-1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867400" y="3314700"/>
            <a:ext cx="4381500" cy="2571750"/>
          </a:xfrm>
          <a:prstGeom prst="roundRect">
            <a:avLst>
              <a:gd name="adj" fmla="val 5926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6096000" y="3429000"/>
            <a:ext cx="381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RNN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096000" y="4324350"/>
            <a:ext cx="3905250" cy="14287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2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Recurrent</a:t>
            </a:r>
            <a:r>
              <a:rPr lang="en-US" sz="1950" dirty="0" spc="-9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Neural</a:t>
            </a:r>
            <a:r>
              <a:rPr lang="en-US" sz="1950" dirty="0" spc="-10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Network</a:t>
            </a:r>
            <a:endParaRPr lang="en-US" sz="195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nơ-ron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endParaRPr lang="en-US" sz="1950" dirty="0"/>
          </a:p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6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195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9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295400" y="6019800"/>
            <a:ext cx="4381500" cy="2571750"/>
          </a:xfrm>
          <a:prstGeom prst="roundRect">
            <a:avLst>
              <a:gd name="adj" fmla="val 5926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6134100"/>
            <a:ext cx="381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GAN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1524000" y="7029450"/>
            <a:ext cx="3905250" cy="14287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14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Generative</a:t>
            </a:r>
            <a:r>
              <a:rPr lang="en-US" sz="1950" dirty="0" spc="-4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Adversarial</a:t>
            </a:r>
            <a:r>
              <a:rPr lang="en-US" sz="1950" dirty="0" spc="-9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Network</a:t>
            </a:r>
            <a:endParaRPr lang="en-US" sz="195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4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endParaRPr lang="en-US" sz="1950" dirty="0"/>
          </a:p>
          <a:p>
            <a:pPr algn="l" indent="0" marL="0">
              <a:lnSpc>
                <a:spcPts val="2535"/>
              </a:lnSpc>
              <a:buNone/>
            </a:pPr>
            <a:r>
              <a:rPr lang="en-US" sz="19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950" dirty="0" spc="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950" dirty="0" spc="1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kháng</a:t>
            </a:r>
            <a:r>
              <a:rPr lang="en-US" sz="195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867400" y="6019800"/>
            <a:ext cx="4381500" cy="2571750"/>
          </a:xfrm>
          <a:prstGeom prst="roundRect">
            <a:avLst>
              <a:gd name="adj" fmla="val 5926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0" y="6134100"/>
            <a:ext cx="381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GPT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6096000" y="7029450"/>
            <a:ext cx="3905250" cy="14287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14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Generative</a:t>
            </a:r>
            <a:r>
              <a:rPr lang="en-US" sz="1950" dirty="0" spc="-12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Pretrained</a:t>
            </a:r>
            <a:r>
              <a:rPr lang="en-US" sz="1950" dirty="0" spc="-19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Transformer</a:t>
            </a:r>
            <a:endParaRPr lang="en-US" sz="195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1950" dirty="0"/>
          </a:p>
          <a:p>
            <a:pPr algn="l" indent="0" marL="0">
              <a:lnSpc>
                <a:spcPts val="2535"/>
              </a:lnSpc>
              <a:buNone/>
            </a:pPr>
            <a:r>
              <a:rPr lang="en-US" sz="19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Huấn</a:t>
            </a:r>
            <a:r>
              <a:rPr lang="en-US" sz="1950" dirty="0" spc="-1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1950" dirty="0" spc="-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1950" dirty="0" spc="-1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1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195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95400" y="28956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52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149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59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1049000" y="2762250"/>
            <a:ext cx="6324600" cy="6000750"/>
          </a:xfrm>
          <a:prstGeom prst="roundRect">
            <a:avLst>
              <a:gd name="adj" fmla="val 3810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0" y="30480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51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endParaRPr lang="en-US" sz="1950" dirty="0"/>
          </a:p>
        </p:txBody>
      </p:sp>
      <p:sp>
        <p:nvSpPr>
          <p:cNvPr id="20" name="Text richtext-1792287872789-981788998"/>
          <p:cNvSpPr/>
          <p:nvPr/>
        </p:nvSpPr>
        <p:spPr>
          <a:xfrm>
            <a:off x="11430000" y="3657600"/>
            <a:ext cx="5562600" cy="3143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báo:</a:t>
            </a:r>
            <a:r>
              <a:rPr lang="en-US" sz="22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Transformer,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GAN,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GPT-3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InstructGPT;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OpenAI:</a:t>
            </a:r>
            <a:r>
              <a:rPr lang="en-US" sz="22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ChatGPT</a:t>
            </a:r>
            <a:endParaRPr lang="en-US" sz="2250" dirty="0"/>
          </a:p>
        </p:txBody>
      </p:sp>
      <p:sp>
        <p:nvSpPr>
          <p:cNvPr id="21" name="Connector line-1792287872797-356213403"/>
          <p:cNvSpPr/>
          <p:nvPr/>
        </p:nvSpPr>
        <p:spPr>
          <a:xfrm>
            <a:off x="11430000" y="7810500"/>
            <a:ext cx="5562600" cy="0"/>
          </a:xfrm>
          <a:prstGeom prst="line">
            <a:avLst/>
          </a:prstGeom>
          <a:noFill/>
          <a:ln w="19050">
            <a:solidFill>
              <a:srgbClr val="3A3F50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11430000" y="8020050"/>
            <a:ext cx="5562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250" dirty="0" spc="1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7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5" name="Shape 2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6" name="Shape 2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7" name="Shape 2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8" name="Shape 2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9" name="Shape 2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0" name="Shape 2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1" name="Shape 2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2" name="Shape 30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Text 31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800194ae-9932-4b70-baaa-5b902ab0bd9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2026-10-18T06:48:17Z</dcterms:created>
  <dcterms:modified xsi:type="dcterms:W3CDTF">2026-10-18T06:48:17Z</dcterms:modified>
</cp:coreProperties>
</file>