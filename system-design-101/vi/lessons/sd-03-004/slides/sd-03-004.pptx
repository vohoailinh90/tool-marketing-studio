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DeepSeek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3150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</a:t>
            </a:r>
            <a:r>
              <a:rPr lang="en-US" sz="31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31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315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biết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3150" dirty="0" spc="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cái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6002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V3-Base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77600" y="21717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31813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1813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3528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5,6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77600" y="39243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V3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R1-Zero</a:t>
            </a:r>
            <a:r>
              <a:rPr lang="en-US" sz="33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R1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277600" y="56769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58500" y="66865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6865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8580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3300" dirty="0" spc="-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33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căn</a:t>
            </a: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277600" y="74295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d887b2f-8b64-4440-98a5-8dceebaf4e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286250"/>
          </a:xfrm>
          <a:prstGeom prst="roundRect">
            <a:avLst>
              <a:gd name="adj" fmla="val 533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90850"/>
            <a:ext cx="3810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V3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1435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V3-Base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5400" y="60198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 phí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5,6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USD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286250"/>
          </a:xfrm>
          <a:prstGeom prst="roundRect">
            <a:avLst>
              <a:gd name="adj" fmla="val 5333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2990850"/>
            <a:ext cx="3810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dirty="0" spc="-4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R1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9753600" y="51435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Bắt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V3-Base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53600" y="60198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Dạy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cường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48665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3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trộn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 hai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36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Text 2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07748fc-0c12-4668-b226-43575b37b7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1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V3-BASE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MOE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V3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5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MoE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57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671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76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623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Tham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V3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657600"/>
            <a:ext cx="8991600" cy="9144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3657600"/>
            <a:ext cx="533400" cy="914400"/>
          </a:xfrm>
          <a:prstGeom prst="roundRect">
            <a:avLst>
              <a:gd name="adj" fmla="val 28571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0" y="3771900"/>
            <a:ext cx="723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0" dirty="0" spc="-2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671</a:t>
            </a:r>
            <a:r>
              <a:rPr lang="en-US" sz="45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tỷ</a:t>
            </a:r>
            <a:r>
              <a:rPr lang="en-US" sz="45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tổng</a:t>
            </a:r>
            <a:endParaRPr lang="en-US" sz="4500" dirty="0"/>
          </a:p>
        </p:txBody>
      </p:sp>
      <p:sp>
        <p:nvSpPr>
          <p:cNvPr id="18" name="Connector line-1792287973664-532782286"/>
          <p:cNvSpPr/>
          <p:nvPr/>
        </p:nvSpPr>
        <p:spPr>
          <a:xfrm>
            <a:off x="8267700" y="4572000"/>
            <a:ext cx="0" cy="6096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001000" y="52578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37</a:t>
            </a: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2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850" dirty="0"/>
          </a:p>
        </p:txBody>
      </p:sp>
      <p:sp>
        <p:nvSpPr>
          <p:cNvPr id="20" name="Connector line-1792287973667-607265732"/>
          <p:cNvSpPr/>
          <p:nvPr/>
        </p:nvSpPr>
        <p:spPr>
          <a:xfrm>
            <a:off x="8001000" y="6191250"/>
            <a:ext cx="8991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001000" y="64389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Tiền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huấn</a:t>
            </a:r>
            <a:r>
              <a:rPr lang="en-US" sz="1950" dirty="0" spc="-1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luyện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001000" y="6877050"/>
            <a:ext cx="89916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14,8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nghìn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tỷ</a:t>
            </a:r>
            <a:endParaRPr lang="en-US" sz="6900" dirty="0"/>
          </a:p>
        </p:txBody>
      </p:sp>
      <p:sp>
        <p:nvSpPr>
          <p:cNvPr id="23" name="Text 21"/>
          <p:cNvSpPr/>
          <p:nvPr/>
        </p:nvSpPr>
        <p:spPr>
          <a:xfrm>
            <a:off x="8001000" y="7943850"/>
            <a:ext cx="899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fef4424f-8fcc-4052-b3bd-94ee66af3b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78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5,6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5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2,788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GPU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H800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57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76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V3,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R1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3276600"/>
            <a:ext cx="2762250" cy="2000250"/>
          </a:xfrm>
          <a:prstGeom prst="roundRect">
            <a:avLst>
              <a:gd name="adj" fmla="val 9524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6250" y="3543300"/>
            <a:ext cx="2571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-2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2,788</a:t>
            </a:r>
            <a:r>
              <a:rPr lang="en-US" sz="3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8096250" y="4343400"/>
            <a:ext cx="2571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giờ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GPU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H800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820400" y="3810000"/>
            <a:ext cx="533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×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11410950" y="3276600"/>
            <a:ext cx="2190750" cy="2000250"/>
          </a:xfrm>
          <a:prstGeom prst="roundRect">
            <a:avLst>
              <a:gd name="adj" fmla="val 9524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06200" y="3543300"/>
            <a:ext cx="200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39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1506200" y="4343400"/>
            <a:ext cx="200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(giả</a:t>
            </a:r>
            <a:r>
              <a:rPr lang="en-US" sz="24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658850" y="3810000"/>
            <a:ext cx="533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=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14249400" y="3276600"/>
            <a:ext cx="2743200" cy="2000250"/>
          </a:xfrm>
          <a:prstGeom prst="roundRect">
            <a:avLst>
              <a:gd name="adj" fmla="val 9524"/>
            </a:avLst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14344650" y="3543300"/>
            <a:ext cx="2552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5,6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14344650" y="4343400"/>
            <a:ext cx="2552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USD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(khoảng)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001000" y="5810250"/>
            <a:ext cx="8991600" cy="7239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Ước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thuê, lần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4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01000" y="6686550"/>
            <a:ext cx="89916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4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 phí</a:t>
            </a:r>
            <a:r>
              <a:rPr lang="en-US" sz="24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2400" dirty="0" spc="2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01000" y="7562850"/>
            <a:ext cx="89916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 phí của</a:t>
            </a:r>
            <a:r>
              <a:rPr lang="en-US" sz="24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R1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3d3d525a-c89d-47ea-b15f-cb8cfdeb0d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1950" spc="19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1950" spc="16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DẠY</a:t>
            </a:r>
            <a:r>
              <a:rPr lang="en-US" sz="1950" spc="23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1950" spc="219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R1-Zero</a:t>
            </a:r>
            <a:r>
              <a:rPr lang="en-US" sz="78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R1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762500"/>
          </a:xfrm>
          <a:prstGeom prst="roundRect">
            <a:avLst>
              <a:gd name="adj" fmla="val 48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4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R1-Zero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V3-Base</a:t>
            </a:r>
            <a:endParaRPr lang="en-US" sz="2550" dirty="0"/>
          </a:p>
        </p:txBody>
      </p:sp>
      <p:sp>
        <p:nvSpPr>
          <p:cNvPr id="7" name="Connector line-1792288013119-314662259"/>
          <p:cNvSpPr/>
          <p:nvPr/>
        </p:nvSpPr>
        <p:spPr>
          <a:xfrm>
            <a:off x="4914900" y="4972050"/>
            <a:ext cx="0" cy="4381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295400" y="55054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(RL)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6B6A66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SFT</a:t>
            </a:r>
            <a:r>
              <a:rPr lang="en-US" sz="24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400" dirty="0" spc="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372600" y="2762250"/>
            <a:ext cx="8001000" cy="4762500"/>
          </a:xfrm>
          <a:prstGeom prst="roundRect">
            <a:avLst>
              <a:gd name="adj" fmla="val 4800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R1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753600" y="41910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V3-Base</a:t>
            </a:r>
            <a:endParaRPr lang="en-US" sz="2550" dirty="0"/>
          </a:p>
        </p:txBody>
      </p:sp>
      <p:sp>
        <p:nvSpPr>
          <p:cNvPr id="13" name="Connector line-1792288013130-966726407"/>
          <p:cNvSpPr/>
          <p:nvPr/>
        </p:nvSpPr>
        <p:spPr>
          <a:xfrm>
            <a:off x="13373100" y="4972050"/>
            <a:ext cx="0" cy="4381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753600" y="55054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5" name="Connector line-1792288013133-452284854"/>
          <p:cNvSpPr/>
          <p:nvPr/>
        </p:nvSpPr>
        <p:spPr>
          <a:xfrm>
            <a:off x="13373100" y="6286500"/>
            <a:ext cx="0" cy="1524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753600" y="64770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7810500"/>
            <a:ext cx="16459200" cy="1009650"/>
          </a:xfrm>
          <a:prstGeom prst="roundRect">
            <a:avLst>
              <a:gd name="adj" fmla="val 22642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7924800"/>
            <a:ext cx="15697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33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R1-Zero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33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trộn</a:t>
            </a:r>
            <a:r>
              <a:rPr lang="en-US" sz="33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3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ngữ.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e316109-7875-4e23-8f93-7279191472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81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THUẬT</a:t>
            </a:r>
            <a:r>
              <a:rPr lang="en-US" sz="1950" spc="189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RL</a:t>
            </a:r>
            <a:r>
              <a:rPr lang="en-US" sz="1950" spc="21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GRPO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 theo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5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57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 cứ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76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riêng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238500"/>
            <a:ext cx="8991600" cy="9144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3000" dirty="0"/>
          </a:p>
        </p:txBody>
      </p:sp>
      <p:sp>
        <p:nvSpPr>
          <p:cNvPr id="15" name="Connector line-1792288037117-873539469"/>
          <p:cNvSpPr/>
          <p:nvPr/>
        </p:nvSpPr>
        <p:spPr>
          <a:xfrm>
            <a:off x="12496800" y="4191000"/>
            <a:ext cx="0" cy="4953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4762500"/>
            <a:ext cx="8991600" cy="180975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lgDash"/>
          </a:ln>
        </p:spPr>
      </p:sp>
      <p:sp>
        <p:nvSpPr>
          <p:cNvPr id="17" name="Text 15"/>
          <p:cNvSpPr/>
          <p:nvPr/>
        </p:nvSpPr>
        <p:spPr>
          <a:xfrm>
            <a:off x="8191500" y="48387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1950" dirty="0" spc="-1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dirty="0" spc="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1950" dirty="0" spc="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1950" dirty="0" spc="-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195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267700" y="5334000"/>
            <a:ext cx="1905000" cy="990600"/>
          </a:xfrm>
          <a:prstGeom prst="roundRect">
            <a:avLst>
              <a:gd name="adj" fmla="val 13462"/>
            </a:avLst>
          </a:prstGeom>
          <a:solidFill>
            <a:srgbClr val="2C303D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401300" y="5334000"/>
            <a:ext cx="1905000" cy="990600"/>
          </a:xfrm>
          <a:prstGeom prst="roundRect">
            <a:avLst>
              <a:gd name="adj" fmla="val 13462"/>
            </a:avLst>
          </a:prstGeom>
          <a:solidFill>
            <a:srgbClr val="2C303D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534900" y="5334000"/>
            <a:ext cx="1905000" cy="990600"/>
          </a:xfrm>
          <a:prstGeom prst="roundRect">
            <a:avLst>
              <a:gd name="adj" fmla="val 13462"/>
            </a:avLst>
          </a:prstGeom>
          <a:solidFill>
            <a:srgbClr val="2C303D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668500" y="5334000"/>
            <a:ext cx="1905000" cy="990600"/>
          </a:xfrm>
          <a:prstGeom prst="roundRect">
            <a:avLst>
              <a:gd name="adj" fmla="val 13462"/>
            </a:avLst>
          </a:prstGeom>
          <a:solidFill>
            <a:srgbClr val="2C303D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endParaRPr lang="en-US" sz="2250" dirty="0"/>
          </a:p>
        </p:txBody>
      </p:sp>
      <p:sp>
        <p:nvSpPr>
          <p:cNvPr id="22" name="Connector line-1792288037127-17273841"/>
          <p:cNvSpPr/>
          <p:nvPr/>
        </p:nvSpPr>
        <p:spPr>
          <a:xfrm>
            <a:off x="12496800" y="6610350"/>
            <a:ext cx="0" cy="4191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001000" y="7105650"/>
            <a:ext cx="8991600" cy="914400"/>
          </a:xfrm>
          <a:prstGeom prst="roundRect">
            <a:avLst>
              <a:gd name="adj" fmla="val 16667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001000" y="8172450"/>
            <a:ext cx="899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cần</a:t>
            </a:r>
            <a:r>
              <a:rPr lang="en-US" sz="2250" dirty="0" spc="-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9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25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fd45d0c8-7bd4-426c-b843-79cba2e6c0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219075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2.000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GPU</a:t>
            </a:r>
            <a:endParaRPr lang="en-US" sz="3900" dirty="0"/>
          </a:p>
          <a:p>
            <a:pPr algn="l" indent="0" marL="0">
              <a:lnSpc>
                <a:spcPts val="4290"/>
              </a:lnSpc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3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3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25.000</a:t>
            </a:r>
            <a:endParaRPr lang="en-US" sz="3900" dirty="0"/>
          </a:p>
          <a:p>
            <a:pPr algn="l" indent="0" marL="0">
              <a:lnSpc>
                <a:spcPts val="4290"/>
              </a:lnSpc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GPU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GPT-4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086100"/>
            <a:ext cx="219075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90525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Rẻ</a:t>
            </a:r>
            <a:r>
              <a:rPr lang="en-US" sz="3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900" dirty="0"/>
          </a:p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85–90%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1950" spc="1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69570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450" dirty="0"/>
          </a:p>
          <a:p>
            <a:pPr algn="l" indent="0" marL="0">
              <a:lnSpc>
                <a:spcPts val="3967"/>
              </a:lnSpc>
              <a:buNone/>
            </a:pPr>
            <a:r>
              <a:rPr lang="en-US" sz="345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345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345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3450" dirty="0"/>
          </a:p>
          <a:p>
            <a:pPr algn="l" indent="0" marL="0">
              <a:lnSpc>
                <a:spcPts val="3967"/>
              </a:lnSpc>
              <a:buNone/>
            </a:pP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kiện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652" rIns="0" bIns="-765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“Rẻ”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345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tính.</a:t>
            </a:r>
            <a:endParaRPr lang="en-US" sz="345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5832e9a-c29d-4170-a304-bbd42b0ba3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771900"/>
            <a:ext cx="5334000" cy="4572000"/>
          </a:xfrm>
          <a:prstGeom prst="rect">
            <a:avLst/>
          </a:prstGeom>
          <a:noFill/>
          <a:ln/>
        </p:spPr>
        <p:txBody>
          <a:bodyPr wrap="square" lIns="0" tIns="13129" rIns="0" bIns="-13129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</a:t>
            </a:r>
            <a:r>
              <a:rPr lang="en-US" sz="34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34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khoảng</a:t>
            </a:r>
            <a:r>
              <a:rPr lang="en-US" sz="34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5,6</a:t>
            </a:r>
            <a:r>
              <a:rPr lang="en-US" sz="34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triệu</a:t>
            </a:r>
            <a:r>
              <a:rPr lang="en-US" sz="34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USD</a:t>
            </a:r>
            <a:r>
              <a:rPr lang="en-US" sz="34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thuộc</a:t>
            </a:r>
            <a:r>
              <a:rPr lang="en-US" sz="34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34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 nào,</a:t>
            </a:r>
            <a:r>
              <a:rPr lang="en-US" sz="345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4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34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gồm</a:t>
            </a:r>
            <a:r>
              <a:rPr lang="en-US" sz="3450" dirty="0" spc="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những</a:t>
            </a:r>
            <a:r>
              <a:rPr lang="en-US" sz="34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gì?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01000" y="3695700"/>
            <a:ext cx="8991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5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DeepSeek-V3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8001000" y="5143500"/>
            <a:ext cx="3619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R1</a:t>
            </a:r>
            <a:endParaRPr lang="en-US" sz="2550" dirty="0"/>
          </a:p>
        </p:txBody>
      </p:sp>
      <p:sp>
        <p:nvSpPr>
          <p:cNvPr id="12" name="Text richtext-1792288094617-513274215"/>
          <p:cNvSpPr/>
          <p:nvPr/>
        </p:nvSpPr>
        <p:spPr>
          <a:xfrm>
            <a:off x="8001000" y="6210300"/>
            <a:ext cx="8991600" cy="2190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Số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giờ</a:t>
            </a: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GPU của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huấn</a:t>
            </a:r>
            <a:r>
              <a:rPr lang="en-US" sz="28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luyện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8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Nhân</a:t>
            </a:r>
            <a:r>
              <a:rPr lang="en-US" sz="28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thuê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850" dirty="0" spc="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8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gồm</a:t>
            </a:r>
            <a:r>
              <a:rPr lang="en-US" sz="28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toàn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nghiên</a:t>
            </a:r>
            <a:r>
              <a:rPr lang="en-US" sz="2850" dirty="0" spc="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cứu</a:t>
            </a:r>
            <a:r>
              <a:rPr lang="en-US" sz="28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8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08d89e6-854f-4d0f-9a9e-adfec5e68d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7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78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R1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R1</a:t>
            </a:r>
            <a:endParaRPr lang="en-US" sz="4800" dirty="0"/>
          </a:p>
        </p:txBody>
      </p:sp>
      <p:sp>
        <p:nvSpPr>
          <p:cNvPr id="6" name="Text richtext-1792288206847-727978208"/>
          <p:cNvSpPr/>
          <p:nvPr/>
        </p:nvSpPr>
        <p:spPr>
          <a:xfrm>
            <a:off x="1295400" y="400050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Mã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trọng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số: giấy phép MIT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</a:t>
            </a:r>
            <a:r>
              <a:rPr lang="en-US" sz="270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chưng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cất</a:t>
            </a:r>
            <a:r>
              <a:rPr lang="en-US" sz="2700" dirty="0" spc="-3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thừa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phép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 hình gốc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 hình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gốc: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Qwen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 Llama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0289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V3</a:t>
            </a:r>
            <a:endParaRPr lang="en-US" sz="4800" dirty="0"/>
          </a:p>
        </p:txBody>
      </p:sp>
      <p:sp>
        <p:nvSpPr>
          <p:cNvPr id="9" name="Text richtext-1792288206867-431515277"/>
          <p:cNvSpPr/>
          <p:nvPr/>
        </p:nvSpPr>
        <p:spPr>
          <a:xfrm>
            <a:off x="6858000" y="400050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Mã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 V3: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 phép MIT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5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Trọng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số: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Model License riêng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Cho phép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 mại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12420600" y="30289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294.000</a:t>
            </a:r>
            <a:r>
              <a:rPr lang="en-US" sz="48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4800" dirty="0"/>
          </a:p>
        </p:txBody>
      </p:sp>
      <p:sp>
        <p:nvSpPr>
          <p:cNvPr id="12" name="Text richtext-1792288206887-826422130"/>
          <p:cNvSpPr/>
          <p:nvPr/>
        </p:nvSpPr>
        <p:spPr>
          <a:xfrm>
            <a:off x="12420600" y="4000500"/>
            <a:ext cx="4572000" cy="2095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Huấn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luyện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R1,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khỏi mô hình nền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Nature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9/2025,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 báo chí dẫn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420600" y="6286500"/>
            <a:ext cx="36195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 số</a:t>
            </a: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294.000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 báo chí,</a:t>
            </a: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33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33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báo.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67ab9c9-88b3-4ed5-9868-f8877a672b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6670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USD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04900" y="33528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United</a:t>
            </a:r>
            <a:r>
              <a:rPr lang="en-US" sz="1950" dirty="0" spc="-1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States</a:t>
            </a:r>
            <a:r>
              <a:rPr lang="en-US" sz="1950" dirty="0" spc="-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Dollar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086350" y="25527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5276850" y="26670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GPU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76850" y="33528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Graphics</a:t>
            </a:r>
            <a:r>
              <a:rPr lang="en-US" sz="1950" dirty="0" spc="-6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Processing</a:t>
            </a:r>
            <a:r>
              <a:rPr lang="en-US" sz="1950" dirty="0" spc="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Unit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58300" y="25527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448800" y="26670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448800" y="33528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Mixture of</a:t>
            </a:r>
            <a:r>
              <a:rPr lang="en-US" sz="1950" dirty="0" spc="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Experts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430250" y="25527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620750" y="26670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RL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3620750" y="33528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Reinforcement</a:t>
            </a:r>
            <a:r>
              <a:rPr lang="en-US" sz="19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Learning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0292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51435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GRPO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104900" y="58293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Group</a:t>
            </a:r>
            <a:r>
              <a:rPr lang="en-US" sz="1950" dirty="0" spc="-2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Relative</a:t>
            </a:r>
            <a:r>
              <a:rPr lang="en-US" sz="1950" dirty="0" spc="-1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Policy</a:t>
            </a:r>
            <a:r>
              <a:rPr lang="en-US" sz="1950" dirty="0" spc="-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Optimization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 tăng cường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086350" y="50292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5276850" y="51435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SFT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5276850" y="58293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Supervised</a:t>
            </a:r>
            <a:r>
              <a:rPr lang="en-US" sz="1950" dirty="0" spc="-1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Fine-Tuning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 sát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258300" y="50292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9448800" y="51435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9448800" y="58293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Generative</a:t>
            </a:r>
            <a:r>
              <a:rPr lang="en-US" sz="1950" dirty="0" spc="-1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Pretrained</a:t>
            </a:r>
            <a:r>
              <a:rPr lang="en-US" sz="1950" dirty="0" spc="-1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Transformer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mô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 ngữ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430250" y="5029200"/>
            <a:ext cx="3943350" cy="2324100"/>
          </a:xfrm>
          <a:prstGeom prst="roundRect">
            <a:avLst>
              <a:gd name="adj" fmla="val 6557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3620750" y="5143500"/>
            <a:ext cx="3562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MIT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13620750" y="5829300"/>
            <a:ext cx="3562350" cy="1485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5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Massachusetts</a:t>
            </a:r>
            <a:r>
              <a:rPr lang="en-US" sz="1950" dirty="0" spc="-6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Institute</a:t>
            </a:r>
            <a:r>
              <a:rPr lang="en-US" sz="19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of</a:t>
            </a:r>
            <a:r>
              <a:rPr lang="en-US" sz="1950" dirty="0" spc="-2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Technology</a:t>
            </a:r>
            <a:endParaRPr lang="en-US" sz="19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7620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77914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706100" y="779145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95400" y="82867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•</a:t>
            </a:r>
            <a:r>
              <a:rPr lang="en-US" sz="21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ByteByteGo: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34000" y="82867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•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V3:</a:t>
            </a: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</a:t>
            </a:r>
            <a:r>
              <a:rPr lang="en-US" sz="21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 cáo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kỹ thuật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1049000" y="8286750"/>
            <a:ext cx="59436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•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R1:</a:t>
            </a: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</a:t>
            </a:r>
            <a:r>
              <a:rPr lang="en-US" sz="21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 cáo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kỹ thuật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672b5e73-2343-47f0-a341-1980733a47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2026-10-18T06:48:22Z</dcterms:created>
  <dcterms:modified xsi:type="dcterms:W3CDTF">2026-10-18T06:48:22Z</dcterms:modified>
</cp:coreProperties>
</file>