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38100" rIns="0" bIns="-3810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PostgreSQL</a:t>
            </a:r>
            <a:r>
              <a:rPr lang="en-US" sz="60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"nuốt"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60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liệu?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 phần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sẵn,</a:t>
            </a:r>
            <a:r>
              <a:rPr lang="en-US" sz="60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r>
              <a:rPr lang="en-US" sz="6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cài</a:t>
            </a: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52500" y="6858000"/>
            <a:ext cx="10096500" cy="952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 dùng</a:t>
            </a:r>
            <a:r>
              <a:rPr lang="en-US" sz="30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PostgreSQL: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8096250"/>
            <a:ext cx="1009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sẵn,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khác.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9239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18/10/2026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192000" y="2381250"/>
            <a:ext cx="51435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2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477750" y="3714750"/>
            <a:ext cx="485775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763500" y="5048250"/>
            <a:ext cx="45720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049250" y="6381750"/>
            <a:ext cx="428625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22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2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c071b3f2-773e-4027-8cd9-8bf02b1499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5715000" cy="4953000"/>
          </a:xfrm>
          <a:prstGeom prst="rect">
            <a:avLst/>
          </a:prstGeom>
          <a:noFill/>
          <a:ln/>
        </p:spPr>
        <p:txBody>
          <a:bodyPr wrap="square" lIns="0" tIns="396240" rIns="0" bIns="-396240" rtlCol="0" anchor="t"/>
          <a:lstStyle/>
          <a:p>
            <a:pPr algn="l" indent="0" marL="0">
              <a:lnSpc>
                <a:spcPts val="39000"/>
              </a:lnSpc>
              <a:buNone/>
            </a:pPr>
            <a:r>
              <a:rPr lang="en-US" sz="39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9000" dirty="0"/>
          </a:p>
        </p:txBody>
      </p:sp>
      <p:sp>
        <p:nvSpPr>
          <p:cNvPr id="4" name="Text 2"/>
          <p:cNvSpPr/>
          <p:nvPr/>
        </p:nvSpPr>
        <p:spPr>
          <a:xfrm>
            <a:off x="952500" y="666750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 thử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8096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18/10/2026,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 nào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0" y="1619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2850" dirty="0" spc="-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kể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tám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mảng,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nhờ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tiện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ích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144000" y="3905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Cần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tiện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ích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ngoài: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pgvector, PostGIS,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Citus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144000" y="6191250"/>
            <a:ext cx="81915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CockroachDB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PostgreSQL</a:t>
            </a:r>
            <a:r>
              <a:rPr lang="en-US" sz="285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97baba36-08ef-4ce6-b654-4480bc16b7d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</a:t>
            </a:r>
            <a:r>
              <a:rPr lang="en-US" sz="6600" dirty="0" spc="-2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6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952500" y="3143250"/>
            <a:ext cx="4000500" cy="1905000"/>
          </a:xfrm>
          <a:prstGeom prst="roundRect">
            <a:avLst>
              <a:gd name="adj" fmla="val 12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810500" y="2000250"/>
            <a:ext cx="9525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91500" y="2190750"/>
            <a:ext cx="876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</a:t>
            </a:r>
            <a:r>
              <a:rPr lang="en-US" sz="300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mục</a:t>
            </a:r>
            <a:r>
              <a:rPr lang="en-US" sz="3000" dirty="0" spc="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brin:</a:t>
            </a:r>
            <a:r>
              <a:rPr lang="en-US" sz="3000" dirty="0" spc="-3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24.576</a:t>
            </a:r>
            <a:r>
              <a:rPr lang="en-US" sz="3000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byte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91500" y="2857500"/>
            <a:ext cx="87630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810500" y="4286250"/>
            <a:ext cx="9525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91500" y="4476750"/>
            <a:ext cx="876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</a:t>
            </a:r>
            <a:r>
              <a:rPr lang="en-US" sz="30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mục</a:t>
            </a:r>
            <a:r>
              <a:rPr lang="en-US" sz="30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B-tree:</a:t>
            </a:r>
            <a:r>
              <a:rPr lang="en-US" sz="30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44.949.504</a:t>
            </a:r>
            <a:r>
              <a:rPr lang="en-US" sz="300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byte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191500" y="5143500"/>
            <a:ext cx="8763000" cy="857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400" dirty="0"/>
          </a:p>
        </p:txBody>
      </p:sp>
      <p:sp>
        <p:nvSpPr>
          <p:cNvPr id="10" name="Connector line-1792370837185-489949615"/>
          <p:cNvSpPr/>
          <p:nvPr/>
        </p:nvSpPr>
        <p:spPr>
          <a:xfrm flipV="1">
            <a:off x="4953000" y="2952750"/>
            <a:ext cx="2857500" cy="1143000"/>
          </a:xfrm>
          <a:prstGeom prst="curvedConnector3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70837186-563647863"/>
          <p:cNvSpPr/>
          <p:nvPr/>
        </p:nvSpPr>
        <p:spPr>
          <a:xfrm>
            <a:off x="4953000" y="4095750"/>
            <a:ext cx="2857500" cy="1143000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52500" y="6858000"/>
            <a:ext cx="16383000" cy="2095500"/>
          </a:xfrm>
          <a:prstGeom prst="roundRect">
            <a:avLst>
              <a:gd name="adj" fmla="val 10909"/>
            </a:avLst>
          </a:prstGeom>
          <a:solidFill>
            <a:srgbClr val="14161C"/>
          </a:solidFill>
          <a:ln/>
        </p:spPr>
      </p:sp>
      <p:sp>
        <p:nvSpPr>
          <p:cNvPr id="13" name="Text richtext-1792370837188-861450108"/>
          <p:cNvSpPr/>
          <p:nvPr/>
        </p:nvSpPr>
        <p:spPr>
          <a:xfrm>
            <a:off x="1333500" y="7096125"/>
            <a:ext cx="156210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(86.401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dòng):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640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khối,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14.079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brin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nằm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xáo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5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Text 2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4c93f3ef-89ae-40b0-8ffe-865eb905d8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-15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6857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857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JSON</a:t>
            </a:r>
            <a:endParaRPr lang="en-US" sz="6857" dirty="0"/>
          </a:p>
        </p:txBody>
      </p:sp>
      <p:sp>
        <p:nvSpPr>
          <p:cNvPr id="3" name="Shape 1"/>
          <p:cNvSpPr/>
          <p:nvPr/>
        </p:nvSpPr>
        <p:spPr>
          <a:xfrm>
            <a:off x="952500" y="2667000"/>
            <a:ext cx="4572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9527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300.000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238250" y="40957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jsonb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6858000" y="2667000"/>
            <a:ext cx="4572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3750" y="29527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54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54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143750" y="40957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t7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2763500" y="2667000"/>
            <a:ext cx="4572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49250" y="29527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6.000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3049250" y="409575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chỉ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550" dirty="0"/>
          </a:p>
        </p:txBody>
      </p:sp>
      <p:sp>
        <p:nvSpPr>
          <p:cNvPr id="12" name="Connector line-1792370838177-456426909"/>
          <p:cNvSpPr/>
          <p:nvPr/>
        </p:nvSpPr>
        <p:spPr>
          <a:xfrm>
            <a:off x="5524500" y="4095750"/>
            <a:ext cx="13335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70838177-7899736"/>
          <p:cNvSpPr/>
          <p:nvPr/>
        </p:nvSpPr>
        <p:spPr>
          <a:xfrm>
            <a:off x="11430000" y="4095750"/>
            <a:ext cx="13335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2500" y="6667500"/>
            <a:ext cx="1638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45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 cả</a:t>
            </a:r>
            <a:r>
              <a:rPr lang="en-US" sz="45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450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04/10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4f701d2-2a9b-42e7-9e69-29cb583641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6857" dirty="0" spc="-3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6857" dirty="0" spc="-5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endParaRPr lang="en-US" sz="6857" dirty="0"/>
          </a:p>
        </p:txBody>
      </p:sp>
      <p:sp>
        <p:nvSpPr>
          <p:cNvPr id="3" name="Shape 1"/>
          <p:cNvSpPr/>
          <p:nvPr/>
        </p:nvSpPr>
        <p:spPr>
          <a:xfrm>
            <a:off x="952500" y="2286000"/>
            <a:ext cx="7905750" cy="6096000"/>
          </a:xfrm>
          <a:prstGeom prst="roundRect">
            <a:avLst>
              <a:gd name="adj" fmla="val 4375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8750" y="2667000"/>
            <a:ext cx="695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3600" dirty="0" spc="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endParaRPr lang="en-US" sz="3600" dirty="0"/>
          </a:p>
        </p:txBody>
      </p:sp>
      <p:sp>
        <p:nvSpPr>
          <p:cNvPr id="5" name="Text richtext-1792370839184-590997492"/>
          <p:cNvSpPr/>
          <p:nvPr/>
        </p:nvSpPr>
        <p:spPr>
          <a:xfrm>
            <a:off x="1428750" y="3714750"/>
            <a:ext cx="6953250" cy="4286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to_tsvector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gin tìm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300.000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"đợi"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 "12344"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429750" y="2286000"/>
            <a:ext cx="7905750" cy="6096000"/>
          </a:xfrm>
          <a:prstGeom prst="roundRect">
            <a:avLst>
              <a:gd name="adj" fmla="val 4375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667000"/>
            <a:ext cx="695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Chưa</a:t>
            </a:r>
            <a:r>
              <a:rPr lang="en-US" sz="36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360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tiếng</a:t>
            </a:r>
            <a:r>
              <a:rPr lang="en-US" sz="36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Việt</a:t>
            </a:r>
            <a:endParaRPr lang="en-US" sz="3600" dirty="0"/>
          </a:p>
        </p:txBody>
      </p:sp>
      <p:sp>
        <p:nvSpPr>
          <p:cNvPr id="8" name="Text richtext-1792370839194-796554379"/>
          <p:cNvSpPr/>
          <p:nvPr/>
        </p:nvSpPr>
        <p:spPr>
          <a:xfrm>
            <a:off x="9906000" y="3714750"/>
            <a:ext cx="6953250" cy="42862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simple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khoảng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trắng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"hàng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đợi"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 từ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2756728-bd33-4758-ab3c-2ed9dc34d5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</a:t>
            </a:r>
            <a:r>
              <a:rPr lang="en-US" sz="66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thị</a:t>
            </a:r>
            <a:r>
              <a:rPr lang="en-US" sz="6600" dirty="0" spc="-2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6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0002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000250"/>
            <a:ext cx="285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6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b="1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62500" y="2333625"/>
            <a:ext cx="45720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Trưởng</a:t>
            </a:r>
            <a:r>
              <a:rPr lang="en-US" sz="25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39052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905250"/>
            <a:ext cx="285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6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48500" y="4238625"/>
            <a:ext cx="45720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2550" b="1" dirty="0" spc="1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2500" y="5810250"/>
            <a:ext cx="16383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5810250"/>
            <a:ext cx="285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6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b="1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34500" y="6143625"/>
            <a:ext cx="45720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2550" b="1" dirty="0" spc="1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b="1" dirty="0" spc="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nữa</a:t>
            </a:r>
            <a:endParaRPr lang="en-US" sz="2550" dirty="0"/>
          </a:p>
        </p:txBody>
      </p:sp>
      <p:sp>
        <p:nvSpPr>
          <p:cNvPr id="12" name="Connector line-1792370882104-781078497"/>
          <p:cNvSpPr/>
          <p:nvPr/>
        </p:nvSpPr>
        <p:spPr>
          <a:xfrm flipV="1" rot="5400000">
            <a:off x="7715250" y="2619375"/>
            <a:ext cx="952500" cy="22860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70882104-675170635"/>
          <p:cNvSpPr/>
          <p:nvPr/>
        </p:nvSpPr>
        <p:spPr>
          <a:xfrm flipV="1" rot="5400000">
            <a:off x="10001250" y="4524375"/>
            <a:ext cx="952500" cy="22860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2500" y="7905750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with</a:t>
            </a:r>
            <a:r>
              <a:rPr lang="en-US" sz="30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recursive</a:t>
            </a:r>
            <a:r>
              <a:rPr lang="en-US" sz="3000" dirty="0" spc="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30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30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dưới: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30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30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30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tầng.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2a377169-a723-4f53-bcb3-1ff481305a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600" dirty="0"/>
          </a:p>
        </p:txBody>
      </p:sp>
      <p:sp>
        <p:nvSpPr>
          <p:cNvPr id="3" name="Shape 1"/>
          <p:cNvSpPr/>
          <p:nvPr/>
        </p:nvSpPr>
        <p:spPr>
          <a:xfrm>
            <a:off x="952500" y="2095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28750" y="2714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571750" y="2333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3150" dirty="0" spc="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 chưa</a:t>
            </a:r>
            <a:r>
              <a:rPr lang="en-US" sz="31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31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31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3150" dirty="0" spc="-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chuyên</a:t>
            </a:r>
            <a:r>
              <a:rPr lang="en-US" sz="31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dụng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571750" y="3095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52500" y="4381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28750" y="5000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571750" y="4619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Mỗi</a:t>
            </a:r>
            <a:r>
              <a:rPr lang="en-US" sz="31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tiện</a:t>
            </a:r>
            <a:r>
              <a:rPr lang="en-US" sz="31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ích</a:t>
            </a:r>
            <a:r>
              <a:rPr lang="en-US" sz="31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thêm</a:t>
            </a:r>
            <a:r>
              <a:rPr lang="en-US" sz="31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việc</a:t>
            </a:r>
            <a:r>
              <a:rPr lang="en-US" sz="31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phải</a:t>
            </a:r>
            <a:r>
              <a:rPr lang="en-US" sz="31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571750" y="5381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Nâng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cấp,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4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6667500"/>
            <a:ext cx="16383000" cy="2000250"/>
          </a:xfrm>
          <a:prstGeom prst="roundRect">
            <a:avLst>
              <a:gd name="adj" fmla="val 95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8750" y="7286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571750" y="6905625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"Hỗ</a:t>
            </a:r>
            <a:r>
              <a:rPr lang="en-US" sz="31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trợ</a:t>
            </a:r>
            <a:r>
              <a:rPr lang="en-US" sz="31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giao</a:t>
            </a:r>
            <a:r>
              <a:rPr lang="en-US" sz="3150" dirty="0" spc="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thức</a:t>
            </a:r>
            <a:r>
              <a:rPr lang="en-US" sz="315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PostgreSQL"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2571750" y="7667625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hai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dcddbfa-afb4-40be-8069-d53d65a931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095375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r>
              <a:rPr lang="en-US" sz="48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ts: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brin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hữu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286000"/>
            <a:ext cx="666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dirty="0" spc="-9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Kém</a:t>
            </a:r>
            <a:r>
              <a:rPr lang="en-US" sz="8117" dirty="0" spc="2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đi.</a:t>
            </a:r>
            <a:endParaRPr lang="en-US" sz="8117" dirty="0"/>
          </a:p>
        </p:txBody>
      </p:sp>
      <p:sp>
        <p:nvSpPr>
          <p:cNvPr id="5" name="Text 3"/>
          <p:cNvSpPr/>
          <p:nvPr/>
        </p:nvSpPr>
        <p:spPr>
          <a:xfrm>
            <a:off x="7620000" y="2381250"/>
            <a:ext cx="97155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brin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ts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nới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4095750"/>
            <a:ext cx="16383000" cy="857250"/>
          </a:xfrm>
          <a:prstGeom prst="roundRect">
            <a:avLst>
              <a:gd name="adj" fmla="val 17778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095750"/>
            <a:ext cx="609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620000" y="40957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 phải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763500" y="40957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2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" y="5048250"/>
            <a:ext cx="16383000" cy="123825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5048250"/>
            <a:ext cx="6096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620000" y="504825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640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2763500" y="504825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14.079</a:t>
            </a:r>
            <a:endParaRPr lang="en-US" sz="3900" dirty="0"/>
          </a:p>
        </p:txBody>
      </p:sp>
      <p:sp>
        <p:nvSpPr>
          <p:cNvPr id="14" name="Shape 12"/>
          <p:cNvSpPr/>
          <p:nvPr/>
        </p:nvSpPr>
        <p:spPr>
          <a:xfrm>
            <a:off x="952500" y="6477000"/>
            <a:ext cx="16383000" cy="1238250"/>
          </a:xfrm>
          <a:prstGeom prst="roundRect">
            <a:avLst>
              <a:gd name="adj" fmla="val 1230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3500" y="6477000"/>
            <a:ext cx="6096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5%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620000" y="6477000"/>
            <a:ext cx="476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960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2763500" y="6477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62.414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952500" y="8096250"/>
            <a:ext cx="163830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nhiên.</a:t>
            </a:r>
            <a:r>
              <a:rPr lang="en-US" sz="22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B-tree</a:t>
            </a:r>
            <a:r>
              <a:rPr lang="en-US" sz="22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22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9" name="Text 2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08/10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5a2cb5d2-5626-40e7-8095-28e92479794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5240000" cy="32385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8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có ích</a:t>
            </a:r>
            <a:r>
              <a:rPr lang="en-US" sz="8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8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8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lọc.</a:t>
            </a:r>
            <a:endParaRPr lang="en-US" sz="8400" dirty="0"/>
          </a:p>
        </p:txBody>
      </p:sp>
      <p:sp>
        <p:nvSpPr>
          <p:cNvPr id="4" name="Shape 2"/>
          <p:cNvSpPr/>
          <p:nvPr/>
        </p:nvSpPr>
        <p:spPr>
          <a:xfrm>
            <a:off x="952500" y="5715000"/>
            <a:ext cx="80010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600075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(analyze)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Bitmap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Scan.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334500" y="5715000"/>
            <a:ext cx="80010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5500" y="600075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"hàng &amp;</a:t>
            </a:r>
            <a:r>
              <a:rPr lang="en-US" sz="25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đợi"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100.000 dòng,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-3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Text 16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ce336930-a19c-48ec-aead-b08acf39b8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19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048000" y="1619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2762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JSON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048000" y="2762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9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7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7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3905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48000" y="3905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5048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48000" y="5048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52500" y="6191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48000" y="6191250"/>
            <a:ext cx="685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thông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0477500" y="952500"/>
            <a:ext cx="6858000" cy="7810500"/>
          </a:xfrm>
          <a:prstGeom prst="roundRect">
            <a:avLst>
              <a:gd name="adj" fmla="val 3333"/>
            </a:avLst>
          </a:prstGeom>
          <a:solidFill>
            <a:srgbClr val="1E212B"/>
          </a:solidFill>
          <a:ln w="19050">
            <a:solidFill>
              <a:srgbClr val="4A4F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58500" y="1238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5" name="Text richtext-1792370885558-657684420"/>
          <p:cNvSpPr/>
          <p:nvPr/>
        </p:nvSpPr>
        <p:spPr>
          <a:xfrm>
            <a:off x="10858500" y="1809750"/>
            <a:ext cx="6096000" cy="6667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BRIN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Indexes,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GIN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Indexes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r>
              <a:rPr lang="en-US" sz="225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Types,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Full</a:t>
            </a:r>
            <a:r>
              <a:rPr lang="en-US" sz="2250" dirty="0" spc="-5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Search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CockroachDB,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F63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cb68582-2213-4af8-a5c6-27a8086dc5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2026-10-19T00:48:35Z</dcterms:created>
  <dcterms:modified xsi:type="dcterms:W3CDTF">2026-10-19T00:48:35Z</dcterms:modified>
</cp:coreProperties>
</file>