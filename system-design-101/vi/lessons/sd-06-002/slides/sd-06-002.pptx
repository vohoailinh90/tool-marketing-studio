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 SemiBold"/>
      <p:regular r:id="rId16"/>
    </p:embeddedFont>
    <p:embeddedFont>
      <p:font typeface="Bricolage Grotesque ExtraBold"/>
      <p:regular r:id="rId17"/>
    </p:embeddedFont>
    <p:embeddedFont>
      <p:font typeface="Be Vietnam Pro"/>
      <p:regular r:id="rId18"/>
      <p:bold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7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9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9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9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9525000" cy="55245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phổ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75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đâu,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75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752475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CDN,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8953500"/>
            <a:ext cx="1333500" cy="76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Shape 4"/>
          <p:cNvSpPr/>
          <p:nvPr/>
        </p:nvSpPr>
        <p:spPr>
          <a:xfrm>
            <a:off x="10763250" y="91440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763250" y="9144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1163300" y="12382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Cache-Control:</a:t>
            </a:r>
            <a:r>
              <a:rPr lang="en-US" sz="3300" dirty="0" spc="-2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private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163300" y="20383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0763250" y="367665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763250" y="36766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11163300" y="400050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no-store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1163300" y="48006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763250" y="6438900"/>
            <a:ext cx="66103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63250" y="64389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63300" y="6762750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s-maxage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1163300" y="75628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24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eca9d85-13ae-4155-9c4e-dfb7575f51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16459200" cy="4572000"/>
          </a:xfrm>
          <a:prstGeom prst="rect">
            <a:avLst/>
          </a:prstGeom>
          <a:noFill/>
          <a:ln/>
        </p:spPr>
        <p:txBody>
          <a:bodyPr wrap="square" lIns="0" tIns="75438" rIns="0" bIns="-75438" rtlCol="0" anchor="t"/>
          <a:lstStyle/>
          <a:p>
            <a:pPr algn="l" indent="0" marL="0">
              <a:lnSpc>
                <a:spcPts val="10692"/>
              </a:lnSpc>
              <a:buNone/>
            </a:pPr>
            <a:r>
              <a:rPr lang="en-US" sz="9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9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9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9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 nhanh hẳn,</a:t>
            </a:r>
            <a:r>
              <a:rPr lang="en-US" sz="9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trang</a:t>
            </a:r>
            <a:r>
              <a:rPr lang="en-US" sz="9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99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9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không.</a:t>
            </a:r>
            <a:endParaRPr lang="en-US" sz="9900" dirty="0"/>
          </a:p>
        </p:txBody>
      </p:sp>
      <p:sp>
        <p:nvSpPr>
          <p:cNvPr id="4" name="Shape 2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7391400"/>
            <a:ext cx="72390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dặn của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8915400" y="7391400"/>
            <a:ext cx="8077200" cy="7429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CDN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91add58-ce60-4618-aa96-0963ea8e20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1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LỜI</a:t>
            </a:r>
            <a:r>
              <a:rPr lang="en-US" sz="1950" spc="20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DẶN</a:t>
            </a:r>
            <a:r>
              <a:rPr lang="en-US" sz="1950" spc="21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181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Cache-Control:</a:t>
            </a:r>
            <a:r>
              <a:rPr lang="en-US" sz="78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private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953000"/>
          </a:xfrm>
          <a:prstGeom prst="roundRect">
            <a:avLst>
              <a:gd name="adj" fmla="val 461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8001000" cy="952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238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40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100" spc="148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 ĐỆM</a:t>
            </a:r>
            <a:r>
              <a:rPr lang="en-US" sz="2100" spc="150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100" spc="149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1295400" y="5334000"/>
            <a:ext cx="7239000" cy="952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300" dirty="0" spc="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300" dirty="0" spc="5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lưu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372600" y="2762250"/>
            <a:ext cx="8001000" cy="4953000"/>
          </a:xfrm>
          <a:prstGeom prst="roundRect">
            <a:avLst>
              <a:gd name="adj" fmla="val 461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372600" y="2762250"/>
            <a:ext cx="8001000" cy="952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2385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40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100" spc="148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 ĐỆM</a:t>
            </a:r>
            <a:r>
              <a:rPr lang="en-US" sz="2100" spc="149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53600" y="3714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9753600" y="5334000"/>
            <a:ext cx="7239000" cy="952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Giữ</a:t>
            </a:r>
            <a:r>
              <a:rPr lang="en-US" sz="28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8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r>
              <a:rPr lang="en-US" sz="2850" dirty="0" spc="1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r>
              <a:rPr lang="en-US" sz="285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đó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14400" y="8096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8172450"/>
            <a:ext cx="156972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private: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 không</a:t>
            </a:r>
            <a:r>
              <a:rPr lang="en-US" sz="33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33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33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này.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9f855f5d-37bb-465b-87e9-b0679c99b13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LỜI</a:t>
            </a:r>
            <a:r>
              <a:rPr lang="en-US" sz="1950" spc="20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DẶN</a:t>
            </a:r>
            <a:r>
              <a:rPr lang="en-US" sz="1950" spc="21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181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no-store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cấm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78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1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Cache-Control:</a:t>
            </a:r>
            <a:r>
              <a:rPr lang="en-US" sz="4800" dirty="0" spc="-2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no-store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47434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4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100" spc="14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 ĐỆM</a:t>
            </a:r>
            <a:r>
              <a:rPr lang="en-US" sz="2100" spc="15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100" spc="14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95400" y="52197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51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biên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2039600" y="4953000"/>
            <a:ext cx="4953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000" dirty="0" spc="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000" dirty="0" spc="4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lưu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14400" y="66675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9342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4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100" spc="14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 ĐỆM</a:t>
            </a:r>
            <a:r>
              <a:rPr lang="en-US" sz="2100" spc="14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95400" y="74104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51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</a:t>
            </a:r>
            <a:endParaRPr lang="en-US" sz="5100" dirty="0"/>
          </a:p>
        </p:txBody>
      </p:sp>
      <p:sp>
        <p:nvSpPr>
          <p:cNvPr id="12" name="Text 10"/>
          <p:cNvSpPr/>
          <p:nvPr/>
        </p:nvSpPr>
        <p:spPr>
          <a:xfrm>
            <a:off x="12039600" y="7143750"/>
            <a:ext cx="49530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Không</a:t>
            </a:r>
            <a:r>
              <a:rPr lang="en-US" sz="3000" dirty="0" spc="16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được</a:t>
            </a:r>
            <a:r>
              <a:rPr lang="en-US" sz="3000" dirty="0" spc="4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lưu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31ea7b2b-4e4f-4d66-ad15-a3940163b0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LỜI</a:t>
            </a:r>
            <a:r>
              <a:rPr lang="en-US" sz="1950" spc="205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DẶN</a:t>
            </a:r>
            <a:r>
              <a:rPr lang="en-US" sz="1950" spc="217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181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spc="226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s-maxage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thắng</a:t>
            </a:r>
            <a:r>
              <a:rPr lang="en-US" sz="78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max-age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19400"/>
            <a:ext cx="156972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 nhớ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chung: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max-age=60,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s-maxage=2</a:t>
            </a:r>
            <a:endParaRPr lang="en-US" sz="3000" dirty="0"/>
          </a:p>
        </p:txBody>
      </p:sp>
      <p:sp>
        <p:nvSpPr>
          <p:cNvPr id="6" name="Connector line-1792370837241-998544669"/>
          <p:cNvSpPr/>
          <p:nvPr/>
        </p:nvSpPr>
        <p:spPr>
          <a:xfrm>
            <a:off x="2571750" y="5334000"/>
            <a:ext cx="13144500" cy="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190750" y="4953000"/>
            <a:ext cx="762000" cy="762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8" name="Shape 6"/>
          <p:cNvSpPr/>
          <p:nvPr/>
        </p:nvSpPr>
        <p:spPr>
          <a:xfrm>
            <a:off x="6381750" y="495300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Shape 7"/>
          <p:cNvSpPr/>
          <p:nvPr/>
        </p:nvSpPr>
        <p:spPr>
          <a:xfrm>
            <a:off x="10572750" y="4953000"/>
            <a:ext cx="762000" cy="7620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Shape 8"/>
          <p:cNvSpPr/>
          <p:nvPr/>
        </p:nvSpPr>
        <p:spPr>
          <a:xfrm>
            <a:off x="14763750" y="4953000"/>
            <a:ext cx="762000" cy="7620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191250"/>
            <a:ext cx="33147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00150" y="6438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4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MISS</a:t>
            </a:r>
            <a:endParaRPr lang="en-US" sz="3740" dirty="0"/>
          </a:p>
        </p:txBody>
      </p:sp>
      <p:sp>
        <p:nvSpPr>
          <p:cNvPr id="13" name="Text 11"/>
          <p:cNvSpPr/>
          <p:nvPr/>
        </p:nvSpPr>
        <p:spPr>
          <a:xfrm>
            <a:off x="1200150" y="7200900"/>
            <a:ext cx="27432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4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105400" y="6191250"/>
            <a:ext cx="33147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5391150" y="6438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4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HIT</a:t>
            </a:r>
            <a:endParaRPr lang="en-US" sz="3740" dirty="0"/>
          </a:p>
        </p:txBody>
      </p:sp>
      <p:sp>
        <p:nvSpPr>
          <p:cNvPr id="16" name="Text 14"/>
          <p:cNvSpPr/>
          <p:nvPr/>
        </p:nvSpPr>
        <p:spPr>
          <a:xfrm>
            <a:off x="5391150" y="7200900"/>
            <a:ext cx="27432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8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296400" y="6191250"/>
            <a:ext cx="33147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9582150" y="6438900"/>
            <a:ext cx="2743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4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HIT</a:t>
            </a:r>
            <a:endParaRPr lang="en-US" sz="3740" dirty="0"/>
          </a:p>
        </p:txBody>
      </p:sp>
      <p:sp>
        <p:nvSpPr>
          <p:cNvPr id="19" name="Text 17"/>
          <p:cNvSpPr/>
          <p:nvPr/>
        </p:nvSpPr>
        <p:spPr>
          <a:xfrm>
            <a:off x="9582150" y="7200900"/>
            <a:ext cx="27432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8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3487400" y="6191250"/>
            <a:ext cx="38862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3773150" y="6438900"/>
            <a:ext cx="3314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74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EXPIRED</a:t>
            </a:r>
            <a:endParaRPr lang="en-US" sz="3740" dirty="0"/>
          </a:p>
        </p:txBody>
      </p:sp>
      <p:sp>
        <p:nvSpPr>
          <p:cNvPr id="22" name="Text 20"/>
          <p:cNvSpPr/>
          <p:nvPr/>
        </p:nvSpPr>
        <p:spPr>
          <a:xfrm>
            <a:off x="13773150" y="7200900"/>
            <a:ext cx="33147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1" name="Shape 2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2" name="Text 30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752c194-1210-4ca6-aec2-21ce4239ad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908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2857500" y="28575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CDN</a:t>
            </a:r>
            <a:r>
              <a:rPr lang="en-US" sz="34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giúp</a:t>
            </a:r>
            <a:r>
              <a:rPr lang="en-US" sz="34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4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4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4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3450" dirty="0" spc="4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18160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2857500" y="504825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Đừng</a:t>
            </a:r>
            <a:r>
              <a:rPr lang="en-US" sz="34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trông</a:t>
            </a:r>
            <a:r>
              <a:rPr lang="en-US" sz="34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4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cookie</a:t>
            </a:r>
            <a:r>
              <a:rPr lang="en-US" sz="34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4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450" dirty="0" spc="4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endParaRPr lang="en-US" sz="34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905000"/>
          </a:xfrm>
          <a:prstGeom prst="roundRect">
            <a:avLst>
              <a:gd name="adj" fmla="val 12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372350"/>
            <a:ext cx="1428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2857500" y="7239000"/>
            <a:ext cx="14097000" cy="1714500"/>
          </a:xfrm>
          <a:prstGeom prst="rect">
            <a:avLst/>
          </a:prstGeom>
          <a:noFill/>
          <a:ln/>
        </p:spPr>
        <p:txBody>
          <a:bodyPr wrap="square" lIns="0" tIns="24082" rIns="0" bIns="-24082" rtlCol="0" anchor="ctr"/>
          <a:lstStyle/>
          <a:p>
            <a:pPr algn="l" indent="0" marL="0">
              <a:lnSpc>
                <a:spcPts val="4313"/>
              </a:lnSpc>
              <a:buNone/>
            </a:pPr>
            <a:r>
              <a:rPr lang="en-US" sz="3450" dirty="0" spc="-6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Trang</a:t>
            </a:r>
            <a:r>
              <a:rPr lang="en-US" sz="34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34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4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4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ghi</a:t>
            </a:r>
            <a:r>
              <a:rPr lang="en-US" sz="34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private</a:t>
            </a:r>
            <a:r>
              <a:rPr lang="en-US" sz="34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34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no-store</a:t>
            </a:r>
            <a:endParaRPr lang="en-US" sz="34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aa2acd8-88ca-4fd2-b18d-cd9cc3c196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Trang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</a:t>
            </a:r>
            <a:r>
              <a:rPr lang="en-US" sz="78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sơ,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bật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3EEE3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09850"/>
            <a:ext cx="156972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private,</a:t>
            </a:r>
            <a:r>
              <a:rPr lang="en-US" sz="33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max-age=300: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3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33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3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14400" y="39052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905250"/>
            <a:ext cx="95250" cy="18097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0957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8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spc="149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95400" y="45910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lưu,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372600" y="39052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3905250"/>
            <a:ext cx="95250" cy="1809750"/>
          </a:xfrm>
          <a:prstGeom prst="rect">
            <a:avLst/>
          </a:prstGeom>
          <a:solidFill>
            <a:srgbClr val="FF6A4D"/>
          </a:solidFill>
          <a:ln/>
        </p:spPr>
      </p:sp>
      <p:sp>
        <p:nvSpPr>
          <p:cNvPr id="12" name="Text 10"/>
          <p:cNvSpPr/>
          <p:nvPr/>
        </p:nvSpPr>
        <p:spPr>
          <a:xfrm>
            <a:off x="9753600" y="40957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87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100" spc="150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GỐC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753600" y="45910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 mọi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14400" y="60007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6000750"/>
            <a:ext cx="95250" cy="1809750"/>
          </a:xfrm>
          <a:prstGeom prst="rect">
            <a:avLst/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61912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50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2100" spc="154" kern="0" dirty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95400" y="66865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 bản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300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372600" y="60007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372600" y="6000750"/>
            <a:ext cx="95250" cy="18097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9753600" y="61912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140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TRONG</a:t>
            </a:r>
            <a:r>
              <a:rPr lang="en-US" sz="2100" spc="14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300</a:t>
            </a:r>
            <a:r>
              <a:rPr lang="en-US" sz="2100" spc="11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753600" y="66865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14400" y="8096250"/>
            <a:ext cx="16459200" cy="952500"/>
          </a:xfrm>
          <a:prstGeom prst="roundRect">
            <a:avLst>
              <a:gd name="adj" fmla="val 24000"/>
            </a:avLst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8153400"/>
            <a:ext cx="156972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33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bớt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3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duyệt,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nhờ</a:t>
            </a: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CDN.</a:t>
            </a:r>
            <a:endParaRPr lang="en-US" sz="3300" dirty="0"/>
          </a:p>
        </p:txBody>
      </p:sp>
      <p:sp>
        <p:nvSpPr>
          <p:cNvPr id="24" name="Shape 2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29" name="Shape 2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2" name="Shape 3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d683bc03-bdbe-4128-9e04-eefa0042f00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</a:t>
            </a:r>
            <a:r>
              <a:rPr lang="en-US" sz="78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 nguồn</a:t>
            </a:r>
            <a:endParaRPr lang="en-US" sz="7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2344400"/>
              </a:tblGrid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4" kern="0">
                          <a:solidFill>
                            <a:srgbClr val="0F766E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Giữ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8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Luồng</a:t>
                      </a:r>
                      <a:r>
                        <a:rPr lang="en-US" sz="30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hỏi</a:t>
                      </a:r>
                      <a:r>
                        <a:rPr lang="en-US" sz="3000" dirty="0" spc="-2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các</a:t>
                      </a:r>
                      <a:r>
                        <a:rPr lang="en-US" sz="30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thành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phần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2" kern="0">
                          <a:solidFill>
                            <a:srgbClr val="1F3FD1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Thêm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3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Lời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dặn</a:t>
                      </a:r>
                      <a:r>
                        <a:rPr lang="en-US" sz="3000" dirty="0" spc="-1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Cache-Control</a:t>
                      </a:r>
                      <a:r>
                        <a:rPr lang="en-US" sz="300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theo</a:t>
                      </a:r>
                      <a:r>
                        <a:rPr lang="en-US" sz="300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RFC</a:t>
                      </a:r>
                      <a:r>
                        <a:rPr lang="en-US" sz="300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9111,</a:t>
                      </a:r>
                      <a:r>
                        <a:rPr lang="en-US" sz="3000" dirty="0" spc="-3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kèm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thử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nghiệm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3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Bỏ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3000" dirty="0" spc="2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r>
                        <a:rPr lang="en-US" sz="30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tuyến:</a:t>
                      </a:r>
                      <a:r>
                        <a:rPr lang="en-US" sz="3000" dirty="0" spc="1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chưa</a:t>
                      </a:r>
                      <a:r>
                        <a:rPr lang="en-US" sz="3000" dirty="0" spc="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đọc</a:t>
                      </a:r>
                      <a:r>
                        <a:rPr lang="en-US" sz="30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300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30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chuẩn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3" kern="0">
                          <a:solidFill>
                            <a:srgbClr val="E8472B"/>
                          </a:solidFill>
                          <a:latin typeface="Be Vietnam Pro ExtraBold" pitchFamily="34" charset="0"/>
                          <a:ea typeface="Be Vietnam Pro ExtraBold" pitchFamily="34" charset="-122"/>
                          <a:cs typeface="Be Vietnam Pro ExtraBold" pitchFamily="34" charset="-120"/>
                        </a:rPr>
                        <a:t>Bỏ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600"/>
                        </a:lnSpc>
                        <a:buNone/>
                      </a:pPr>
                      <a:r>
                        <a:rPr lang="en-US" sz="30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Con</a:t>
                      </a:r>
                      <a:r>
                        <a:rPr lang="en-US" sz="3000" dirty="0" spc="-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số</a:t>
                      </a:r>
                      <a:r>
                        <a:rPr lang="en-US" sz="30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thị</a:t>
                      </a:r>
                      <a:r>
                        <a:rPr lang="en-US" sz="3000" dirty="0" spc="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trường</a:t>
                      </a:r>
                      <a:r>
                        <a:rPr lang="en-US" sz="30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CDN: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300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30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</a:t>
                      </a:r>
                      <a:r>
                        <a:rPr lang="en-US" sz="300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đối</a:t>
                      </a:r>
                      <a:r>
                        <a:rPr lang="en-US" sz="300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chiếu</a:t>
                      </a:r>
                      <a:endParaRPr lang="en-US" sz="1200" dirty="0"/>
                    </a:p>
                  </a:txBody>
                  <a:tcPr marL="76200" marR="76200" marT="76200" marB="76200" anchor="ctr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6" name="Shape 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7" name="Shape 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8" name="Shape 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9" name="Shape 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0" name="Shape 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1" name="Shape 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2" name="Shape 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Text 11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c69dac10-b4f1-4468-876f-dcf43c91fc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8763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24003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CDN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00150" y="3105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Content</a:t>
            </a:r>
            <a:r>
              <a:rPr lang="en-US" sz="1800" dirty="0" spc="-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Delivery</a:t>
            </a:r>
            <a:r>
              <a:rPr lang="en-US" sz="1800" dirty="0" spc="-8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Network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0150" y="34861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Mạng</a:t>
            </a:r>
            <a:r>
              <a:rPr lang="en-US" sz="22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 phối</a:t>
            </a:r>
            <a:r>
              <a:rPr lang="en-US" sz="22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2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77000" y="228600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762750" y="24003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762750" y="3105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Domain</a:t>
            </a:r>
            <a:r>
              <a:rPr lang="en-US" sz="1800" dirty="0" spc="-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Name</a:t>
            </a:r>
            <a:r>
              <a:rPr lang="en-US" sz="1800" dirty="0" spc="-1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System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2750" y="34861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Hệ</a:t>
            </a:r>
            <a:r>
              <a:rPr lang="en-US" sz="225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25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2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39600" y="228600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25350" y="240030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325350" y="3105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7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Internet</a:t>
            </a:r>
            <a:r>
              <a:rPr lang="en-US" sz="1800" dirty="0" spc="-1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25350" y="34861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250" dirty="0" spc="1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250" dirty="0" spc="-8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432435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00150" y="443865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00150" y="5143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HyperText</a:t>
            </a:r>
            <a:r>
              <a:rPr lang="en-US" sz="1800" dirty="0" spc="-21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Transfer</a:t>
            </a:r>
            <a:r>
              <a:rPr lang="en-US" sz="1800" dirty="0" spc="-13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00150" y="55245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250" dirty="0" spc="1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250" dirty="0" spc="-1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r>
              <a:rPr lang="en-US" sz="22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siêu</a:t>
            </a:r>
            <a:r>
              <a:rPr lang="en-US" sz="2250" dirty="0" spc="-1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văn</a:t>
            </a:r>
            <a:r>
              <a:rPr lang="en-US" sz="225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6477000" y="432435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6762750" y="443865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MDN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762750" y="5143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Mozilla</a:t>
            </a:r>
            <a:r>
              <a:rPr lang="en-US" sz="1800" dirty="0" spc="-1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Developer</a:t>
            </a:r>
            <a:r>
              <a:rPr lang="en-US" sz="1800" dirty="0" spc="-9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Network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62750" y="55245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2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-1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web</a:t>
            </a:r>
            <a:r>
              <a:rPr lang="en-US" sz="225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2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Mozilla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039600" y="4324350"/>
            <a:ext cx="5334000" cy="1809750"/>
          </a:xfrm>
          <a:prstGeom prst="roundRect">
            <a:avLst>
              <a:gd name="adj" fmla="val 10526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325350" y="4438650"/>
            <a:ext cx="476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RFC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12325350" y="5143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Request</a:t>
            </a:r>
            <a:r>
              <a:rPr lang="en-US" sz="1800" dirty="0" spc="-12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for</a:t>
            </a:r>
            <a:r>
              <a:rPr lang="en-US" sz="1800" dirty="0" spc="-5" kern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Comments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25350" y="552450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7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2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kỹ</a:t>
            </a:r>
            <a:r>
              <a:rPr lang="en-US" sz="225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thuật</a:t>
            </a:r>
            <a:r>
              <a:rPr lang="en-US" sz="2250" dirty="0" spc="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250" dirty="0" spc="-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14400" y="6362700"/>
            <a:ext cx="16459200" cy="2667000"/>
          </a:xfrm>
          <a:prstGeom prst="roundRect">
            <a:avLst>
              <a:gd name="adj" fmla="val 7143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295400" y="65722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9AA0B5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658600" y="657225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</a:t>
            </a:r>
            <a:endParaRPr lang="en-US" sz="1950" dirty="0"/>
          </a:p>
        </p:txBody>
      </p:sp>
      <p:sp>
        <p:nvSpPr>
          <p:cNvPr id="31" name="Text richtext-1792370899684-301331107"/>
          <p:cNvSpPr/>
          <p:nvPr/>
        </p:nvSpPr>
        <p:spPr>
          <a:xfrm>
            <a:off x="1295400" y="7067550"/>
            <a:ext cx="15697200" cy="1809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IETF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Working Group:</a:t>
            </a:r>
            <a:r>
              <a:rPr lang="en-US" sz="24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9111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MDN: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r>
              <a:rPr lang="en-US" sz="24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caching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5" name="Shape 3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6" name="Shape 3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7" name="Shape 3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8" name="Shape 3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39" name="Shape 3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40" name="Shape 3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Text 39"/>
          <p:cNvSpPr/>
          <p:nvPr/>
        </p:nvSpPr>
        <p:spPr>
          <a:xfrm>
            <a:off x="34290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02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4e89fb12-74b1-4cd8-a87c-c5f5a5a98e0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2026-10-19T14:01:22Z</dcterms:created>
  <dcterms:modified xsi:type="dcterms:W3CDTF">2026-10-19T14:01:22Z</dcterms:modified>
</cp:coreProperties>
</file>