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20"/>
      <p:bold r:id="rId17"/>
    </p:embeddedFont>
    <p:embeddedFont>
      <p:font typeface="Bricolage Grotesque ExtraBold"/>
      <p:regular r:id="rId18"/>
    </p:embeddedFont>
    <p:embeddedFont>
      <p:font typeface="Be Vietnam Pro SemiBold"/>
      <p:regular r:id="rId19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9334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7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9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525000" cy="2533650"/>
          </a:xfrm>
          <a:prstGeom prst="rect">
            <a:avLst/>
          </a:prstGeom>
          <a:noFill/>
          <a:ln/>
        </p:spPr>
        <p:txBody>
          <a:bodyPr wrap="square" lIns="0" tIns="72009" rIns="0" bIns="-72009" rtlCol="0" anchor="t"/>
          <a:lstStyle/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10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OAuth</a:t>
            </a:r>
            <a:r>
              <a:rPr lang="en-US" sz="81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2.0</a:t>
            </a:r>
            <a:r>
              <a:rPr lang="en-US" sz="81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endParaRPr lang="en-US" sz="8100" dirty="0"/>
          </a:p>
          <a:p>
            <a:pPr algn="l" indent="0" marL="0">
              <a:lnSpc>
                <a:spcPts val="8424"/>
              </a:lnSpc>
              <a:buNone/>
            </a:pPr>
            <a:r>
              <a:rPr lang="en-US" sz="8100" dirty="0" spc="-5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lời</a:t>
            </a:r>
            <a:r>
              <a:rPr lang="en-US" sz="8100" dirty="0" spc="-3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đơn</a:t>
            </a:r>
            <a:r>
              <a:rPr lang="en-US" sz="81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giản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9144000" cy="533400"/>
          </a:xfrm>
          <a:prstGeom prst="rect">
            <a:avLst/>
          </a:prstGeom>
          <a:noFill/>
          <a:ln/>
        </p:spPr>
        <p:txBody>
          <a:bodyPr wrap="square" lIns="0" tIns="16192" rIns="0" bIns="-16192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000" dirty="0" spc="-89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Token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000" dirty="0" spc="-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</a:t>
            </a:r>
            <a:r>
              <a:rPr lang="en-US" sz="3000" dirty="0" spc="-2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3000" dirty="0" spc="-5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3000" dirty="0" spc="1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làm</a:t>
            </a:r>
            <a:r>
              <a:rPr lang="en-US" sz="3000" dirty="0" spc="13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3000" dirty="0" spc="0" kern="0">
                <a:solidFill>
                  <a:srgbClr val="F3EEE3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762500"/>
            <a:ext cx="9525000" cy="123825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2550" dirty="0" spc="2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55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5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cần</a:t>
            </a:r>
            <a:r>
              <a:rPr lang="en-US" sz="25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5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bạn,</a:t>
            </a:r>
            <a:r>
              <a:rPr lang="en-US" sz="25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nhưng</a:t>
            </a:r>
            <a:r>
              <a:rPr lang="en-US" sz="25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5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5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5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550" dirty="0" spc="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5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nhập.</a:t>
            </a:r>
            <a:endParaRPr lang="en-US" sz="2550" dirty="0"/>
          </a:p>
        </p:txBody>
      </p:sp>
      <p:sp>
        <p:nvSpPr>
          <p:cNvPr id="6" name="Connector line-1792339376660-99903128"/>
          <p:cNvSpPr/>
          <p:nvPr/>
        </p:nvSpPr>
        <p:spPr>
          <a:xfrm>
            <a:off x="914400" y="7429500"/>
            <a:ext cx="91440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7" name="Text 5"/>
          <p:cNvSpPr/>
          <p:nvPr/>
        </p:nvSpPr>
        <p:spPr>
          <a:xfrm>
            <a:off x="9144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tấm</a:t>
            </a:r>
            <a:r>
              <a:rPr lang="en-US" sz="42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vé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9144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scope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audience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24815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r>
              <a:rPr lang="en-US" sz="42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endParaRPr lang="en-US" sz="4200" dirty="0"/>
          </a:p>
        </p:txBody>
      </p:sp>
      <p:sp>
        <p:nvSpPr>
          <p:cNvPr id="10" name="Text 8"/>
          <p:cNvSpPr/>
          <p:nvPr/>
        </p:nvSpPr>
        <p:spPr>
          <a:xfrm>
            <a:off x="424815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thí nghiệm</a:t>
            </a:r>
            <a:r>
              <a:rPr lang="en-US" sz="1800" dirty="0" spc="-1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581900" y="7772400"/>
            <a:ext cx="32385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r>
              <a:rPr lang="en-US" sz="42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7581900" y="847725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làm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715500"/>
            <a:ext cx="7620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65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10763250" y="24955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6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3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1650" b="1" spc="23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4573250" y="2495550"/>
            <a:ext cx="285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650" b="1" spc="16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6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65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650" dirty="0"/>
          </a:p>
        </p:txBody>
      </p:sp>
      <p:sp>
        <p:nvSpPr>
          <p:cNvPr id="16" name="Connector line-1792339376682-411058186"/>
          <p:cNvSpPr/>
          <p:nvPr/>
        </p:nvSpPr>
        <p:spPr>
          <a:xfrm>
            <a:off x="10953750" y="3429000"/>
            <a:ext cx="6477000" cy="0"/>
          </a:xfrm>
          <a:prstGeom prst="line">
            <a:avLst/>
          </a:prstGeom>
          <a:noFill/>
          <a:ln w="38100">
            <a:solidFill>
              <a:srgbClr val="D8D3C4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17" name="Shape 15"/>
          <p:cNvSpPr/>
          <p:nvPr/>
        </p:nvSpPr>
        <p:spPr>
          <a:xfrm>
            <a:off x="10725150" y="3200400"/>
            <a:ext cx="457200" cy="45720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8" name="Shape 16"/>
          <p:cNvSpPr/>
          <p:nvPr/>
        </p:nvSpPr>
        <p:spPr>
          <a:xfrm>
            <a:off x="17202150" y="3200400"/>
            <a:ext cx="457200" cy="4572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9" name="Shape 17"/>
          <p:cNvSpPr/>
          <p:nvPr/>
        </p:nvSpPr>
        <p:spPr>
          <a:xfrm>
            <a:off x="12668250" y="2857500"/>
            <a:ext cx="3048000" cy="1143000"/>
          </a:xfrm>
          <a:prstGeom prst="roundRect">
            <a:avLst>
              <a:gd name="adj" fmla="val 2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668250" y="3028950"/>
            <a:ext cx="30480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access</a:t>
            </a:r>
            <a:r>
              <a:rPr lang="en-US" sz="2250" b="1" dirty="0" spc="-2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2668250" y="3486150"/>
            <a:ext cx="3048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scope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endParaRPr lang="en-US" sz="1800" dirty="0"/>
          </a:p>
        </p:txBody>
      </p:sp>
      <p:sp>
        <p:nvSpPr>
          <p:cNvPr id="22" name="Shape 20"/>
          <p:cNvSpPr/>
          <p:nvPr/>
        </p:nvSpPr>
        <p:spPr>
          <a:xfrm>
            <a:off x="10896600" y="5276850"/>
            <a:ext cx="495300" cy="4953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23" name="Shape 21"/>
          <p:cNvSpPr/>
          <p:nvPr/>
        </p:nvSpPr>
        <p:spPr>
          <a:xfrm>
            <a:off x="11029950" y="5419725"/>
            <a:ext cx="238125" cy="200025"/>
          </a:xfrm>
          <a:custGeom>
            <a:avLst/>
            <a:gdLst/>
            <a:ahLst/>
            <a:cxnLst/>
            <a:rect l="l" t="t" r="r" b="b"/>
            <a:pathLst>
              <a:path w="238125" h="200025">
                <a:moveTo>
                  <a:pt x="0" y="104775"/>
                </a:moveTo>
                <a:lnTo>
                  <a:pt x="85725" y="200025"/>
                </a:lnTo>
                <a:lnTo>
                  <a:pt x="238125" y="0"/>
                </a:lnTo>
              </a:path>
            </a:pathLst>
          </a:custGeom>
          <a:ln w="47625">
            <a:solidFill>
              <a:srgbClr val="14161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1639550" y="51435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650" b="1" spc="22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5" name="Text 23"/>
          <p:cNvSpPr/>
          <p:nvPr/>
        </p:nvSpPr>
        <p:spPr>
          <a:xfrm>
            <a:off x="11639550" y="5467350"/>
            <a:ext cx="5715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4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400" dirty="0" spc="-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4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400" dirty="0"/>
          </a:p>
        </p:txBody>
      </p:sp>
      <p:sp>
        <p:nvSpPr>
          <p:cNvPr id="26" name="Shape 24"/>
          <p:cNvSpPr/>
          <p:nvPr/>
        </p:nvSpPr>
        <p:spPr>
          <a:xfrm>
            <a:off x="10896600" y="6610350"/>
            <a:ext cx="495300" cy="4953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7" name="Shape 25"/>
          <p:cNvSpPr/>
          <p:nvPr/>
        </p:nvSpPr>
        <p:spPr>
          <a:xfrm>
            <a:off x="11039475" y="6753225"/>
            <a:ext cx="209550" cy="209550"/>
          </a:xfrm>
          <a:custGeom>
            <a:avLst/>
            <a:gdLst/>
            <a:ahLst/>
            <a:cxnLst/>
            <a:rect l="l" t="t" r="r" b="b"/>
            <a:pathLst>
              <a:path w="209550" h="209550">
                <a:moveTo>
                  <a:pt x="0" y="0"/>
                </a:moveTo>
                <a:lnTo>
                  <a:pt x="209550" y="209550"/>
                </a:lnTo>
                <a:moveTo>
                  <a:pt x="209550" y="0"/>
                </a:moveTo>
                <a:lnTo>
                  <a:pt x="0" y="209550"/>
                </a:lnTo>
              </a:path>
            </a:pathLst>
          </a:custGeom>
          <a:ln w="47625">
            <a:solidFill>
              <a:srgbClr val="14161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1639550" y="6477000"/>
            <a:ext cx="571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65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6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1650" b="1" spc="22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1650" dirty="0"/>
          </a:p>
        </p:txBody>
      </p:sp>
      <p:sp>
        <p:nvSpPr>
          <p:cNvPr id="29" name="Text 27"/>
          <p:cNvSpPr/>
          <p:nvPr/>
        </p:nvSpPr>
        <p:spPr>
          <a:xfrm>
            <a:off x="11639550" y="6800850"/>
            <a:ext cx="57531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Ai</a:t>
            </a:r>
            <a:r>
              <a:rPr lang="en-US" sz="2400" dirty="0" spc="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4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nhập,</a:t>
            </a:r>
            <a:r>
              <a:rPr lang="en-US" sz="2400" dirty="0" spc="-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</a:t>
            </a:r>
            <a:r>
              <a:rPr lang="en-US" sz="2400" dirty="0" spc="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4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4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endParaRPr lang="en-US" sz="2400" dirty="0"/>
          </a:p>
        </p:txBody>
      </p:sp>
      <p:sp>
        <p:nvSpPr>
          <p:cNvPr id="30" name="Shape 28"/>
          <p:cNvSpPr/>
          <p:nvPr/>
        </p:nvSpPr>
        <p:spPr>
          <a:xfrm>
            <a:off x="10763250" y="7524750"/>
            <a:ext cx="6667500" cy="1524000"/>
          </a:xfrm>
          <a:prstGeom prst="roundRect">
            <a:avLst>
              <a:gd name="adj" fmla="val 15000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087100" y="7753350"/>
            <a:ext cx="60198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650" b="1" spc="23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6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650" b="1" spc="21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087100" y="8153400"/>
            <a:ext cx="60198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JWT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1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</a:t>
            </a:r>
            <a:r>
              <a:rPr lang="en-US" sz="21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typ.</a:t>
            </a:r>
            <a:endParaRPr lang="en-US" sz="2100" dirty="0"/>
          </a:p>
        </p:txBody>
      </p:sp>
      <p:sp>
        <p:nvSpPr>
          <p:cNvPr id="33" name="Text 31"/>
          <p:cNvSpPr/>
          <p:nvPr/>
        </p:nvSpPr>
        <p:spPr>
          <a:xfrm>
            <a:off x="11087100" y="8572500"/>
            <a:ext cx="60198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mờ: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210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ea962c2a-95ac-4b65-95b4-418c990c92b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-6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vai</a:t>
            </a:r>
            <a:r>
              <a:rPr lang="en-US" sz="7500" dirty="0" spc="-1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r>
              <a:rPr lang="en-US" sz="7500" dirty="0" spc="-7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OAuth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64795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tiêu: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tay,</a:t>
            </a:r>
            <a:r>
              <a:rPr lang="en-US" sz="27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gì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3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nói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16459200" cy="5048250"/>
          </a:xfrm>
          <a:prstGeom prst="roundRect">
            <a:avLst>
              <a:gd name="adj" fmla="val 528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43000" y="4038600"/>
            <a:ext cx="3657600" cy="2571750"/>
          </a:xfrm>
          <a:prstGeom prst="roundRect">
            <a:avLst>
              <a:gd name="adj" fmla="val 8148"/>
            </a:avLst>
          </a:prstGeom>
          <a:solidFill>
            <a:srgbClr val="E8E0CF"/>
          </a:solidFill>
          <a:ln/>
        </p:spPr>
      </p:sp>
      <p:sp>
        <p:nvSpPr>
          <p:cNvPr id="7" name="Shape 5"/>
          <p:cNvSpPr/>
          <p:nvPr/>
        </p:nvSpPr>
        <p:spPr>
          <a:xfrm>
            <a:off x="1352550" y="4305300"/>
            <a:ext cx="457200" cy="4572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8" name="Text 6"/>
          <p:cNvSpPr/>
          <p:nvPr/>
        </p:nvSpPr>
        <p:spPr>
          <a:xfrm>
            <a:off x="1352550" y="4381500"/>
            <a:ext cx="457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1371600" y="4953000"/>
            <a:ext cx="3238500" cy="952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Chủ</a:t>
            </a:r>
            <a:r>
              <a:rPr lang="en-US" sz="30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tài</a:t>
            </a:r>
            <a:r>
              <a:rPr lang="en-US" sz="30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nguyên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371600" y="5810250"/>
            <a:ext cx="32385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thường</a:t>
            </a:r>
            <a:r>
              <a:rPr lang="en-US" sz="19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950" dirty="0" spc="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9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5257800" y="4038600"/>
            <a:ext cx="3657600" cy="2571750"/>
          </a:xfrm>
          <a:prstGeom prst="roundRect">
            <a:avLst>
              <a:gd name="adj" fmla="val 8148"/>
            </a:avLst>
          </a:prstGeom>
          <a:solidFill>
            <a:srgbClr val="E8E0CF"/>
          </a:solidFill>
          <a:ln/>
        </p:spPr>
      </p:sp>
      <p:sp>
        <p:nvSpPr>
          <p:cNvPr id="12" name="Shape 10"/>
          <p:cNvSpPr/>
          <p:nvPr/>
        </p:nvSpPr>
        <p:spPr>
          <a:xfrm>
            <a:off x="5467350" y="4305300"/>
            <a:ext cx="457200" cy="4572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3" name="Text 11"/>
          <p:cNvSpPr/>
          <p:nvPr/>
        </p:nvSpPr>
        <p:spPr>
          <a:xfrm>
            <a:off x="5467350" y="4381500"/>
            <a:ext cx="457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5486400" y="4953000"/>
            <a:ext cx="3238500" cy="952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Ứng dụng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5486400" y="5810250"/>
            <a:ext cx="32385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cầm</a:t>
            </a:r>
            <a:r>
              <a:rPr lang="en-US" sz="1950" dirty="0" spc="-1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token,</a:t>
            </a:r>
            <a:r>
              <a:rPr lang="en-US" sz="19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9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endParaRPr lang="en-US" sz="1950" dirty="0"/>
          </a:p>
        </p:txBody>
      </p:sp>
      <p:sp>
        <p:nvSpPr>
          <p:cNvPr id="16" name="Shape 14"/>
          <p:cNvSpPr/>
          <p:nvPr/>
        </p:nvSpPr>
        <p:spPr>
          <a:xfrm>
            <a:off x="9372600" y="4038600"/>
            <a:ext cx="3657600" cy="2571750"/>
          </a:xfrm>
          <a:prstGeom prst="roundRect">
            <a:avLst>
              <a:gd name="adj" fmla="val 8148"/>
            </a:avLst>
          </a:prstGeom>
          <a:solidFill>
            <a:srgbClr val="DDE3FA"/>
          </a:solidFill>
          <a:ln w="28575">
            <a:solidFill>
              <a:srgbClr val="1F3FD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582150" y="4305300"/>
            <a:ext cx="457200" cy="457200"/>
          </a:xfrm>
          <a:prstGeom prst="ellipse">
            <a:avLst/>
          </a:prstGeom>
          <a:solidFill>
            <a:srgbClr val="1F3FD1"/>
          </a:solidFill>
          <a:ln/>
        </p:spPr>
      </p:sp>
      <p:sp>
        <p:nvSpPr>
          <p:cNvPr id="18" name="Text 16"/>
          <p:cNvSpPr/>
          <p:nvPr/>
        </p:nvSpPr>
        <p:spPr>
          <a:xfrm>
            <a:off x="9582150" y="4381500"/>
            <a:ext cx="457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2100" dirty="0"/>
          </a:p>
        </p:txBody>
      </p:sp>
      <p:sp>
        <p:nvSpPr>
          <p:cNvPr id="19" name="Text 17"/>
          <p:cNvSpPr/>
          <p:nvPr/>
        </p:nvSpPr>
        <p:spPr>
          <a:xfrm>
            <a:off x="9601200" y="4953000"/>
            <a:ext cx="3238500" cy="952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dirty="0" spc="4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0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ủy quyền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9601200" y="5810250"/>
            <a:ext cx="32385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19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950" dirty="0"/>
          </a:p>
        </p:txBody>
      </p:sp>
      <p:sp>
        <p:nvSpPr>
          <p:cNvPr id="21" name="Shape 19"/>
          <p:cNvSpPr/>
          <p:nvPr/>
        </p:nvSpPr>
        <p:spPr>
          <a:xfrm>
            <a:off x="13487400" y="4038600"/>
            <a:ext cx="3657600" cy="2571750"/>
          </a:xfrm>
          <a:prstGeom prst="roundRect">
            <a:avLst>
              <a:gd name="adj" fmla="val 8148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3696950" y="4305300"/>
            <a:ext cx="457200" cy="457200"/>
          </a:xfrm>
          <a:prstGeom prst="ellipse">
            <a:avLst/>
          </a:prstGeom>
          <a:solidFill>
            <a:srgbClr val="B45309"/>
          </a:solidFill>
          <a:ln/>
        </p:spPr>
      </p:sp>
      <p:sp>
        <p:nvSpPr>
          <p:cNvPr id="23" name="Text 21"/>
          <p:cNvSpPr/>
          <p:nvPr/>
        </p:nvSpPr>
        <p:spPr>
          <a:xfrm>
            <a:off x="13696950" y="4381500"/>
            <a:ext cx="457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1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2100" dirty="0"/>
          </a:p>
        </p:txBody>
      </p:sp>
      <p:sp>
        <p:nvSpPr>
          <p:cNvPr id="24" name="Text 22"/>
          <p:cNvSpPr/>
          <p:nvPr/>
        </p:nvSpPr>
        <p:spPr>
          <a:xfrm>
            <a:off x="13716000" y="4953000"/>
            <a:ext cx="3238500" cy="952500"/>
          </a:xfrm>
          <a:prstGeom prst="rect">
            <a:avLst/>
          </a:prstGeom>
          <a:noFill/>
          <a:ln/>
        </p:spPr>
        <p:txBody>
          <a:bodyPr wrap="square" lIns="0" tIns="22860" rIns="0" bIns="-22860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000" dirty="0" spc="4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Máy</a:t>
            </a:r>
            <a:r>
              <a:rPr lang="en-US" sz="3000" dirty="0" spc="-1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chủ API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13716000" y="5810250"/>
            <a:ext cx="3238500" cy="7239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</a:t>
            </a:r>
            <a:r>
              <a:rPr lang="en-US" sz="19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 khai, kiểm</a:t>
            </a:r>
            <a:r>
              <a:rPr lang="en-US" sz="19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950" dirty="0"/>
          </a:p>
        </p:txBody>
      </p:sp>
      <p:sp>
        <p:nvSpPr>
          <p:cNvPr id="26" name="Connector line-1792363419432-429252887"/>
          <p:cNvSpPr/>
          <p:nvPr/>
        </p:nvSpPr>
        <p:spPr>
          <a:xfrm>
            <a:off x="1143000" y="6877050"/>
            <a:ext cx="16002000" cy="0"/>
          </a:xfrm>
          <a:prstGeom prst="line">
            <a:avLst/>
          </a:prstGeom>
          <a:noFill/>
          <a:ln w="19050">
            <a:solidFill>
              <a:srgbClr val="DDD5C1"/>
            </a:solidFill>
            <a:prstDash val="solid"/>
            <a:headEnd type="none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1143000" y="7105650"/>
            <a:ext cx="6096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b="1" spc="23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6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THỰC</a:t>
            </a:r>
            <a:r>
              <a:rPr lang="en-US" sz="16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1650" dirty="0"/>
          </a:p>
        </p:txBody>
      </p:sp>
      <p:sp>
        <p:nvSpPr>
          <p:cNvPr id="28" name="Text 26"/>
          <p:cNvSpPr/>
          <p:nvPr/>
        </p:nvSpPr>
        <p:spPr>
          <a:xfrm>
            <a:off x="1143000" y="7581900"/>
            <a:ext cx="1143000" cy="5524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User</a:t>
            </a:r>
            <a:endParaRPr lang="en-US" sz="2100" dirty="0"/>
          </a:p>
        </p:txBody>
      </p:sp>
      <p:sp>
        <p:nvSpPr>
          <p:cNvPr id="29" name="Text 27"/>
          <p:cNvSpPr/>
          <p:nvPr/>
        </p:nvSpPr>
        <p:spPr>
          <a:xfrm>
            <a:off x="2438400" y="7581900"/>
            <a:ext cx="1428750" cy="5524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Server</a:t>
            </a:r>
            <a:endParaRPr lang="en-US" sz="2100" dirty="0"/>
          </a:p>
        </p:txBody>
      </p:sp>
      <p:sp>
        <p:nvSpPr>
          <p:cNvPr id="30" name="Text 28"/>
          <p:cNvSpPr/>
          <p:nvPr/>
        </p:nvSpPr>
        <p:spPr>
          <a:xfrm>
            <a:off x="4019550" y="7581900"/>
            <a:ext cx="3048000" cy="55245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Identity</a:t>
            </a:r>
            <a:r>
              <a:rPr lang="en-US" sz="210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Provider</a:t>
            </a:r>
            <a:endParaRPr lang="en-US" sz="2100" dirty="0"/>
          </a:p>
        </p:txBody>
      </p:sp>
      <p:sp>
        <p:nvSpPr>
          <p:cNvPr id="31" name="Text 29"/>
          <p:cNvSpPr/>
          <p:nvPr/>
        </p:nvSpPr>
        <p:spPr>
          <a:xfrm>
            <a:off x="7905750" y="7239000"/>
            <a:ext cx="9239250" cy="1143000"/>
          </a:xfrm>
          <a:prstGeom prst="rect">
            <a:avLst/>
          </a:prstGeom>
          <a:noFill/>
          <a:ln/>
        </p:spPr>
        <p:txBody>
          <a:bodyPr wrap="square" lIns="0" tIns="9144" rIns="0" bIns="-9144" rtlCol="0" anchor="t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“Identity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Provider”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vai</a:t>
            </a:r>
            <a:r>
              <a:rPr lang="en-US" sz="24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400" dirty="0" spc="-4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OWASP,</a:t>
            </a:r>
            <a:r>
              <a:rPr lang="en-US" sz="240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authlib.</a:t>
            </a:r>
            <a:endParaRPr lang="en-US" sz="2400" dirty="0"/>
          </a:p>
        </p:txBody>
      </p:sp>
      <p:sp>
        <p:nvSpPr>
          <p:cNvPr id="32" name="Connector line-1792363419445-98241001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21443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44" name="Shape 4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5" name="Moda image moda-export-watermark-2a6204df-6081-4a8a-8473-96bf78daab0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382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382000" cy="2476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4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Token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giống</a:t>
            </a:r>
            <a:endParaRPr lang="en-US" sz="7500" dirty="0"/>
          </a:p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</a:t>
            </a:r>
            <a:r>
              <a:rPr lang="en-US" sz="75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tấm</a:t>
            </a:r>
            <a:r>
              <a:rPr lang="en-US" sz="7500" dirty="0" spc="-7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vé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4000500"/>
            <a:ext cx="8191500" cy="12382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6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Vé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7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sẵn,</a:t>
            </a:r>
            <a:r>
              <a:rPr lang="en-US" sz="27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-2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2700" dirty="0"/>
          </a:p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 ở</a:t>
            </a:r>
            <a:r>
              <a:rPr lang="en-US" sz="27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7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5810250"/>
            <a:ext cx="8191500" cy="2571750"/>
          </a:xfrm>
          <a:prstGeom prst="roundRect">
            <a:avLst>
              <a:gd name="adj" fmla="val 9630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181100" y="6134100"/>
            <a:ext cx="457200" cy="457200"/>
          </a:xfrm>
          <a:prstGeom prst="ellipse">
            <a:avLst/>
          </a:prstGeom>
          <a:solidFill>
            <a:srgbClr val="3DD6A0"/>
          </a:solidFill>
          <a:ln/>
        </p:spPr>
      </p:sp>
      <p:sp>
        <p:nvSpPr>
          <p:cNvPr id="7" name="Shape 5"/>
          <p:cNvSpPr/>
          <p:nvPr/>
        </p:nvSpPr>
        <p:spPr>
          <a:xfrm>
            <a:off x="1304925" y="6267450"/>
            <a:ext cx="219075" cy="180975"/>
          </a:xfrm>
          <a:custGeom>
            <a:avLst/>
            <a:gdLst/>
            <a:ahLst/>
            <a:cxnLst/>
            <a:rect l="l" t="t" r="r" b="b"/>
            <a:pathLst>
              <a:path w="219075" h="180975">
                <a:moveTo>
                  <a:pt x="0" y="95250"/>
                </a:moveTo>
                <a:lnTo>
                  <a:pt x="76200" y="180975"/>
                </a:lnTo>
                <a:lnTo>
                  <a:pt x="219075" y="0"/>
                </a:lnTo>
              </a:path>
            </a:pathLst>
          </a:custGeom>
          <a:ln w="4762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90700" y="62103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7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VÉ</a:t>
            </a:r>
            <a:r>
              <a:rPr lang="en-US" sz="1800" b="1" spc="22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57300" y="6858000"/>
            <a:ext cx="7524750" cy="1333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70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mà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70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bạn.</a:t>
            </a:r>
            <a:endParaRPr lang="en-US" sz="2700" dirty="0"/>
          </a:p>
        </p:txBody>
      </p:sp>
      <p:sp>
        <p:nvSpPr>
          <p:cNvPr id="10" name="Shape 8"/>
          <p:cNvSpPr/>
          <p:nvPr/>
        </p:nvSpPr>
        <p:spPr>
          <a:xfrm>
            <a:off x="9620250" y="1047750"/>
            <a:ext cx="7753350" cy="7905750"/>
          </a:xfrm>
          <a:prstGeom prst="roundRect">
            <a:avLst>
              <a:gd name="adj" fmla="val 3686"/>
            </a:avLst>
          </a:prstGeom>
          <a:solidFill>
            <a:srgbClr val="1E212B"/>
          </a:solidFill>
          <a:ln w="19050">
            <a:solidFill>
              <a:srgbClr val="2A2D3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96500" y="14478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ACCESS</a:t>
            </a:r>
            <a:r>
              <a:rPr lang="en-US" sz="1950" b="1" spc="28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950" dirty="0"/>
          </a:p>
        </p:txBody>
      </p:sp>
      <p:sp>
        <p:nvSpPr>
          <p:cNvPr id="12" name="Connector line-1792363469935-965537476"/>
          <p:cNvSpPr/>
          <p:nvPr/>
        </p:nvSpPr>
        <p:spPr>
          <a:xfrm>
            <a:off x="10096500" y="2143125"/>
            <a:ext cx="6800850" cy="0"/>
          </a:xfrm>
          <a:prstGeom prst="line">
            <a:avLst/>
          </a:prstGeom>
          <a:noFill/>
          <a:ln w="28575">
            <a:solidFill>
              <a:srgbClr val="4A4E5C"/>
            </a:solidFill>
            <a:prstDash val="lgDash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53550" y="1876425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4" name="Shape 12"/>
          <p:cNvSpPr/>
          <p:nvPr/>
        </p:nvSpPr>
        <p:spPr>
          <a:xfrm>
            <a:off x="17106900" y="1876425"/>
            <a:ext cx="533400" cy="5334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Text 13"/>
          <p:cNvSpPr/>
          <p:nvPr/>
        </p:nvSpPr>
        <p:spPr>
          <a:xfrm>
            <a:off x="10096500" y="2571750"/>
            <a:ext cx="3048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scope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13239750" y="2628900"/>
            <a:ext cx="381000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được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2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2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250" dirty="0"/>
          </a:p>
        </p:txBody>
      </p:sp>
      <p:sp>
        <p:nvSpPr>
          <p:cNvPr id="17" name="Connector line-1792363469947-184729311"/>
          <p:cNvSpPr/>
          <p:nvPr/>
        </p:nvSpPr>
        <p:spPr>
          <a:xfrm>
            <a:off x="10096500" y="3905250"/>
            <a:ext cx="680085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10096500" y="4191000"/>
            <a:ext cx="3048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audience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13239750" y="4248150"/>
            <a:ext cx="381000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2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20" name="Connector line-1792363469959-401741403"/>
          <p:cNvSpPr/>
          <p:nvPr/>
        </p:nvSpPr>
        <p:spPr>
          <a:xfrm>
            <a:off x="10096500" y="5524500"/>
            <a:ext cx="680085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1" name="Text 19"/>
          <p:cNvSpPr/>
          <p:nvPr/>
        </p:nvSpPr>
        <p:spPr>
          <a:xfrm>
            <a:off x="10096500" y="5810250"/>
            <a:ext cx="3048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3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exp</a:t>
            </a:r>
            <a:endParaRPr lang="en-US" sz="4200" dirty="0"/>
          </a:p>
        </p:txBody>
      </p:sp>
      <p:sp>
        <p:nvSpPr>
          <p:cNvPr id="22" name="Text 20"/>
          <p:cNvSpPr/>
          <p:nvPr/>
        </p:nvSpPr>
        <p:spPr>
          <a:xfrm>
            <a:off x="13239750" y="5867400"/>
            <a:ext cx="3810000" cy="10477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1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đến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2250" dirty="0"/>
          </a:p>
        </p:txBody>
      </p:sp>
      <p:sp>
        <p:nvSpPr>
          <p:cNvPr id="23" name="Connector line-1792363469964-713440883"/>
          <p:cNvSpPr/>
          <p:nvPr/>
        </p:nvSpPr>
        <p:spPr>
          <a:xfrm>
            <a:off x="10096500" y="7143750"/>
            <a:ext cx="680085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0096500" y="7429500"/>
            <a:ext cx="30480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</a:t>
            </a:r>
            <a:r>
              <a:rPr lang="en-US" sz="42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13239750" y="7486650"/>
            <a:ext cx="3810000" cy="1238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ký</a:t>
            </a:r>
            <a:r>
              <a:rPr lang="en-US" sz="22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25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r>
              <a:rPr lang="en-US" sz="22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25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ủy</a:t>
            </a:r>
            <a:r>
              <a:rPr lang="en-US" sz="22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250" dirty="0"/>
          </a:p>
        </p:txBody>
      </p:sp>
      <p:sp>
        <p:nvSpPr>
          <p:cNvPr id="26" name="Connector line-1792363469989-79636031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7" name="Shape 25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8" name="Shape 26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29" name="Shape 27"/>
          <p:cNvSpPr/>
          <p:nvPr/>
        </p:nvSpPr>
        <p:spPr>
          <a:xfrm>
            <a:off x="154305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30" name="Shape 28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8" name="Shape 3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9" name="Moda image moda-export-watermark-d7f547e1-bb48-4d62-b8e8-b152816b71c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 2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/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04775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Bốn</a:t>
            </a:r>
            <a:r>
              <a:rPr lang="en-US" sz="75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phép</a:t>
            </a:r>
            <a:r>
              <a:rPr lang="en-US" sz="75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</a:t>
            </a:r>
            <a:r>
              <a:rPr lang="en-US" sz="7500" dirty="0" spc="-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trên</a:t>
            </a:r>
            <a:r>
              <a:rPr lang="en-US" sz="7500" dirty="0" spc="1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JWT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304800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6" name="Text 4"/>
          <p:cNvSpPr/>
          <p:nvPr/>
        </p:nvSpPr>
        <p:spPr>
          <a:xfrm>
            <a:off x="2343150" y="29527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3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đúng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2343150" y="352425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 kiểm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 khóa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khai.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0287000" y="32194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300" dirty="0" spc="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chữ</a:t>
            </a:r>
            <a:r>
              <a:rPr lang="en-US" sz="3300" dirty="0" spc="-1" kern="0">
                <a:solidFill>
                  <a:srgbClr val="1F3FD1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ký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3716000" y="3105150"/>
            <a:ext cx="3238500" cy="6477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sai:</a:t>
            </a:r>
            <a:r>
              <a:rPr lang="en-US" sz="24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" y="41910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238250" y="44767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2343150" y="43815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6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Token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33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2343150" y="495300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Quá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-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chối.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0287000" y="46482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300" dirty="0" spc="-3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exp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13716000" y="4533900"/>
            <a:ext cx="3238500" cy="6477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sai:</a:t>
            </a:r>
            <a:r>
              <a:rPr lang="en-US" sz="24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14400" y="561975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590550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8" name="Text 16"/>
          <p:cNvSpPr/>
          <p:nvPr/>
        </p:nvSpPr>
        <p:spPr>
          <a:xfrm>
            <a:off x="2343150" y="581025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Đúng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audience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không?</a:t>
            </a:r>
            <a:endParaRPr lang="en-US" sz="3300" dirty="0"/>
          </a:p>
        </p:txBody>
      </p:sp>
      <p:sp>
        <p:nvSpPr>
          <p:cNvPr id="19" name="Text 17"/>
          <p:cNvSpPr/>
          <p:nvPr/>
        </p:nvSpPr>
        <p:spPr>
          <a:xfrm>
            <a:off x="2343150" y="638175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thì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10287000" y="607695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300" dirty="0" spc="2" kern="0">
                <a:solidFill>
                  <a:srgbClr val="B45309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audience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3716000" y="5962650"/>
            <a:ext cx="3238500" cy="6477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sai:</a:t>
            </a:r>
            <a:r>
              <a:rPr lang="en-US" sz="24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4400" y="7048500"/>
            <a:ext cx="16459200" cy="1333500"/>
          </a:xfrm>
          <a:prstGeom prst="roundRect">
            <a:avLst>
              <a:gd name="adj" fmla="val 17143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238250" y="7334250"/>
            <a:ext cx="762000" cy="7620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3300" dirty="0"/>
          </a:p>
        </p:txBody>
      </p:sp>
      <p:sp>
        <p:nvSpPr>
          <p:cNvPr id="24" name="Text 22"/>
          <p:cNvSpPr/>
          <p:nvPr/>
        </p:nvSpPr>
        <p:spPr>
          <a:xfrm>
            <a:off x="2343150" y="7239000"/>
            <a:ext cx="76200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Đủ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scope không?</a:t>
            </a:r>
            <a:endParaRPr lang="en-US" sz="3300" dirty="0"/>
          </a:p>
        </p:txBody>
      </p:sp>
      <p:sp>
        <p:nvSpPr>
          <p:cNvPr id="25" name="Text 23"/>
          <p:cNvSpPr/>
          <p:nvPr/>
        </p:nvSpPr>
        <p:spPr>
          <a:xfrm>
            <a:off x="2343150" y="7810500"/>
            <a:ext cx="762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Scope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1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do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1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0287000" y="7505700"/>
            <a:ext cx="2857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33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scope</a:t>
            </a:r>
            <a:endParaRPr lang="en-US" sz="3300" dirty="0"/>
          </a:p>
        </p:txBody>
      </p:sp>
      <p:sp>
        <p:nvSpPr>
          <p:cNvPr id="27" name="Text 25"/>
          <p:cNvSpPr/>
          <p:nvPr/>
        </p:nvSpPr>
        <p:spPr>
          <a:xfrm>
            <a:off x="13716000" y="7391400"/>
            <a:ext cx="3238500" cy="64770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sai: 403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914400" y="8534400"/>
            <a:ext cx="6096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Qua</a:t>
            </a:r>
            <a:r>
              <a:rPr lang="en-US" sz="2400" b="1" dirty="0" spc="-4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4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2400" b="1" dirty="0" spc="-8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r>
              <a:rPr lang="en-US" sz="2400" b="1" dirty="0" spc="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thử:</a:t>
            </a:r>
            <a:r>
              <a:rPr lang="en-US" sz="2400" b="1" dirty="0" spc="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400" b="1" dirty="0" spc="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200.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7239000" y="859155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Thứ tự là</a:t>
            </a:r>
            <a:r>
              <a:rPr lang="en-US" sz="18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1800" dirty="0" spc="-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xếp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 người</a:t>
            </a:r>
            <a:r>
              <a:rPr lang="en-US" sz="18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 soạn.</a:t>
            </a:r>
            <a:endParaRPr lang="en-US" sz="1800" dirty="0"/>
          </a:p>
        </p:txBody>
      </p:sp>
      <p:sp>
        <p:nvSpPr>
          <p:cNvPr id="30" name="Connector line-1792363511421-231418036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1" name="Shape 2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87166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5" name="Shape 33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1582400" y="990600"/>
            <a:ext cx="5791200" cy="1447800"/>
          </a:xfrm>
          <a:prstGeom prst="roundRect">
            <a:avLst>
              <a:gd name="adj" fmla="val 15789"/>
            </a:avLst>
          </a:prstGeom>
          <a:solidFill>
            <a:srgbClr val="F8D9D0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1887200" y="1181100"/>
            <a:ext cx="518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650" b="1" spc="23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6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650" b="1" spc="22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650" b="1" spc="21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1887200" y="1581150"/>
            <a:ext cx="5181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JWT</a:t>
            </a:r>
            <a:r>
              <a:rPr lang="en-US" sz="2100" dirty="0" spc="-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còn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10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iss</a:t>
            </a:r>
            <a:r>
              <a:rPr lang="en-US" sz="210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10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typ.</a:t>
            </a:r>
            <a:endParaRPr lang="en-US" sz="2100" dirty="0"/>
          </a:p>
        </p:txBody>
      </p:sp>
      <p:sp>
        <p:nvSpPr>
          <p:cNvPr id="45" name="Text 43"/>
          <p:cNvSpPr/>
          <p:nvPr/>
        </p:nvSpPr>
        <p:spPr>
          <a:xfrm>
            <a:off x="11887200" y="1981200"/>
            <a:ext cx="51816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6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Token</a:t>
            </a:r>
            <a:r>
              <a:rPr lang="en-US" sz="210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chuỗi mờ:</a:t>
            </a:r>
            <a:r>
              <a:rPr lang="en-US" sz="210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hỏi</a:t>
            </a:r>
            <a:r>
              <a:rPr lang="en-US" sz="2100" dirty="0" spc="-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10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10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ủy</a:t>
            </a:r>
            <a:r>
              <a:rPr lang="en-US" sz="210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quyền.</a:t>
            </a:r>
            <a:endParaRPr lang="en-US" sz="2100" dirty="0"/>
          </a:p>
        </p:txBody>
      </p:sp>
      <p:sp>
        <p:nvSpPr>
          <p:cNvPr id="46" name="Shape 4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7" name="Moda image moda-export-watermark-111ce717-9810-4173-9f25-ce6017f271a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KẾT</a:t>
            </a:r>
            <a:r>
              <a:rPr lang="en-US" sz="1950" b="1" spc="28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NGHIỆM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75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từng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câu</a:t>
            </a:r>
            <a:r>
              <a:rPr lang="en-US" sz="75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hỏi</a:t>
            </a:r>
            <a:endParaRPr lang="en-US" sz="7500" dirty="0"/>
          </a:p>
        </p:txBody>
      </p:sp>
      <p:sp>
        <p:nvSpPr>
          <p:cNvPr id="4" name="Shape 2"/>
          <p:cNvSpPr/>
          <p:nvPr/>
        </p:nvSpPr>
        <p:spPr>
          <a:xfrm>
            <a:off x="914400" y="27622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19200" y="30861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401</a:t>
            </a:r>
            <a:endParaRPr lang="en-US" sz="6300" dirty="0"/>
          </a:p>
        </p:txBody>
      </p:sp>
      <p:sp>
        <p:nvSpPr>
          <p:cNvPr id="6" name="Text 4"/>
          <p:cNvSpPr/>
          <p:nvPr/>
        </p:nvSpPr>
        <p:spPr>
          <a:xfrm>
            <a:off x="3295650" y="29337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3295650" y="32575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scope,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 chữ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3295650" y="37338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 viện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 sai.</a:t>
            </a:r>
            <a:endParaRPr lang="en-US" sz="1950" dirty="0"/>
          </a:p>
        </p:txBody>
      </p:sp>
      <p:sp>
        <p:nvSpPr>
          <p:cNvPr id="9" name="Shape 7"/>
          <p:cNvSpPr/>
          <p:nvPr/>
        </p:nvSpPr>
        <p:spPr>
          <a:xfrm>
            <a:off x="9315450" y="27622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620250" y="30861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401</a:t>
            </a:r>
            <a:endParaRPr lang="en-US" sz="6300" dirty="0"/>
          </a:p>
        </p:txBody>
      </p:sp>
      <p:sp>
        <p:nvSpPr>
          <p:cNvPr id="11" name="Text 9"/>
          <p:cNvSpPr/>
          <p:nvPr/>
        </p:nvSpPr>
        <p:spPr>
          <a:xfrm>
            <a:off x="11696700" y="29337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6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endParaRPr lang="en-US" sz="1650" dirty="0"/>
          </a:p>
        </p:txBody>
      </p:sp>
      <p:sp>
        <p:nvSpPr>
          <p:cNvPr id="12" name="Text 10"/>
          <p:cNvSpPr/>
          <p:nvPr/>
        </p:nvSpPr>
        <p:spPr>
          <a:xfrm>
            <a:off x="11696700" y="32575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khai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4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none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1696700" y="37338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19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(none)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chối.</a:t>
            </a:r>
            <a:endParaRPr lang="en-US" sz="1950" dirty="0"/>
          </a:p>
        </p:txBody>
      </p:sp>
      <p:sp>
        <p:nvSpPr>
          <p:cNvPr id="14" name="Shape 12"/>
          <p:cNvSpPr/>
          <p:nvPr/>
        </p:nvSpPr>
        <p:spPr>
          <a:xfrm>
            <a:off x="914400" y="47053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219200" y="50292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401</a:t>
            </a:r>
            <a:endParaRPr lang="en-US" sz="6300" dirty="0"/>
          </a:p>
        </p:txBody>
      </p:sp>
      <p:sp>
        <p:nvSpPr>
          <p:cNvPr id="16" name="Text 14"/>
          <p:cNvSpPr/>
          <p:nvPr/>
        </p:nvSpPr>
        <p:spPr>
          <a:xfrm>
            <a:off x="3295650" y="48768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49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4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3295650" y="52006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7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 1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3295650" y="56769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Gọi</a:t>
            </a:r>
            <a:r>
              <a:rPr lang="en-US" sz="195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r>
              <a:rPr lang="en-US" sz="195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95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200,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sau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2,5</a:t>
            </a:r>
            <a:r>
              <a:rPr lang="en-US" sz="195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r>
              <a:rPr lang="en-US" sz="195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401.</a:t>
            </a:r>
            <a:endParaRPr lang="en-US" sz="1950" dirty="0"/>
          </a:p>
        </p:txBody>
      </p:sp>
      <p:sp>
        <p:nvSpPr>
          <p:cNvPr id="19" name="Shape 17"/>
          <p:cNvSpPr/>
          <p:nvPr/>
        </p:nvSpPr>
        <p:spPr>
          <a:xfrm>
            <a:off x="9315450" y="47053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/>
        </p:spPr>
      </p:sp>
      <p:sp>
        <p:nvSpPr>
          <p:cNvPr id="20" name="Text 18"/>
          <p:cNvSpPr/>
          <p:nvPr/>
        </p:nvSpPr>
        <p:spPr>
          <a:xfrm>
            <a:off x="9620250" y="50292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9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401</a:t>
            </a:r>
            <a:endParaRPr lang="en-US" sz="6300" dirty="0"/>
          </a:p>
        </p:txBody>
      </p:sp>
      <p:sp>
        <p:nvSpPr>
          <p:cNvPr id="21" name="Text 19"/>
          <p:cNvSpPr/>
          <p:nvPr/>
        </p:nvSpPr>
        <p:spPr>
          <a:xfrm>
            <a:off x="11696700" y="48768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5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1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AUDIENCE</a:t>
            </a:r>
            <a:endParaRPr lang="en-US" sz="1650" dirty="0"/>
          </a:p>
        </p:txBody>
      </p:sp>
      <p:sp>
        <p:nvSpPr>
          <p:cNvPr id="22" name="Text 20"/>
          <p:cNvSpPr/>
          <p:nvPr/>
        </p:nvSpPr>
        <p:spPr>
          <a:xfrm>
            <a:off x="11696700" y="52006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photos-api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đưa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profile-api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1696700" y="56769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Thư viện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báo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 không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khớp.</a:t>
            </a:r>
            <a:endParaRPr lang="en-US" sz="1950" dirty="0"/>
          </a:p>
        </p:txBody>
      </p:sp>
      <p:sp>
        <p:nvSpPr>
          <p:cNvPr id="24" name="Shape 22"/>
          <p:cNvSpPr/>
          <p:nvPr/>
        </p:nvSpPr>
        <p:spPr>
          <a:xfrm>
            <a:off x="914400" y="66484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/>
        </p:spPr>
      </p:sp>
      <p:sp>
        <p:nvSpPr>
          <p:cNvPr id="25" name="Text 23"/>
          <p:cNvSpPr/>
          <p:nvPr/>
        </p:nvSpPr>
        <p:spPr>
          <a:xfrm>
            <a:off x="1219200" y="69723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spc="-17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403</a:t>
            </a:r>
            <a:endParaRPr lang="en-US" sz="6300" dirty="0"/>
          </a:p>
        </p:txBody>
      </p:sp>
      <p:sp>
        <p:nvSpPr>
          <p:cNvPr id="26" name="Text 24"/>
          <p:cNvSpPr/>
          <p:nvPr/>
        </p:nvSpPr>
        <p:spPr>
          <a:xfrm>
            <a:off x="3295650" y="68199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3295650" y="71437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read_photos,</a:t>
            </a:r>
            <a:r>
              <a:rPr lang="en-US" sz="24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3295650" y="76200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195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insufficient_scope.</a:t>
            </a:r>
            <a:endParaRPr lang="en-US" sz="1950" dirty="0"/>
          </a:p>
        </p:txBody>
      </p:sp>
      <p:sp>
        <p:nvSpPr>
          <p:cNvPr id="29" name="Shape 27"/>
          <p:cNvSpPr/>
          <p:nvPr/>
        </p:nvSpPr>
        <p:spPr>
          <a:xfrm>
            <a:off x="9315450" y="6648450"/>
            <a:ext cx="8058150" cy="1752600"/>
          </a:xfrm>
          <a:prstGeom prst="roundRect">
            <a:avLst>
              <a:gd name="adj" fmla="val 13043"/>
            </a:avLst>
          </a:prstGeom>
          <a:solidFill>
            <a:srgbClr val="1E212B"/>
          </a:solidFill>
          <a:ln w="19050">
            <a:solidFill>
              <a:srgbClr val="3DD6A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620250" y="6972300"/>
            <a:ext cx="1905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300" dirty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200</a:t>
            </a:r>
            <a:endParaRPr lang="en-US" sz="6300" dirty="0"/>
          </a:p>
        </p:txBody>
      </p:sp>
      <p:sp>
        <p:nvSpPr>
          <p:cNvPr id="31" name="Text 29"/>
          <p:cNvSpPr/>
          <p:nvPr/>
        </p:nvSpPr>
        <p:spPr>
          <a:xfrm>
            <a:off x="11696700" y="6819900"/>
            <a:ext cx="542925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128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650" b="1" spc="15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1650" b="1" spc="15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b="1" spc="153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696700" y="7143750"/>
            <a:ext cx="542925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read_profile</a:t>
            </a:r>
            <a:endParaRPr lang="en-US" sz="2400" dirty="0"/>
          </a:p>
        </p:txBody>
      </p:sp>
      <p:sp>
        <p:nvSpPr>
          <p:cNvPr id="33" name="Text 31"/>
          <p:cNvSpPr/>
          <p:nvPr/>
        </p:nvSpPr>
        <p:spPr>
          <a:xfrm>
            <a:off x="11696700" y="7620000"/>
            <a:ext cx="5429250" cy="6858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t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tên;</a:t>
            </a:r>
            <a:r>
              <a:rPr lang="en-US" sz="195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read_email</a:t>
            </a:r>
            <a:r>
              <a:rPr lang="en-US" sz="195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email.</a:t>
            </a:r>
            <a:endParaRPr lang="en-US" sz="1950" dirty="0"/>
          </a:p>
        </p:txBody>
      </p:sp>
      <p:sp>
        <p:nvSpPr>
          <p:cNvPr id="34" name="Text 32"/>
          <p:cNvSpPr/>
          <p:nvPr/>
        </p:nvSpPr>
        <p:spPr>
          <a:xfrm>
            <a:off x="914400" y="8591550"/>
            <a:ext cx="1619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biên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soạn;</a:t>
            </a:r>
            <a:r>
              <a:rPr lang="en-US" sz="180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180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thái.</a:t>
            </a:r>
            <a:endParaRPr lang="en-US" sz="1800" dirty="0"/>
          </a:p>
        </p:txBody>
      </p:sp>
      <p:sp>
        <p:nvSpPr>
          <p:cNvPr id="35" name="Connector line-1792363556799-89986757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6" name="Shape 3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7" name="Shape 35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8" name="Shape 36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39" name="Shape 37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40" name="Shape 38"/>
          <p:cNvSpPr/>
          <p:nvPr/>
        </p:nvSpPr>
        <p:spPr>
          <a:xfrm>
            <a:off x="2200275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41" name="Shape 39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47" name="Shape 4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8" name="Moda image moda-export-watermark-649070e4-34da-4c26-b9e7-444d544d06d3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1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 /</a:t>
            </a:r>
            <a:r>
              <a:rPr lang="en-US" sz="1950" b="1" spc="302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4008" rIns="0" bIns="-64008" rtlCol="0" anchor="t"/>
          <a:lstStyle/>
          <a:p>
            <a:pPr algn="l" indent="0" marL="0">
              <a:lnSpc>
                <a:spcPts val="7488"/>
              </a:lnSpc>
              <a:buNone/>
            </a:pP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7200" dirty="0" spc="2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7200" dirty="0" spc="-4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token</a:t>
            </a:r>
            <a:r>
              <a:rPr lang="en-US" sz="72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làm</a:t>
            </a:r>
            <a:r>
              <a:rPr lang="en-US" sz="7200" dirty="0" spc="-9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được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552700"/>
            <a:ext cx="16459200" cy="95250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-1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Tự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7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vừa đăng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nhập,</a:t>
            </a: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7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7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bearer,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cầm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810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95400" y="4191000"/>
            <a:ext cx="685800" cy="6858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7" name="Shape 5"/>
          <p:cNvSpPr/>
          <p:nvPr/>
        </p:nvSpPr>
        <p:spPr>
          <a:xfrm>
            <a:off x="1514475" y="441007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0" y="0"/>
                </a:moveTo>
                <a:lnTo>
                  <a:pt x="247650" y="247650"/>
                </a:lnTo>
                <a:moveTo>
                  <a:pt x="247650" y="0"/>
                </a:moveTo>
                <a:lnTo>
                  <a:pt x="0" y="247650"/>
                </a:lnTo>
              </a:path>
            </a:pathLst>
          </a:custGeom>
          <a:ln w="57150">
            <a:solidFill>
              <a:srgbClr val="F3EEE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29540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Chứng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minh bạn</a:t>
            </a:r>
            <a:r>
              <a:rPr lang="en-US" sz="33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vừa</a:t>
            </a:r>
            <a:r>
              <a:rPr lang="en-US" sz="3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đăng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nhập</a:t>
            </a:r>
            <a:endParaRPr lang="en-US" sz="3300" dirty="0"/>
          </a:p>
        </p:txBody>
      </p:sp>
      <p:sp>
        <p:nvSpPr>
          <p:cNvPr id="9" name="Text 7"/>
          <p:cNvSpPr/>
          <p:nvPr/>
        </p:nvSpPr>
        <p:spPr>
          <a:xfrm>
            <a:off x="1295400" y="6572250"/>
            <a:ext cx="4572000" cy="1190625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</a:t>
            </a:r>
            <a:r>
              <a:rPr lang="en-US" sz="22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 ai;</a:t>
            </a:r>
            <a:r>
              <a:rPr lang="en-US" sz="2250" dirty="0" spc="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22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max_age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auth_time.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1295400" y="79057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ID</a:t>
            </a:r>
            <a:r>
              <a:rPr lang="en-US" sz="19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endParaRPr lang="en-US" sz="1950" dirty="0"/>
          </a:p>
        </p:txBody>
      </p:sp>
      <p:sp>
        <p:nvSpPr>
          <p:cNvPr id="11" name="Shape 9"/>
          <p:cNvSpPr/>
          <p:nvPr/>
        </p:nvSpPr>
        <p:spPr>
          <a:xfrm>
            <a:off x="6515100" y="3810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896100" y="4191000"/>
            <a:ext cx="685800" cy="6858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3" name="Shape 11"/>
          <p:cNvSpPr/>
          <p:nvPr/>
        </p:nvSpPr>
        <p:spPr>
          <a:xfrm>
            <a:off x="7115175" y="441007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0" y="0"/>
                </a:moveTo>
                <a:lnTo>
                  <a:pt x="247650" y="247650"/>
                </a:lnTo>
                <a:moveTo>
                  <a:pt x="247650" y="0"/>
                </a:moveTo>
                <a:lnTo>
                  <a:pt x="0" y="247650"/>
                </a:lnTo>
              </a:path>
            </a:pathLst>
          </a:custGeom>
          <a:ln w="57150">
            <a:solidFill>
              <a:srgbClr val="F3EEE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9610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Cho</a:t>
            </a: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biết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ai</a:t>
            </a:r>
            <a:r>
              <a:rPr lang="en-US" sz="33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đang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cầm</a:t>
            </a:r>
            <a:endParaRPr lang="en-US" sz="3300" dirty="0"/>
          </a:p>
        </p:txBody>
      </p:sp>
      <p:sp>
        <p:nvSpPr>
          <p:cNvPr id="15" name="Text 13"/>
          <p:cNvSpPr/>
          <p:nvPr/>
        </p:nvSpPr>
        <p:spPr>
          <a:xfrm>
            <a:off x="6896100" y="657225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2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bearer: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được,</a:t>
            </a:r>
            <a:r>
              <a:rPr lang="en-US" sz="2250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200.</a:t>
            </a:r>
            <a:endParaRPr lang="en-US" sz="2250" dirty="0"/>
          </a:p>
        </p:txBody>
      </p:sp>
      <p:sp>
        <p:nvSpPr>
          <p:cNvPr id="16" name="Text 14"/>
          <p:cNvSpPr/>
          <p:nvPr/>
        </p:nvSpPr>
        <p:spPr>
          <a:xfrm>
            <a:off x="6896100" y="79057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bearer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12115800" y="3810000"/>
            <a:ext cx="5257800" cy="4953000"/>
          </a:xfrm>
          <a:prstGeom prst="roundRect">
            <a:avLst>
              <a:gd name="adj" fmla="val 538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2496800" y="4191000"/>
            <a:ext cx="685800" cy="6858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9" name="Shape 17"/>
          <p:cNvSpPr/>
          <p:nvPr/>
        </p:nvSpPr>
        <p:spPr>
          <a:xfrm>
            <a:off x="12715875" y="4410075"/>
            <a:ext cx="247650" cy="247650"/>
          </a:xfrm>
          <a:custGeom>
            <a:avLst/>
            <a:gdLst/>
            <a:ahLst/>
            <a:cxnLst/>
            <a:rect l="l" t="t" r="r" b="b"/>
            <a:pathLst>
              <a:path w="247650" h="247650">
                <a:moveTo>
                  <a:pt x="0" y="0"/>
                </a:moveTo>
                <a:lnTo>
                  <a:pt x="247650" y="247650"/>
                </a:lnTo>
                <a:moveTo>
                  <a:pt x="247650" y="0"/>
                </a:moveTo>
                <a:lnTo>
                  <a:pt x="0" y="247650"/>
                </a:lnTo>
              </a:path>
            </a:pathLst>
          </a:custGeom>
          <a:ln w="57150">
            <a:solidFill>
              <a:srgbClr val="F3EEE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2496800" y="5143500"/>
            <a:ext cx="4572000" cy="1238250"/>
          </a:xfrm>
          <a:prstGeom prst="rect">
            <a:avLst/>
          </a:prstGeom>
          <a:noFill/>
          <a:ln/>
        </p:spPr>
        <p:txBody>
          <a:bodyPr wrap="square" lIns="0" tIns="20955" rIns="0" bIns="-20955" rtlCol="0" anchor="t"/>
          <a:lstStyle/>
          <a:p>
            <a:pPr algn="l" indent="0" marL="0">
              <a:lnSpc>
                <a:spcPts val="3630"/>
              </a:lnSpc>
              <a:buNone/>
            </a:pPr>
            <a:r>
              <a:rPr lang="en-US" sz="3300" dirty="0" spc="-2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Tự</a:t>
            </a: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nâng</a:t>
            </a:r>
            <a:r>
              <a:rPr lang="en-US" sz="33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quyền</a:t>
            </a:r>
            <a:endParaRPr lang="en-US" sz="3300" dirty="0"/>
          </a:p>
        </p:txBody>
      </p:sp>
      <p:sp>
        <p:nvSpPr>
          <p:cNvPr id="21" name="Text 19"/>
          <p:cNvSpPr/>
          <p:nvPr/>
        </p:nvSpPr>
        <p:spPr>
          <a:xfrm>
            <a:off x="12496800" y="6572250"/>
            <a:ext cx="4572000" cy="11430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t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Sửa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ký.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12496800" y="7905750"/>
            <a:ext cx="1905000" cy="533400"/>
          </a:xfrm>
          <a:prstGeom prst="roundRect">
            <a:avLst>
              <a:gd name="adj" fmla="val 50000"/>
            </a:avLst>
          </a:prstGeom>
          <a:solidFill>
            <a:srgbClr val="DDE3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dirty="0" spc="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chữ ký</a:t>
            </a:r>
            <a:endParaRPr lang="en-US" sz="1950" dirty="0"/>
          </a:p>
        </p:txBody>
      </p:sp>
      <p:sp>
        <p:nvSpPr>
          <p:cNvPr id="23" name="Connector line-1792363587548-23513339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5" name="Shape 23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6" name="Shape 24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8" name="Shape 26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9" name="Shape 27"/>
          <p:cNvSpPr/>
          <p:nvPr/>
        </p:nvSpPr>
        <p:spPr>
          <a:xfrm>
            <a:off x="2528888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0" name="Shape 28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43edfbae-697b-4112-8f8c-829387c64cc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KHÁI</a:t>
            </a:r>
            <a:r>
              <a:rPr lang="en-US" sz="195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 /</a:t>
            </a:r>
            <a:r>
              <a:rPr lang="en-US" sz="195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6675" rIns="0" bIns="-66675" rtlCol="0" anchor="t"/>
          <a:lstStyle/>
          <a:p>
            <a:pPr algn="l" indent="0" marL="0">
              <a:lnSpc>
                <a:spcPts val="7800"/>
              </a:lnSpc>
              <a:buNone/>
            </a:pPr>
            <a:r>
              <a:rPr lang="en-US" sz="75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Mật khẩu</a:t>
            </a:r>
            <a:r>
              <a:rPr lang="en-US" sz="75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ở</a:t>
            </a:r>
            <a:r>
              <a:rPr lang="en-US" sz="75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đâu?</a:t>
            </a:r>
            <a:endParaRPr lang="en-US" sz="7500" dirty="0"/>
          </a:p>
        </p:txBody>
      </p:sp>
      <p:sp>
        <p:nvSpPr>
          <p:cNvPr id="4" name="Text 2"/>
          <p:cNvSpPr/>
          <p:nvPr/>
        </p:nvSpPr>
        <p:spPr>
          <a:xfrm>
            <a:off x="914400" y="2609850"/>
            <a:ext cx="16459200" cy="666750"/>
          </a:xfrm>
          <a:prstGeom prst="rect">
            <a:avLst/>
          </a:prstGeom>
          <a:noFill/>
          <a:ln/>
        </p:spPr>
        <p:txBody>
          <a:bodyPr wrap="square" lIns="0" tIns="10287" rIns="0" bIns="-10287" rtlCol="0" anchor="t"/>
          <a:lstStyle/>
          <a:p>
            <a:pPr algn="l" indent="0" marL="0">
              <a:lnSpc>
                <a:spcPts val="3645"/>
              </a:lnSpc>
              <a:buNone/>
            </a:pPr>
            <a:r>
              <a:rPr lang="en-US" sz="2700" dirty="0" spc="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7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7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r>
              <a:rPr lang="en-US" sz="27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7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7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7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914400" y="3619500"/>
            <a:ext cx="8572500" cy="5295900"/>
          </a:xfrm>
          <a:prstGeom prst="roundRect">
            <a:avLst>
              <a:gd name="adj" fmla="val 5036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886200"/>
            <a:ext cx="7810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QUÉT</a:t>
            </a: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650" b="1" spc="225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650" b="1" spc="228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1650" b="1" spc="216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650" b="1" spc="224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650" b="1" spc="190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CHẠY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295400" y="4229100"/>
            <a:ext cx="2667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108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9/9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4095750" y="4400550"/>
            <a:ext cx="51435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10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1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1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1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</a:t>
            </a:r>
            <a:endParaRPr lang="en-US" sz="2100" dirty="0"/>
          </a:p>
        </p:txBody>
      </p:sp>
      <p:sp>
        <p:nvSpPr>
          <p:cNvPr id="9" name="Connector line-1792365273435-128721322"/>
          <p:cNvSpPr/>
          <p:nvPr/>
        </p:nvSpPr>
        <p:spPr>
          <a:xfrm>
            <a:off x="1295400" y="6057900"/>
            <a:ext cx="78105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10" name="Text 8"/>
          <p:cNvSpPr/>
          <p:nvPr/>
        </p:nvSpPr>
        <p:spPr>
          <a:xfrm>
            <a:off x="1295400" y="6229350"/>
            <a:ext cx="2667000" cy="1190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7200" dirty="0" spc="-75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0/31</a:t>
            </a:r>
            <a:endParaRPr lang="en-US" sz="7200" dirty="0"/>
          </a:p>
        </p:txBody>
      </p:sp>
      <p:sp>
        <p:nvSpPr>
          <p:cNvPr id="11" name="Text 9"/>
          <p:cNvSpPr/>
          <p:nvPr/>
        </p:nvSpPr>
        <p:spPr>
          <a:xfrm>
            <a:off x="4095750" y="6400800"/>
            <a:ext cx="4953000" cy="762000"/>
          </a:xfrm>
          <a:prstGeom prst="rect">
            <a:avLst/>
          </a:prstGeom>
          <a:noFill/>
          <a:ln/>
        </p:spPr>
        <p:txBody>
          <a:bodyPr wrap="square" lIns="0" tIns="11335" rIns="0" bIns="-11335" rtlCol="0" anchor="t"/>
          <a:lstStyle/>
          <a:p>
            <a:pPr algn="l" indent="0" marL="0">
              <a:lnSpc>
                <a:spcPts val="2730"/>
              </a:lnSpc>
              <a:buNone/>
            </a:pP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thông</a:t>
            </a:r>
            <a:r>
              <a:rPr lang="en-US" sz="2100" dirty="0" spc="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điệp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lại:</a:t>
            </a:r>
            <a:r>
              <a:rPr lang="en-US" sz="2100" dirty="0" spc="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1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21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100" dirty="0" spc="-2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token,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API,</a:t>
            </a:r>
            <a:r>
              <a:rPr lang="en-US" sz="21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r>
              <a:rPr lang="en-US" sz="21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introspection</a:t>
            </a:r>
            <a:endParaRPr lang="en-US" sz="2100" dirty="0"/>
          </a:p>
        </p:txBody>
      </p:sp>
      <p:sp>
        <p:nvSpPr>
          <p:cNvPr id="12" name="Text 10"/>
          <p:cNvSpPr/>
          <p:nvPr/>
        </p:nvSpPr>
        <p:spPr>
          <a:xfrm>
            <a:off x="1295400" y="8305800"/>
            <a:ext cx="7810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7</a:t>
            </a:r>
            <a:r>
              <a:rPr lang="en-US" sz="1800" dirty="0" spc="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800" dirty="0" spc="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đã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cấp</a:t>
            </a:r>
            <a:r>
              <a:rPr lang="en-US" sz="1800" dirty="0" spc="-2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(kể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 ID</a:t>
            </a:r>
            <a:r>
              <a:rPr lang="en-US" sz="1800" dirty="0" spc="-17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token)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130492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4" name="Shape 12"/>
          <p:cNvSpPr/>
          <p:nvPr/>
        </p:nvSpPr>
        <p:spPr>
          <a:xfrm>
            <a:off x="178117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5" name="Shape 13"/>
          <p:cNvSpPr/>
          <p:nvPr/>
        </p:nvSpPr>
        <p:spPr>
          <a:xfrm>
            <a:off x="225742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6" name="Shape 14"/>
          <p:cNvSpPr/>
          <p:nvPr/>
        </p:nvSpPr>
        <p:spPr>
          <a:xfrm>
            <a:off x="273367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992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8" name="Shape 16"/>
          <p:cNvSpPr/>
          <p:nvPr/>
        </p:nvSpPr>
        <p:spPr>
          <a:xfrm>
            <a:off x="368617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19" name="Shape 17"/>
          <p:cNvSpPr/>
          <p:nvPr/>
        </p:nvSpPr>
        <p:spPr>
          <a:xfrm>
            <a:off x="416242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0" name="Shape 18"/>
          <p:cNvSpPr/>
          <p:nvPr/>
        </p:nvSpPr>
        <p:spPr>
          <a:xfrm>
            <a:off x="463867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1" name="Shape 19"/>
          <p:cNvSpPr/>
          <p:nvPr/>
        </p:nvSpPr>
        <p:spPr>
          <a:xfrm>
            <a:off x="5114925" y="5495925"/>
            <a:ext cx="285750" cy="285750"/>
          </a:xfrm>
          <a:prstGeom prst="ellipse">
            <a:avLst/>
          </a:prstGeom>
          <a:solidFill>
            <a:srgbClr val="7C93FF"/>
          </a:solidFill>
          <a:ln/>
        </p:spPr>
      </p:sp>
      <p:sp>
        <p:nvSpPr>
          <p:cNvPr id="22" name="Shape 20"/>
          <p:cNvSpPr/>
          <p:nvPr/>
        </p:nvSpPr>
        <p:spPr>
          <a:xfrm>
            <a:off x="13335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8097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2860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7622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385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147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1910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6672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1435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6197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0960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65722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0485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247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00100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8477250" y="746760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13335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18097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2860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27622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2385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7147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41910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46672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1435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6197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60960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5722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70485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752475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8001000" y="7905750"/>
            <a:ext cx="228600" cy="22860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829800" y="3619500"/>
            <a:ext cx="7543800" cy="5295900"/>
          </a:xfrm>
          <a:prstGeom prst="roundRect">
            <a:avLst>
              <a:gd name="adj" fmla="val 5036"/>
            </a:avLst>
          </a:prstGeom>
          <a:solidFill>
            <a:srgbClr val="1E212B"/>
          </a:solidFill>
          <a:ln/>
        </p:spPr>
      </p:sp>
      <p:sp>
        <p:nvSpPr>
          <p:cNvPr id="54" name="Text 52"/>
          <p:cNvSpPr/>
          <p:nvPr/>
        </p:nvSpPr>
        <p:spPr>
          <a:xfrm>
            <a:off x="10210800" y="3886200"/>
            <a:ext cx="685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650" b="1" spc="227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650" b="1" spc="229" kern="0" dirty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</a:t>
            </a:r>
            <a:endParaRPr lang="en-US" sz="1650" dirty="0"/>
          </a:p>
        </p:txBody>
      </p:sp>
      <p:sp>
        <p:nvSpPr>
          <p:cNvPr id="55" name="Text 53"/>
          <p:cNvSpPr/>
          <p:nvPr/>
        </p:nvSpPr>
        <p:spPr>
          <a:xfrm>
            <a:off x="10210800" y="4210050"/>
            <a:ext cx="685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43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ký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1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nhiên,</a:t>
            </a:r>
            <a:r>
              <a:rPr lang="en-US" sz="21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chứa</a:t>
            </a:r>
            <a:r>
              <a:rPr lang="en-US" sz="21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100" dirty="0"/>
          </a:p>
        </p:txBody>
      </p:sp>
      <p:sp>
        <p:nvSpPr>
          <p:cNvPr id="56" name="Text 54"/>
          <p:cNvSpPr/>
          <p:nvPr/>
        </p:nvSpPr>
        <p:spPr>
          <a:xfrm>
            <a:off x="10591800" y="4762500"/>
            <a:ext cx="1905000" cy="4953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endParaRPr lang="en-US" sz="1950" dirty="0"/>
          </a:p>
        </p:txBody>
      </p:sp>
      <p:sp>
        <p:nvSpPr>
          <p:cNvPr id="57" name="Text 55"/>
          <p:cNvSpPr/>
          <p:nvPr/>
        </p:nvSpPr>
        <p:spPr>
          <a:xfrm>
            <a:off x="14287500" y="4762500"/>
            <a:ext cx="2762250" cy="4953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19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19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195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1950" dirty="0"/>
          </a:p>
        </p:txBody>
      </p:sp>
      <p:sp>
        <p:nvSpPr>
          <p:cNvPr id="58" name="Connector line-1792365273463-452496329"/>
          <p:cNvSpPr/>
          <p:nvPr/>
        </p:nvSpPr>
        <p:spPr>
          <a:xfrm>
            <a:off x="11544300" y="5257800"/>
            <a:ext cx="0" cy="2171700"/>
          </a:xfrm>
          <a:prstGeom prst="line">
            <a:avLst/>
          </a:prstGeom>
          <a:noFill/>
          <a:ln w="28575">
            <a:solidFill>
              <a:srgbClr val="4A4E5C"/>
            </a:solidFill>
            <a:prstDash val="lgDash"/>
            <a:headEnd type="none"/>
            <a:tailEnd type="none"/>
          </a:ln>
        </p:spPr>
      </p:sp>
      <p:sp>
        <p:nvSpPr>
          <p:cNvPr id="59" name="Connector line-1792365273463-658083240"/>
          <p:cNvSpPr/>
          <p:nvPr/>
        </p:nvSpPr>
        <p:spPr>
          <a:xfrm>
            <a:off x="15668625" y="5257800"/>
            <a:ext cx="0" cy="2171700"/>
          </a:xfrm>
          <a:prstGeom prst="line">
            <a:avLst/>
          </a:prstGeom>
          <a:noFill/>
          <a:ln w="28575">
            <a:solidFill>
              <a:srgbClr val="4A4E5C"/>
            </a:solidFill>
            <a:prstDash val="lgDash"/>
            <a:headEnd type="none"/>
            <a:tailEnd type="none"/>
          </a:ln>
        </p:spPr>
      </p:sp>
      <p:sp>
        <p:nvSpPr>
          <p:cNvPr id="60" name="Text 58"/>
          <p:cNvSpPr/>
          <p:nvPr/>
        </p:nvSpPr>
        <p:spPr>
          <a:xfrm>
            <a:off x="11639550" y="5486400"/>
            <a:ext cx="3933825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1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hỏi</a:t>
            </a:r>
            <a:r>
              <a:rPr lang="en-US" sz="1800" dirty="0" spc="-6" kern="0">
                <a:solidFill>
                  <a:srgbClr val="FFB454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introspection</a:t>
            </a:r>
            <a:endParaRPr lang="en-US" sz="1800" dirty="0"/>
          </a:p>
        </p:txBody>
      </p:sp>
      <p:sp>
        <p:nvSpPr>
          <p:cNvPr id="61" name="Connector line-1792365273465-500596347"/>
          <p:cNvSpPr/>
          <p:nvPr/>
        </p:nvSpPr>
        <p:spPr>
          <a:xfrm>
            <a:off x="11639550" y="5943600"/>
            <a:ext cx="3933825" cy="0"/>
          </a:xfrm>
          <a:prstGeom prst="line">
            <a:avLst/>
          </a:prstGeom>
          <a:noFill/>
          <a:ln w="38100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62" name="Connector line-1792365273465-815719961"/>
          <p:cNvSpPr/>
          <p:nvPr/>
        </p:nvSpPr>
        <p:spPr>
          <a:xfrm flipH="1">
            <a:off x="11639550" y="6629400"/>
            <a:ext cx="3933825" cy="0"/>
          </a:xfrm>
          <a:prstGeom prst="line">
            <a:avLst/>
          </a:prstGeom>
          <a:noFill/>
          <a:ln w="38100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63" name="Text 61"/>
          <p:cNvSpPr/>
          <p:nvPr/>
        </p:nvSpPr>
        <p:spPr>
          <a:xfrm>
            <a:off x="11639550" y="6781800"/>
            <a:ext cx="3933825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active,</a:t>
            </a:r>
            <a:r>
              <a:rPr lang="en-US" sz="1800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client_id,</a:t>
            </a:r>
            <a:r>
              <a:rPr lang="en-US" sz="1800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scope,</a:t>
            </a:r>
            <a:endParaRPr lang="en-US" sz="1800" dirty="0"/>
          </a:p>
          <a:p>
            <a:pPr algn="ctr" indent="0" marL="0">
              <a:lnSpc>
                <a:spcPts val="2340"/>
              </a:lnSpc>
              <a:buNone/>
            </a:pPr>
            <a:r>
              <a:rPr lang="en-US" sz="1800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aud,</a:t>
            </a:r>
            <a:r>
              <a:rPr lang="en-US" sz="1800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exp,</a:t>
            </a:r>
            <a:r>
              <a:rPr lang="en-US" sz="1800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iat</a:t>
            </a:r>
            <a:endParaRPr lang="en-US" sz="1800" dirty="0"/>
          </a:p>
        </p:txBody>
      </p:sp>
      <p:sp>
        <p:nvSpPr>
          <p:cNvPr id="64" name="Connector line-1792365273472-55578214"/>
          <p:cNvSpPr/>
          <p:nvPr/>
        </p:nvSpPr>
        <p:spPr>
          <a:xfrm>
            <a:off x="10210800" y="7620000"/>
            <a:ext cx="67818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65" name="Text 63"/>
          <p:cNvSpPr/>
          <p:nvPr/>
        </p:nvSpPr>
        <p:spPr>
          <a:xfrm>
            <a:off x="10210800" y="7734300"/>
            <a:ext cx="6858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photos-api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</a:t>
            </a:r>
            <a:r>
              <a:rPr lang="en-US" sz="180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read_profile:</a:t>
            </a:r>
            <a:endParaRPr lang="en-US" sz="1800" dirty="0"/>
          </a:p>
        </p:txBody>
      </p:sp>
      <p:sp>
        <p:nvSpPr>
          <p:cNvPr id="66" name="Text 64"/>
          <p:cNvSpPr/>
          <p:nvPr/>
        </p:nvSpPr>
        <p:spPr>
          <a:xfrm>
            <a:off x="10210800" y="80772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active</a:t>
            </a:r>
            <a:r>
              <a:rPr lang="en-US" sz="2250" b="1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scope: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</a:t>
            </a:r>
            <a:endParaRPr lang="en-US" sz="2250" dirty="0"/>
          </a:p>
        </p:txBody>
      </p:sp>
      <p:sp>
        <p:nvSpPr>
          <p:cNvPr id="67" name="Text 65"/>
          <p:cNvSpPr/>
          <p:nvPr/>
        </p:nvSpPr>
        <p:spPr>
          <a:xfrm>
            <a:off x="10210800" y="8458200"/>
            <a:ext cx="6858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thêm</a:t>
            </a:r>
            <a:r>
              <a:rPr lang="en-US" sz="22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aud:</a:t>
            </a: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401</a:t>
            </a:r>
            <a:endParaRPr lang="en-US" sz="2250" dirty="0"/>
          </a:p>
        </p:txBody>
      </p:sp>
      <p:sp>
        <p:nvSpPr>
          <p:cNvPr id="68" name="Connector line-1792365273480-507493035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69" name="Shape 6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0" name="Shape 68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1" name="Shape 69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2" name="Shape 70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3" name="Shape 71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4" name="Shape 72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75" name="Shape 73"/>
          <p:cNvSpPr/>
          <p:nvPr/>
        </p:nvSpPr>
        <p:spPr>
          <a:xfrm>
            <a:off x="2857500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76" name="Shape 74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80" name="Shape 7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81" name="Moda image moda-export-watermark-bd3fb0d3-c4e3-4d24-8a0c-339184595ac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950" b="1" spc="28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2382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Điều</a:t>
            </a:r>
            <a:r>
              <a:rPr lang="en-US" sz="6900" dirty="0" spc="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đã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chỉnh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so</a:t>
            </a:r>
            <a:r>
              <a:rPr lang="en-US" sz="6900" dirty="0" spc="-8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với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bài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1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650" b="1" spc="22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65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NÓI</a:t>
            </a:r>
            <a:endParaRPr lang="en-US" sz="1650" dirty="0"/>
          </a:p>
        </p:txBody>
      </p:sp>
      <p:sp>
        <p:nvSpPr>
          <p:cNvPr id="5" name="Text 3"/>
          <p:cNvSpPr/>
          <p:nvPr/>
        </p:nvSpPr>
        <p:spPr>
          <a:xfrm>
            <a:off x="8515350" y="2495550"/>
            <a:ext cx="857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2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</a:t>
            </a:r>
            <a:r>
              <a:rPr lang="en-US" sz="1650" b="1" spc="227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650" b="1" spc="221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b="1" spc="21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165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2.1,</a:t>
            </a:r>
            <a:r>
              <a:rPr lang="en-US" sz="1650" b="1" spc="19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OWASP,</a:t>
            </a:r>
            <a:r>
              <a:rPr lang="en-US" sz="1650" b="1" spc="223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AUTHLIB</a:t>
            </a:r>
            <a:endParaRPr lang="en-US" sz="1650" dirty="0"/>
          </a:p>
        </p:txBody>
      </p:sp>
      <p:sp>
        <p:nvSpPr>
          <p:cNvPr id="6" name="Shape 4"/>
          <p:cNvSpPr/>
          <p:nvPr/>
        </p:nvSpPr>
        <p:spPr>
          <a:xfrm>
            <a:off x="914400" y="2895600"/>
            <a:ext cx="6667500" cy="1181100"/>
          </a:xfrm>
          <a:prstGeom prst="roundRect">
            <a:avLst>
              <a:gd name="adj" fmla="val 17742"/>
            </a:avLst>
          </a:prstGeom>
          <a:solidFill>
            <a:srgbClr val="E8E0CF"/>
          </a:solidFill>
          <a:ln/>
        </p:spPr>
      </p:sp>
      <p:sp>
        <p:nvSpPr>
          <p:cNvPr id="7" name="Text 5"/>
          <p:cNvSpPr/>
          <p:nvPr/>
        </p:nvSpPr>
        <p:spPr>
          <a:xfrm>
            <a:off x="1238250" y="310515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thể: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User,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Server,</a:t>
            </a:r>
            <a:r>
              <a:rPr lang="en-US" sz="22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Identity</a:t>
            </a:r>
            <a:r>
              <a:rPr lang="en-US" sz="225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Provider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7800975" y="323850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9" name="Shape 7"/>
          <p:cNvSpPr/>
          <p:nvPr/>
        </p:nvSpPr>
        <p:spPr>
          <a:xfrm>
            <a:off x="7943850" y="3409950"/>
            <a:ext cx="209550" cy="152400"/>
          </a:xfrm>
          <a:custGeom>
            <a:avLst/>
            <a:gdLst/>
            <a:ahLst/>
            <a:cxnLst/>
            <a:rect l="l" t="t" r="r" b="b"/>
            <a:pathLst>
              <a:path w="209550" h="152400">
                <a:moveTo>
                  <a:pt x="0" y="76200"/>
                </a:moveTo>
                <a:lnTo>
                  <a:pt x="209550" y="76200"/>
                </a:lnTo>
                <a:moveTo>
                  <a:pt x="133350" y="0"/>
                </a:moveTo>
                <a:lnTo>
                  <a:pt x="209550" y="76200"/>
                </a:lnTo>
                <a:lnTo>
                  <a:pt x="133350" y="152400"/>
                </a:lnTo>
              </a:path>
            </a:pathLst>
          </a:custGeom>
          <a:ln w="3810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515350" y="2895600"/>
            <a:ext cx="8858250" cy="1181100"/>
          </a:xfrm>
          <a:prstGeom prst="roundRect">
            <a:avLst>
              <a:gd name="adj" fmla="val 1774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858250" y="3105150"/>
            <a:ext cx="81915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Bốn</a:t>
            </a:r>
            <a:r>
              <a:rPr lang="en-US" sz="22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vai.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“Identity</a:t>
            </a:r>
            <a:r>
              <a:rPr lang="en-US" sz="2250" dirty="0" spc="-1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Provider”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-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vai</a:t>
            </a:r>
            <a:r>
              <a:rPr lang="en-US" sz="2250" dirty="0" spc="-1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OAuth.</a:t>
            </a:r>
            <a:endParaRPr lang="en-US" sz="2250" dirty="0"/>
          </a:p>
        </p:txBody>
      </p:sp>
      <p:sp>
        <p:nvSpPr>
          <p:cNvPr id="12" name="Shape 10"/>
          <p:cNvSpPr/>
          <p:nvPr/>
        </p:nvSpPr>
        <p:spPr>
          <a:xfrm>
            <a:off x="914400" y="4210050"/>
            <a:ext cx="6667500" cy="1181100"/>
          </a:xfrm>
          <a:prstGeom prst="roundRect">
            <a:avLst>
              <a:gd name="adj" fmla="val 17742"/>
            </a:avLst>
          </a:prstGeom>
          <a:solidFill>
            <a:srgbClr val="E8E0CF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44196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2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đại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diện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danh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tính, làm</a:t>
            </a:r>
            <a:r>
              <a:rPr lang="en-US" sz="225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đăng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nhập</a:t>
            </a:r>
            <a:r>
              <a:rPr lang="en-US" sz="22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250" dirty="0"/>
          </a:p>
        </p:txBody>
      </p:sp>
      <p:sp>
        <p:nvSpPr>
          <p:cNvPr id="14" name="Shape 12"/>
          <p:cNvSpPr/>
          <p:nvPr/>
        </p:nvSpPr>
        <p:spPr>
          <a:xfrm>
            <a:off x="7800975" y="45529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15" name="Shape 13"/>
          <p:cNvSpPr/>
          <p:nvPr/>
        </p:nvSpPr>
        <p:spPr>
          <a:xfrm>
            <a:off x="7943850" y="4724400"/>
            <a:ext cx="209550" cy="152400"/>
          </a:xfrm>
          <a:custGeom>
            <a:avLst/>
            <a:gdLst/>
            <a:ahLst/>
            <a:cxnLst/>
            <a:rect l="l" t="t" r="r" b="b"/>
            <a:pathLst>
              <a:path w="209550" h="152400">
                <a:moveTo>
                  <a:pt x="0" y="76200"/>
                </a:moveTo>
                <a:lnTo>
                  <a:pt x="209550" y="76200"/>
                </a:lnTo>
                <a:moveTo>
                  <a:pt x="133350" y="0"/>
                </a:moveTo>
                <a:lnTo>
                  <a:pt x="209550" y="76200"/>
                </a:lnTo>
                <a:lnTo>
                  <a:pt x="133350" y="152400"/>
                </a:lnTo>
              </a:path>
            </a:pathLst>
          </a:custGeom>
          <a:ln w="3810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515350" y="4210050"/>
            <a:ext cx="8858250" cy="1181100"/>
          </a:xfrm>
          <a:prstGeom prst="roundRect">
            <a:avLst>
              <a:gd name="adj" fmla="val 1774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58250" y="4400550"/>
            <a:ext cx="8191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6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Token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đại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diện</a:t>
            </a:r>
            <a:r>
              <a:rPr lang="en-US" sz="22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đã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cấp cho</a:t>
            </a:r>
            <a:r>
              <a:rPr lang="en-US" sz="2250" dirty="0" spc="2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ứng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dụng.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OAuth</a:t>
            </a:r>
            <a:r>
              <a:rPr lang="en-US" sz="22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</a:t>
            </a:r>
            <a:r>
              <a:rPr lang="en-US" sz="22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</a:t>
            </a:r>
            <a:r>
              <a:rPr lang="en-US" sz="2250" dirty="0" spc="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giao</a:t>
            </a:r>
            <a:r>
              <a:rPr lang="en-US" sz="22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thức</a:t>
            </a:r>
            <a:r>
              <a:rPr lang="en-US" sz="22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xác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thực.</a:t>
            </a:r>
            <a:endParaRPr lang="en-US" sz="2250" dirty="0"/>
          </a:p>
        </p:txBody>
      </p:sp>
      <p:sp>
        <p:nvSpPr>
          <p:cNvPr id="18" name="Shape 16"/>
          <p:cNvSpPr/>
          <p:nvPr/>
        </p:nvSpPr>
        <p:spPr>
          <a:xfrm>
            <a:off x="914400" y="5524500"/>
            <a:ext cx="6667500" cy="1181100"/>
          </a:xfrm>
          <a:prstGeom prst="roundRect">
            <a:avLst>
              <a:gd name="adj" fmla="val 17742"/>
            </a:avLst>
          </a:prstGeom>
          <a:solidFill>
            <a:srgbClr val="E8E0CF"/>
          </a:solidFill>
          <a:ln/>
        </p:spPr>
      </p:sp>
      <p:sp>
        <p:nvSpPr>
          <p:cNvPr id="19" name="Text 17"/>
          <p:cNvSpPr/>
          <p:nvPr/>
        </p:nvSpPr>
        <p:spPr>
          <a:xfrm>
            <a:off x="1238250" y="573405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6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sẻ</a:t>
            </a:r>
            <a:r>
              <a:rPr lang="en-US" sz="22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250" dirty="0"/>
          </a:p>
        </p:txBody>
      </p:sp>
      <p:sp>
        <p:nvSpPr>
          <p:cNvPr id="20" name="Shape 18"/>
          <p:cNvSpPr/>
          <p:nvPr/>
        </p:nvSpPr>
        <p:spPr>
          <a:xfrm>
            <a:off x="7800975" y="586740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1" name="Shape 19"/>
          <p:cNvSpPr/>
          <p:nvPr/>
        </p:nvSpPr>
        <p:spPr>
          <a:xfrm>
            <a:off x="7943850" y="6038850"/>
            <a:ext cx="209550" cy="152400"/>
          </a:xfrm>
          <a:custGeom>
            <a:avLst/>
            <a:gdLst/>
            <a:ahLst/>
            <a:cxnLst/>
            <a:rect l="l" t="t" r="r" b="b"/>
            <a:pathLst>
              <a:path w="209550" h="152400">
                <a:moveTo>
                  <a:pt x="0" y="76200"/>
                </a:moveTo>
                <a:lnTo>
                  <a:pt x="209550" y="76200"/>
                </a:lnTo>
                <a:moveTo>
                  <a:pt x="133350" y="0"/>
                </a:moveTo>
                <a:lnTo>
                  <a:pt x="209550" y="76200"/>
                </a:lnTo>
                <a:lnTo>
                  <a:pt x="133350" y="152400"/>
                </a:lnTo>
              </a:path>
            </a:pathLst>
          </a:custGeom>
          <a:ln w="3810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515350" y="5524500"/>
            <a:ext cx="8858250" cy="1181100"/>
          </a:xfrm>
          <a:prstGeom prst="roundRect">
            <a:avLst>
              <a:gd name="adj" fmla="val 1774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58250" y="5715000"/>
            <a:ext cx="8191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Cấp</a:t>
            </a:r>
            <a:r>
              <a:rPr lang="en-US" sz="2250" dirty="0" spc="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cho</a:t>
            </a:r>
            <a:r>
              <a:rPr lang="en-US" sz="22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nhiều</a:t>
            </a:r>
            <a:r>
              <a:rPr lang="en-US" sz="2250" dirty="0" spc="8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API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.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Mỗi</a:t>
            </a:r>
            <a:r>
              <a:rPr lang="en-US" sz="2250" dirty="0" spc="-2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nên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dành cho</a:t>
            </a:r>
            <a:r>
              <a:rPr lang="en-US" sz="2250" dirty="0" spc="-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2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API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.</a:t>
            </a:r>
            <a:endParaRPr lang="en-US" sz="2250" dirty="0"/>
          </a:p>
        </p:txBody>
      </p:sp>
      <p:sp>
        <p:nvSpPr>
          <p:cNvPr id="24" name="Shape 22"/>
          <p:cNvSpPr/>
          <p:nvPr/>
        </p:nvSpPr>
        <p:spPr>
          <a:xfrm>
            <a:off x="914400" y="6838950"/>
            <a:ext cx="6667500" cy="1181100"/>
          </a:xfrm>
          <a:prstGeom prst="roundRect">
            <a:avLst>
              <a:gd name="adj" fmla="val 17742"/>
            </a:avLst>
          </a:prstGeom>
          <a:solidFill>
            <a:srgbClr val="E8E0CF"/>
          </a:solidFill>
          <a:ln/>
        </p:spPr>
      </p:sp>
      <p:sp>
        <p:nvSpPr>
          <p:cNvPr id="25" name="Text 23"/>
          <p:cNvSpPr/>
          <p:nvPr/>
        </p:nvSpPr>
        <p:spPr>
          <a:xfrm>
            <a:off x="1238250" y="7048500"/>
            <a:ext cx="6096000" cy="8001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Ứng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</a:t>
            </a:r>
            <a:r>
              <a:rPr lang="en-US" sz="22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25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25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phép</a:t>
            </a:r>
            <a:endParaRPr lang="en-US" sz="2250" dirty="0"/>
          </a:p>
        </p:txBody>
      </p:sp>
      <p:sp>
        <p:nvSpPr>
          <p:cNvPr id="26" name="Shape 24"/>
          <p:cNvSpPr/>
          <p:nvPr/>
        </p:nvSpPr>
        <p:spPr>
          <a:xfrm>
            <a:off x="7800975" y="7181850"/>
            <a:ext cx="495300" cy="495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27" name="Shape 25"/>
          <p:cNvSpPr/>
          <p:nvPr/>
        </p:nvSpPr>
        <p:spPr>
          <a:xfrm>
            <a:off x="7943850" y="7353300"/>
            <a:ext cx="209550" cy="152400"/>
          </a:xfrm>
          <a:custGeom>
            <a:avLst/>
            <a:gdLst/>
            <a:ahLst/>
            <a:cxnLst/>
            <a:rect l="l" t="t" r="r" b="b"/>
            <a:pathLst>
              <a:path w="209550" h="152400">
                <a:moveTo>
                  <a:pt x="0" y="76200"/>
                </a:moveTo>
                <a:lnTo>
                  <a:pt x="209550" y="76200"/>
                </a:lnTo>
                <a:moveTo>
                  <a:pt x="133350" y="0"/>
                </a:moveTo>
                <a:lnTo>
                  <a:pt x="209550" y="76200"/>
                </a:lnTo>
                <a:lnTo>
                  <a:pt x="133350" y="152400"/>
                </a:lnTo>
              </a:path>
            </a:pathLst>
          </a:custGeom>
          <a:ln w="3810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515350" y="6838950"/>
            <a:ext cx="8858250" cy="1181100"/>
          </a:xfrm>
          <a:prstGeom prst="roundRect">
            <a:avLst>
              <a:gd name="adj" fmla="val 1774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58250" y="7029450"/>
            <a:ext cx="8191500" cy="857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Scope</a:t>
            </a:r>
            <a:r>
              <a:rPr lang="en-US" sz="22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do</a:t>
            </a:r>
            <a:r>
              <a:rPr lang="en-US" sz="2250" dirty="0" spc="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-15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máy</a:t>
            </a:r>
            <a:r>
              <a:rPr lang="en-US" sz="2250" dirty="0" spc="1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250" dirty="0" spc="-2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ủy</a:t>
            </a:r>
            <a:r>
              <a:rPr lang="en-US" sz="2250" dirty="0" spc="-14" kern="0">
                <a:solidFill>
                  <a:srgbClr val="1F3FD1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đặt,</a:t>
            </a:r>
            <a:endParaRPr lang="en-US" sz="2250" dirty="0"/>
          </a:p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B45309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API</a:t>
            </a:r>
            <a:pPr algn="l" indent="0" marL="0">
              <a:lnSpc>
                <a:spcPts val="2925"/>
              </a:lnSpc>
              <a:buNone/>
            </a:pPr>
            <a:r>
              <a:rPr lang="en-US" sz="22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thực</a:t>
            </a:r>
            <a:r>
              <a:rPr lang="en-US" sz="22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thi.</a:t>
            </a:r>
            <a:endParaRPr lang="en-US" sz="2250" dirty="0"/>
          </a:p>
        </p:txBody>
      </p:sp>
      <p:sp>
        <p:nvSpPr>
          <p:cNvPr id="30" name="Text 28"/>
          <p:cNvSpPr/>
          <p:nvPr/>
        </p:nvSpPr>
        <p:spPr>
          <a:xfrm>
            <a:off x="914400" y="8343900"/>
            <a:ext cx="164592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chuẩn</a:t>
            </a:r>
            <a:r>
              <a:rPr lang="en-US" sz="18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gốc</a:t>
            </a:r>
            <a:r>
              <a:rPr lang="en-US" sz="18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180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180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đây: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dựa</a:t>
            </a:r>
            <a:r>
              <a:rPr lang="en-US" sz="180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18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nháp</a:t>
            </a:r>
            <a:r>
              <a:rPr lang="en-US" sz="1800" dirty="0" spc="-2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18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2.1,</a:t>
            </a:r>
            <a:r>
              <a:rPr lang="en-US" sz="1800" dirty="0" spc="-4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180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authlib.</a:t>
            </a:r>
            <a:endParaRPr lang="en-US" sz="1800" dirty="0"/>
          </a:p>
        </p:txBody>
      </p:sp>
      <p:sp>
        <p:nvSpPr>
          <p:cNvPr id="31" name="Connector line-1792366416385-164259533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9" name="Shape 37"/>
          <p:cNvSpPr/>
          <p:nvPr/>
        </p:nvSpPr>
        <p:spPr>
          <a:xfrm>
            <a:off x="3186113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40" name="Shape 38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43" name="Shape 4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4" name="Moda image moda-export-watermark-62d87f92-8d1d-4253-9785-808c02de619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98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KIỂM</a:t>
            </a:r>
            <a:r>
              <a:rPr lang="en-US" sz="1950" b="1" spc="299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TRA</a:t>
            </a:r>
            <a:r>
              <a:rPr lang="en-US" sz="1950" b="1" spc="300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953500" cy="1238250"/>
          </a:xfrm>
          <a:prstGeom prst="rect">
            <a:avLst/>
          </a:prstGeom>
          <a:noFill/>
          <a:ln/>
        </p:spPr>
        <p:txBody>
          <a:bodyPr wrap="square" lIns="0" tIns="61341" rIns="0" bIns="-61341" rtlCol="0" anchor="t"/>
          <a:lstStyle/>
          <a:p>
            <a:pPr algn="l" indent="0" marL="0">
              <a:lnSpc>
                <a:spcPts val="7176"/>
              </a:lnSpc>
              <a:buNone/>
            </a:pPr>
            <a:r>
              <a:rPr lang="en-US" sz="6900" dirty="0" spc="-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Nhìn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hình</a:t>
            </a:r>
            <a:r>
              <a:rPr lang="en-US" sz="6900" dirty="0" spc="-3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trả</a:t>
            </a:r>
            <a:r>
              <a:rPr lang="en-US" sz="6900" dirty="0" spc="-3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lời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495550"/>
            <a:ext cx="8991600" cy="180975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Hai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dùng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chung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một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máy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chủ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ủy</a:t>
            </a:r>
            <a:r>
              <a:rPr lang="en-US" sz="2550" dirty="0" spc="-1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quyền.</a:t>
            </a:r>
            <a:r>
              <a:rPr lang="en-US" sz="2550" dirty="0" spc="-36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Kẻ</a:t>
            </a:r>
            <a:r>
              <a:rPr lang="en-US" sz="2550" dirty="0" spc="-15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lấy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-2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token</a:t>
            </a:r>
            <a:r>
              <a:rPr lang="en-US" sz="2550" dirty="0" spc="-14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read_photos</a:t>
            </a:r>
            <a:r>
              <a:rPr lang="en-US" sz="2550" dirty="0" spc="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của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ảnh</a:t>
            </a:r>
            <a:r>
              <a:rPr lang="en-US" sz="2550" dirty="0" spc="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đem</a:t>
            </a:r>
            <a:r>
              <a:rPr lang="en-US" sz="2550" dirty="0" spc="-7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gọi</a:t>
            </a:r>
            <a:r>
              <a:rPr lang="en-US" sz="2550" dirty="0" spc="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</a:t>
            </a: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sơ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thì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có</a:t>
            </a:r>
            <a:r>
              <a:rPr lang="en-US" sz="2550" dirty="0" spc="10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được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không,</a:t>
            </a:r>
            <a:r>
              <a:rPr lang="en-US" sz="2550" dirty="0" spc="-2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550" dirty="0" spc="-3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</a:t>
            </a:r>
            <a:r>
              <a:rPr lang="en-US" sz="2550" dirty="0" spc="-9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sơ</a:t>
            </a:r>
            <a:r>
              <a:rPr lang="en-US" sz="2550" dirty="0" spc="-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phải kiểm</a:t>
            </a:r>
            <a:r>
              <a:rPr lang="en-US" sz="2550" dirty="0" spc="2" kern="0">
                <a:solidFill>
                  <a:srgbClr val="14161C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gì?</a:t>
            </a:r>
            <a:endParaRPr lang="en-US" sz="2550" dirty="0"/>
          </a:p>
        </p:txBody>
      </p:sp>
      <p:sp>
        <p:nvSpPr>
          <p:cNvPr id="5" name="Shape 3"/>
          <p:cNvSpPr/>
          <p:nvPr/>
        </p:nvSpPr>
        <p:spPr>
          <a:xfrm>
            <a:off x="914400" y="4476750"/>
            <a:ext cx="8991600" cy="4286250"/>
          </a:xfrm>
          <a:prstGeom prst="roundRect">
            <a:avLst>
              <a:gd name="adj" fmla="val 6222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81300" y="4743450"/>
            <a:ext cx="3429000" cy="59055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Máy</a:t>
            </a:r>
            <a:r>
              <a:rPr lang="en-US" sz="2100" b="1" dirty="0" spc="-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</a:t>
            </a:r>
            <a:r>
              <a:rPr lang="en-US" sz="2100" b="1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ủy</a:t>
            </a:r>
            <a:r>
              <a:rPr lang="en-US" sz="2100" b="1" dirty="0" spc="-1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2857500" y="5334000"/>
            <a:ext cx="1638300" cy="1181100"/>
          </a:xfrm>
          <a:custGeom>
            <a:avLst/>
            <a:gdLst/>
            <a:ahLst/>
            <a:cxnLst/>
            <a:rect l="l" t="t" r="r" b="b"/>
            <a:pathLst>
              <a:path w="1638300" h="1181100">
                <a:moveTo>
                  <a:pt x="1638300" y="0"/>
                </a:moveTo>
                <a:lnTo>
                  <a:pt x="1638300" y="476250"/>
                </a:lnTo>
                <a:lnTo>
                  <a:pt x="0" y="476250"/>
                </a:lnTo>
                <a:lnTo>
                  <a:pt x="0" y="1181100"/>
                </a:ln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495800" y="5810250"/>
            <a:ext cx="3467100" cy="704850"/>
          </a:xfrm>
          <a:custGeom>
            <a:avLst/>
            <a:gdLst/>
            <a:ahLst/>
            <a:cxnLst/>
            <a:rect l="l" t="t" r="r" b="b"/>
            <a:pathLst>
              <a:path w="3467100" h="704850">
                <a:moveTo>
                  <a:pt x="0" y="0"/>
                </a:moveTo>
                <a:lnTo>
                  <a:pt x="3467100" y="0"/>
                </a:lnTo>
                <a:lnTo>
                  <a:pt x="3467100" y="704850"/>
                </a:lnTo>
              </a:path>
            </a:pathLst>
          </a:custGeom>
          <a:ln w="38100">
            <a:solidFill>
              <a:srgbClr val="1F3FD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19250" y="6572250"/>
            <a:ext cx="2476500" cy="990600"/>
          </a:xfrm>
          <a:prstGeom prst="roundRect">
            <a:avLst>
              <a:gd name="adj" fmla="val 21154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619250" y="6743700"/>
            <a:ext cx="2476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b="1" dirty="0" spc="5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ảnh</a:t>
            </a:r>
            <a:endParaRPr lang="en-US" sz="2250" dirty="0"/>
          </a:p>
        </p:txBody>
      </p:sp>
      <p:sp>
        <p:nvSpPr>
          <p:cNvPr id="11" name="Text 9"/>
          <p:cNvSpPr/>
          <p:nvPr/>
        </p:nvSpPr>
        <p:spPr>
          <a:xfrm>
            <a:off x="1619250" y="7143750"/>
            <a:ext cx="247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photos-api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6724650" y="6572250"/>
            <a:ext cx="2476500" cy="990600"/>
          </a:xfrm>
          <a:prstGeom prst="roundRect">
            <a:avLst>
              <a:gd name="adj" fmla="val 21154"/>
            </a:avLst>
          </a:prstGeom>
          <a:solidFill>
            <a:srgbClr val="F3DFB8"/>
          </a:solidFill>
          <a:ln w="28575">
            <a:solidFill>
              <a:srgbClr val="B4530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724650" y="6743700"/>
            <a:ext cx="2476500" cy="3619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2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API</a:t>
            </a:r>
            <a:r>
              <a:rPr lang="en-US" sz="2250" b="1" dirty="0" spc="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2250" b="1" dirty="0" spc="-1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6724650" y="7143750"/>
            <a:ext cx="2476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 spc="-5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profile-api</a:t>
            </a:r>
            <a:endParaRPr lang="en-US" sz="1800" dirty="0"/>
          </a:p>
        </p:txBody>
      </p:sp>
      <p:sp>
        <p:nvSpPr>
          <p:cNvPr id="15" name="Connector line-1792367679195-986591466"/>
          <p:cNvSpPr/>
          <p:nvPr/>
        </p:nvSpPr>
        <p:spPr>
          <a:xfrm flipV="1">
            <a:off x="2857500" y="7620000"/>
            <a:ext cx="0" cy="323850"/>
          </a:xfrm>
          <a:prstGeom prst="line">
            <a:avLst/>
          </a:prstGeom>
          <a:noFill/>
          <a:ln w="38100">
            <a:solidFill>
              <a:srgbClr val="0F766E"/>
            </a:solidFill>
            <a:prstDash val="solid"/>
            <a:headEnd type="none"/>
            <a:tailEnd type="none"/>
          </a:ln>
        </p:spPr>
      </p:sp>
      <p:sp>
        <p:nvSpPr>
          <p:cNvPr id="16" name="Text 14"/>
          <p:cNvSpPr/>
          <p:nvPr/>
        </p:nvSpPr>
        <p:spPr>
          <a:xfrm>
            <a:off x="1333500" y="7962900"/>
            <a:ext cx="3048000" cy="571500"/>
          </a:xfrm>
          <a:prstGeom prst="roundRect">
            <a:avLst>
              <a:gd name="adj" fmla="val 5000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2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950" b="1" dirty="0" spc="-9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read_photos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4438650" y="7677150"/>
            <a:ext cx="3524250" cy="571500"/>
          </a:xfrm>
          <a:custGeom>
            <a:avLst/>
            <a:gdLst/>
            <a:ahLst/>
            <a:cxnLst/>
            <a:rect l="l" t="t" r="r" b="b"/>
            <a:pathLst>
              <a:path w="3524250" h="571500">
                <a:moveTo>
                  <a:pt x="0" y="571500"/>
                </a:moveTo>
                <a:lnTo>
                  <a:pt x="3524250" y="571500"/>
                </a:lnTo>
                <a:lnTo>
                  <a:pt x="3524250" y="0"/>
                </a:lnTo>
              </a:path>
            </a:pathLst>
          </a:custGeom>
          <a:ln w="47625">
            <a:solidFill>
              <a:srgbClr val="E8472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47416" y="7486650"/>
            <a:ext cx="230969" cy="200025"/>
          </a:xfrm>
          <a:custGeom>
            <a:avLst/>
            <a:gdLst/>
            <a:ahLst/>
            <a:cxnLst/>
            <a:rect l="l" t="t" r="r" b="b"/>
            <a:pathLst>
              <a:path w="230969" h="200025">
                <a:moveTo>
                  <a:pt x="115484" y="0"/>
                </a:moveTo>
                <a:lnTo>
                  <a:pt x="230969" y="200025"/>
                </a:lnTo>
                <a:lnTo>
                  <a:pt x="0" y="200025"/>
                </a:lnTo>
                <a:lnTo>
                  <a:pt x="115484" y="0"/>
                </a:lnTo>
                <a:close/>
              </a:path>
            </a:pathLst>
          </a:custGeom>
          <a:solidFill>
            <a:srgbClr val="E8472B"/>
          </a:solidFill>
          <a:ln/>
        </p:spPr>
      </p:sp>
      <p:sp>
        <p:nvSpPr>
          <p:cNvPr id="19" name="Text 17"/>
          <p:cNvSpPr/>
          <p:nvPr/>
        </p:nvSpPr>
        <p:spPr>
          <a:xfrm>
            <a:off x="4572000" y="7848600"/>
            <a:ext cx="3238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spc="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đem</a:t>
            </a:r>
            <a:r>
              <a:rPr lang="en-US" sz="1800" b="1" dirty="0" spc="-5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800" b="1" dirty="0" spc="-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180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hồ</a:t>
            </a:r>
            <a:r>
              <a:rPr lang="en-US" sz="1800" b="1" dirty="0" spc="2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sơ?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10439400" y="1428750"/>
            <a:ext cx="6934200" cy="7334250"/>
          </a:xfrm>
          <a:prstGeom prst="roundRect">
            <a:avLst>
              <a:gd name="adj" fmla="val 3846"/>
            </a:avLst>
          </a:prstGeom>
          <a:solidFill>
            <a:srgbClr val="1F3FD1"/>
          </a:solidFill>
          <a:ln/>
        </p:spPr>
      </p:sp>
      <p:sp>
        <p:nvSpPr>
          <p:cNvPr id="21" name="Shape 19"/>
          <p:cNvSpPr/>
          <p:nvPr/>
        </p:nvSpPr>
        <p:spPr>
          <a:xfrm>
            <a:off x="10915650" y="1962150"/>
            <a:ext cx="571500" cy="571500"/>
          </a:xfrm>
          <a:prstGeom prst="ellipse">
            <a:avLst/>
          </a:prstGeom>
          <a:noFill/>
          <a:ln w="38100">
            <a:solidFill>
              <a:srgbClr val="FFFFFF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077575" y="2152650"/>
            <a:ext cx="257175" cy="190500"/>
          </a:xfrm>
          <a:custGeom>
            <a:avLst/>
            <a:gdLst/>
            <a:ahLst/>
            <a:cxnLst/>
            <a:rect l="l" t="t" r="r" b="b"/>
            <a:pathLst>
              <a:path w="257175" h="190500">
                <a:moveTo>
                  <a:pt x="0" y="104775"/>
                </a:moveTo>
                <a:lnTo>
                  <a:pt x="85725" y="190500"/>
                </a:lnTo>
                <a:lnTo>
                  <a:pt x="257175" y="0"/>
                </a:lnTo>
              </a:path>
            </a:pathLst>
          </a:custGeom>
          <a:ln w="476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0915650" y="2819400"/>
            <a:ext cx="59817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b="1" spc="201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650" b="1" spc="224" kern="0" dirty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650" dirty="0"/>
          </a:p>
        </p:txBody>
      </p:sp>
      <p:sp>
        <p:nvSpPr>
          <p:cNvPr id="24" name="Text 22"/>
          <p:cNvSpPr/>
          <p:nvPr/>
        </p:nvSpPr>
        <p:spPr>
          <a:xfrm>
            <a:off x="10915650" y="3162300"/>
            <a:ext cx="59817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dirty="0" spc="-3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Bị</a:t>
            </a:r>
            <a:r>
              <a:rPr lang="en-US" sz="6600" dirty="0" spc="2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6600" dirty="0" spc="-1" kern="0">
                <a:solidFill>
                  <a:srgbClr val="FFFF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chối</a:t>
            </a:r>
            <a:endParaRPr lang="en-US" sz="6600" dirty="0"/>
          </a:p>
        </p:txBody>
      </p:sp>
      <p:sp>
        <p:nvSpPr>
          <p:cNvPr id="25" name="Text 23"/>
          <p:cNvSpPr/>
          <p:nvPr/>
        </p:nvSpPr>
        <p:spPr>
          <a:xfrm>
            <a:off x="10915650" y="4400550"/>
            <a:ext cx="59817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dirty="0" spc="-6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Nếu</a:t>
            </a:r>
            <a:r>
              <a:rPr lang="en-US" sz="240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API</a:t>
            </a:r>
            <a:r>
              <a:rPr lang="en-US" sz="2400" dirty="0" spc="-1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hồ</a:t>
            </a:r>
            <a:r>
              <a:rPr lang="en-US" sz="2400" dirty="0" spc="-5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sơ</a:t>
            </a:r>
            <a:r>
              <a:rPr lang="en-US" sz="2400" dirty="0" spc="-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kiểm</a:t>
            </a:r>
            <a:r>
              <a:rPr lang="en-US" sz="2400" dirty="0" spc="0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đủ</a:t>
            </a:r>
            <a:r>
              <a:rPr lang="en-US" sz="2400" dirty="0" spc="-4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bốn phép</a:t>
            </a:r>
            <a:r>
              <a:rPr lang="en-US" sz="2400" dirty="0" spc="2" kern="0">
                <a:solidFill>
                  <a:srgbClr val="FFFFFF"/>
                </a:solidFill>
                <a:latin typeface="Be Vietnam Pro SemiBold" pitchFamily="34" charset="0"/>
                <a:ea typeface="Be Vietnam Pro SemiBold" pitchFamily="34" charset="-122"/>
                <a:cs typeface="Be Vietnam Pro SemiBold" pitchFamily="34" charset="-120"/>
              </a:rPr>
              <a:t> thử:</a:t>
            </a:r>
            <a:endParaRPr lang="en-US" sz="2400" dirty="0"/>
          </a:p>
        </p:txBody>
      </p:sp>
      <p:sp>
        <p:nvSpPr>
          <p:cNvPr id="26" name="Text richtext-1792367679212-502263500"/>
          <p:cNvSpPr/>
          <p:nvPr/>
        </p:nvSpPr>
        <p:spPr>
          <a:xfrm>
            <a:off x="10915650" y="5010150"/>
            <a:ext cx="5981700" cy="20193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Audience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 ảnh (câu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Scope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thiếu</a:t>
            </a:r>
            <a:r>
              <a:rPr lang="en-US" sz="2550" dirty="0" spc="-15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read_profile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(câu</a:t>
            </a: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4)</a:t>
            </a:r>
            <a:endParaRPr lang="en-US" sz="2550" dirty="0"/>
          </a:p>
          <a:p>
            <a:pPr algn="l" marL="323850" indent="-231371">
              <a:lnSpc>
                <a:spcPts val="3315"/>
              </a:lnSpc>
              <a:buSzPct val="100000"/>
              <a:buFont typeface="Arial"/>
              <a:buChar char="•"/>
            </a:pPr>
            <a:r>
              <a:rPr lang="en-US" sz="2550" dirty="0" spc="-3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Scope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chữ: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API</a:t>
            </a:r>
            <a:r>
              <a:rPr lang="en-US" sz="255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55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 audience</a:t>
            </a:r>
            <a:endParaRPr lang="en-US" sz="2550" dirty="0"/>
          </a:p>
        </p:txBody>
      </p:sp>
      <p:sp>
        <p:nvSpPr>
          <p:cNvPr id="27" name="Connector line-1792367679233-269625379"/>
          <p:cNvSpPr/>
          <p:nvPr/>
        </p:nvSpPr>
        <p:spPr>
          <a:xfrm>
            <a:off x="10915650" y="7105650"/>
            <a:ext cx="5981700" cy="0"/>
          </a:xfrm>
          <a:prstGeom prst="line">
            <a:avLst/>
          </a:prstGeom>
          <a:noFill/>
          <a:ln w="19050">
            <a:solidFill>
              <a:srgbClr val="DDE3FA">
                <a:alpha val="50000"/>
              </a:srgbClr>
            </a:solidFill>
            <a:prstDash val="solid"/>
            <a:headEnd type="none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10915650" y="7239000"/>
            <a:ext cx="5981700" cy="6286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-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 mờ</a:t>
            </a:r>
            <a:r>
              <a:rPr lang="en-US" sz="18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1800" dirty="0" spc="-9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introspection</a:t>
            </a:r>
            <a:r>
              <a:rPr lang="en-US" sz="1800" dirty="0" spc="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mặc</a:t>
            </a:r>
            <a:r>
              <a:rPr lang="en-US" sz="1800" dirty="0" spc="1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định:</a:t>
            </a:r>
            <a:r>
              <a:rPr lang="en-US" sz="1800" dirty="0" spc="0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18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kiểm</a:t>
            </a:r>
            <a:r>
              <a:rPr lang="en-US" sz="1800" dirty="0" spc="-4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active</a:t>
            </a:r>
            <a:r>
              <a:rPr lang="en-US" sz="1800" dirty="0" spc="-11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2" kern="0">
                <a:solidFill>
                  <a:srgbClr val="DDE3FA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scope.</a:t>
            </a:r>
            <a:endParaRPr lang="en-US" sz="1800" dirty="0"/>
          </a:p>
        </p:txBody>
      </p:sp>
      <p:sp>
        <p:nvSpPr>
          <p:cNvPr id="29" name="Connector line-1792367679236-985964041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14161C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30" name="Shape 2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1" name="Shape 2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2" name="Shape 3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3" name="Shape 3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4" name="Shape 3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5" name="Shape 3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6" name="Shape 3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7" name="Shape 3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14161C"/>
          </a:solidFill>
          <a:ln/>
        </p:spPr>
      </p:sp>
      <p:sp>
        <p:nvSpPr>
          <p:cNvPr id="38" name="Shape 36"/>
          <p:cNvSpPr/>
          <p:nvPr/>
        </p:nvSpPr>
        <p:spPr>
          <a:xfrm>
            <a:off x="3514725" y="9382125"/>
            <a:ext cx="209550" cy="20955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39" name="Shape 37"/>
          <p:cNvSpPr/>
          <p:nvPr/>
        </p:nvSpPr>
        <p:spPr>
          <a:xfrm>
            <a:off x="3890962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41" name="Text 39"/>
          <p:cNvSpPr/>
          <p:nvPr/>
        </p:nvSpPr>
        <p:spPr>
          <a:xfrm>
            <a:off x="10915650" y="7981950"/>
            <a:ext cx="5981700" cy="66675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b="1" dirty="0" spc="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1800" b="1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đủ</a:t>
            </a:r>
            <a:r>
              <a:rPr lang="en-US" sz="1800" b="1" dirty="0" spc="-6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1800" b="1" dirty="0" spc="-1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token:</a:t>
            </a:r>
            <a:pPr algn="l" indent="0" marL="0">
              <a:lnSpc>
                <a:spcPts val="2340"/>
              </a:lnSpc>
              <a:spcAft>
                <a:spcPts val="300"/>
              </a:spcAft>
              <a:buNone/>
            </a:pPr>
            <a:r>
              <a:rPr lang="en-US" sz="1800" dirty="0" spc="7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JWT</a:t>
            </a:r>
            <a:r>
              <a:rPr lang="en-US" sz="18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 kiểm</a:t>
            </a:r>
            <a:r>
              <a:rPr lang="en-US" sz="18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iss</a:t>
            </a:r>
            <a:r>
              <a:rPr lang="en-US" sz="1800" dirty="0" spc="-12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4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typ.</a:t>
            </a:r>
            <a:endParaRPr lang="en-US" sz="1800" dirty="0"/>
          </a:p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9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Token</a:t>
            </a:r>
            <a:r>
              <a:rPr lang="en-US" sz="1800" dirty="0" spc="-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chuỗi</a:t>
            </a:r>
            <a:r>
              <a:rPr lang="en-US" sz="1800" dirty="0" spc="0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mờ: hỏi</a:t>
            </a:r>
            <a:r>
              <a:rPr lang="en-US" sz="1800" dirty="0" spc="-8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1800" dirty="0" spc="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chủ ủy</a:t>
            </a:r>
            <a:r>
              <a:rPr lang="en-US" sz="1800" dirty="0" spc="-11" kern="0">
                <a:solidFill>
                  <a:srgbClr val="FFFF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quyền.</a:t>
            </a:r>
            <a:endParaRPr lang="en-US" sz="180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36b51d1c-e28d-44eb-b2b8-324b33f1cf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8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25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Shape 1"/>
          <p:cNvSpPr/>
          <p:nvPr/>
        </p:nvSpPr>
        <p:spPr>
          <a:xfrm>
            <a:off x="914400" y="1428750"/>
            <a:ext cx="39433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4" name="Shape 2"/>
          <p:cNvSpPr/>
          <p:nvPr/>
        </p:nvSpPr>
        <p:spPr>
          <a:xfrm>
            <a:off x="1190625" y="17049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5" name="Connector line-1792368417277-486182630"/>
          <p:cNvSpPr/>
          <p:nvPr/>
        </p:nvSpPr>
        <p:spPr>
          <a:xfrm>
            <a:off x="1362075" y="1790700"/>
            <a:ext cx="3248025" cy="0"/>
          </a:xfrm>
          <a:prstGeom prst="line">
            <a:avLst/>
          </a:prstGeom>
          <a:noFill/>
          <a:ln w="28575">
            <a:solidFill>
              <a:srgbClr val="7C93FF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1162050" y="2019300"/>
            <a:ext cx="34480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5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OAuth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1162050" y="2781300"/>
            <a:ext cx="344805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AUTHorization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1162050" y="3333750"/>
            <a:ext cx="34480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Cho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 làm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dirty="0" spc="-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bạn,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khẩu.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086350" y="1428750"/>
            <a:ext cx="39433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5362575" y="17049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1" name="Connector line-1792368417287-456391663"/>
          <p:cNvSpPr/>
          <p:nvPr/>
        </p:nvSpPr>
        <p:spPr>
          <a:xfrm>
            <a:off x="5534025" y="1790700"/>
            <a:ext cx="3248025" cy="0"/>
          </a:xfrm>
          <a:prstGeom prst="line">
            <a:avLst/>
          </a:prstGeom>
          <a:noFill/>
          <a:ln w="28575">
            <a:solidFill>
              <a:srgbClr val="FFB454"/>
            </a:solidFill>
            <a:prstDash val="solid"/>
            <a:headEnd type="none"/>
            <a:tailEnd type="none"/>
          </a:ln>
        </p:spPr>
      </p:sp>
      <p:sp>
        <p:nvSpPr>
          <p:cNvPr id="12" name="Text 10"/>
          <p:cNvSpPr/>
          <p:nvPr/>
        </p:nvSpPr>
        <p:spPr>
          <a:xfrm>
            <a:off x="5334000" y="2019300"/>
            <a:ext cx="34480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API</a:t>
            </a:r>
            <a:endParaRPr lang="en-US" sz="4200" dirty="0"/>
          </a:p>
        </p:txBody>
      </p:sp>
      <p:sp>
        <p:nvSpPr>
          <p:cNvPr id="13" name="Text 11"/>
          <p:cNvSpPr/>
          <p:nvPr/>
        </p:nvSpPr>
        <p:spPr>
          <a:xfrm>
            <a:off x="5334000" y="2724150"/>
            <a:ext cx="344805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Application</a:t>
            </a:r>
            <a:r>
              <a:rPr lang="en-US" sz="1650" dirty="0" spc="-1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Programming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Interface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5334000" y="3333750"/>
            <a:ext cx="34480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Cách</a:t>
            </a:r>
            <a:r>
              <a:rPr lang="en-US" sz="1800" dirty="0" spc="-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dirty="0" spc="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trình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1800" dirty="0" spc="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chương trình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9258300" y="1428750"/>
            <a:ext cx="39433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16" name="Shape 14"/>
          <p:cNvSpPr/>
          <p:nvPr/>
        </p:nvSpPr>
        <p:spPr>
          <a:xfrm>
            <a:off x="9534525" y="17049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17" name="Connector line-1792368417295-255583446"/>
          <p:cNvSpPr/>
          <p:nvPr/>
        </p:nvSpPr>
        <p:spPr>
          <a:xfrm>
            <a:off x="9705975" y="1790700"/>
            <a:ext cx="324802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9505950" y="2019300"/>
            <a:ext cx="34480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JWT</a:t>
            </a:r>
            <a:endParaRPr lang="en-US" sz="4200" dirty="0"/>
          </a:p>
        </p:txBody>
      </p:sp>
      <p:sp>
        <p:nvSpPr>
          <p:cNvPr id="19" name="Text 17"/>
          <p:cNvSpPr/>
          <p:nvPr/>
        </p:nvSpPr>
        <p:spPr>
          <a:xfrm>
            <a:off x="9505950" y="2781300"/>
            <a:ext cx="344805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JSON</a:t>
            </a:r>
            <a:r>
              <a:rPr lang="en-US" sz="1650" dirty="0" spc="-1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1650" dirty="0" spc="-3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9505950" y="3333750"/>
            <a:ext cx="34480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Chuỗi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</a:t>
            </a:r>
            <a:r>
              <a:rPr lang="en-US" sz="1800" dirty="0" spc="-9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vài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thông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chữ ký.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13430250" y="1428750"/>
            <a:ext cx="394335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3706475" y="170497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23" name="Connector line-1792368417303-23409366"/>
          <p:cNvSpPr/>
          <p:nvPr/>
        </p:nvSpPr>
        <p:spPr>
          <a:xfrm>
            <a:off x="13877925" y="1790700"/>
            <a:ext cx="324802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13677900" y="2019300"/>
            <a:ext cx="344805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JSON</a:t>
            </a:r>
            <a:endParaRPr lang="en-US" sz="4200" dirty="0"/>
          </a:p>
        </p:txBody>
      </p:sp>
      <p:sp>
        <p:nvSpPr>
          <p:cNvPr id="25" name="Text 23"/>
          <p:cNvSpPr/>
          <p:nvPr/>
        </p:nvSpPr>
        <p:spPr>
          <a:xfrm>
            <a:off x="13677900" y="2781300"/>
            <a:ext cx="344805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JavaScript</a:t>
            </a:r>
            <a:r>
              <a:rPr lang="en-US" sz="1650" dirty="0" spc="-9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Object</a:t>
            </a:r>
            <a:r>
              <a:rPr lang="en-US" sz="1650" dirty="0" spc="-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Notation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13677900" y="3333750"/>
            <a:ext cx="344805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3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Văn</a:t>
            </a: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gồm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cặp</a:t>
            </a:r>
            <a:r>
              <a:rPr lang="en-US" sz="1800" dirty="0" spc="-1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1800" dirty="0" spc="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trị.</a:t>
            </a:r>
            <a:endParaRPr lang="en-US" sz="1800" dirty="0"/>
          </a:p>
        </p:txBody>
      </p:sp>
      <p:sp>
        <p:nvSpPr>
          <p:cNvPr id="27" name="Shape 25"/>
          <p:cNvSpPr/>
          <p:nvPr/>
        </p:nvSpPr>
        <p:spPr>
          <a:xfrm>
            <a:off x="914400" y="4229100"/>
            <a:ext cx="53340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28" name="Shape 26"/>
          <p:cNvSpPr/>
          <p:nvPr/>
        </p:nvSpPr>
        <p:spPr>
          <a:xfrm>
            <a:off x="1190625" y="45053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29" name="Connector line-1792368417310-914996505"/>
          <p:cNvSpPr/>
          <p:nvPr/>
        </p:nvSpPr>
        <p:spPr>
          <a:xfrm>
            <a:off x="1362075" y="4591050"/>
            <a:ext cx="46386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30" name="Text 28"/>
          <p:cNvSpPr/>
          <p:nvPr/>
        </p:nvSpPr>
        <p:spPr>
          <a:xfrm>
            <a:off x="1162050" y="4819650"/>
            <a:ext cx="4838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ID</a:t>
            </a:r>
            <a:endParaRPr lang="en-US" sz="4200" dirty="0"/>
          </a:p>
        </p:txBody>
      </p:sp>
      <p:sp>
        <p:nvSpPr>
          <p:cNvPr id="31" name="Text 29"/>
          <p:cNvSpPr/>
          <p:nvPr/>
        </p:nvSpPr>
        <p:spPr>
          <a:xfrm>
            <a:off x="1162050" y="5581650"/>
            <a:ext cx="48387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IDentity</a:t>
            </a:r>
            <a:endParaRPr lang="en-US" sz="1650" dirty="0"/>
          </a:p>
        </p:txBody>
      </p:sp>
      <p:sp>
        <p:nvSpPr>
          <p:cNvPr id="32" name="Text 30"/>
          <p:cNvSpPr/>
          <p:nvPr/>
        </p:nvSpPr>
        <p:spPr>
          <a:xfrm>
            <a:off x="1162050" y="6134100"/>
            <a:ext cx="48387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Danh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tính:</a:t>
            </a:r>
            <a:r>
              <a:rPr lang="en-US" sz="1800" dirty="0" spc="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</a:t>
            </a:r>
            <a:r>
              <a:rPr lang="en-US" sz="1800" dirty="0" spc="-2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token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mang danh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800" dirty="0" spc="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dùng.</a:t>
            </a:r>
            <a:endParaRPr lang="en-US" sz="1800" dirty="0"/>
          </a:p>
        </p:txBody>
      </p:sp>
      <p:sp>
        <p:nvSpPr>
          <p:cNvPr id="33" name="Shape 31"/>
          <p:cNvSpPr/>
          <p:nvPr/>
        </p:nvSpPr>
        <p:spPr>
          <a:xfrm>
            <a:off x="6477000" y="4229100"/>
            <a:ext cx="53340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34" name="Shape 32"/>
          <p:cNvSpPr/>
          <p:nvPr/>
        </p:nvSpPr>
        <p:spPr>
          <a:xfrm>
            <a:off x="6753225" y="45053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35" name="Connector line-1792368417317-330531683"/>
          <p:cNvSpPr/>
          <p:nvPr/>
        </p:nvSpPr>
        <p:spPr>
          <a:xfrm>
            <a:off x="6924675" y="4591050"/>
            <a:ext cx="4638675" cy="0"/>
          </a:xfrm>
          <a:prstGeom prst="line">
            <a:avLst/>
          </a:prstGeom>
          <a:noFill/>
          <a:ln w="28575">
            <a:solidFill>
              <a:srgbClr val="FF6A4D"/>
            </a:solidFill>
            <a:prstDash val="solid"/>
            <a:headEnd type="none"/>
            <a:tailEnd type="none"/>
          </a:ln>
        </p:spPr>
      </p:sp>
      <p:sp>
        <p:nvSpPr>
          <p:cNvPr id="36" name="Text 34"/>
          <p:cNvSpPr/>
          <p:nvPr/>
        </p:nvSpPr>
        <p:spPr>
          <a:xfrm>
            <a:off x="6724650" y="4819650"/>
            <a:ext cx="4838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OpenID</a:t>
            </a:r>
            <a:endParaRPr lang="en-US" sz="4200" dirty="0"/>
          </a:p>
        </p:txBody>
      </p:sp>
      <p:sp>
        <p:nvSpPr>
          <p:cNvPr id="37" name="Text 35"/>
          <p:cNvSpPr/>
          <p:nvPr/>
        </p:nvSpPr>
        <p:spPr>
          <a:xfrm>
            <a:off x="6724650" y="5581650"/>
            <a:ext cx="48387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IDentity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6724650" y="6134100"/>
            <a:ext cx="48387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Chuẩn</a:t>
            </a:r>
            <a:r>
              <a:rPr lang="en-US" sz="1800" dirty="0" spc="-10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xác</a:t>
            </a:r>
            <a:r>
              <a:rPr lang="en-US" sz="1800" dirty="0" spc="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thực</a:t>
            </a:r>
            <a:r>
              <a:rPr lang="en-US" sz="1800" dirty="0" spc="-3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mở;</a:t>
            </a:r>
            <a:r>
              <a:rPr lang="en-US" sz="1800" dirty="0" spc="-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OpenID Connect</a:t>
            </a:r>
            <a:r>
              <a:rPr lang="en-US" sz="1800" dirty="0" spc="-18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xây</a:t>
            </a:r>
            <a:r>
              <a:rPr lang="en-US" sz="1800" dirty="0" spc="-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trên</a:t>
            </a:r>
            <a:r>
              <a:rPr lang="en-US" sz="1800" dirty="0" spc="-1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OAuth.</a:t>
            </a:r>
            <a:endParaRPr lang="en-US" sz="1800" dirty="0"/>
          </a:p>
        </p:txBody>
      </p:sp>
      <p:sp>
        <p:nvSpPr>
          <p:cNvPr id="39" name="Shape 37"/>
          <p:cNvSpPr/>
          <p:nvPr/>
        </p:nvSpPr>
        <p:spPr>
          <a:xfrm>
            <a:off x="12039600" y="4229100"/>
            <a:ext cx="5334000" cy="2571750"/>
          </a:xfrm>
          <a:prstGeom prst="roundRect">
            <a:avLst>
              <a:gd name="adj" fmla="val 8889"/>
            </a:avLst>
          </a:prstGeom>
          <a:solidFill>
            <a:srgbClr val="1E212B"/>
          </a:solidFill>
          <a:ln/>
        </p:spPr>
      </p:sp>
      <p:sp>
        <p:nvSpPr>
          <p:cNvPr id="40" name="Shape 38"/>
          <p:cNvSpPr/>
          <p:nvPr/>
        </p:nvSpPr>
        <p:spPr>
          <a:xfrm>
            <a:off x="12315825" y="4505325"/>
            <a:ext cx="171450" cy="171450"/>
          </a:xfrm>
          <a:prstGeom prst="ellipse">
            <a:avLst/>
          </a:prstGeom>
          <a:solidFill>
            <a:srgbClr val="1E212B"/>
          </a:solidFill>
          <a:ln w="28575">
            <a:solidFill>
              <a:srgbClr val="F3EEE3"/>
            </a:solidFill>
            <a:prstDash val="solid"/>
          </a:ln>
        </p:spPr>
      </p:sp>
      <p:sp>
        <p:nvSpPr>
          <p:cNvPr id="41" name="Connector line-1792368417323-660526963"/>
          <p:cNvSpPr/>
          <p:nvPr/>
        </p:nvSpPr>
        <p:spPr>
          <a:xfrm>
            <a:off x="12487275" y="4591050"/>
            <a:ext cx="4638675" cy="0"/>
          </a:xfrm>
          <a:prstGeom prst="line">
            <a:avLst/>
          </a:prstGeom>
          <a:noFill/>
          <a:ln w="28575">
            <a:solidFill>
              <a:srgbClr val="F3EEE3"/>
            </a:solidFill>
            <a:prstDash val="solid"/>
            <a:headEnd type="none"/>
            <a:tailEnd type="none"/>
          </a:ln>
        </p:spPr>
      </p:sp>
      <p:sp>
        <p:nvSpPr>
          <p:cNvPr id="42" name="Text 40"/>
          <p:cNvSpPr/>
          <p:nvPr/>
        </p:nvSpPr>
        <p:spPr>
          <a:xfrm>
            <a:off x="12287250" y="4819650"/>
            <a:ext cx="48387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0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OWASP</a:t>
            </a:r>
            <a:endParaRPr lang="en-US" sz="4200" dirty="0"/>
          </a:p>
        </p:txBody>
      </p:sp>
      <p:sp>
        <p:nvSpPr>
          <p:cNvPr id="43" name="Text 41"/>
          <p:cNvSpPr/>
          <p:nvPr/>
        </p:nvSpPr>
        <p:spPr>
          <a:xfrm>
            <a:off x="12287250" y="5581650"/>
            <a:ext cx="4838700" cy="590550"/>
          </a:xfrm>
          <a:prstGeom prst="rect">
            <a:avLst/>
          </a:prstGeom>
          <a:noFill/>
          <a:ln/>
        </p:spPr>
        <p:txBody>
          <a:bodyPr wrap="square" lIns="0" tIns="8906" rIns="0" bIns="-8906" rtlCol="0" anchor="t"/>
          <a:lstStyle/>
          <a:p>
            <a:pPr algn="l" indent="0" marL="0">
              <a:lnSpc>
                <a:spcPts val="2145"/>
              </a:lnSpc>
              <a:buNone/>
            </a:pPr>
            <a:r>
              <a:rPr lang="en-US" sz="165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</a:t>
            </a:r>
            <a:r>
              <a:rPr lang="en-US" sz="1650" dirty="0" spc="-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Worldwide</a:t>
            </a:r>
            <a:r>
              <a:rPr lang="en-US" sz="1650" dirty="0" spc="-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Application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Security</a:t>
            </a:r>
            <a:r>
              <a:rPr lang="en-US" sz="1650" dirty="0" spc="-16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Project</a:t>
            </a:r>
            <a:endParaRPr lang="en-US" sz="1650" dirty="0"/>
          </a:p>
        </p:txBody>
      </p:sp>
      <p:sp>
        <p:nvSpPr>
          <p:cNvPr id="44" name="Text 42"/>
          <p:cNvSpPr/>
          <p:nvPr/>
        </p:nvSpPr>
        <p:spPr>
          <a:xfrm>
            <a:off x="12287250" y="6134100"/>
            <a:ext cx="4838700" cy="609600"/>
          </a:xfrm>
          <a:prstGeom prst="rect">
            <a:avLst/>
          </a:prstGeom>
          <a:noFill/>
          <a:ln/>
        </p:spPr>
        <p:txBody>
          <a:bodyPr wrap="square" lIns="0" tIns="9716" rIns="0" bIns="-9716" rtlCol="0" anchor="t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dirty="0" spc="-84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Tổ</a:t>
            </a:r>
            <a:r>
              <a:rPr lang="en-US" sz="1800" dirty="0" spc="7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chức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800" dirty="0" spc="5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r>
              <a:rPr lang="en-US" sz="1800" dirty="0" spc="-12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1800" dirty="0" spc="-1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mật</a:t>
            </a:r>
            <a:r>
              <a:rPr lang="en-US" sz="1800" dirty="0" spc="16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ứng</a:t>
            </a:r>
            <a:r>
              <a:rPr lang="en-US" sz="1800" dirty="0" spc="-1" kern="0">
                <a:solidFill>
                  <a:srgbClr val="D8D3C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dụng.</a:t>
            </a:r>
            <a:endParaRPr lang="en-US" sz="1800" dirty="0"/>
          </a:p>
        </p:txBody>
      </p:sp>
      <p:sp>
        <p:nvSpPr>
          <p:cNvPr id="45" name="Connector line-1792368417328-733610902"/>
          <p:cNvSpPr/>
          <p:nvPr/>
        </p:nvSpPr>
        <p:spPr>
          <a:xfrm>
            <a:off x="914400" y="7124700"/>
            <a:ext cx="16459200" cy="0"/>
          </a:xfrm>
          <a:prstGeom prst="line">
            <a:avLst/>
          </a:prstGeom>
          <a:noFill/>
          <a:ln w="19050">
            <a:solidFill>
              <a:srgbClr val="2A2D38"/>
            </a:solidFill>
            <a:prstDash val="solid"/>
            <a:headEnd type="none"/>
            <a:tailEnd type="none"/>
          </a:ln>
        </p:spPr>
      </p:sp>
      <p:sp>
        <p:nvSpPr>
          <p:cNvPr id="46" name="Text 44"/>
          <p:cNvSpPr/>
          <p:nvPr/>
        </p:nvSpPr>
        <p:spPr>
          <a:xfrm>
            <a:off x="914400" y="7353300"/>
            <a:ext cx="8572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47" name="Text 45"/>
          <p:cNvSpPr/>
          <p:nvPr/>
        </p:nvSpPr>
        <p:spPr>
          <a:xfrm>
            <a:off x="914400" y="77343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2.1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(bản</a:t>
            </a:r>
            <a:r>
              <a:rPr lang="en-US" sz="21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nháp)</a:t>
            </a:r>
            <a:r>
              <a:rPr lang="en-US" sz="210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4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OWASP</a:t>
            </a:r>
            <a:r>
              <a:rPr lang="en-US" sz="210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OAuth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2.0</a:t>
            </a:r>
            <a:r>
              <a:rPr lang="en-US" sz="2100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Cheat</a:t>
            </a:r>
            <a:r>
              <a:rPr lang="en-US" sz="21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Sheet,</a:t>
            </a:r>
            <a:r>
              <a:rPr lang="en-US" sz="21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Session</a:t>
            </a:r>
            <a:r>
              <a:rPr lang="en-US" sz="210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Management</a:t>
            </a:r>
            <a:r>
              <a:rPr lang="en-US" sz="21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21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authlib</a:t>
            </a:r>
            <a:endParaRPr lang="en-US" sz="2100" dirty="0"/>
          </a:p>
        </p:txBody>
      </p:sp>
      <p:sp>
        <p:nvSpPr>
          <p:cNvPr id="48" name="Text 46"/>
          <p:cNvSpPr/>
          <p:nvPr/>
        </p:nvSpPr>
        <p:spPr>
          <a:xfrm>
            <a:off x="914400" y="8629650"/>
            <a:ext cx="1428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1800" dirty="0" spc="1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đối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r>
              <a:rPr lang="en-US" sz="1800" dirty="0" spc="-14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r>
              <a:rPr lang="en-US" sz="1800" dirty="0" spc="-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dirty="0" spc="-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180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1800" dirty="0" spc="-5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1800" dirty="0" spc="-28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180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1800" dirty="0"/>
          </a:p>
        </p:txBody>
      </p:sp>
      <p:sp>
        <p:nvSpPr>
          <p:cNvPr id="49" name="Connector line-1792368417334-926213079"/>
          <p:cNvSpPr/>
          <p:nvPr/>
        </p:nvSpPr>
        <p:spPr>
          <a:xfrm>
            <a:off x="990600" y="9486900"/>
            <a:ext cx="2957513" cy="0"/>
          </a:xfrm>
          <a:prstGeom prst="line">
            <a:avLst/>
          </a:prstGeom>
          <a:noFill/>
          <a:ln w="19050">
            <a:solidFill>
              <a:srgbClr val="F3EEE3">
                <a:alpha val="35000"/>
              </a:srgbClr>
            </a:solidFill>
            <a:prstDash val="solid"/>
            <a:headEnd type="none"/>
            <a:tailEnd type="none"/>
          </a:ln>
        </p:spPr>
      </p:sp>
      <p:sp>
        <p:nvSpPr>
          <p:cNvPr id="50" name="Shape 4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1" name="Shape 49"/>
          <p:cNvSpPr/>
          <p:nvPr/>
        </p:nvSpPr>
        <p:spPr>
          <a:xfrm>
            <a:off x="126206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2" name="Shape 50"/>
          <p:cNvSpPr/>
          <p:nvPr/>
        </p:nvSpPr>
        <p:spPr>
          <a:xfrm>
            <a:off x="159067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3" name="Shape 51"/>
          <p:cNvSpPr/>
          <p:nvPr/>
        </p:nvSpPr>
        <p:spPr>
          <a:xfrm>
            <a:off x="191928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4" name="Shape 52"/>
          <p:cNvSpPr/>
          <p:nvPr/>
        </p:nvSpPr>
        <p:spPr>
          <a:xfrm>
            <a:off x="224790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5" name="Shape 53"/>
          <p:cNvSpPr/>
          <p:nvPr/>
        </p:nvSpPr>
        <p:spPr>
          <a:xfrm>
            <a:off x="2576513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6" name="Shape 54"/>
          <p:cNvSpPr/>
          <p:nvPr/>
        </p:nvSpPr>
        <p:spPr>
          <a:xfrm>
            <a:off x="2905125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7" name="Shape 55"/>
          <p:cNvSpPr/>
          <p:nvPr/>
        </p:nvSpPr>
        <p:spPr>
          <a:xfrm>
            <a:off x="3233738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8" name="Shape 56"/>
          <p:cNvSpPr/>
          <p:nvPr/>
        </p:nvSpPr>
        <p:spPr>
          <a:xfrm>
            <a:off x="3562350" y="9429750"/>
            <a:ext cx="114300" cy="1143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59" name="Shape 57"/>
          <p:cNvSpPr/>
          <p:nvPr/>
        </p:nvSpPr>
        <p:spPr>
          <a:xfrm>
            <a:off x="3843338" y="9382125"/>
            <a:ext cx="209550" cy="20955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60" name="Text 5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3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35</a:t>
            </a:r>
            <a:r>
              <a:rPr lang="en-US" sz="1650" dirty="0" spc="-1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98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61" name="Shape 5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62" name="Moda image moda-export-watermark-ff4615a9-20c3-4ba2-9641-cdd1c7051e5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2026-10-19T05:31:56Z</dcterms:created>
  <dcterms:modified xsi:type="dcterms:W3CDTF">2026-10-19T05:31:56Z</dcterms:modified>
</cp:coreProperties>
</file>