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8288000" cy="10287000"/>
  <p:notesSz cx="10287000" cy="18288000"/>
  <p:embeddedFontLst>
    <p:embeddedFont>
      <p:font typeface="Be Vietnam Pro"/>
      <p:regular r:id="rId19"/>
      <p:bold r:id="rId17"/>
    </p:embeddedFont>
    <p:embeddedFont>
      <p:font typeface="Bricolage Grotesque ExtraBold"/>
      <p:regular r:id="rId18"/>
    </p:embeddedFont>
    <p:embeddedFont>
      <p:font typeface="Be Vietnam Pro ExtraBold"/>
      <p:regular r:id="rId20"/>
    </p:embeddedFont>
    <p:embeddedFont>
      <p:font typeface="Be Vietnam Pro SemiBold"/>
      <p:regular r:id="rId21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font" Target="fonts/font1.fntdata"/><Relationship Id="rId18" Type="http://schemas.openxmlformats.org/officeDocument/2006/relationships/font" Target="fonts/font2.fntdata"/><Relationship Id="rId19" Type="http://schemas.openxmlformats.org/officeDocument/2006/relationships/font" Target="fonts/font3.fntdata"/><Relationship Id="rId20" Type="http://schemas.openxmlformats.org/officeDocument/2006/relationships/font" Target="fonts/font4.fntdata"/><Relationship Id="rId21" Type="http://schemas.openxmlformats.org/officeDocument/2006/relationships/font" Target="fonts/font5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7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95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95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950" b="1" spc="29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95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17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2667000"/>
          </a:xfrm>
          <a:prstGeom prst="rect">
            <a:avLst/>
          </a:prstGeom>
          <a:noFill/>
          <a:ln/>
        </p:spPr>
        <p:txBody>
          <a:bodyPr wrap="square" lIns="0" tIns="61722" rIns="0" bIns="-61722" rtlCol="0" anchor="t"/>
          <a:lstStyle/>
          <a:p>
            <a:pPr algn="l" indent="0" marL="0">
              <a:lnSpc>
                <a:spcPts val="8748"/>
              </a:lnSpc>
              <a:buNone/>
            </a:pPr>
            <a:r>
              <a:rPr lang="en-US" sz="8100" dirty="0" spc="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Deployment</a:t>
            </a:r>
            <a:r>
              <a:rPr lang="en-US" sz="81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của</a:t>
            </a:r>
            <a:r>
              <a:rPr lang="en-US" sz="8100" dirty="0" spc="-2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Kubernetes</a:t>
            </a:r>
            <a:r>
              <a:rPr lang="en-US" sz="81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thay</a:t>
            </a:r>
            <a:r>
              <a:rPr lang="en-US" sz="8100" dirty="0" spc="-1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Pod</a:t>
            </a:r>
            <a:r>
              <a:rPr lang="en-US" sz="81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như thế</a:t>
            </a:r>
            <a:r>
              <a:rPr lang="en-US" sz="81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nào</a:t>
            </a:r>
            <a:endParaRPr lang="en-US" sz="8100" dirty="0"/>
          </a:p>
        </p:txBody>
      </p:sp>
      <p:sp>
        <p:nvSpPr>
          <p:cNvPr id="4" name="Text 2"/>
          <p:cNvSpPr/>
          <p:nvPr/>
        </p:nvSpPr>
        <p:spPr>
          <a:xfrm>
            <a:off x="914400" y="4191000"/>
            <a:ext cx="164592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Đổi</a:t>
            </a:r>
            <a:r>
              <a:rPr lang="en-US" sz="3000" dirty="0" spc="-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image:</a:t>
            </a:r>
            <a:r>
              <a:rPr lang="en-US" sz="3000" dirty="0" spc="-1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controller</a:t>
            </a:r>
            <a:r>
              <a:rPr lang="en-US" sz="300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r>
              <a:rPr lang="en-US" sz="300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300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nhịp</a:t>
            </a:r>
            <a:r>
              <a:rPr lang="en-US" sz="30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chỉnh</a:t>
            </a:r>
            <a:r>
              <a:rPr lang="en-US" sz="3000" dirty="0" spc="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được.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914400" y="5715000"/>
            <a:ext cx="3886200" cy="2381250"/>
          </a:xfrm>
          <a:prstGeom prst="roundRect">
            <a:avLst>
              <a:gd name="adj" fmla="val 8000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1100" y="5905500"/>
            <a:ext cx="190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dirty="0" spc="3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endParaRPr lang="en-US" sz="1950" dirty="0"/>
          </a:p>
        </p:txBody>
      </p:sp>
      <p:sp>
        <p:nvSpPr>
          <p:cNvPr id="7" name="Text 5"/>
          <p:cNvSpPr/>
          <p:nvPr/>
        </p:nvSpPr>
        <p:spPr>
          <a:xfrm>
            <a:off x="1181100" y="6381750"/>
            <a:ext cx="33528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dirty="0" spc="-1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Đổi image, hai</a:t>
            </a:r>
            <a:r>
              <a:rPr lang="en-US" sz="2550" dirty="0" spc="-2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tham số</a:t>
            </a:r>
            <a:r>
              <a:rPr lang="en-US" sz="2550" dirty="0" spc="-1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chỉnh</a:t>
            </a:r>
            <a:r>
              <a:rPr lang="en-US" sz="2550" dirty="0" spc="1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nhịp</a:t>
            </a:r>
            <a:endParaRPr lang="en-US" sz="2550" dirty="0"/>
          </a:p>
        </p:txBody>
      </p:sp>
      <p:sp>
        <p:nvSpPr>
          <p:cNvPr id="8" name="Shape 6"/>
          <p:cNvSpPr/>
          <p:nvPr/>
        </p:nvSpPr>
        <p:spPr>
          <a:xfrm>
            <a:off x="5105400" y="5715000"/>
            <a:ext cx="3886200" cy="2381250"/>
          </a:xfrm>
          <a:prstGeom prst="roundRect">
            <a:avLst>
              <a:gd name="adj" fmla="val 8000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372100" y="5905500"/>
            <a:ext cx="190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dirty="0" spc="-5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endParaRPr lang="en-US" sz="1950" dirty="0"/>
          </a:p>
        </p:txBody>
      </p:sp>
      <p:sp>
        <p:nvSpPr>
          <p:cNvPr id="10" name="Text 8"/>
          <p:cNvSpPr/>
          <p:nvPr/>
        </p:nvSpPr>
        <p:spPr>
          <a:xfrm>
            <a:off x="5372100" y="6381750"/>
            <a:ext cx="33528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dirty="0" spc="-2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Điều</a:t>
            </a:r>
            <a:r>
              <a:rPr lang="en-US" sz="2550" dirty="0" spc="-4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kiện</a:t>
            </a:r>
            <a:r>
              <a:rPr lang="en-US" sz="2550" dirty="0" spc="22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đi</a:t>
            </a:r>
            <a:r>
              <a:rPr lang="en-US" sz="2550" dirty="0" spc="-3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tiếp</a:t>
            </a:r>
            <a:endParaRPr lang="en-US" sz="2550" dirty="0"/>
          </a:p>
        </p:txBody>
      </p:sp>
      <p:sp>
        <p:nvSpPr>
          <p:cNvPr id="11" name="Shape 9"/>
          <p:cNvSpPr/>
          <p:nvPr/>
        </p:nvSpPr>
        <p:spPr>
          <a:xfrm>
            <a:off x="9296400" y="5715000"/>
            <a:ext cx="3886200" cy="2381250"/>
          </a:xfrm>
          <a:prstGeom prst="roundRect">
            <a:avLst>
              <a:gd name="adj" fmla="val 8000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563100" y="5905500"/>
            <a:ext cx="190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dirty="0" spc="1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3</a:t>
            </a:r>
            <a:endParaRPr lang="en-US" sz="1950" dirty="0"/>
          </a:p>
        </p:txBody>
      </p:sp>
      <p:sp>
        <p:nvSpPr>
          <p:cNvPr id="13" name="Text 11"/>
          <p:cNvSpPr/>
          <p:nvPr/>
        </p:nvSpPr>
        <p:spPr>
          <a:xfrm>
            <a:off x="9563100" y="6381750"/>
            <a:ext cx="33528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dirty="0" spc="-48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Kẹt</a:t>
            </a:r>
            <a:r>
              <a:rPr lang="en-US" sz="2550" dirty="0" spc="1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thì</a:t>
            </a:r>
            <a:r>
              <a:rPr lang="en-US" sz="2550" dirty="0" spc="2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báo,</a:t>
            </a:r>
            <a:r>
              <a:rPr lang="en-US" sz="2550" dirty="0" spc="-12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không</a:t>
            </a:r>
            <a:r>
              <a:rPr lang="en-US" sz="2550" dirty="0" spc="0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tự</a:t>
            </a:r>
            <a:r>
              <a:rPr lang="en-US" sz="2550" dirty="0" spc="25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dừng</a:t>
            </a:r>
            <a:endParaRPr lang="en-US" sz="2550" dirty="0"/>
          </a:p>
        </p:txBody>
      </p:sp>
      <p:sp>
        <p:nvSpPr>
          <p:cNvPr id="14" name="Shape 12"/>
          <p:cNvSpPr/>
          <p:nvPr/>
        </p:nvSpPr>
        <p:spPr>
          <a:xfrm>
            <a:off x="13487400" y="5715000"/>
            <a:ext cx="3886200" cy="2381250"/>
          </a:xfrm>
          <a:prstGeom prst="roundRect">
            <a:avLst>
              <a:gd name="adj" fmla="val 8000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3754100" y="5905500"/>
            <a:ext cx="190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dirty="0" spc="4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4</a:t>
            </a:r>
            <a:endParaRPr lang="en-US" sz="1950" dirty="0"/>
          </a:p>
        </p:txBody>
      </p:sp>
      <p:sp>
        <p:nvSpPr>
          <p:cNvPr id="16" name="Text 14"/>
          <p:cNvSpPr/>
          <p:nvPr/>
        </p:nvSpPr>
        <p:spPr>
          <a:xfrm>
            <a:off x="13754100" y="6381750"/>
            <a:ext cx="33528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dirty="0" spc="-6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Ngoài</a:t>
            </a:r>
            <a:r>
              <a:rPr lang="en-US" sz="2550" dirty="0" spc="1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nhịp</a:t>
            </a:r>
            <a:r>
              <a:rPr lang="en-US" sz="2550" dirty="0" spc="-2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mặc</a:t>
            </a:r>
            <a:r>
              <a:rPr lang="en-US" sz="2550" dirty="0" spc="13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định</a:t>
            </a:r>
            <a:endParaRPr lang="en-US" sz="2550" dirty="0"/>
          </a:p>
        </p:txBody>
      </p:sp>
      <p:sp>
        <p:nvSpPr>
          <p:cNvPr id="17" name="Shape 1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8" name="Moda image moda-export-watermark-8f3f1250-22d8-4e5a-9f97-d99abd0d99cf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950" b="1" spc="30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950" b="1" spc="24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98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195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950" dirty="0"/>
          </a:p>
        </p:txBody>
      </p:sp>
      <p:sp>
        <p:nvSpPr>
          <p:cNvPr id="3" name="Shape 1"/>
          <p:cNvSpPr/>
          <p:nvPr/>
        </p:nvSpPr>
        <p:spPr>
          <a:xfrm>
            <a:off x="914400" y="1619250"/>
            <a:ext cx="133350" cy="2476500"/>
          </a:xfrm>
          <a:prstGeom prst="rect">
            <a:avLst/>
          </a:prstGeom>
          <a:solidFill>
            <a:srgbClr val="E8472B"/>
          </a:solidFill>
          <a:ln/>
        </p:spPr>
      </p:sp>
      <p:sp>
        <p:nvSpPr>
          <p:cNvPr id="4" name="Text 2"/>
          <p:cNvSpPr/>
          <p:nvPr/>
        </p:nvSpPr>
        <p:spPr>
          <a:xfrm>
            <a:off x="1428750" y="1524000"/>
            <a:ext cx="15716250" cy="2762250"/>
          </a:xfrm>
          <a:prstGeom prst="rect">
            <a:avLst/>
          </a:prstGeom>
          <a:noFill/>
          <a:ln/>
        </p:spPr>
        <p:txBody>
          <a:bodyPr wrap="square" lIns="0" tIns="49530" rIns="0" bIns="-49530" rtlCol="0" anchor="t"/>
          <a:lstStyle/>
          <a:p>
            <a:pPr algn="l" indent="0" marL="0">
              <a:lnSpc>
                <a:spcPts val="8580"/>
              </a:lnSpc>
              <a:buNone/>
            </a:pPr>
            <a:r>
              <a:rPr lang="en-US" sz="7800" dirty="0" spc="-1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Một</a:t>
            </a:r>
            <a:r>
              <a:rPr lang="en-US" sz="78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lần</a:t>
            </a:r>
            <a:r>
              <a:rPr lang="en-US" sz="78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cập</a:t>
            </a:r>
            <a:r>
              <a:rPr lang="en-US" sz="7800" dirty="0" spc="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nhật:</a:t>
            </a:r>
            <a:r>
              <a:rPr lang="en-US" sz="7800" dirty="0" spc="-2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trôi</a:t>
            </a:r>
            <a:r>
              <a:rPr lang="en-US" sz="7800" dirty="0" spc="-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chảy,</a:t>
            </a:r>
            <a:r>
              <a:rPr lang="en-US" sz="78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chậm</a:t>
            </a:r>
            <a:r>
              <a:rPr lang="en-US" sz="7800" dirty="0" spc="-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hoặc</a:t>
            </a:r>
            <a:r>
              <a:rPr lang="en-US" sz="7800" dirty="0" spc="-2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kẹt.</a:t>
            </a:r>
            <a:endParaRPr lang="en-US" sz="7800" dirty="0"/>
          </a:p>
        </p:txBody>
      </p:sp>
      <p:sp>
        <p:nvSpPr>
          <p:cNvPr id="5" name="Shape 3"/>
          <p:cNvSpPr/>
          <p:nvPr/>
        </p:nvSpPr>
        <p:spPr>
          <a:xfrm>
            <a:off x="914400" y="5905500"/>
            <a:ext cx="8001000" cy="1809750"/>
          </a:xfrm>
          <a:prstGeom prst="roundRect">
            <a:avLst>
              <a:gd name="adj" fmla="val 12632"/>
            </a:avLst>
          </a:prstGeom>
          <a:solidFill>
            <a:srgbClr val="E8E0CF"/>
          </a:solidFill>
          <a:ln/>
        </p:spPr>
      </p:sp>
      <p:sp>
        <p:nvSpPr>
          <p:cNvPr id="6" name="Text 4"/>
          <p:cNvSpPr/>
          <p:nvPr/>
        </p:nvSpPr>
        <p:spPr>
          <a:xfrm>
            <a:off x="1238250" y="5905500"/>
            <a:ext cx="7353300" cy="1809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Bốn</a:t>
            </a:r>
            <a:r>
              <a:rPr lang="en-US" sz="2700" dirty="0" spc="-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thẻ</a:t>
            </a:r>
            <a:r>
              <a:rPr lang="en-US" sz="2700" dirty="0" spc="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đầu:</a:t>
            </a:r>
            <a:r>
              <a:rPr lang="en-US" sz="27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nhịp</a:t>
            </a:r>
            <a:r>
              <a:rPr lang="en-US" sz="2700" dirty="0" spc="-1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RollingUpdate,</a:t>
            </a:r>
            <a:r>
              <a:rPr lang="en-US" sz="270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mặc</a:t>
            </a:r>
            <a:r>
              <a:rPr lang="en-US" sz="2700" dirty="0" spc="1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định</a:t>
            </a:r>
            <a:r>
              <a:rPr lang="en-US" sz="27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của</a:t>
            </a:r>
            <a:r>
              <a:rPr lang="en-US" sz="2700" dirty="0" spc="-1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Deployment.</a:t>
            </a:r>
            <a:endParaRPr lang="en-US" sz="2700" dirty="0"/>
          </a:p>
        </p:txBody>
      </p:sp>
      <p:sp>
        <p:nvSpPr>
          <p:cNvPr id="7" name="Shape 5"/>
          <p:cNvSpPr/>
          <p:nvPr/>
        </p:nvSpPr>
        <p:spPr>
          <a:xfrm>
            <a:off x="9372600" y="5905500"/>
            <a:ext cx="8001000" cy="1809750"/>
          </a:xfrm>
          <a:prstGeom prst="roundRect">
            <a:avLst>
              <a:gd name="adj" fmla="val 12632"/>
            </a:avLst>
          </a:prstGeom>
          <a:solidFill>
            <a:srgbClr val="E8E0CF"/>
          </a:solidFill>
          <a:ln/>
        </p:spPr>
      </p:sp>
      <p:sp>
        <p:nvSpPr>
          <p:cNvPr id="8" name="Text 6"/>
          <p:cNvSpPr/>
          <p:nvPr/>
        </p:nvSpPr>
        <p:spPr>
          <a:xfrm>
            <a:off x="9696450" y="5905500"/>
            <a:ext cx="7353300" cy="1809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 spc="-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Thẻ</a:t>
            </a:r>
            <a:r>
              <a:rPr lang="en-US" sz="27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cuối:</a:t>
            </a:r>
            <a:r>
              <a:rPr lang="en-US" sz="2700" dirty="0" spc="1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điều</a:t>
            </a:r>
            <a:r>
              <a:rPr lang="en-US" sz="2700" dirty="0" spc="-1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Deployment</a:t>
            </a:r>
            <a:r>
              <a:rPr lang="en-US" sz="2700" dirty="0" spc="-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không</a:t>
            </a:r>
            <a:r>
              <a:rPr lang="en-US" sz="27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tự</a:t>
            </a:r>
            <a:r>
              <a:rPr lang="en-US" sz="270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làm.</a:t>
            </a:r>
            <a:endParaRPr lang="en-US" sz="2700" dirty="0"/>
          </a:p>
        </p:txBody>
      </p:sp>
      <p:sp>
        <p:nvSpPr>
          <p:cNvPr id="9" name="Shape 7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0" name="Shape 8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11" name="Shape 9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2" name="Shape 10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3" name="Shape 11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4" name="Shape 12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5" name="Shape 13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6" name="Shape 14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7" name="Shape 15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8" name="Shape 16"/>
          <p:cNvSpPr/>
          <p:nvPr/>
        </p:nvSpPr>
        <p:spPr>
          <a:xfrm>
            <a:off x="31813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9" name="Text 17"/>
          <p:cNvSpPr/>
          <p:nvPr/>
        </p:nvSpPr>
        <p:spPr>
          <a:xfrm>
            <a:off x="36957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17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02/10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1" name="Moda image moda-export-watermark-83797154-9025-4182-9b9f-4826e98a2556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1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NHỊP</a:t>
            </a:r>
            <a:r>
              <a:rPr lang="en-US" sz="1950" b="1" spc="302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r>
              <a:rPr lang="en-US" sz="1950" b="1" spc="296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302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r>
              <a:rPr lang="en-US" sz="1950" b="1" spc="289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IMAGE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38250"/>
            <a:ext cx="164592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Bạn</a:t>
            </a:r>
            <a:r>
              <a:rPr lang="en-US" sz="6900" dirty="0" spc="1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đổi</a:t>
            </a:r>
            <a:r>
              <a:rPr lang="en-US" sz="6900" dirty="0" spc="-2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image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2762250"/>
            <a:ext cx="8001000" cy="1809750"/>
          </a:xfrm>
          <a:prstGeom prst="roundRect">
            <a:avLst>
              <a:gd name="adj" fmla="val 14737"/>
            </a:avLst>
          </a:prstGeom>
          <a:solidFill>
            <a:srgbClr val="F3DFB8"/>
          </a:solidFill>
          <a:ln w="28575">
            <a:solidFill>
              <a:srgbClr val="B45309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 spc="-23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Deployment</a:t>
            </a:r>
            <a:r>
              <a:rPr lang="en-US" sz="3000" dirty="0" spc="4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tạo</a:t>
            </a:r>
            <a:r>
              <a:rPr lang="en-US" sz="3000" dirty="0" spc="-22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ReplicaSet</a:t>
            </a:r>
            <a:r>
              <a:rPr lang="en-US" sz="3000" dirty="0" spc="7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mới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372600" y="2762250"/>
            <a:ext cx="8001000" cy="1809750"/>
          </a:xfrm>
          <a:prstGeom prst="roundRect">
            <a:avLst>
              <a:gd name="adj" fmla="val 14737"/>
            </a:avLst>
          </a:prstGeom>
          <a:solidFill>
            <a:srgbClr val="F3DFB8"/>
          </a:solidFill>
          <a:ln w="28575">
            <a:solidFill>
              <a:srgbClr val="B45309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 spc="-9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Mở</a:t>
            </a:r>
            <a:r>
              <a:rPr lang="en-US" sz="3000" dirty="0" spc="-5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dần</a:t>
            </a:r>
            <a:r>
              <a:rPr lang="en-US" sz="3000" dirty="0" spc="-26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Pod</a:t>
            </a:r>
            <a:r>
              <a:rPr lang="en-US" sz="3000" dirty="0" spc="4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mới,</a:t>
            </a:r>
            <a:r>
              <a:rPr lang="en-US" sz="3000" dirty="0" spc="1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thu</a:t>
            </a:r>
            <a:r>
              <a:rPr lang="en-US" sz="3000" dirty="0" spc="-5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dần</a:t>
            </a:r>
            <a:r>
              <a:rPr lang="en-US" sz="3000" dirty="0" spc="-26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Pod</a:t>
            </a:r>
            <a:r>
              <a:rPr lang="en-US" sz="3000" dirty="0" spc="3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cũ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914400" y="504825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HAI</a:t>
            </a:r>
            <a:r>
              <a:rPr lang="en-US" sz="1950" b="1" spc="29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THAM</a:t>
            </a:r>
            <a:r>
              <a:rPr lang="en-US" sz="1950" b="1" spc="30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1950" b="1" spc="30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CHỈNH</a:t>
            </a:r>
            <a:r>
              <a:rPr lang="en-US" sz="195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NHỊP</a:t>
            </a:r>
            <a:endParaRPr lang="en-US" sz="1950" dirty="0"/>
          </a:p>
        </p:txBody>
      </p:sp>
      <p:sp>
        <p:nvSpPr>
          <p:cNvPr id="7" name="Shape 5"/>
          <p:cNvSpPr/>
          <p:nvPr/>
        </p:nvSpPr>
        <p:spPr>
          <a:xfrm>
            <a:off x="914400" y="5619750"/>
            <a:ext cx="8001000" cy="2095500"/>
          </a:xfrm>
          <a:prstGeom prst="roundRect">
            <a:avLst>
              <a:gd name="adj" fmla="val 12727"/>
            </a:avLst>
          </a:prstGeom>
          <a:solidFill>
            <a:srgbClr val="FBF8F2"/>
          </a:solidFill>
          <a:ln w="28575">
            <a:solidFill>
              <a:srgbClr val="B4530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295400" y="5810250"/>
            <a:ext cx="7239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 spc="-14" kern="0">
                <a:solidFill>
                  <a:srgbClr val="B45309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maxSurge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1295400" y="6572250"/>
            <a:ext cx="7239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Được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dư</a:t>
            </a:r>
            <a:r>
              <a:rPr lang="en-US" sz="270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tạm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thời</a:t>
            </a:r>
            <a:r>
              <a:rPr lang="en-US" sz="270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bao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nhiêu</a:t>
            </a:r>
            <a:r>
              <a:rPr lang="en-US" sz="270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Pod</a:t>
            </a:r>
            <a:endParaRPr lang="en-US" sz="2700" dirty="0"/>
          </a:p>
        </p:txBody>
      </p:sp>
      <p:sp>
        <p:nvSpPr>
          <p:cNvPr id="10" name="Shape 8"/>
          <p:cNvSpPr/>
          <p:nvPr/>
        </p:nvSpPr>
        <p:spPr>
          <a:xfrm>
            <a:off x="9372600" y="5619750"/>
            <a:ext cx="8001000" cy="2095500"/>
          </a:xfrm>
          <a:prstGeom prst="roundRect">
            <a:avLst>
              <a:gd name="adj" fmla="val 12727"/>
            </a:avLst>
          </a:prstGeom>
          <a:solidFill>
            <a:srgbClr val="FBF8F2"/>
          </a:solidFill>
          <a:ln w="28575">
            <a:solidFill>
              <a:srgbClr val="B4530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753600" y="5810250"/>
            <a:ext cx="7239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 spc="-21" kern="0">
                <a:solidFill>
                  <a:srgbClr val="B45309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maxUnavailable</a:t>
            </a:r>
            <a:endParaRPr lang="en-US" sz="3600" dirty="0"/>
          </a:p>
        </p:txBody>
      </p:sp>
      <p:sp>
        <p:nvSpPr>
          <p:cNvPr id="12" name="Text 10"/>
          <p:cNvSpPr/>
          <p:nvPr/>
        </p:nvSpPr>
        <p:spPr>
          <a:xfrm>
            <a:off x="9753600" y="6572250"/>
            <a:ext cx="7239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Được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thiếu</a:t>
            </a:r>
            <a:r>
              <a:rPr lang="en-US" sz="270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bao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nhiêu</a:t>
            </a:r>
            <a:r>
              <a:rPr lang="en-US" sz="2700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Pod</a:t>
            </a:r>
            <a:endParaRPr lang="en-US" sz="2700" dirty="0"/>
          </a:p>
        </p:txBody>
      </p:sp>
      <p:sp>
        <p:nvSpPr>
          <p:cNvPr id="13" name="Shape 11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4" name="Shape 12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5" name="Shape 13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16" name="Shape 14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7" name="Shape 15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8" name="Shape 16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9" name="Shape 17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0" name="Shape 18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1" name="Shape 19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2" name="Shape 20"/>
          <p:cNvSpPr/>
          <p:nvPr/>
        </p:nvSpPr>
        <p:spPr>
          <a:xfrm>
            <a:off x="31813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3" name="Text 21"/>
          <p:cNvSpPr/>
          <p:nvPr/>
        </p:nvSpPr>
        <p:spPr>
          <a:xfrm>
            <a:off x="36957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17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03/10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5" name="Moda image moda-export-watermark-fbc74fc5-f3b0-4ab9-816f-1349adcdf912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1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NHỊP</a:t>
            </a:r>
            <a:r>
              <a:rPr lang="en-US" sz="1950" b="1" spc="297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 ·</a:t>
            </a:r>
            <a:r>
              <a:rPr lang="en-US" sz="1950" b="1" spc="301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ĐIỀU</a:t>
            </a:r>
            <a:r>
              <a:rPr lang="en-US" sz="1950" b="1" spc="298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KIỆN</a:t>
            </a:r>
            <a:r>
              <a:rPr lang="en-US" sz="1950" b="1" spc="302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</a:t>
            </a:r>
            <a:r>
              <a:rPr lang="en-US" sz="1950" b="1" spc="300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TIẾP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38250"/>
            <a:ext cx="164592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0" dirty="0" spc="1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Điều</a:t>
            </a:r>
            <a:r>
              <a:rPr lang="en-US" sz="69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kiện</a:t>
            </a:r>
            <a:r>
              <a:rPr lang="en-US" sz="6900" dirty="0" spc="3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đi</a:t>
            </a:r>
            <a:r>
              <a:rPr lang="en-US" sz="69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tiếp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3429000"/>
            <a:ext cx="3619500" cy="2286000"/>
          </a:xfrm>
          <a:prstGeom prst="roundRect">
            <a:avLst>
              <a:gd name="adj" fmla="val 11667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dirty="0" spc="-37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Pod</a:t>
            </a:r>
            <a:r>
              <a:rPr lang="en-US" sz="3300" dirty="0" spc="2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mới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5191125" y="3429000"/>
            <a:ext cx="3619500" cy="2286000"/>
          </a:xfrm>
          <a:prstGeom prst="roundRect">
            <a:avLst>
              <a:gd name="adj" fmla="val 11667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dirty="0" spc="5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Sẵn</a:t>
            </a:r>
            <a:r>
              <a:rPr lang="en-US" sz="2700" dirty="0" spc="-4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sàng</a:t>
            </a:r>
            <a:r>
              <a:rPr lang="en-US" sz="2700" dirty="0" spc="-7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(readiness</a:t>
            </a:r>
            <a:r>
              <a:rPr lang="en-US" sz="2700" dirty="0" spc="-10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probe)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9467850" y="3429000"/>
            <a:ext cx="3619500" cy="2286000"/>
          </a:xfrm>
          <a:prstGeom prst="roundRect">
            <a:avLst>
              <a:gd name="adj" fmla="val 11667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dirty="0" spc="-11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minReadySeconds:</a:t>
            </a:r>
            <a:r>
              <a:rPr lang="en-US" sz="2550" dirty="0" spc="1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giữ</a:t>
            </a:r>
            <a:r>
              <a:rPr lang="en-US" sz="2550" dirty="0" spc="-10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thêm</a:t>
            </a:r>
            <a:r>
              <a:rPr lang="en-US" sz="2550" dirty="0" spc="-12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vài</a:t>
            </a:r>
            <a:r>
              <a:rPr lang="en-US" sz="2550" dirty="0" spc="-7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giây</a:t>
            </a:r>
            <a:endParaRPr lang="en-US" sz="2550" dirty="0"/>
          </a:p>
        </p:txBody>
      </p:sp>
      <p:sp>
        <p:nvSpPr>
          <p:cNvPr id="7" name="Text 5"/>
          <p:cNvSpPr/>
          <p:nvPr/>
        </p:nvSpPr>
        <p:spPr>
          <a:xfrm>
            <a:off x="13744575" y="3429000"/>
            <a:ext cx="3629025" cy="2286000"/>
          </a:xfrm>
          <a:prstGeom prst="roundRect">
            <a:avLst>
              <a:gd name="adj" fmla="val 11667"/>
            </a:avLst>
          </a:prstGeom>
          <a:solidFill>
            <a:srgbClr val="3DD6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dirty="0" spc="-3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Đi</a:t>
            </a:r>
            <a:r>
              <a:rPr lang="en-US" sz="3300" dirty="0" spc="-6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tiếp</a:t>
            </a:r>
            <a:endParaRPr lang="en-US" sz="3300" dirty="0"/>
          </a:p>
        </p:txBody>
      </p:sp>
      <p:sp>
        <p:nvSpPr>
          <p:cNvPr id="8" name="Connector line-1792371083556-62746134"/>
          <p:cNvSpPr/>
          <p:nvPr/>
        </p:nvSpPr>
        <p:spPr>
          <a:xfrm>
            <a:off x="4629150" y="4572000"/>
            <a:ext cx="466725" cy="0"/>
          </a:xfrm>
          <a:prstGeom prst="line">
            <a:avLst/>
          </a:prstGeom>
          <a:noFill/>
          <a:ln w="47625">
            <a:solidFill>
              <a:srgbClr val="3DD6A0"/>
            </a:solidFill>
            <a:prstDash val="solid"/>
            <a:headEnd type="none"/>
            <a:tailEnd type="triangle"/>
          </a:ln>
        </p:spPr>
      </p:sp>
      <p:sp>
        <p:nvSpPr>
          <p:cNvPr id="9" name="Connector line-1792371083557-769797493"/>
          <p:cNvSpPr/>
          <p:nvPr/>
        </p:nvSpPr>
        <p:spPr>
          <a:xfrm>
            <a:off x="8905875" y="4572000"/>
            <a:ext cx="466725" cy="0"/>
          </a:xfrm>
          <a:prstGeom prst="line">
            <a:avLst/>
          </a:prstGeom>
          <a:noFill/>
          <a:ln w="47625">
            <a:solidFill>
              <a:srgbClr val="3DD6A0"/>
            </a:solidFill>
            <a:prstDash val="solid"/>
            <a:headEnd type="none"/>
            <a:tailEnd type="triangle"/>
          </a:ln>
        </p:spPr>
      </p:sp>
      <p:sp>
        <p:nvSpPr>
          <p:cNvPr id="10" name="Connector line-1792371083557-22719500"/>
          <p:cNvSpPr/>
          <p:nvPr/>
        </p:nvSpPr>
        <p:spPr>
          <a:xfrm>
            <a:off x="13182600" y="4572000"/>
            <a:ext cx="466725" cy="0"/>
          </a:xfrm>
          <a:prstGeom prst="line">
            <a:avLst/>
          </a:prstGeom>
          <a:noFill/>
          <a:ln w="47625">
            <a:solidFill>
              <a:srgbClr val="3DD6A0"/>
            </a:solidFill>
            <a:prstDash val="solid"/>
            <a:headEnd type="none"/>
            <a:tailEnd type="triangle"/>
          </a:ln>
        </p:spPr>
      </p:sp>
      <p:sp>
        <p:nvSpPr>
          <p:cNvPr id="11" name="Text 9"/>
          <p:cNvSpPr/>
          <p:nvPr/>
        </p:nvSpPr>
        <p:spPr>
          <a:xfrm>
            <a:off x="914400" y="6572250"/>
            <a:ext cx="164592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-27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Pod</a:t>
            </a:r>
            <a:r>
              <a:rPr lang="en-US" sz="3000" dirty="0" spc="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mới</a:t>
            </a:r>
            <a:r>
              <a:rPr lang="en-US" sz="300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phải sẵn</a:t>
            </a:r>
            <a:r>
              <a:rPr lang="en-US" sz="3000" dirty="0" spc="-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sàng</a:t>
            </a:r>
            <a:r>
              <a:rPr lang="en-US" sz="3000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thì</a:t>
            </a:r>
            <a:r>
              <a:rPr lang="en-US" sz="3000" dirty="0" spc="-17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Deployment</a:t>
            </a:r>
            <a:r>
              <a:rPr lang="en-US" sz="3000" dirty="0" spc="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mới</a:t>
            </a:r>
            <a:r>
              <a:rPr lang="en-US" sz="3000" dirty="0" spc="36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đi</a:t>
            </a:r>
            <a:r>
              <a:rPr lang="en-US" sz="300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tiếp.</a:t>
            </a:r>
            <a:endParaRPr lang="en-US" sz="3000" dirty="0"/>
          </a:p>
        </p:txBody>
      </p:sp>
      <p:sp>
        <p:nvSpPr>
          <p:cNvPr id="12" name="Shape 10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3" name="Shape 11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4" name="Shape 12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5" name="Shape 13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16" name="Shape 14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7" name="Shape 15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8" name="Shape 16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9" name="Shape 17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20" name="Shape 18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21" name="Shape 19"/>
          <p:cNvSpPr/>
          <p:nvPr/>
        </p:nvSpPr>
        <p:spPr>
          <a:xfrm>
            <a:off x="31813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22" name="Text 20"/>
          <p:cNvSpPr/>
          <p:nvPr/>
        </p:nvSpPr>
        <p:spPr>
          <a:xfrm>
            <a:off x="36957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17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04/10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4" name="Moda image moda-export-watermark-23bc9707-9e4e-4308-be5b-95e92e36a2e3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1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NHỊP 3</a:t>
            </a:r>
            <a:r>
              <a:rPr lang="en-US" sz="1950" b="1" spc="29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9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KẸT</a:t>
            </a:r>
            <a:r>
              <a:rPr lang="en-US" sz="1950" b="1" spc="30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THÌ</a:t>
            </a:r>
            <a:r>
              <a:rPr lang="en-US" sz="1950" b="1" spc="27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BÁO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38250"/>
            <a:ext cx="164592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0" dirty="0" spc="-7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Kẹt</a:t>
            </a:r>
            <a:r>
              <a:rPr lang="en-US" sz="6900" dirty="0" spc="-1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thì</a:t>
            </a:r>
            <a:r>
              <a:rPr lang="en-US" sz="6900" dirty="0" spc="-2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báo,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tự</a:t>
            </a:r>
            <a:r>
              <a:rPr lang="en-US" sz="6900" dirty="0" spc="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dừng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143250"/>
            <a:ext cx="8001000" cy="4476750"/>
          </a:xfrm>
          <a:prstGeom prst="roundRect">
            <a:avLst>
              <a:gd name="adj" fmla="val 5957"/>
            </a:avLst>
          </a:prstGeom>
          <a:solidFill>
            <a:srgbClr val="F8D9D0"/>
          </a:solidFill>
          <a:ln w="28575">
            <a:solidFill>
              <a:srgbClr val="E8472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33500" y="3429000"/>
            <a:ext cx="7239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-12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progressDeadlineSeconds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1333500" y="4381500"/>
            <a:ext cx="7239000" cy="285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Quá</a:t>
            </a:r>
            <a:r>
              <a:rPr lang="en-US" sz="330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hạn</a:t>
            </a:r>
            <a:r>
              <a:rPr lang="en-US" sz="33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chỉ</a:t>
            </a:r>
            <a:r>
              <a:rPr lang="en-US" sz="3300" dirty="0" spc="-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thêm</a:t>
            </a:r>
            <a:r>
              <a:rPr lang="en-US" sz="3300" dirty="0" spc="2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điều</a:t>
            </a:r>
            <a:r>
              <a:rPr lang="en-US" sz="33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kiện</a:t>
            </a:r>
            <a:r>
              <a:rPr lang="en-US" sz="3300" dirty="0" spc="-1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ProgressDeadlineExceeded.</a:t>
            </a:r>
            <a:endParaRPr lang="en-US" sz="3300" dirty="0"/>
          </a:p>
        </p:txBody>
      </p:sp>
      <p:sp>
        <p:nvSpPr>
          <p:cNvPr id="7" name="Shape 5"/>
          <p:cNvSpPr/>
          <p:nvPr/>
        </p:nvSpPr>
        <p:spPr>
          <a:xfrm>
            <a:off x="9372600" y="3143250"/>
            <a:ext cx="8001000" cy="4476750"/>
          </a:xfrm>
          <a:prstGeom prst="roundRect">
            <a:avLst>
              <a:gd name="adj" fmla="val 5957"/>
            </a:avLst>
          </a:prstGeom>
          <a:solidFill>
            <a:srgbClr val="FBF8F2"/>
          </a:solidFill>
          <a:ln w="28575">
            <a:solidFill>
              <a:srgbClr val="E8472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91700" y="3429000"/>
            <a:ext cx="7239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-6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Muốn</a:t>
            </a:r>
            <a:r>
              <a:rPr lang="en-US" sz="3000" dirty="0" spc="27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dừng</a:t>
            </a:r>
            <a:r>
              <a:rPr lang="en-US" sz="3000" dirty="0" spc="-12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hay</a:t>
            </a:r>
            <a:r>
              <a:rPr lang="en-US" sz="3000" dirty="0" spc="-6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quay</a:t>
            </a:r>
            <a:r>
              <a:rPr lang="en-US" sz="3000" dirty="0" spc="1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lui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9791700" y="4381500"/>
            <a:ext cx="7239000" cy="285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spc="-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kubectl</a:t>
            </a:r>
            <a:r>
              <a:rPr lang="en-US" sz="3300" dirty="0" spc="-1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rollout</a:t>
            </a:r>
            <a:r>
              <a:rPr lang="en-US" sz="330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pause</a:t>
            </a:r>
            <a:r>
              <a:rPr lang="en-US" sz="33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hoặc</a:t>
            </a:r>
            <a:r>
              <a:rPr lang="en-US" sz="3300" dirty="0" spc="-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undo.</a:t>
            </a:r>
            <a:endParaRPr lang="en-US" sz="3300" dirty="0"/>
          </a:p>
        </p:txBody>
      </p:sp>
      <p:sp>
        <p:nvSpPr>
          <p:cNvPr id="10" name="Shape 8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1" name="Shape 9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2" name="Shape 10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3" name="Shape 11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4" name="Shape 12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15" name="Shape 13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6" name="Shape 14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7" name="Shape 15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8" name="Shape 16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9" name="Shape 17"/>
          <p:cNvSpPr/>
          <p:nvPr/>
        </p:nvSpPr>
        <p:spPr>
          <a:xfrm>
            <a:off x="31813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0" name="Text 18"/>
          <p:cNvSpPr/>
          <p:nvPr/>
        </p:nvSpPr>
        <p:spPr>
          <a:xfrm>
            <a:off x="36957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17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05/10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2" name="Moda image moda-export-watermark-85561898-ab82-448e-bef3-747e8933012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1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NHỊP</a:t>
            </a:r>
            <a:r>
              <a:rPr lang="en-US" sz="1950" b="1" spc="302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</a:t>
            </a:r>
            <a:r>
              <a:rPr lang="en-US" sz="1950" b="1" spc="297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88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NGOÀI</a:t>
            </a:r>
            <a:r>
              <a:rPr lang="en-US" sz="1950" b="1" spc="300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NHỊP</a:t>
            </a:r>
            <a:r>
              <a:rPr lang="en-US" sz="1950" b="1" spc="281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MẶC</a:t>
            </a:r>
            <a:r>
              <a:rPr lang="en-US" sz="1950" b="1" spc="302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38250"/>
            <a:ext cx="164592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0" dirty="0" spc="-4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Ngoài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nhịp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mặc</a:t>
            </a:r>
            <a:r>
              <a:rPr lang="en-US" sz="6900" dirty="0" spc="2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định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143250"/>
            <a:ext cx="10477500" cy="2000250"/>
          </a:xfrm>
          <a:prstGeom prst="roundRect">
            <a:avLst>
              <a:gd name="adj" fmla="val 13333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lgDash"/>
          </a:ln>
        </p:spPr>
      </p:sp>
      <p:sp>
        <p:nvSpPr>
          <p:cNvPr id="5" name="Text 3"/>
          <p:cNvSpPr/>
          <p:nvPr/>
        </p:nvSpPr>
        <p:spPr>
          <a:xfrm>
            <a:off x="1295400" y="3333750"/>
            <a:ext cx="97155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spc="0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Chia</a:t>
            </a:r>
            <a:r>
              <a:rPr lang="en-US" sz="3300" dirty="0" spc="-25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traffic</a:t>
            </a:r>
            <a:r>
              <a:rPr lang="en-US" sz="3300" dirty="0" spc="-8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theo</a:t>
            </a:r>
            <a:r>
              <a:rPr lang="en-US" sz="3300" dirty="0" spc="-4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%</a:t>
            </a:r>
            <a:endParaRPr lang="en-US" sz="3300" dirty="0"/>
          </a:p>
        </p:txBody>
      </p:sp>
      <p:sp>
        <p:nvSpPr>
          <p:cNvPr id="6" name="Text 4"/>
          <p:cNvSpPr/>
          <p:nvPr/>
        </p:nvSpPr>
        <p:spPr>
          <a:xfrm>
            <a:off x="1295400" y="4095750"/>
            <a:ext cx="97155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Cần</a:t>
            </a:r>
            <a:r>
              <a:rPr lang="en-US" sz="240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Ingress,</a:t>
            </a:r>
            <a:r>
              <a:rPr lang="en-US" sz="24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mesh</a:t>
            </a:r>
            <a:r>
              <a:rPr lang="en-US" sz="24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</a:t>
            </a:r>
            <a:r>
              <a:rPr lang="en-US" sz="2400" dirty="0" spc="-2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Argo</a:t>
            </a:r>
            <a:r>
              <a:rPr lang="en-US" sz="240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Rollouts,</a:t>
            </a:r>
            <a:r>
              <a:rPr lang="en-US" sz="240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Flagger.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914400" y="5429250"/>
            <a:ext cx="10477500" cy="2000250"/>
          </a:xfrm>
          <a:prstGeom prst="roundRect">
            <a:avLst>
              <a:gd name="adj" fmla="val 13333"/>
            </a:avLst>
          </a:prstGeom>
          <a:solidFill>
            <a:srgbClr val="2A2E3B"/>
          </a:solidFill>
          <a:ln/>
        </p:spPr>
      </p:sp>
      <p:sp>
        <p:nvSpPr>
          <p:cNvPr id="8" name="Text 6"/>
          <p:cNvSpPr/>
          <p:nvPr/>
        </p:nvSpPr>
        <p:spPr>
          <a:xfrm>
            <a:off x="1295400" y="5619750"/>
            <a:ext cx="97155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spc="-24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Deployment</a:t>
            </a:r>
            <a:endParaRPr lang="en-US" sz="3300" dirty="0"/>
          </a:p>
        </p:txBody>
      </p:sp>
      <p:sp>
        <p:nvSpPr>
          <p:cNvPr id="9" name="Text 7"/>
          <p:cNvSpPr/>
          <p:nvPr/>
        </p:nvSpPr>
        <p:spPr>
          <a:xfrm>
            <a:off x="1295400" y="6381750"/>
            <a:ext cx="97155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Chỉ</a:t>
            </a:r>
            <a:r>
              <a:rPr lang="en-US" sz="2400" dirty="0" spc="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r>
              <a:rPr lang="en-US" sz="2400" dirty="0" spc="-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40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Pod.</a:t>
            </a:r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11811000" y="3143250"/>
            <a:ext cx="5562600" cy="4286250"/>
          </a:xfrm>
          <a:prstGeom prst="roundRect">
            <a:avLst>
              <a:gd name="adj" fmla="val 6222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2192000" y="3429000"/>
            <a:ext cx="48006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 spc="-39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Recreate</a:t>
            </a:r>
            <a:endParaRPr lang="en-US" sz="3600" dirty="0"/>
          </a:p>
        </p:txBody>
      </p:sp>
      <p:sp>
        <p:nvSpPr>
          <p:cNvPr id="12" name="Text 10"/>
          <p:cNvSpPr/>
          <p:nvPr/>
        </p:nvSpPr>
        <p:spPr>
          <a:xfrm>
            <a:off x="12192000" y="4381500"/>
            <a:ext cx="4800600" cy="2667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3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Dừng</a:t>
            </a:r>
            <a:r>
              <a:rPr lang="en-US" sz="3000" dirty="0" spc="-1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hết</a:t>
            </a:r>
            <a:r>
              <a:rPr lang="en-US" sz="3000" dirty="0" spc="-19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rồi</a:t>
            </a:r>
            <a:r>
              <a:rPr lang="en-US" sz="3000" dirty="0" spc="-9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chạy</a:t>
            </a:r>
            <a:r>
              <a:rPr lang="en-US" sz="300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bản</a:t>
            </a:r>
            <a:r>
              <a:rPr lang="en-US" sz="3000" dirty="0" spc="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mới.</a:t>
            </a:r>
            <a:endParaRPr lang="en-US" sz="3000" dirty="0"/>
          </a:p>
        </p:txBody>
      </p:sp>
      <p:sp>
        <p:nvSpPr>
          <p:cNvPr id="13" name="Shape 11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4" name="Shape 12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5" name="Shape 13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6" name="Shape 14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7" name="Shape 15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8" name="Shape 16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19" name="Shape 17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20" name="Shape 18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21" name="Shape 19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22" name="Shape 20"/>
          <p:cNvSpPr/>
          <p:nvPr/>
        </p:nvSpPr>
        <p:spPr>
          <a:xfrm>
            <a:off x="31813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23" name="Text 21"/>
          <p:cNvSpPr/>
          <p:nvPr/>
        </p:nvSpPr>
        <p:spPr>
          <a:xfrm>
            <a:off x="36957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17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06/10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5" name="Moda image moda-export-watermark-69eab89a-cd2a-4977-8a0c-58a3ad8fe24f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CHỌN</a:t>
            </a:r>
            <a:r>
              <a:rPr lang="en-US" sz="1950" b="1" spc="24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30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GIỚI</a:t>
            </a:r>
            <a:r>
              <a:rPr lang="en-US" sz="195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38250"/>
            <a:ext cx="164592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0" dirty="0" spc="-3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Giới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hạn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952750"/>
            <a:ext cx="16459200" cy="1524000"/>
          </a:xfrm>
          <a:prstGeom prst="roundRect">
            <a:avLst>
              <a:gd name="adj" fmla="val 15000"/>
            </a:avLst>
          </a:prstGeom>
          <a:solidFill>
            <a:srgbClr val="E8E0CF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3314700"/>
            <a:ext cx="800100" cy="800100"/>
          </a:xfrm>
          <a:prstGeom prst="ellipse">
            <a:avLst/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914400" y="4762500"/>
            <a:ext cx="16459200" cy="1524000"/>
          </a:xfrm>
          <a:prstGeom prst="roundRect">
            <a:avLst>
              <a:gd name="adj" fmla="val 15000"/>
            </a:avLst>
          </a:prstGeom>
          <a:solidFill>
            <a:srgbClr val="E8E0CF"/>
          </a:solidFill>
          <a:ln/>
        </p:spPr>
      </p:sp>
      <p:sp>
        <p:nvSpPr>
          <p:cNvPr id="7" name="Text 5"/>
          <p:cNvSpPr/>
          <p:nvPr/>
        </p:nvSpPr>
        <p:spPr>
          <a:xfrm>
            <a:off x="1295400" y="5124450"/>
            <a:ext cx="800100" cy="800100"/>
          </a:xfrm>
          <a:prstGeom prst="ellipse">
            <a:avLst/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dirty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2700" dirty="0"/>
          </a:p>
        </p:txBody>
      </p:sp>
      <p:sp>
        <p:nvSpPr>
          <p:cNvPr id="8" name="Shape 6"/>
          <p:cNvSpPr/>
          <p:nvPr/>
        </p:nvSpPr>
        <p:spPr>
          <a:xfrm>
            <a:off x="914400" y="6572250"/>
            <a:ext cx="16459200" cy="1524000"/>
          </a:xfrm>
          <a:prstGeom prst="roundRect">
            <a:avLst>
              <a:gd name="adj" fmla="val 15000"/>
            </a:avLst>
          </a:prstGeom>
          <a:solidFill>
            <a:srgbClr val="E8E0CF"/>
          </a:solidFill>
          <a:ln/>
        </p:spPr>
      </p:sp>
      <p:sp>
        <p:nvSpPr>
          <p:cNvPr id="9" name="Text 7"/>
          <p:cNvSpPr/>
          <p:nvPr/>
        </p:nvSpPr>
        <p:spPr>
          <a:xfrm>
            <a:off x="1295400" y="6934200"/>
            <a:ext cx="800100" cy="800100"/>
          </a:xfrm>
          <a:prstGeom prst="ellipse">
            <a:avLst/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dirty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2700" dirty="0"/>
          </a:p>
        </p:txBody>
      </p:sp>
      <p:sp>
        <p:nvSpPr>
          <p:cNvPr id="10" name="Text 8"/>
          <p:cNvSpPr/>
          <p:nvPr/>
        </p:nvSpPr>
        <p:spPr>
          <a:xfrm>
            <a:off x="2476500" y="2952750"/>
            <a:ext cx="144780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50" dirty="0" spc="-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Không</a:t>
            </a:r>
            <a:r>
              <a:rPr lang="en-US" sz="3150" dirty="0" spc="1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ngừng</a:t>
            </a:r>
            <a:r>
              <a:rPr lang="en-US" sz="31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dịch</a:t>
            </a:r>
            <a:r>
              <a:rPr lang="en-US" sz="315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vụ:</a:t>
            </a:r>
            <a:r>
              <a:rPr lang="en-US" sz="315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chỉ</a:t>
            </a:r>
            <a:r>
              <a:rPr lang="en-US" sz="3150" dirty="0" spc="-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đúng</a:t>
            </a:r>
            <a:r>
              <a:rPr lang="en-US" sz="31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khi</a:t>
            </a:r>
            <a:r>
              <a:rPr lang="en-US" sz="3150" dirty="0" spc="-2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probe</a:t>
            </a:r>
            <a:r>
              <a:rPr lang="en-US" sz="31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chính</a:t>
            </a:r>
            <a:r>
              <a:rPr lang="en-US" sz="3150" dirty="0" spc="-1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xác.</a:t>
            </a:r>
            <a:endParaRPr lang="en-US" sz="3150" dirty="0"/>
          </a:p>
        </p:txBody>
      </p:sp>
      <p:sp>
        <p:nvSpPr>
          <p:cNvPr id="11" name="Text 9"/>
          <p:cNvSpPr/>
          <p:nvPr/>
        </p:nvSpPr>
        <p:spPr>
          <a:xfrm>
            <a:off x="2476500" y="4762500"/>
            <a:ext cx="144780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5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Hai</a:t>
            </a:r>
            <a:r>
              <a:rPr lang="en-US" sz="3150" dirty="0" spc="-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phiên</a:t>
            </a:r>
            <a:r>
              <a:rPr lang="en-US" sz="315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bản</a:t>
            </a:r>
            <a:r>
              <a:rPr lang="en-US" sz="315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phải</a:t>
            </a:r>
            <a:r>
              <a:rPr lang="en-US" sz="3150" dirty="0" spc="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tương</a:t>
            </a:r>
            <a:r>
              <a:rPr lang="en-US" sz="315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thích</a:t>
            </a:r>
            <a:r>
              <a:rPr lang="en-US" sz="31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khi</a:t>
            </a:r>
            <a:r>
              <a:rPr lang="en-US" sz="3150" dirty="0" spc="-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chạy</a:t>
            </a:r>
            <a:r>
              <a:rPr lang="en-US" sz="3150" dirty="0" spc="-1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song</a:t>
            </a:r>
            <a:r>
              <a:rPr lang="en-US" sz="3150" dirty="0" spc="-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song.</a:t>
            </a:r>
            <a:endParaRPr lang="en-US" sz="3150" dirty="0"/>
          </a:p>
        </p:txBody>
      </p:sp>
      <p:sp>
        <p:nvSpPr>
          <p:cNvPr id="12" name="Text 10"/>
          <p:cNvSpPr/>
          <p:nvPr/>
        </p:nvSpPr>
        <p:spPr>
          <a:xfrm>
            <a:off x="2476500" y="6572250"/>
            <a:ext cx="144780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50" dirty="0" spc="-2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Probe</a:t>
            </a:r>
            <a:r>
              <a:rPr lang="en-US" sz="315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sai</a:t>
            </a:r>
            <a:r>
              <a:rPr lang="en-US" sz="315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thì</a:t>
            </a:r>
            <a:r>
              <a:rPr lang="en-US" sz="3150" dirty="0" spc="-2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Pod</a:t>
            </a:r>
            <a:r>
              <a:rPr lang="en-US" sz="315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mới</a:t>
            </a:r>
            <a:r>
              <a:rPr lang="en-US" sz="31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nhận</a:t>
            </a:r>
            <a:r>
              <a:rPr lang="en-US" sz="3150" dirty="0" spc="-2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traffic</a:t>
            </a:r>
            <a:r>
              <a:rPr lang="en-US" sz="31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quá</a:t>
            </a:r>
            <a:r>
              <a:rPr lang="en-US" sz="315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sớm.</a:t>
            </a:r>
            <a:endParaRPr lang="en-US" sz="3150" dirty="0"/>
          </a:p>
        </p:txBody>
      </p:sp>
      <p:sp>
        <p:nvSpPr>
          <p:cNvPr id="13" name="Shape 11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4" name="Shape 12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5" name="Shape 13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6" name="Shape 14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7" name="Shape 15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8" name="Shape 16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9" name="Shape 17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20" name="Shape 18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1" name="Shape 19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2" name="Shape 20"/>
          <p:cNvSpPr/>
          <p:nvPr/>
        </p:nvSpPr>
        <p:spPr>
          <a:xfrm>
            <a:off x="31813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3" name="Text 21"/>
          <p:cNvSpPr/>
          <p:nvPr/>
        </p:nvSpPr>
        <p:spPr>
          <a:xfrm>
            <a:off x="36957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17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07/10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5" name="Moda image moda-export-watermark-8621710c-17de-49c7-9f0a-1f72ddeea953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1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NHÌN</a:t>
            </a:r>
            <a:r>
              <a:rPr lang="en-US" sz="1950" b="1" spc="302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950" b="1" spc="301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r>
              <a:rPr lang="en-US" sz="1950" b="1" spc="300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950" b="1" spc="279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38250"/>
            <a:ext cx="164592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500" dirty="0" spc="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r>
              <a:rPr lang="en-US" sz="45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Pod,</a:t>
            </a:r>
            <a:r>
              <a:rPr lang="en-US" sz="4500" dirty="0" spc="-1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maxSurge:</a:t>
            </a:r>
            <a:r>
              <a:rPr lang="en-US" sz="45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1,</a:t>
            </a:r>
            <a:r>
              <a:rPr lang="en-US" sz="4500" dirty="0" spc="-1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maxUnavailable:</a:t>
            </a:r>
            <a:r>
              <a:rPr lang="en-US" sz="45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0</a:t>
            </a:r>
            <a:endParaRPr lang="en-US" sz="4500" dirty="0"/>
          </a:p>
        </p:txBody>
      </p:sp>
      <p:sp>
        <p:nvSpPr>
          <p:cNvPr id="4" name="Text 2"/>
          <p:cNvSpPr/>
          <p:nvPr/>
        </p:nvSpPr>
        <p:spPr>
          <a:xfrm>
            <a:off x="914400" y="2190750"/>
            <a:ext cx="164592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-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Controller</a:t>
            </a:r>
            <a:r>
              <a:rPr lang="en-US" sz="27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nhắm</a:t>
            </a:r>
            <a:r>
              <a:rPr lang="en-US" sz="2700" dirty="0" spc="-1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 tối</a:t>
            </a:r>
            <a:r>
              <a:rPr lang="en-US" sz="2700" dirty="0" spc="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đa</a:t>
            </a:r>
            <a:r>
              <a:rPr lang="en-US" sz="2700" dirty="0" spc="-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bao</a:t>
            </a:r>
            <a:r>
              <a:rPr lang="en-US" sz="27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nhiêu</a:t>
            </a:r>
            <a:r>
              <a:rPr lang="en-US" sz="2700" dirty="0" spc="-1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Pod</a:t>
            </a:r>
            <a:r>
              <a:rPr lang="en-US" sz="2700" dirty="0" spc="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đang</a:t>
            </a:r>
            <a:r>
              <a:rPr lang="en-US" sz="2700" dirty="0" spc="-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chạy?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914400" y="2857500"/>
            <a:ext cx="5334000" cy="533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867" dirty="0" spc="2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</a:t>
            </a:r>
            <a:endParaRPr lang="en-US" sz="34867" dirty="0"/>
          </a:p>
        </p:txBody>
      </p:sp>
      <p:sp>
        <p:nvSpPr>
          <p:cNvPr id="6" name="Text 4"/>
          <p:cNvSpPr/>
          <p:nvPr/>
        </p:nvSpPr>
        <p:spPr>
          <a:xfrm>
            <a:off x="6667500" y="3810000"/>
            <a:ext cx="107061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900" dirty="0" spc="-42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Pod</a:t>
            </a:r>
            <a:r>
              <a:rPr lang="en-US" sz="3900" dirty="0" spc="-5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tối</a:t>
            </a:r>
            <a:r>
              <a:rPr lang="en-US" sz="3900" dirty="0" spc="3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đa</a:t>
            </a:r>
            <a:r>
              <a:rPr lang="en-US" sz="3900" dirty="0" spc="-15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không</a:t>
            </a:r>
            <a:r>
              <a:rPr lang="en-US" sz="3900" dirty="0" spc="1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đang</a:t>
            </a:r>
            <a:r>
              <a:rPr lang="en-US" sz="3900" dirty="0" spc="-11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tắt</a:t>
            </a:r>
            <a:endParaRPr lang="en-US" sz="3900" dirty="0"/>
          </a:p>
        </p:txBody>
      </p:sp>
      <p:sp>
        <p:nvSpPr>
          <p:cNvPr id="7" name="Text 5"/>
          <p:cNvSpPr/>
          <p:nvPr/>
        </p:nvSpPr>
        <p:spPr>
          <a:xfrm>
            <a:off x="6667500" y="4762500"/>
            <a:ext cx="107061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3</a:t>
            </a: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+</a:t>
            </a:r>
            <a:r>
              <a:rPr lang="en-US" sz="300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r>
              <a:rPr lang="en-US" sz="3000" dirty="0" spc="-1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tạm</a:t>
            </a: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thời.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667500" y="5715000"/>
            <a:ext cx="107061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-11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maxUnavailable:</a:t>
            </a:r>
            <a:r>
              <a:rPr lang="en-US" sz="3000" dirty="0" spc="4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0</a:t>
            </a:r>
            <a:r>
              <a:rPr lang="en-US" sz="3000" dirty="0" spc="-5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không</a:t>
            </a:r>
            <a:r>
              <a:rPr lang="en-US" sz="3000" dirty="0" spc="2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bảo</a:t>
            </a:r>
            <a:r>
              <a:rPr lang="en-US" sz="3000" dirty="0" spc="13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đảm</a:t>
            </a:r>
            <a:r>
              <a:rPr lang="en-US" sz="3000" dirty="0" spc="10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trước</a:t>
            </a:r>
            <a:r>
              <a:rPr lang="en-US" sz="3000" dirty="0" spc="1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sự</a:t>
            </a:r>
            <a:r>
              <a:rPr lang="en-US" sz="3000" dirty="0" spc="-3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cố.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0" name="Shape 8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1" name="Shape 9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2" name="Shape 10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3" name="Shape 11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4" name="Shape 12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5" name="Shape 13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6" name="Shape 14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17" name="Shape 15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8" name="Shape 16"/>
          <p:cNvSpPr/>
          <p:nvPr/>
        </p:nvSpPr>
        <p:spPr>
          <a:xfrm>
            <a:off x="31813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9" name="Text 17"/>
          <p:cNvSpPr/>
          <p:nvPr/>
        </p:nvSpPr>
        <p:spPr>
          <a:xfrm>
            <a:off x="36957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17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08/10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1" name="Moda image moda-export-watermark-f284008e-592a-436f-a22a-9b8782dd9a3e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3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ĐI</a:t>
            </a:r>
            <a:r>
              <a:rPr lang="en-US" sz="1950" b="1" spc="28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SÂU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3825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6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Sáu</a:t>
            </a:r>
            <a:r>
              <a:rPr lang="en-US" sz="6600" dirty="0" spc="2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điều</a:t>
            </a:r>
            <a:r>
              <a:rPr lang="en-US" sz="66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</a:t>
            </a:r>
            <a:r>
              <a:rPr lang="en-US" sz="66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endParaRPr lang="en-US" sz="6600" dirty="0"/>
          </a:p>
        </p:txBody>
      </p:sp>
      <p:sp>
        <p:nvSpPr>
          <p:cNvPr id="4" name="Shape 2"/>
          <p:cNvSpPr/>
          <p:nvPr/>
        </p:nvSpPr>
        <p:spPr>
          <a:xfrm>
            <a:off x="914400" y="2667000"/>
            <a:ext cx="16459200" cy="914400"/>
          </a:xfrm>
          <a:prstGeom prst="roundRect">
            <a:avLst>
              <a:gd name="adj" fmla="val 20833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3695700"/>
            <a:ext cx="16459200" cy="914400"/>
          </a:xfrm>
          <a:prstGeom prst="roundRect">
            <a:avLst>
              <a:gd name="adj" fmla="val 20833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4724400"/>
            <a:ext cx="16459200" cy="914400"/>
          </a:xfrm>
          <a:prstGeom prst="roundRect">
            <a:avLst>
              <a:gd name="adj" fmla="val 20833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14400" y="5753100"/>
            <a:ext cx="16459200" cy="914400"/>
          </a:xfrm>
          <a:prstGeom prst="roundRect">
            <a:avLst>
              <a:gd name="adj" fmla="val 20833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14400" y="6781800"/>
            <a:ext cx="16459200" cy="914400"/>
          </a:xfrm>
          <a:prstGeom prst="roundRect">
            <a:avLst>
              <a:gd name="adj" fmla="val 20833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14400" y="7810500"/>
            <a:ext cx="16459200" cy="914400"/>
          </a:xfrm>
          <a:prstGeom prst="roundRect">
            <a:avLst>
              <a:gd name="adj" fmla="val 20833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2667000"/>
            <a:ext cx="133350" cy="914400"/>
          </a:xfrm>
          <a:prstGeom prst="rect">
            <a:avLst/>
          </a:prstGeom>
          <a:solidFill>
            <a:srgbClr val="B45309"/>
          </a:solidFill>
          <a:ln/>
        </p:spPr>
      </p:sp>
      <p:sp>
        <p:nvSpPr>
          <p:cNvPr id="11" name="Shape 9"/>
          <p:cNvSpPr/>
          <p:nvPr/>
        </p:nvSpPr>
        <p:spPr>
          <a:xfrm>
            <a:off x="914400" y="3695700"/>
            <a:ext cx="133350" cy="914400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12" name="Shape 10"/>
          <p:cNvSpPr/>
          <p:nvPr/>
        </p:nvSpPr>
        <p:spPr>
          <a:xfrm>
            <a:off x="914400" y="4724400"/>
            <a:ext cx="133350" cy="914400"/>
          </a:xfrm>
          <a:prstGeom prst="rect">
            <a:avLst/>
          </a:prstGeom>
          <a:solidFill>
            <a:srgbClr val="E8472B"/>
          </a:solidFill>
          <a:ln/>
        </p:spPr>
      </p:sp>
      <p:sp>
        <p:nvSpPr>
          <p:cNvPr id="13" name="Shape 11"/>
          <p:cNvSpPr/>
          <p:nvPr/>
        </p:nvSpPr>
        <p:spPr>
          <a:xfrm>
            <a:off x="914400" y="5753100"/>
            <a:ext cx="133350" cy="914400"/>
          </a:xfrm>
          <a:prstGeom prst="rect">
            <a:avLst/>
          </a:prstGeom>
          <a:solidFill>
            <a:srgbClr val="E8472B"/>
          </a:solidFill>
          <a:ln/>
        </p:spPr>
      </p:sp>
      <p:sp>
        <p:nvSpPr>
          <p:cNvPr id="14" name="Shape 12"/>
          <p:cNvSpPr/>
          <p:nvPr/>
        </p:nvSpPr>
        <p:spPr>
          <a:xfrm>
            <a:off x="914400" y="6781800"/>
            <a:ext cx="133350" cy="914400"/>
          </a:xfrm>
          <a:prstGeom prst="rect">
            <a:avLst/>
          </a:prstGeom>
          <a:solidFill>
            <a:srgbClr val="1F3FD1"/>
          </a:solidFill>
          <a:ln/>
        </p:spPr>
      </p:sp>
      <p:sp>
        <p:nvSpPr>
          <p:cNvPr id="15" name="Shape 13"/>
          <p:cNvSpPr/>
          <p:nvPr/>
        </p:nvSpPr>
        <p:spPr>
          <a:xfrm>
            <a:off x="914400" y="7810500"/>
            <a:ext cx="133350" cy="914400"/>
          </a:xfrm>
          <a:prstGeom prst="rect">
            <a:avLst/>
          </a:prstGeom>
          <a:solidFill>
            <a:srgbClr val="1F3FD1"/>
          </a:solidFill>
          <a:ln/>
        </p:spPr>
      </p:sp>
      <p:sp>
        <p:nvSpPr>
          <p:cNvPr id="16" name="Text 14"/>
          <p:cNvSpPr/>
          <p:nvPr/>
        </p:nvSpPr>
        <p:spPr>
          <a:xfrm>
            <a:off x="1333500" y="2667000"/>
            <a:ext cx="5334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2" kern="0">
                <a:solidFill>
                  <a:srgbClr val="B45309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Mặc</a:t>
            </a:r>
            <a:r>
              <a:rPr lang="en-US" sz="2250" dirty="0" spc="11" kern="0">
                <a:solidFill>
                  <a:srgbClr val="B45309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định</a:t>
            </a:r>
            <a:endParaRPr lang="en-US" sz="2250" dirty="0"/>
          </a:p>
        </p:txBody>
      </p:sp>
      <p:sp>
        <p:nvSpPr>
          <p:cNvPr id="17" name="Text 15"/>
          <p:cNvSpPr/>
          <p:nvPr/>
        </p:nvSpPr>
        <p:spPr>
          <a:xfrm>
            <a:off x="6858000" y="2667000"/>
            <a:ext cx="10287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RollingUpdate;</a:t>
            </a:r>
            <a:r>
              <a:rPr lang="en-US" sz="22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maxSurge,</a:t>
            </a:r>
            <a:r>
              <a:rPr lang="en-US" sz="225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maxUnavailable</a:t>
            </a:r>
            <a:r>
              <a:rPr lang="en-US" sz="22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mặc</a:t>
            </a:r>
            <a:r>
              <a:rPr lang="en-US" sz="2250" dirty="0" spc="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22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25%.</a:t>
            </a:r>
            <a:endParaRPr lang="en-US" sz="2250" dirty="0"/>
          </a:p>
        </p:txBody>
      </p:sp>
      <p:sp>
        <p:nvSpPr>
          <p:cNvPr id="18" name="Text 16"/>
          <p:cNvSpPr/>
          <p:nvPr/>
        </p:nvSpPr>
        <p:spPr>
          <a:xfrm>
            <a:off x="1333500" y="3695700"/>
            <a:ext cx="5334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9" kern="0">
                <a:solidFill>
                  <a:srgbClr val="0F766E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minReadySeconds</a:t>
            </a:r>
            <a:endParaRPr lang="en-US" sz="2250" dirty="0"/>
          </a:p>
        </p:txBody>
      </p:sp>
      <p:sp>
        <p:nvSpPr>
          <p:cNvPr id="19" name="Text 17"/>
          <p:cNvSpPr/>
          <p:nvPr/>
        </p:nvSpPr>
        <p:spPr>
          <a:xfrm>
            <a:off x="6858000" y="3695700"/>
            <a:ext cx="10287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Pod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</a:t>
            </a:r>
            <a:r>
              <a:rPr lang="en-US" sz="22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sẵn sàng</a:t>
            </a: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liên</a:t>
            </a:r>
            <a:r>
              <a:rPr lang="en-US" sz="22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tục</a:t>
            </a:r>
            <a:r>
              <a:rPr lang="en-US" sz="2250" dirty="0" spc="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chừng</a:t>
            </a:r>
            <a:r>
              <a:rPr lang="en-US" sz="2250" dirty="0" spc="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đó</a:t>
            </a:r>
            <a:r>
              <a:rPr lang="en-US" sz="22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giây.</a:t>
            </a:r>
            <a:endParaRPr lang="en-US" sz="2250" dirty="0"/>
          </a:p>
        </p:txBody>
      </p:sp>
      <p:sp>
        <p:nvSpPr>
          <p:cNvPr id="20" name="Text 18"/>
          <p:cNvSpPr/>
          <p:nvPr/>
        </p:nvSpPr>
        <p:spPr>
          <a:xfrm>
            <a:off x="1333500" y="4724400"/>
            <a:ext cx="5334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5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progressDeadlineSeconds</a:t>
            </a:r>
            <a:endParaRPr lang="en-US" sz="2250" dirty="0"/>
          </a:p>
        </p:txBody>
      </p:sp>
      <p:sp>
        <p:nvSpPr>
          <p:cNvPr id="21" name="Text 19"/>
          <p:cNvSpPr/>
          <p:nvPr/>
        </p:nvSpPr>
        <p:spPr>
          <a:xfrm>
            <a:off x="6858000" y="4724400"/>
            <a:ext cx="10287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Chỉ</a:t>
            </a:r>
            <a:r>
              <a:rPr lang="en-US" sz="2250" dirty="0" spc="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225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phát</a:t>
            </a:r>
            <a:r>
              <a:rPr lang="en-US" sz="22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hiện;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250" dirty="0" spc="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dừng</a:t>
            </a:r>
            <a:r>
              <a:rPr lang="en-US" sz="22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hay</a:t>
            </a:r>
            <a:r>
              <a:rPr lang="en-US" sz="22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quay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lui.</a:t>
            </a:r>
            <a:endParaRPr lang="en-US" sz="2250" dirty="0"/>
          </a:p>
        </p:txBody>
      </p:sp>
      <p:sp>
        <p:nvSpPr>
          <p:cNvPr id="22" name="Text 20"/>
          <p:cNvSpPr/>
          <p:nvPr/>
        </p:nvSpPr>
        <p:spPr>
          <a:xfrm>
            <a:off x="1333500" y="5753100"/>
            <a:ext cx="5334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4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Quay</a:t>
            </a:r>
            <a:r>
              <a:rPr lang="en-US" sz="2250" dirty="0" spc="2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lui</a:t>
            </a:r>
            <a:endParaRPr lang="en-US" sz="2250" dirty="0"/>
          </a:p>
        </p:txBody>
      </p:sp>
      <p:sp>
        <p:nvSpPr>
          <p:cNvPr id="23" name="Text 21"/>
          <p:cNvSpPr/>
          <p:nvPr/>
        </p:nvSpPr>
        <p:spPr>
          <a:xfrm>
            <a:off x="6858000" y="5753100"/>
            <a:ext cx="10287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kubectl</a:t>
            </a:r>
            <a:r>
              <a:rPr lang="en-US" sz="225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rollout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undo;</a:t>
            </a:r>
            <a:r>
              <a:rPr lang="en-US" sz="22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history</a:t>
            </a:r>
            <a:r>
              <a:rPr lang="en-US" sz="225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xem</a:t>
            </a:r>
            <a:r>
              <a:rPr lang="en-US" sz="22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22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250" dirty="0" spc="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2250" dirty="0" spc="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lưu.</a:t>
            </a:r>
            <a:endParaRPr lang="en-US" sz="2250" dirty="0"/>
          </a:p>
        </p:txBody>
      </p:sp>
      <p:sp>
        <p:nvSpPr>
          <p:cNvPr id="24" name="Text 22"/>
          <p:cNvSpPr/>
          <p:nvPr/>
        </p:nvSpPr>
        <p:spPr>
          <a:xfrm>
            <a:off x="1333500" y="6781800"/>
            <a:ext cx="5334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20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Recreate</a:t>
            </a:r>
            <a:endParaRPr lang="en-US" sz="2250" dirty="0"/>
          </a:p>
        </p:txBody>
      </p:sp>
      <p:sp>
        <p:nvSpPr>
          <p:cNvPr id="25" name="Text 23"/>
          <p:cNvSpPr/>
          <p:nvPr/>
        </p:nvSpPr>
        <p:spPr>
          <a:xfrm>
            <a:off x="6858000" y="6781800"/>
            <a:ext cx="10287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Hợp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2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phiên</a:t>
            </a:r>
            <a:r>
              <a:rPr lang="en-US" sz="22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2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2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cùng</a:t>
            </a:r>
            <a:r>
              <a:rPr lang="en-US" sz="225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lúc.</a:t>
            </a:r>
            <a:endParaRPr lang="en-US" sz="2250" dirty="0"/>
          </a:p>
        </p:txBody>
      </p:sp>
      <p:sp>
        <p:nvSpPr>
          <p:cNvPr id="26" name="Text 24"/>
          <p:cNvSpPr/>
          <p:nvPr/>
        </p:nvSpPr>
        <p:spPr>
          <a:xfrm>
            <a:off x="1333500" y="7810500"/>
            <a:ext cx="5334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0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Chia</a:t>
            </a:r>
            <a:r>
              <a:rPr lang="en-US" sz="2250" dirty="0" spc="-14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traffic</a:t>
            </a:r>
            <a:r>
              <a:rPr lang="en-US" sz="2250" dirty="0" spc="-2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theo</a:t>
            </a:r>
            <a:r>
              <a:rPr lang="en-US" sz="2250" dirty="0" spc="4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%</a:t>
            </a:r>
            <a:endParaRPr lang="en-US" sz="2250" dirty="0"/>
          </a:p>
        </p:txBody>
      </p:sp>
      <p:sp>
        <p:nvSpPr>
          <p:cNvPr id="27" name="Text 25"/>
          <p:cNvSpPr/>
          <p:nvPr/>
        </p:nvSpPr>
        <p:spPr>
          <a:xfrm>
            <a:off x="6858000" y="7810500"/>
            <a:ext cx="10287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Cần</a:t>
            </a:r>
            <a:r>
              <a:rPr lang="en-US" sz="22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lớp</a:t>
            </a:r>
            <a:r>
              <a:rPr lang="en-US" sz="2250" dirty="0" spc="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225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tuyến</a:t>
            </a:r>
            <a:r>
              <a:rPr lang="en-US" sz="22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</a:t>
            </a:r>
            <a:r>
              <a:rPr lang="en-US" sz="2250" dirty="0" spc="-2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Argo</a:t>
            </a:r>
            <a:r>
              <a:rPr lang="en-US" sz="22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Rollouts,</a:t>
            </a:r>
            <a:r>
              <a:rPr lang="en-US" sz="22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Flagger.</a:t>
            </a:r>
            <a:endParaRPr lang="en-US" sz="2250" dirty="0"/>
          </a:p>
        </p:txBody>
      </p:sp>
      <p:sp>
        <p:nvSpPr>
          <p:cNvPr id="28" name="Shape 26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9" name="Shape 27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30" name="Shape 28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31" name="Shape 29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32" name="Shape 30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33" name="Shape 31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34" name="Shape 32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35" name="Shape 33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36" name="Shape 34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37" name="Shape 35"/>
          <p:cNvSpPr/>
          <p:nvPr/>
        </p:nvSpPr>
        <p:spPr>
          <a:xfrm>
            <a:off x="31813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38" name="Text 36"/>
          <p:cNvSpPr/>
          <p:nvPr/>
        </p:nvSpPr>
        <p:spPr>
          <a:xfrm>
            <a:off x="36957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17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09/10</a:t>
            </a:r>
            <a:endParaRPr lang="en-US" sz="1800" dirty="0"/>
          </a:p>
        </p:txBody>
      </p:sp>
      <p:sp>
        <p:nvSpPr>
          <p:cNvPr id="39" name="Shape 3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0" name="Moda image moda-export-watermark-41172fb2-3016-49d7-808b-24f1d6c16ea2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5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THUẬT</a:t>
            </a:r>
            <a:r>
              <a:rPr lang="en-US" sz="195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1950" b="1" spc="24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950" dirty="0"/>
          </a:p>
        </p:txBody>
      </p:sp>
      <p:sp>
        <p:nvSpPr>
          <p:cNvPr id="3" name="Shape 1"/>
          <p:cNvSpPr/>
          <p:nvPr/>
        </p:nvSpPr>
        <p:spPr>
          <a:xfrm>
            <a:off x="914400" y="1428750"/>
            <a:ext cx="5257800" cy="1619250"/>
          </a:xfrm>
          <a:prstGeom prst="roundRect">
            <a:avLst>
              <a:gd name="adj" fmla="val 16471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238250" y="1428750"/>
            <a:ext cx="4610100" cy="161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RollingUpdate</a:t>
            </a:r>
            <a:r>
              <a:rPr lang="en-US" sz="24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= mặc</a:t>
            </a:r>
            <a:r>
              <a:rPr lang="en-US" sz="2400" b="1" dirty="0" spc="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240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400" b="1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Deployment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6515100" y="1428750"/>
            <a:ext cx="5257800" cy="1619250"/>
          </a:xfrm>
          <a:prstGeom prst="roundRect">
            <a:avLst>
              <a:gd name="adj" fmla="val 16471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38950" y="1428750"/>
            <a:ext cx="4610100" cy="161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 spc="-3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Recreate</a:t>
            </a:r>
            <a:r>
              <a:rPr lang="en-US" sz="240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=</a:t>
            </a:r>
            <a:r>
              <a:rPr lang="en-US" sz="2400" b="1" dirty="0" spc="2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dừng</a:t>
            </a:r>
            <a:r>
              <a:rPr lang="en-US" sz="2400" b="1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hết</a:t>
            </a:r>
            <a:r>
              <a:rPr lang="en-US" sz="2400" b="1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rồi</a:t>
            </a:r>
            <a:r>
              <a:rPr lang="en-US" sz="2400" b="1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4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40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12115800" y="1428750"/>
            <a:ext cx="5257800" cy="1619250"/>
          </a:xfrm>
          <a:prstGeom prst="roundRect">
            <a:avLst>
              <a:gd name="adj" fmla="val 16471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2439650" y="1428750"/>
            <a:ext cx="4610100" cy="161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readiness</a:t>
            </a:r>
            <a:r>
              <a:rPr lang="en-US" sz="2400" b="1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probe</a:t>
            </a:r>
            <a:r>
              <a:rPr lang="en-US" sz="240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=</a:t>
            </a:r>
            <a:r>
              <a:rPr lang="en-US" sz="2400" b="1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Pod</a:t>
            </a:r>
            <a:r>
              <a:rPr lang="en-US" sz="240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</a:t>
            </a:r>
            <a:r>
              <a:rPr lang="en-US" sz="24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4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sẵn</a:t>
            </a:r>
            <a:r>
              <a:rPr lang="en-US" sz="24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sàng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914400" y="38100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1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 ĐỐI</a:t>
            </a:r>
            <a:r>
              <a:rPr lang="en-US" sz="1950" b="1" spc="300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950" dirty="0"/>
          </a:p>
        </p:txBody>
      </p:sp>
      <p:sp>
        <p:nvSpPr>
          <p:cNvPr id="10" name="Text 8"/>
          <p:cNvSpPr/>
          <p:nvPr/>
        </p:nvSpPr>
        <p:spPr>
          <a:xfrm>
            <a:off x="914400" y="4476750"/>
            <a:ext cx="5257800" cy="104775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 spc="-5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ByteByteGo</a:t>
            </a:r>
            <a:r>
              <a:rPr lang="en-US" sz="2100" dirty="0" spc="0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(bản chụp</a:t>
            </a:r>
            <a:r>
              <a:rPr lang="en-US" sz="2100" dirty="0" spc="-5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cố</a:t>
            </a:r>
            <a:r>
              <a:rPr lang="en-US" sz="2100" dirty="0" spc="12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định)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6515100" y="4476750"/>
            <a:ext cx="5257800" cy="104775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 spc="-14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Deployment</a:t>
            </a:r>
            <a:endParaRPr lang="en-US" sz="2100" dirty="0"/>
          </a:p>
        </p:txBody>
      </p:sp>
      <p:sp>
        <p:nvSpPr>
          <p:cNvPr id="12" name="Text 10"/>
          <p:cNvSpPr/>
          <p:nvPr/>
        </p:nvSpPr>
        <p:spPr>
          <a:xfrm>
            <a:off x="12115800" y="4476750"/>
            <a:ext cx="5257800" cy="104775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 spc="-22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Argo</a:t>
            </a:r>
            <a:r>
              <a:rPr lang="en-US" sz="2100" dirty="0" spc="-18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Rollouts</a:t>
            </a:r>
            <a:endParaRPr lang="en-US" sz="2100" dirty="0"/>
          </a:p>
        </p:txBody>
      </p:sp>
      <p:sp>
        <p:nvSpPr>
          <p:cNvPr id="13" name="Text 11"/>
          <p:cNvSpPr/>
          <p:nvPr/>
        </p:nvSpPr>
        <p:spPr>
          <a:xfrm>
            <a:off x="914400" y="5810250"/>
            <a:ext cx="5257800" cy="104775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 spc="-11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Flagger</a:t>
            </a:r>
            <a:endParaRPr lang="en-US" sz="2100" dirty="0"/>
          </a:p>
        </p:txBody>
      </p:sp>
      <p:sp>
        <p:nvSpPr>
          <p:cNvPr id="14" name="Shape 12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5" name="Shape 13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6" name="Shape 14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7" name="Shape 15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8" name="Shape 16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9" name="Shape 17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20" name="Shape 18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21" name="Shape 19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22" name="Shape 20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23" name="Shape 21"/>
          <p:cNvSpPr/>
          <p:nvPr/>
        </p:nvSpPr>
        <p:spPr>
          <a:xfrm>
            <a:off x="3181350" y="9563100"/>
            <a:ext cx="152400" cy="1524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24" name="Text 22"/>
          <p:cNvSpPr/>
          <p:nvPr/>
        </p:nvSpPr>
        <p:spPr>
          <a:xfrm>
            <a:off x="36957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17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10/10</a:t>
            </a:r>
            <a:endParaRPr lang="en-US" sz="1800" dirty="0"/>
          </a:p>
        </p:txBody>
      </p:sp>
      <p:sp>
        <p:nvSpPr>
          <p:cNvPr id="25" name="Shape 2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6" name="Moda image moda-export-watermark-f35ca81d-6e5e-442f-8773-0cbbffa2cbed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2026-10-19T12:34:33Z</dcterms:created>
  <dcterms:modified xsi:type="dcterms:W3CDTF">2026-10-19T12:34:33Z</dcterms:modified>
</cp:coreProperties>
</file>