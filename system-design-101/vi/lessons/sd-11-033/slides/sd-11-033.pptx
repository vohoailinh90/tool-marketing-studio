
<file path=[Content_Types].xml><?xml version="1.0" encoding="utf-8"?>
<Types xmlns="http://schemas.openxmlformats.org/package/2006/content-types">
  <Default Extension="fntdata" ContentType="application/x-fontdata"/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false" autoCompressPictures="0" embedTrueTypeFonts="true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</p:sldIdLst>
  <p:notesMasterIdLst>
    <p:notesMasterId r:id="rId11"/>
  </p:notesMasterIdLst>
  <p:sldSz cx="18288000" cy="10287000"/>
  <p:notesSz cx="10287000" cy="18288000"/>
  <p:embeddedFontLst>
    <p:embeddedFont>
      <p:font typeface="Be Vietnam Pro"/>
      <p:regular r:id="rId18"/>
      <p:bold r:id="rId16"/>
    </p:embeddedFont>
    <p:embeddedFont>
      <p:font typeface="Bricolage Grotesque ExtraBold"/>
      <p:regular r:id="rId17"/>
    </p:embeddedFont>
    <p:embeddedFont>
      <p:font typeface="Bricolage Grotesque"/>
      <p:bold r:id="rId19"/>
    </p:embeddedFont>
    <p:embeddedFont>
      <p:font typeface="Be Vietnam Pro SemiBold"/>
      <p:regular r:id="rId20"/>
    </p:embeddedFont>
  </p:embeddedFontLst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notesMaster" Target="notesMasters/notesMaster1.xml"/><Relationship Id="rId12" Type="http://schemas.openxmlformats.org/officeDocument/2006/relationships/presProps" Target="presProps.xml"/><Relationship Id="rId13" Type="http://schemas.openxmlformats.org/officeDocument/2006/relationships/viewProps" Target="viewProps.xml"/><Relationship Id="rId14" Type="http://schemas.openxmlformats.org/officeDocument/2006/relationships/theme" Target="theme/theme1.xml"/><Relationship Id="rId15" Type="http://schemas.openxmlformats.org/officeDocument/2006/relationships/tableStyles" Target="tableStyles.xml"/><Relationship Id="rId16" Type="http://schemas.openxmlformats.org/officeDocument/2006/relationships/font" Target="fonts/font1.fntdata"/><Relationship Id="rId17" Type="http://schemas.openxmlformats.org/officeDocument/2006/relationships/font" Target="fonts/font2.fntdata"/><Relationship Id="rId18" Type="http://schemas.openxmlformats.org/officeDocument/2006/relationships/font" Target="fonts/font3.fntdata"/><Relationship Id="rId19" Type="http://schemas.openxmlformats.org/officeDocument/2006/relationships/font" Target="fonts/font4.fntdata"/><Relationship Id="rId20" Type="http://schemas.openxmlformats.org/officeDocument/2006/relationships/font" Target="fonts/font5.fntdata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416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952500"/>
            <a:ext cx="95250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275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800" b="1" spc="299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800" b="1" spc="301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800" b="1" spc="300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b="1" spc="295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800" b="1" spc="300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33</a:t>
            </a:r>
            <a:endParaRPr lang="en-US" sz="1800" dirty="0"/>
          </a:p>
        </p:txBody>
      </p:sp>
      <p:sp>
        <p:nvSpPr>
          <p:cNvPr id="3" name="Text 1"/>
          <p:cNvSpPr/>
          <p:nvPr/>
        </p:nvSpPr>
        <p:spPr>
          <a:xfrm>
            <a:off x="914400" y="1619250"/>
            <a:ext cx="10096500" cy="4572000"/>
          </a:xfrm>
          <a:prstGeom prst="rect">
            <a:avLst/>
          </a:prstGeom>
          <a:noFill/>
          <a:ln/>
        </p:spPr>
        <p:txBody>
          <a:bodyPr wrap="square" lIns="0" tIns="50292" rIns="0" bIns="-50292" rtlCol="0" anchor="t"/>
          <a:lstStyle/>
          <a:p>
            <a:pPr algn="l" indent="0" marL="0">
              <a:lnSpc>
                <a:spcPts val="7128"/>
              </a:lnSpc>
              <a:buNone/>
            </a:pPr>
            <a:r>
              <a:rPr lang="en-US" sz="6600" dirty="0" spc="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Học</a:t>
            </a:r>
            <a:r>
              <a:rPr lang="en-US" sz="6600" dirty="0" spc="-14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AWS</a:t>
            </a:r>
            <a:r>
              <a:rPr lang="en-US" sz="6600" dirty="0" spc="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từ</a:t>
            </a:r>
            <a:r>
              <a:rPr lang="en-US" sz="6600" dirty="0" spc="8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đâu:</a:t>
            </a:r>
            <a:r>
              <a:rPr lang="en-US" sz="6600" dirty="0" spc="0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nhóm</a:t>
            </a:r>
            <a:r>
              <a:rPr lang="en-US" sz="6600" dirty="0" spc="-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dịch</a:t>
            </a:r>
            <a:r>
              <a:rPr lang="en-US" sz="6600" dirty="0" spc="0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vụ</a:t>
            </a:r>
            <a:r>
              <a:rPr lang="en-US" sz="6600" dirty="0" spc="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nền</a:t>
            </a:r>
            <a:r>
              <a:rPr lang="en-US" sz="6600" dirty="0" spc="16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tảng,</a:t>
            </a:r>
            <a:r>
              <a:rPr lang="en-US" sz="6600" dirty="0" spc="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dữ</a:t>
            </a:r>
            <a:r>
              <a:rPr lang="en-US" sz="6600" dirty="0" spc="-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liệu, nhắn tin</a:t>
            </a:r>
            <a:r>
              <a:rPr lang="en-US" sz="6600" dirty="0" spc="-7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và</a:t>
            </a:r>
            <a:r>
              <a:rPr lang="en-US" sz="6600" dirty="0" spc="-54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vận</a:t>
            </a:r>
            <a:r>
              <a:rPr lang="en-US" sz="6600" dirty="0" spc="-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hành</a:t>
            </a:r>
            <a:endParaRPr lang="en-US" sz="6600" dirty="0"/>
          </a:p>
        </p:txBody>
      </p:sp>
      <p:sp>
        <p:nvSpPr>
          <p:cNvPr id="4" name="Text 2"/>
          <p:cNvSpPr/>
          <p:nvPr/>
        </p:nvSpPr>
        <p:spPr>
          <a:xfrm>
            <a:off x="914400" y="6858000"/>
            <a:ext cx="9525000" cy="533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000" dirty="0" spc="-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Hàng</a:t>
            </a:r>
            <a:r>
              <a:rPr lang="en-US" sz="3000" dirty="0" spc="-24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trăm</a:t>
            </a:r>
            <a:r>
              <a:rPr lang="en-US" sz="3000" dirty="0" spc="3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dịch</a:t>
            </a:r>
            <a:r>
              <a:rPr lang="en-US" sz="3000" dirty="0" spc="0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vụ,</a:t>
            </a:r>
            <a:r>
              <a:rPr lang="en-US" sz="3000" dirty="0" spc="-14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vài</a:t>
            </a:r>
            <a:r>
              <a:rPr lang="en-US" sz="3000" dirty="0" spc="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nhóm</a:t>
            </a:r>
            <a:r>
              <a:rPr lang="en-US" sz="3000" dirty="0" spc="-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cần</a:t>
            </a:r>
            <a:r>
              <a:rPr lang="en-US" sz="3000" dirty="0" spc="-4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biết.</a:t>
            </a:r>
            <a:endParaRPr lang="en-US" sz="3000" dirty="0"/>
          </a:p>
        </p:txBody>
      </p:sp>
      <p:sp>
        <p:nvSpPr>
          <p:cNvPr id="5" name="Connector line-1792423663963-731486321"/>
          <p:cNvSpPr/>
          <p:nvPr/>
        </p:nvSpPr>
        <p:spPr>
          <a:xfrm>
            <a:off x="914400" y="7715250"/>
            <a:ext cx="9525000" cy="0"/>
          </a:xfrm>
          <a:prstGeom prst="line">
            <a:avLst/>
          </a:prstGeom>
          <a:noFill/>
          <a:ln w="19050">
            <a:solidFill>
              <a:srgbClr val="2A2E3B"/>
            </a:solidFill>
            <a:prstDash val="solid"/>
            <a:headEnd type="none"/>
            <a:tailEnd type="none"/>
          </a:ln>
        </p:spPr>
      </p:sp>
      <p:sp>
        <p:nvSpPr>
          <p:cNvPr id="6" name="Text 4"/>
          <p:cNvSpPr/>
          <p:nvPr/>
        </p:nvSpPr>
        <p:spPr>
          <a:xfrm>
            <a:off x="914400" y="7962900"/>
            <a:ext cx="95250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100" dirty="0" spc="-8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Một</a:t>
            </a:r>
            <a:r>
              <a:rPr lang="en-US" sz="2100" dirty="0" spc="-5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bản</a:t>
            </a:r>
            <a:r>
              <a:rPr lang="en-US" sz="2100" dirty="0" spc="1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đồ</a:t>
            </a:r>
            <a:r>
              <a:rPr lang="en-US" sz="2100" dirty="0" spc="-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nhóm</a:t>
            </a:r>
            <a:r>
              <a:rPr lang="en-US" sz="2100" dirty="0" spc="-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dịch</a:t>
            </a:r>
            <a:r>
              <a:rPr lang="en-US" sz="2100" dirty="0" spc="-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vụ</a:t>
            </a:r>
            <a:r>
              <a:rPr lang="en-US" sz="2100" dirty="0" spc="-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cho</a:t>
            </a:r>
            <a:r>
              <a:rPr lang="en-US" sz="2100" dirty="0" spc="5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người</a:t>
            </a:r>
            <a:r>
              <a:rPr lang="en-US" sz="2100" dirty="0" spc="-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mới.</a:t>
            </a:r>
            <a:endParaRPr lang="en-US" sz="2100" dirty="0"/>
          </a:p>
        </p:txBody>
      </p:sp>
      <p:sp>
        <p:nvSpPr>
          <p:cNvPr id="7" name="Text 5"/>
          <p:cNvSpPr/>
          <p:nvPr/>
        </p:nvSpPr>
        <p:spPr>
          <a:xfrm>
            <a:off x="914400" y="9715500"/>
            <a:ext cx="8572500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6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system-design-101</a:t>
            </a:r>
            <a:r>
              <a:rPr lang="en-US" sz="1650" dirty="0" spc="4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nhóm</a:t>
            </a:r>
            <a:r>
              <a:rPr lang="en-US" sz="1650" dirty="0" spc="1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đám</a:t>
            </a:r>
            <a:r>
              <a:rPr lang="en-US" sz="1650" dirty="0" spc="-5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mây</a:t>
            </a:r>
            <a:r>
              <a:rPr lang="en-US" sz="1650" dirty="0" spc="-9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1650" dirty="0" spc="3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hệ</a:t>
            </a:r>
            <a:r>
              <a:rPr lang="en-US" sz="165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thống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phân</a:t>
            </a:r>
            <a:r>
              <a:rPr lang="en-US" sz="1650" dirty="0" spc="-6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tán</a:t>
            </a:r>
            <a:endParaRPr lang="en-US" sz="1650" dirty="0"/>
          </a:p>
        </p:txBody>
      </p:sp>
      <p:sp>
        <p:nvSpPr>
          <p:cNvPr id="8" name="Text 6"/>
          <p:cNvSpPr/>
          <p:nvPr/>
        </p:nvSpPr>
        <p:spPr>
          <a:xfrm>
            <a:off x="10991850" y="4419600"/>
            <a:ext cx="1447800" cy="1447800"/>
          </a:xfrm>
          <a:prstGeom prst="ellipse">
            <a:avLst/>
          </a:prstGeom>
          <a:solidFill>
            <a:srgbClr val="F3EEE3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550" b="1" dirty="0" spc="-77" kern="0">
                <a:solidFill>
                  <a:srgbClr val="14161C"/>
                </a:solidFill>
                <a:latin typeface="Bricolage Grotesque" pitchFamily="34" charset="0"/>
                <a:ea typeface="Bricolage Grotesque" pitchFamily="34" charset="-122"/>
                <a:cs typeface="Bricolage Grotesque" pitchFamily="34" charset="-120"/>
              </a:rPr>
              <a:t>AWS</a:t>
            </a:r>
            <a:endParaRPr lang="en-US" sz="2550" dirty="0"/>
          </a:p>
        </p:txBody>
      </p:sp>
      <p:sp>
        <p:nvSpPr>
          <p:cNvPr id="9" name="Text 7"/>
          <p:cNvSpPr/>
          <p:nvPr/>
        </p:nvSpPr>
        <p:spPr>
          <a:xfrm>
            <a:off x="13335000" y="3143250"/>
            <a:ext cx="4000500" cy="723900"/>
          </a:xfrm>
          <a:prstGeom prst="roundRect">
            <a:avLst>
              <a:gd name="adj" fmla="val 50000"/>
            </a:avLst>
          </a:prstGeom>
          <a:solidFill>
            <a:srgbClr val="1E212B"/>
          </a:solidFill>
          <a:ln w="28575">
            <a:solidFill>
              <a:srgbClr val="FFB454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 spc="-3" kern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Điều</a:t>
            </a:r>
            <a:r>
              <a:rPr lang="en-US" sz="2100" b="1" dirty="0" spc="-5" kern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nguồn nói</a:t>
            </a:r>
            <a:endParaRPr lang="en-US" sz="2100" dirty="0"/>
          </a:p>
        </p:txBody>
      </p:sp>
      <p:sp>
        <p:nvSpPr>
          <p:cNvPr id="10" name="Text 8"/>
          <p:cNvSpPr/>
          <p:nvPr/>
        </p:nvSpPr>
        <p:spPr>
          <a:xfrm>
            <a:off x="13335000" y="4381500"/>
            <a:ext cx="4000500" cy="723900"/>
          </a:xfrm>
          <a:prstGeom prst="roundRect">
            <a:avLst>
              <a:gd name="adj" fmla="val 50000"/>
            </a:avLst>
          </a:prstGeom>
          <a:solidFill>
            <a:srgbClr val="1E212B"/>
          </a:solidFill>
          <a:ln w="28575">
            <a:solidFill>
              <a:srgbClr val="3DD6A0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 spc="-8" kern="0">
                <a:solidFill>
                  <a:srgbClr val="3DD6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Nền</a:t>
            </a:r>
            <a:r>
              <a:rPr lang="en-US" sz="2100" b="1" dirty="0" spc="-5" kern="0">
                <a:solidFill>
                  <a:srgbClr val="3DD6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tảng</a:t>
            </a:r>
            <a:endParaRPr lang="en-US" sz="2100" dirty="0"/>
          </a:p>
        </p:txBody>
      </p:sp>
      <p:sp>
        <p:nvSpPr>
          <p:cNvPr id="11" name="Text 9"/>
          <p:cNvSpPr/>
          <p:nvPr/>
        </p:nvSpPr>
        <p:spPr>
          <a:xfrm>
            <a:off x="13335000" y="5619750"/>
            <a:ext cx="4000500" cy="723900"/>
          </a:xfrm>
          <a:prstGeom prst="roundRect">
            <a:avLst>
              <a:gd name="adj" fmla="val 50000"/>
            </a:avLst>
          </a:prstGeom>
          <a:solidFill>
            <a:srgbClr val="1E212B"/>
          </a:solidFill>
          <a:ln w="28575">
            <a:solidFill>
              <a:srgbClr val="FF6A4D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 spc="1" kern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Dữ</a:t>
            </a:r>
            <a:r>
              <a:rPr lang="en-US" sz="2100" b="1" dirty="0" spc="-1" kern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liệu,</a:t>
            </a:r>
            <a:r>
              <a:rPr lang="en-US" sz="2100" b="1" dirty="0" spc="1" kern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nhắn</a:t>
            </a:r>
            <a:r>
              <a:rPr lang="en-US" sz="2100" b="1" dirty="0" spc="-1" kern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tin</a:t>
            </a:r>
            <a:endParaRPr lang="en-US" sz="2100" dirty="0"/>
          </a:p>
        </p:txBody>
      </p:sp>
      <p:sp>
        <p:nvSpPr>
          <p:cNvPr id="12" name="Text 10"/>
          <p:cNvSpPr/>
          <p:nvPr/>
        </p:nvSpPr>
        <p:spPr>
          <a:xfrm>
            <a:off x="13335000" y="6858000"/>
            <a:ext cx="4000500" cy="723900"/>
          </a:xfrm>
          <a:prstGeom prst="roundRect">
            <a:avLst>
              <a:gd name="adj" fmla="val 50000"/>
            </a:avLst>
          </a:prstGeom>
          <a:solidFill>
            <a:srgbClr val="1E212B"/>
          </a:solidFill>
          <a:ln w="28575">
            <a:solidFill>
              <a:srgbClr val="7C93FF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 spc="-36" kern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Vận</a:t>
            </a:r>
            <a:r>
              <a:rPr lang="en-US" sz="2100" b="1" dirty="0" spc="1" kern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hành,</a:t>
            </a:r>
            <a:r>
              <a:rPr lang="en-US" sz="2100" b="1" dirty="0" spc="-2" kern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nâng</a:t>
            </a:r>
            <a:r>
              <a:rPr lang="en-US" sz="2100" b="1" dirty="0" spc="-5" kern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cao</a:t>
            </a:r>
            <a:endParaRPr lang="en-US" sz="2100" dirty="0"/>
          </a:p>
        </p:txBody>
      </p:sp>
      <p:sp>
        <p:nvSpPr>
          <p:cNvPr id="13" name="Connector line-1792423663986-775716391"/>
          <p:cNvSpPr/>
          <p:nvPr/>
        </p:nvSpPr>
        <p:spPr>
          <a:xfrm flipV="1">
            <a:off x="12439650" y="3505200"/>
            <a:ext cx="895350" cy="1638300"/>
          </a:xfrm>
          <a:prstGeom prst="curvedConnector3">
            <a:avLst/>
          </a:prstGeom>
          <a:noFill/>
          <a:ln w="47625">
            <a:solidFill>
              <a:srgbClr val="FFB454"/>
            </a:solidFill>
            <a:prstDash val="solid"/>
            <a:headEnd type="none"/>
            <a:tailEnd type="none"/>
          </a:ln>
        </p:spPr>
      </p:sp>
      <p:sp>
        <p:nvSpPr>
          <p:cNvPr id="14" name="Connector line-1792423663986-237109587"/>
          <p:cNvSpPr/>
          <p:nvPr/>
        </p:nvSpPr>
        <p:spPr>
          <a:xfrm flipV="1">
            <a:off x="12439650" y="4743450"/>
            <a:ext cx="895350" cy="400050"/>
          </a:xfrm>
          <a:prstGeom prst="curvedConnector3">
            <a:avLst/>
          </a:prstGeom>
          <a:noFill/>
          <a:ln w="47625">
            <a:solidFill>
              <a:srgbClr val="3DD6A0"/>
            </a:solidFill>
            <a:prstDash val="solid"/>
            <a:headEnd type="none"/>
            <a:tailEnd type="none"/>
          </a:ln>
        </p:spPr>
      </p:sp>
      <p:sp>
        <p:nvSpPr>
          <p:cNvPr id="15" name="Connector line-1792423663987-288549268"/>
          <p:cNvSpPr/>
          <p:nvPr/>
        </p:nvSpPr>
        <p:spPr>
          <a:xfrm>
            <a:off x="12439650" y="5143500"/>
            <a:ext cx="895350" cy="838200"/>
          </a:xfrm>
          <a:prstGeom prst="curvedConnector3">
            <a:avLst/>
          </a:prstGeom>
          <a:noFill/>
          <a:ln w="47625">
            <a:solidFill>
              <a:srgbClr val="FF6A4D"/>
            </a:solidFill>
            <a:prstDash val="solid"/>
            <a:headEnd type="none"/>
            <a:tailEnd type="none"/>
          </a:ln>
        </p:spPr>
      </p:sp>
      <p:sp>
        <p:nvSpPr>
          <p:cNvPr id="16" name="Connector line-1792423663987-580784664"/>
          <p:cNvSpPr/>
          <p:nvPr/>
        </p:nvSpPr>
        <p:spPr>
          <a:xfrm>
            <a:off x="12439650" y="5143500"/>
            <a:ext cx="895350" cy="2076450"/>
          </a:xfrm>
          <a:prstGeom prst="curvedConnector3">
            <a:avLst/>
          </a:prstGeom>
          <a:noFill/>
          <a:ln w="47625">
            <a:solidFill>
              <a:srgbClr val="7C93FF"/>
            </a:solidFill>
            <a:prstDash val="solid"/>
            <a:headEnd type="none"/>
            <a:tailEnd type="none"/>
          </a:ln>
        </p:spPr>
      </p:sp>
      <p:sp>
        <p:nvSpPr>
          <p:cNvPr id="17" name="Shape 15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18" name="Moda image moda-export-watermark-cb62d821-29d3-471a-b742-d13d2c441c18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3EE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952500"/>
            <a:ext cx="142875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300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TÌNH</a:t>
            </a:r>
            <a:r>
              <a:rPr lang="en-US" sz="1800" b="1" spc="301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HUỐNG</a:t>
            </a:r>
            <a:r>
              <a:rPr lang="en-US" sz="1800" b="1" spc="254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1800" b="1" spc="303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MỤC</a:t>
            </a:r>
            <a:r>
              <a:rPr lang="en-US" sz="1800" b="1" spc="300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TIÊU</a:t>
            </a:r>
            <a:endParaRPr lang="en-US" sz="1800" dirty="0"/>
          </a:p>
        </p:txBody>
      </p:sp>
      <p:sp>
        <p:nvSpPr>
          <p:cNvPr id="3" name="Shape 1"/>
          <p:cNvSpPr/>
          <p:nvPr/>
        </p:nvSpPr>
        <p:spPr>
          <a:xfrm>
            <a:off x="914400" y="2476500"/>
            <a:ext cx="114300" cy="4191000"/>
          </a:xfrm>
          <a:prstGeom prst="roundRect">
            <a:avLst>
              <a:gd name="adj" fmla="val 50000"/>
            </a:avLst>
          </a:prstGeom>
          <a:solidFill>
            <a:srgbClr val="B45309"/>
          </a:solidFill>
          <a:ln/>
        </p:spPr>
      </p:sp>
      <p:sp>
        <p:nvSpPr>
          <p:cNvPr id="4" name="Text 2"/>
          <p:cNvSpPr/>
          <p:nvPr/>
        </p:nvSpPr>
        <p:spPr>
          <a:xfrm>
            <a:off x="1428750" y="2381250"/>
            <a:ext cx="15240000" cy="2857500"/>
          </a:xfrm>
          <a:prstGeom prst="rect">
            <a:avLst/>
          </a:prstGeom>
          <a:noFill/>
          <a:ln/>
        </p:spPr>
        <p:txBody>
          <a:bodyPr wrap="square" lIns="0" tIns="59436" rIns="0" bIns="-59436" rtlCol="0" anchor="t"/>
          <a:lstStyle/>
          <a:p>
            <a:pPr algn="l" indent="0" marL="0">
              <a:lnSpc>
                <a:spcPts val="8424"/>
              </a:lnSpc>
              <a:buNone/>
            </a:pPr>
            <a:r>
              <a:rPr lang="en-US" sz="7800" dirty="0" spc="-4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Không</a:t>
            </a:r>
            <a:r>
              <a:rPr lang="en-US" sz="7800" dirty="0" spc="-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cần</a:t>
            </a:r>
            <a:r>
              <a:rPr lang="en-US" sz="7800" dirty="0" spc="-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học</a:t>
            </a:r>
            <a:r>
              <a:rPr lang="en-US" sz="7800" dirty="0" spc="-3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hết</a:t>
            </a:r>
            <a:r>
              <a:rPr lang="en-US" sz="7800" dirty="0" spc="-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hàng</a:t>
            </a:r>
            <a:r>
              <a:rPr lang="en-US" sz="7800" dirty="0" spc="-3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trăm</a:t>
            </a:r>
            <a:r>
              <a:rPr lang="en-US" sz="7800" dirty="0" spc="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dịch</a:t>
            </a:r>
            <a:r>
              <a:rPr lang="en-US" sz="7800" dirty="0" spc="-9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vụ.</a:t>
            </a:r>
            <a:endParaRPr lang="en-US" sz="7800" dirty="0"/>
          </a:p>
        </p:txBody>
      </p:sp>
      <p:sp>
        <p:nvSpPr>
          <p:cNvPr id="5" name="Text 3"/>
          <p:cNvSpPr/>
          <p:nvPr/>
        </p:nvSpPr>
        <p:spPr>
          <a:xfrm>
            <a:off x="1428750" y="5905500"/>
            <a:ext cx="1428750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300" dirty="0" spc="-10" kern="0">
                <a:solidFill>
                  <a:srgbClr val="3A3A37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Biết</a:t>
            </a:r>
            <a:r>
              <a:rPr lang="en-US" sz="3300" dirty="0" spc="-2" kern="0">
                <a:solidFill>
                  <a:srgbClr val="3A3A37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mỗi</a:t>
            </a:r>
            <a:r>
              <a:rPr lang="en-US" sz="3300" dirty="0" spc="-1" kern="0">
                <a:solidFill>
                  <a:srgbClr val="3A3A37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nhóm</a:t>
            </a:r>
            <a:r>
              <a:rPr lang="en-US" sz="3300" dirty="0" spc="-2" kern="0">
                <a:solidFill>
                  <a:srgbClr val="3A3A37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giải</a:t>
            </a:r>
            <a:r>
              <a:rPr lang="en-US" sz="3300" dirty="0" spc="-5" kern="0">
                <a:solidFill>
                  <a:srgbClr val="3A3A37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việc</a:t>
            </a:r>
            <a:r>
              <a:rPr lang="en-US" sz="3300" dirty="0" spc="-2" kern="0">
                <a:solidFill>
                  <a:srgbClr val="3A3A37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gì,</a:t>
            </a:r>
            <a:r>
              <a:rPr lang="en-US" sz="3300" dirty="0" spc="-33" kern="0">
                <a:solidFill>
                  <a:srgbClr val="3A3A37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rồi</a:t>
            </a:r>
            <a:r>
              <a:rPr lang="en-US" sz="3300" dirty="0" spc="-1" kern="0">
                <a:solidFill>
                  <a:srgbClr val="3A3A37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chọn</a:t>
            </a:r>
            <a:r>
              <a:rPr lang="en-US" sz="3300" dirty="0" spc="-16" kern="0">
                <a:solidFill>
                  <a:srgbClr val="3A3A37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vài</a:t>
            </a:r>
            <a:r>
              <a:rPr lang="en-US" sz="3300" dirty="0" spc="-2" kern="0">
                <a:solidFill>
                  <a:srgbClr val="3A3A37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dịch vụ.</a:t>
            </a:r>
            <a:endParaRPr lang="en-US" sz="3300" dirty="0"/>
          </a:p>
        </p:txBody>
      </p:sp>
      <p:sp>
        <p:nvSpPr>
          <p:cNvPr id="6" name="Shape 4"/>
          <p:cNvSpPr/>
          <p:nvPr/>
        </p:nvSpPr>
        <p:spPr>
          <a:xfrm>
            <a:off x="93345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1219200" y="9391650"/>
            <a:ext cx="190500" cy="190500"/>
          </a:xfrm>
          <a:prstGeom prst="ellipse">
            <a:avLst/>
          </a:prstGeom>
          <a:solidFill>
            <a:srgbClr val="FF6A4D"/>
          </a:solidFill>
          <a:ln w="19050">
            <a:solidFill>
              <a:srgbClr val="FF6A4D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158115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190500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222885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255270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287655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320040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352425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914400" y="9715500"/>
            <a:ext cx="6667500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1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650" dirty="0" spc="3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33</a:t>
            </a:r>
            <a:r>
              <a:rPr lang="en-US" sz="165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02/09</a:t>
            </a:r>
            <a:endParaRPr lang="en-US" sz="1650" dirty="0"/>
          </a:p>
        </p:txBody>
      </p:sp>
      <p:sp>
        <p:nvSpPr>
          <p:cNvPr id="16" name="Shape 14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17" name="Moda image moda-export-watermark-9be92ad1-ddca-4e66-bea9-b9d2c1036a4b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3EE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952500"/>
            <a:ext cx="142875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300" kern="0" dirty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ĐIỀU NGUỒN NÓI</a:t>
            </a:r>
            <a:endParaRPr lang="en-US" sz="1800" dirty="0"/>
          </a:p>
        </p:txBody>
      </p:sp>
      <p:sp>
        <p:nvSpPr>
          <p:cNvPr id="3" name="Text 1"/>
          <p:cNvSpPr/>
          <p:nvPr/>
        </p:nvSpPr>
        <p:spPr>
          <a:xfrm>
            <a:off x="914400" y="1524000"/>
            <a:ext cx="16192500" cy="1143000"/>
          </a:xfrm>
          <a:prstGeom prst="rect">
            <a:avLst/>
          </a:prstGeom>
          <a:noFill/>
          <a:ln/>
        </p:spPr>
        <p:txBody>
          <a:bodyPr wrap="square" lIns="0" tIns="40005" rIns="0" bIns="-40005" rtlCol="0" anchor="t"/>
          <a:lstStyle/>
          <a:p>
            <a:pPr algn="l" indent="0" marL="0">
              <a:lnSpc>
                <a:spcPts val="6930"/>
              </a:lnSpc>
              <a:buNone/>
            </a:pPr>
            <a:r>
              <a:rPr lang="en-US" sz="6300" dirty="0" spc="-47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Từ</a:t>
            </a:r>
            <a:r>
              <a:rPr lang="en-US" sz="6300" dirty="0" spc="-50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vài</a:t>
            </a:r>
            <a:r>
              <a:rPr lang="en-US" sz="6300" dirty="0" spc="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dịch</a:t>
            </a:r>
            <a:r>
              <a:rPr lang="en-US" sz="6300" dirty="0" spc="0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vụ</a:t>
            </a:r>
            <a:r>
              <a:rPr lang="en-US" sz="6300" dirty="0" spc="-23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đơn</a:t>
            </a:r>
            <a:r>
              <a:rPr lang="en-US" sz="6300" dirty="0" spc="0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giản</a:t>
            </a:r>
            <a:r>
              <a:rPr lang="en-US" sz="6300" dirty="0" spc="17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đến</a:t>
            </a:r>
            <a:r>
              <a:rPr lang="en-US" sz="6300" dirty="0" spc="-35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hơn</a:t>
            </a:r>
            <a:r>
              <a:rPr lang="en-US" sz="6300" dirty="0" spc="-25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200.</a:t>
            </a:r>
            <a:endParaRPr lang="en-US" sz="6300" dirty="0"/>
          </a:p>
        </p:txBody>
      </p:sp>
      <p:sp>
        <p:nvSpPr>
          <p:cNvPr id="4" name="Connector line-1792423666229-793850869"/>
          <p:cNvSpPr/>
          <p:nvPr/>
        </p:nvSpPr>
        <p:spPr>
          <a:xfrm>
            <a:off x="1905000" y="4572000"/>
            <a:ext cx="14478000" cy="0"/>
          </a:xfrm>
          <a:prstGeom prst="line">
            <a:avLst/>
          </a:prstGeom>
          <a:noFill/>
          <a:ln w="57150">
            <a:solidFill>
              <a:srgbClr val="14161C"/>
            </a:solidFill>
            <a:prstDash val="solid"/>
            <a:headEnd type="none"/>
            <a:tailEnd type="none"/>
          </a:ln>
        </p:spPr>
      </p:sp>
      <p:sp>
        <p:nvSpPr>
          <p:cNvPr id="5" name="Text 3"/>
          <p:cNvSpPr/>
          <p:nvPr/>
        </p:nvSpPr>
        <p:spPr>
          <a:xfrm>
            <a:off x="2952750" y="3714750"/>
            <a:ext cx="1714500" cy="1714500"/>
          </a:xfrm>
          <a:prstGeom prst="ellipse">
            <a:avLst/>
          </a:prstGeom>
          <a:solidFill>
            <a:srgbClr val="FBE6C8"/>
          </a:solidFill>
          <a:ln w="38100">
            <a:solidFill>
              <a:srgbClr val="B45309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300" dirty="0" spc="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2006</a:t>
            </a:r>
            <a:endParaRPr lang="en-US" sz="3300" dirty="0"/>
          </a:p>
        </p:txBody>
      </p:sp>
      <p:sp>
        <p:nvSpPr>
          <p:cNvPr id="6" name="Text 4"/>
          <p:cNvSpPr/>
          <p:nvPr/>
        </p:nvSpPr>
        <p:spPr>
          <a:xfrm>
            <a:off x="8286750" y="3714750"/>
            <a:ext cx="1714500" cy="1714500"/>
          </a:xfrm>
          <a:prstGeom prst="ellipse">
            <a:avLst/>
          </a:prstGeom>
          <a:solidFill>
            <a:srgbClr val="FBE6C8"/>
          </a:solidFill>
          <a:ln w="38100">
            <a:solidFill>
              <a:srgbClr val="B45309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300" dirty="0" spc="-9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200+</a:t>
            </a:r>
            <a:endParaRPr lang="en-US" sz="3300" dirty="0"/>
          </a:p>
        </p:txBody>
      </p:sp>
      <p:sp>
        <p:nvSpPr>
          <p:cNvPr id="7" name="Text 5"/>
          <p:cNvSpPr/>
          <p:nvPr/>
        </p:nvSpPr>
        <p:spPr>
          <a:xfrm>
            <a:off x="13620750" y="3714750"/>
            <a:ext cx="1714500" cy="1714500"/>
          </a:xfrm>
          <a:prstGeom prst="ellipse">
            <a:avLst/>
          </a:prstGeom>
          <a:solidFill>
            <a:srgbClr val="FBE6C8"/>
          </a:solidFill>
          <a:ln w="38100">
            <a:solidFill>
              <a:srgbClr val="B45309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300" dirty="0" spc="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190</a:t>
            </a:r>
            <a:endParaRPr lang="en-US" sz="3300" dirty="0"/>
          </a:p>
        </p:txBody>
      </p:sp>
      <p:sp>
        <p:nvSpPr>
          <p:cNvPr id="8" name="Text 6"/>
          <p:cNvSpPr/>
          <p:nvPr/>
        </p:nvSpPr>
        <p:spPr>
          <a:xfrm>
            <a:off x="2095500" y="5715000"/>
            <a:ext cx="3429000" cy="952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400" dirty="0" spc="-9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Bắt</a:t>
            </a:r>
            <a:r>
              <a:rPr lang="en-US" sz="2400" dirty="0" spc="8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đầu</a:t>
            </a:r>
            <a:r>
              <a:rPr lang="en-US" sz="2400" dirty="0" spc="-12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với</a:t>
            </a:r>
            <a:r>
              <a:rPr lang="en-US" sz="2400" dirty="0" spc="2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S3</a:t>
            </a:r>
            <a:r>
              <a:rPr lang="en-US" sz="2400" dirty="0" spc="-20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và</a:t>
            </a:r>
            <a:r>
              <a:rPr lang="en-US" sz="2400" dirty="0" spc="-5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EC2</a:t>
            </a:r>
            <a:endParaRPr lang="en-US" sz="2400" dirty="0"/>
          </a:p>
        </p:txBody>
      </p:sp>
      <p:sp>
        <p:nvSpPr>
          <p:cNvPr id="9" name="Text 7"/>
          <p:cNvSpPr/>
          <p:nvPr/>
        </p:nvSpPr>
        <p:spPr>
          <a:xfrm>
            <a:off x="7429500" y="5715000"/>
            <a:ext cx="3429000" cy="952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400" dirty="0" spc="-2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Hơn 200</a:t>
            </a:r>
            <a:r>
              <a:rPr lang="en-US" sz="2400" dirty="0" spc="2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dịch</a:t>
            </a:r>
            <a:r>
              <a:rPr lang="en-US" sz="2400" dirty="0" spc="0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vụ</a:t>
            </a:r>
            <a:endParaRPr lang="en-US" sz="2400" dirty="0"/>
          </a:p>
        </p:txBody>
      </p:sp>
      <p:sp>
        <p:nvSpPr>
          <p:cNvPr id="10" name="Text 8"/>
          <p:cNvSpPr/>
          <p:nvPr/>
        </p:nvSpPr>
        <p:spPr>
          <a:xfrm>
            <a:off x="12763500" y="5715000"/>
            <a:ext cx="3429000" cy="952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400" dirty="0" spc="0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Phục</a:t>
            </a:r>
            <a:r>
              <a:rPr lang="en-US" sz="2400" dirty="0" spc="-1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vụ 190</a:t>
            </a:r>
            <a:r>
              <a:rPr lang="en-US" sz="2400" dirty="0" spc="-3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quốc</a:t>
            </a:r>
            <a:r>
              <a:rPr lang="en-US" sz="2400" dirty="0" spc="-1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gia</a:t>
            </a:r>
            <a:endParaRPr lang="en-US" sz="2400" dirty="0"/>
          </a:p>
        </p:txBody>
      </p:sp>
      <p:sp>
        <p:nvSpPr>
          <p:cNvPr id="11" name="Text 9"/>
          <p:cNvSpPr/>
          <p:nvPr/>
        </p:nvSpPr>
        <p:spPr>
          <a:xfrm>
            <a:off x="914400" y="7620000"/>
            <a:ext cx="16192500" cy="571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850" dirty="0" spc="-1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Hình</a:t>
            </a:r>
            <a:r>
              <a:rPr lang="en-US" sz="2850" dirty="0" spc="-4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nguồn:</a:t>
            </a:r>
            <a:r>
              <a:rPr lang="en-US" sz="2850" dirty="0" spc="18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điểm</a:t>
            </a:r>
            <a:r>
              <a:rPr lang="en-US" sz="2850" dirty="0" spc="-4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xuất</a:t>
            </a:r>
            <a:r>
              <a:rPr lang="en-US" sz="2850" dirty="0" spc="-10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phát</a:t>
            </a:r>
            <a:r>
              <a:rPr lang="en-US" sz="2850" dirty="0" spc="-19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và</a:t>
            </a:r>
            <a:r>
              <a:rPr lang="en-US" sz="2850" dirty="0" spc="-3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bảng</a:t>
            </a:r>
            <a:r>
              <a:rPr lang="en-US" sz="2850" dirty="0" spc="-20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tra</a:t>
            </a:r>
            <a:r>
              <a:rPr lang="en-US" sz="2850" dirty="0" spc="-3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nhanh.</a:t>
            </a:r>
            <a:endParaRPr lang="en-US" sz="2850" dirty="0"/>
          </a:p>
        </p:txBody>
      </p:sp>
      <p:sp>
        <p:nvSpPr>
          <p:cNvPr id="12" name="Shape 10"/>
          <p:cNvSpPr/>
          <p:nvPr/>
        </p:nvSpPr>
        <p:spPr>
          <a:xfrm>
            <a:off x="93345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125730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1543050" y="9391650"/>
            <a:ext cx="190500" cy="190500"/>
          </a:xfrm>
          <a:prstGeom prst="ellipse">
            <a:avLst/>
          </a:prstGeom>
          <a:solidFill>
            <a:srgbClr val="FF6A4D"/>
          </a:solidFill>
          <a:ln w="19050">
            <a:solidFill>
              <a:srgbClr val="FF6A4D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190500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222885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255270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287655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320040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352425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914400" y="9715500"/>
            <a:ext cx="6667500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1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650" dirty="0" spc="3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33</a:t>
            </a:r>
            <a:r>
              <a:rPr lang="en-US" sz="165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03/09</a:t>
            </a:r>
            <a:endParaRPr lang="en-US" sz="1650" dirty="0"/>
          </a:p>
        </p:txBody>
      </p:sp>
      <p:sp>
        <p:nvSpPr>
          <p:cNvPr id="22" name="Shape 20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23" name="Moda image moda-export-watermark-8a31fca2-7258-466f-b2f2-4c1ef3cde4a8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1416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952500"/>
            <a:ext cx="142875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299" kern="0" dirty="0">
                <a:solidFill>
                  <a:srgbClr val="3DD6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NỀN</a:t>
            </a:r>
            <a:r>
              <a:rPr lang="en-US" sz="1800" b="1" spc="263" kern="0" dirty="0">
                <a:solidFill>
                  <a:srgbClr val="3DD6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TẢNG</a:t>
            </a:r>
            <a:endParaRPr lang="en-US" sz="1800" dirty="0"/>
          </a:p>
        </p:txBody>
      </p:sp>
      <p:sp>
        <p:nvSpPr>
          <p:cNvPr id="3" name="Text 1"/>
          <p:cNvSpPr/>
          <p:nvPr/>
        </p:nvSpPr>
        <p:spPr>
          <a:xfrm>
            <a:off x="914400" y="1524000"/>
            <a:ext cx="16192500" cy="1143000"/>
          </a:xfrm>
          <a:prstGeom prst="rect">
            <a:avLst/>
          </a:prstGeom>
          <a:noFill/>
          <a:ln/>
        </p:spPr>
        <p:txBody>
          <a:bodyPr wrap="square" lIns="0" tIns="40005" rIns="0" bIns="-40005" rtlCol="0" anchor="t"/>
          <a:lstStyle/>
          <a:p>
            <a:pPr algn="l" indent="0" marL="0">
              <a:lnSpc>
                <a:spcPts val="6930"/>
              </a:lnSpc>
              <a:buNone/>
            </a:pPr>
            <a:r>
              <a:rPr lang="en-US" sz="6300" dirty="0" spc="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Bốn</a:t>
            </a:r>
            <a:r>
              <a:rPr lang="en-US" sz="6300" dirty="0" spc="4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thứ</a:t>
            </a:r>
            <a:r>
              <a:rPr lang="en-US" sz="6300" dirty="0" spc="0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ai</a:t>
            </a:r>
            <a:r>
              <a:rPr lang="en-US" sz="6300" dirty="0" spc="-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cũng</a:t>
            </a:r>
            <a:r>
              <a:rPr lang="en-US" sz="6300" dirty="0" spc="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chạm</a:t>
            </a:r>
            <a:r>
              <a:rPr lang="en-US" sz="6300" dirty="0" spc="-46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tới.</a:t>
            </a:r>
            <a:endParaRPr lang="en-US" sz="6300" dirty="0"/>
          </a:p>
        </p:txBody>
      </p:sp>
      <p:sp>
        <p:nvSpPr>
          <p:cNvPr id="4" name="Shape 2"/>
          <p:cNvSpPr/>
          <p:nvPr/>
        </p:nvSpPr>
        <p:spPr>
          <a:xfrm>
            <a:off x="914400" y="3048000"/>
            <a:ext cx="8001000" cy="2190750"/>
          </a:xfrm>
          <a:prstGeom prst="roundRect">
            <a:avLst>
              <a:gd name="adj" fmla="val 12174"/>
            </a:avLst>
          </a:prstGeom>
          <a:solidFill>
            <a:srgbClr val="1E212B"/>
          </a:solidFill>
          <a:ln w="28575">
            <a:solidFill>
              <a:srgbClr val="3DD6A0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238250" y="3238500"/>
            <a:ext cx="7353300" cy="1809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700" b="1" dirty="0" spc="-8" kern="0">
                <a:solidFill>
                  <a:srgbClr val="3DD6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EC2</a:t>
            </a:r>
            <a:endParaRPr lang="en-US" sz="2700" dirty="0"/>
          </a:p>
          <a:p>
            <a:pPr algn="l" indent="0" marL="0">
              <a:buNone/>
            </a:pPr>
            <a:r>
              <a:rPr lang="en-US" sz="2700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Cho thuê</a:t>
            </a:r>
            <a:r>
              <a:rPr lang="en-US" sz="2700" dirty="0" spc="-1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máy</a:t>
            </a:r>
            <a:r>
              <a:rPr lang="en-US" sz="2700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chủ</a:t>
            </a:r>
            <a:r>
              <a:rPr lang="en-US" sz="2700" dirty="0" spc="-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ảo.</a:t>
            </a:r>
            <a:endParaRPr lang="en-US" sz="2700" dirty="0"/>
          </a:p>
        </p:txBody>
      </p:sp>
      <p:sp>
        <p:nvSpPr>
          <p:cNvPr id="6" name="Shape 4"/>
          <p:cNvSpPr/>
          <p:nvPr/>
        </p:nvSpPr>
        <p:spPr>
          <a:xfrm>
            <a:off x="9372600" y="3048000"/>
            <a:ext cx="8001000" cy="2190750"/>
          </a:xfrm>
          <a:prstGeom prst="roundRect">
            <a:avLst>
              <a:gd name="adj" fmla="val 12174"/>
            </a:avLst>
          </a:prstGeom>
          <a:solidFill>
            <a:srgbClr val="1E212B"/>
          </a:solidFill>
          <a:ln w="28575">
            <a:solidFill>
              <a:srgbClr val="3DD6A0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9696450" y="3238500"/>
            <a:ext cx="7353300" cy="1809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700" b="1" dirty="0" spc="-2" kern="0">
                <a:solidFill>
                  <a:srgbClr val="3DD6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S3</a:t>
            </a:r>
            <a:endParaRPr lang="en-US" sz="2700" dirty="0"/>
          </a:p>
          <a:p>
            <a:pPr algn="l" indent="0" marL="0">
              <a:buNone/>
            </a:pPr>
            <a:r>
              <a:rPr lang="en-US" sz="2700" dirty="0" spc="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Lưu</a:t>
            </a:r>
            <a:r>
              <a:rPr lang="en-US" sz="2700" dirty="0" spc="-15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tệp</a:t>
            </a:r>
            <a:r>
              <a:rPr lang="en-US" sz="2700" dirty="0" spc="-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dạng</a:t>
            </a:r>
            <a:r>
              <a:rPr lang="en-US" sz="2700" dirty="0" spc="1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đối</a:t>
            </a:r>
            <a:r>
              <a:rPr lang="en-US" sz="2700" dirty="0" spc="5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tượng.</a:t>
            </a:r>
            <a:endParaRPr lang="en-US" sz="2700" dirty="0"/>
          </a:p>
        </p:txBody>
      </p:sp>
      <p:sp>
        <p:nvSpPr>
          <p:cNvPr id="8" name="Shape 6"/>
          <p:cNvSpPr/>
          <p:nvPr/>
        </p:nvSpPr>
        <p:spPr>
          <a:xfrm>
            <a:off x="914400" y="5619750"/>
            <a:ext cx="8001000" cy="2190750"/>
          </a:xfrm>
          <a:prstGeom prst="roundRect">
            <a:avLst>
              <a:gd name="adj" fmla="val 12174"/>
            </a:avLst>
          </a:prstGeom>
          <a:solidFill>
            <a:srgbClr val="1E212B"/>
          </a:solidFill>
          <a:ln w="28575">
            <a:solidFill>
              <a:srgbClr val="3DD6A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1238250" y="5810250"/>
            <a:ext cx="7353300" cy="1809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700" b="1" dirty="0" kern="0">
                <a:solidFill>
                  <a:srgbClr val="3DD6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VPC</a:t>
            </a:r>
            <a:endParaRPr lang="en-US" sz="2700" dirty="0"/>
          </a:p>
          <a:p>
            <a:pPr algn="l" indent="0" marL="0">
              <a:buNone/>
            </a:pPr>
            <a:r>
              <a:rPr lang="en-US" sz="2700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Mạng</a:t>
            </a:r>
            <a:r>
              <a:rPr lang="en-US" sz="2700" dirty="0" spc="6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riêng</a:t>
            </a:r>
            <a:r>
              <a:rPr lang="en-US" sz="2700" dirty="0" spc="-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của</a:t>
            </a:r>
            <a:r>
              <a:rPr lang="en-US" sz="2700" dirty="0" spc="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các</a:t>
            </a:r>
            <a:r>
              <a:rPr lang="en-US" sz="2700" dirty="0" spc="-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dịch</a:t>
            </a:r>
            <a:r>
              <a:rPr lang="en-US" sz="2700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vụ.</a:t>
            </a:r>
            <a:endParaRPr lang="en-US" sz="2700" dirty="0"/>
          </a:p>
        </p:txBody>
      </p:sp>
      <p:sp>
        <p:nvSpPr>
          <p:cNvPr id="10" name="Shape 8"/>
          <p:cNvSpPr/>
          <p:nvPr/>
        </p:nvSpPr>
        <p:spPr>
          <a:xfrm>
            <a:off x="9372600" y="5619750"/>
            <a:ext cx="8001000" cy="2190750"/>
          </a:xfrm>
          <a:prstGeom prst="roundRect">
            <a:avLst>
              <a:gd name="adj" fmla="val 12174"/>
            </a:avLst>
          </a:prstGeom>
          <a:solidFill>
            <a:srgbClr val="1E212B"/>
          </a:solidFill>
          <a:ln w="28575">
            <a:solidFill>
              <a:srgbClr val="3DD6A0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9696450" y="5810250"/>
            <a:ext cx="7353300" cy="1809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700" b="1" dirty="0" spc="-2" kern="0">
                <a:solidFill>
                  <a:srgbClr val="3DD6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IAM</a:t>
            </a:r>
            <a:endParaRPr lang="en-US" sz="2700" dirty="0"/>
          </a:p>
          <a:p>
            <a:pPr algn="l" indent="0" marL="0">
              <a:buNone/>
            </a:pPr>
            <a:r>
              <a:rPr lang="en-US" sz="2700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Ai</a:t>
            </a:r>
            <a:r>
              <a:rPr lang="en-US" sz="2700" dirty="0" spc="9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được</a:t>
            </a:r>
            <a:r>
              <a:rPr lang="en-US" sz="2700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làm</a:t>
            </a:r>
            <a:r>
              <a:rPr lang="en-US" sz="2700" dirty="0" spc="-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gì. Học</a:t>
            </a:r>
            <a:r>
              <a:rPr lang="en-US" sz="2700" dirty="0" spc="-9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sớm.</a:t>
            </a:r>
            <a:endParaRPr lang="en-US" sz="2700" dirty="0"/>
          </a:p>
        </p:txBody>
      </p:sp>
      <p:sp>
        <p:nvSpPr>
          <p:cNvPr id="12" name="Shape 10"/>
          <p:cNvSpPr/>
          <p:nvPr/>
        </p:nvSpPr>
        <p:spPr>
          <a:xfrm>
            <a:off x="93345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125730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158115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1866900" y="9391650"/>
            <a:ext cx="190500" cy="190500"/>
          </a:xfrm>
          <a:prstGeom prst="ellipse">
            <a:avLst/>
          </a:prstGeom>
          <a:solidFill>
            <a:srgbClr val="FF6A4D"/>
          </a:solidFill>
          <a:ln w="19050">
            <a:solidFill>
              <a:srgbClr val="FF6A4D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222885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6B6A66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255270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6B6A66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287655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6B6A66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320040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6B6A66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352425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6B6A66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914400" y="9715500"/>
            <a:ext cx="6667500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1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65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650" dirty="0" spc="3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33</a:t>
            </a:r>
            <a:r>
              <a:rPr lang="en-US" sz="1650" dirty="0" spc="-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04/09</a:t>
            </a:r>
            <a:endParaRPr lang="en-US" sz="1650" dirty="0"/>
          </a:p>
        </p:txBody>
      </p:sp>
      <p:sp>
        <p:nvSpPr>
          <p:cNvPr id="22" name="Shape 20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23" name="Moda image moda-export-watermark-8edad603-8232-435c-ac73-09bb87ea4dc5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3EE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952500"/>
            <a:ext cx="142875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304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DỮ</a:t>
            </a:r>
            <a:r>
              <a:rPr lang="en-US" sz="1800" b="1" spc="299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LIỆU</a:t>
            </a:r>
            <a:r>
              <a:rPr lang="en-US" sz="1800" b="1" spc="254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1800" b="1" spc="300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NHẮN</a:t>
            </a:r>
            <a:r>
              <a:rPr lang="en-US" sz="1800" b="1" spc="299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TIN</a:t>
            </a:r>
            <a:endParaRPr lang="en-US" sz="1800" dirty="0"/>
          </a:p>
        </p:txBody>
      </p:sp>
      <p:sp>
        <p:nvSpPr>
          <p:cNvPr id="3" name="Text 1"/>
          <p:cNvSpPr/>
          <p:nvPr/>
        </p:nvSpPr>
        <p:spPr>
          <a:xfrm>
            <a:off x="914400" y="1524000"/>
            <a:ext cx="16192500" cy="1143000"/>
          </a:xfrm>
          <a:prstGeom prst="rect">
            <a:avLst/>
          </a:prstGeom>
          <a:noFill/>
          <a:ln/>
        </p:spPr>
        <p:txBody>
          <a:bodyPr wrap="square" lIns="0" tIns="40005" rIns="0" bIns="-40005" rtlCol="0" anchor="t"/>
          <a:lstStyle/>
          <a:p>
            <a:pPr algn="l" indent="0" marL="0">
              <a:lnSpc>
                <a:spcPts val="6930"/>
              </a:lnSpc>
              <a:buNone/>
            </a:pPr>
            <a:r>
              <a:rPr lang="en-US" sz="6300" dirty="0" spc="0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Mỗi</a:t>
            </a:r>
            <a:r>
              <a:rPr lang="en-US" sz="6300" dirty="0" spc="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dịch vụ</a:t>
            </a:r>
            <a:r>
              <a:rPr lang="en-US" sz="6300" dirty="0" spc="-6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một</a:t>
            </a:r>
            <a:r>
              <a:rPr lang="en-US" sz="6300" dirty="0" spc="-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việc.</a:t>
            </a:r>
            <a:endParaRPr lang="en-US" sz="6300" dirty="0"/>
          </a:p>
        </p:txBody>
      </p:sp>
      <p:graphicFrame>
        <p:nvGraphicFramePr>
          <p:cNvPr id="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914400" y="3048000"/>
          <a:ext cx="13716000" cy="914400"/>
        </p:xfrm>
        <a:graphic>
          <a:graphicData uri="http://schemas.openxmlformats.org/drawingml/2006/table">
            <a:tbl>
              <a:tblPr/>
              <a:tblGrid>
                <a:gridCol w="3950208"/>
                <a:gridCol w="12508992"/>
              </a:tblGrid>
              <a:tr h="1047750"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3060"/>
                        </a:lnSpc>
                        <a:buNone/>
                      </a:pPr>
                      <a:r>
                        <a:rPr lang="en-US" sz="2550" b="1" dirty="0" spc="0" kern="0">
                          <a:solidFill>
                            <a:srgbClr val="FFFFFF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Dịch</a:t>
                      </a:r>
                      <a:r>
                        <a:rPr lang="en-US" sz="2550" b="1" dirty="0" spc="-1" kern="0">
                          <a:solidFill>
                            <a:srgbClr val="FFFFFF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vụ</a:t>
                      </a:r>
                      <a:endParaRPr lang="en-US" sz="1200" dirty="0"/>
                    </a:p>
                  </a:txBody>
                  <a:tcPr marL="76200" marR="76200" marT="76200" marB="76200">
                    <a:lnL w="9525" cap="flat" cmpd="sng" algn="ctr">
                      <a:solidFill>
                        <a:srgbClr val="DD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4161C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3060"/>
                        </a:lnSpc>
                        <a:buNone/>
                      </a:pPr>
                      <a:r>
                        <a:rPr lang="en-US" sz="2550" b="1" dirty="0" spc="-3" kern="0">
                          <a:solidFill>
                            <a:srgbClr val="FFFFFF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Dùng</a:t>
                      </a:r>
                      <a:r>
                        <a:rPr lang="en-US" sz="2550" b="1" dirty="0" spc="2" kern="0">
                          <a:solidFill>
                            <a:srgbClr val="FFFFFF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khi</a:t>
                      </a:r>
                      <a:endParaRPr lang="en-US" sz="1200" dirty="0"/>
                    </a:p>
                  </a:txBody>
                  <a:tcPr marL="76200" marR="76200" marT="76200" marB="76200">
                    <a:lnL w="9525" cap="flat" cmpd="sng" algn="ctr">
                      <a:solidFill>
                        <a:srgbClr val="DD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4161C"/>
                    </a:solidFill>
                  </a:tcPr>
                </a:tc>
              </a:tr>
              <a:tr h="1047750"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3060"/>
                        </a:lnSpc>
                        <a:buNone/>
                      </a:pPr>
                      <a:r>
                        <a:rPr lang="en-US" sz="2550" b="1" dirty="0" spc="1" kern="0">
                          <a:solidFill>
                            <a:srgbClr val="000000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RDS</a:t>
                      </a:r>
                      <a:endParaRPr lang="en-US" sz="1200" dirty="0"/>
                    </a:p>
                  </a:txBody>
                  <a:tcPr marL="76200" marR="76200" marT="76200" marB="76200">
                    <a:lnL w="9525" cap="flat" cmpd="sng" algn="ctr">
                      <a:solidFill>
                        <a:srgbClr val="DD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DD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F8D9D0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3060"/>
                        </a:lnSpc>
                        <a:buNone/>
                      </a:pPr>
                      <a:r>
                        <a:rPr lang="en-US" sz="2550" dirty="0" spc="-6" kern="0">
                          <a:solidFill>
                            <a:srgbClr val="000000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Dữ</a:t>
                      </a:r>
                      <a:r>
                        <a:rPr lang="en-US" sz="2550" dirty="0" spc="1" kern="0">
                          <a:solidFill>
                            <a:srgbClr val="000000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liệu</a:t>
                      </a:r>
                      <a:r>
                        <a:rPr lang="en-US" sz="2550" dirty="0" spc="0" kern="0">
                          <a:solidFill>
                            <a:srgbClr val="000000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có</a:t>
                      </a:r>
                      <a:r>
                        <a:rPr lang="en-US" sz="2550" dirty="0" spc="-2" kern="0">
                          <a:solidFill>
                            <a:srgbClr val="000000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bảng</a:t>
                      </a:r>
                      <a:r>
                        <a:rPr lang="en-US" sz="2550" dirty="0" spc="-18" kern="0">
                          <a:solidFill>
                            <a:srgbClr val="000000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và</a:t>
                      </a:r>
                      <a:r>
                        <a:rPr lang="en-US" sz="2550" dirty="0" spc="0" kern="0">
                          <a:solidFill>
                            <a:srgbClr val="000000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liên</a:t>
                      </a:r>
                      <a:r>
                        <a:rPr lang="en-US" sz="2550" dirty="0" spc="-33" kern="0">
                          <a:solidFill>
                            <a:srgbClr val="000000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kết</a:t>
                      </a:r>
                      <a:endParaRPr lang="en-US" sz="1200" dirty="0"/>
                    </a:p>
                  </a:txBody>
                  <a:tcPr marL="76200" marR="76200" marT="76200" marB="76200">
                    <a:lnL w="9525" cap="flat" cmpd="sng" algn="ctr">
                      <a:solidFill>
                        <a:srgbClr val="DD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E8E0CF"/>
                    </a:solidFill>
                  </a:tcPr>
                </a:tc>
              </a:tr>
              <a:tr h="1047750"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3060"/>
                        </a:lnSpc>
                        <a:buNone/>
                      </a:pPr>
                      <a:r>
                        <a:rPr lang="en-US" sz="2550" b="1" dirty="0" spc="-3" kern="0">
                          <a:solidFill>
                            <a:srgbClr val="000000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DynamoDB</a:t>
                      </a:r>
                      <a:endParaRPr lang="en-US" sz="1200" dirty="0"/>
                    </a:p>
                  </a:txBody>
                  <a:tcPr marL="76200" marR="76200" marT="76200" marB="76200">
                    <a:lnL w="9525" cap="flat" cmpd="sng" algn="ctr">
                      <a:solidFill>
                        <a:srgbClr val="DD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DD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F8D9D0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3060"/>
                        </a:lnSpc>
                        <a:buNone/>
                      </a:pPr>
                      <a:r>
                        <a:rPr lang="en-US" sz="2550" dirty="0" spc="-45" kern="0">
                          <a:solidFill>
                            <a:srgbClr val="000000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Truy</a:t>
                      </a:r>
                      <a:r>
                        <a:rPr lang="en-US" sz="2550" dirty="0" spc="1" kern="0">
                          <a:solidFill>
                            <a:srgbClr val="000000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cập</a:t>
                      </a:r>
                      <a:r>
                        <a:rPr lang="en-US" sz="2550" dirty="0" spc="-2" kern="0">
                          <a:solidFill>
                            <a:srgbClr val="000000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theo khóa,</a:t>
                      </a:r>
                      <a:r>
                        <a:rPr lang="en-US" sz="2550" dirty="0" spc="1" kern="0">
                          <a:solidFill>
                            <a:srgbClr val="000000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quy</a:t>
                      </a:r>
                      <a:r>
                        <a:rPr lang="en-US" sz="2550" dirty="0" spc="0" kern="0">
                          <a:solidFill>
                            <a:srgbClr val="000000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mô</a:t>
                      </a:r>
                      <a:r>
                        <a:rPr lang="en-US" sz="2550" dirty="0" spc="-1" kern="0">
                          <a:solidFill>
                            <a:srgbClr val="000000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lớn</a:t>
                      </a:r>
                      <a:endParaRPr lang="en-US" sz="1200" dirty="0"/>
                    </a:p>
                  </a:txBody>
                  <a:tcPr marL="76200" marR="76200" marT="76200" marB="76200">
                    <a:lnL w="9525" cap="flat" cmpd="sng" algn="ctr">
                      <a:solidFill>
                        <a:srgbClr val="DD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FBF8F2"/>
                    </a:solidFill>
                  </a:tcPr>
                </a:tc>
              </a:tr>
              <a:tr h="1047750"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3060"/>
                        </a:lnSpc>
                        <a:buNone/>
                      </a:pPr>
                      <a:r>
                        <a:rPr lang="en-US" sz="2550" b="1" dirty="0" spc="7" kern="0">
                          <a:solidFill>
                            <a:srgbClr val="000000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SQS</a:t>
                      </a:r>
                      <a:endParaRPr lang="en-US" sz="1200" dirty="0"/>
                    </a:p>
                  </a:txBody>
                  <a:tcPr marL="76200" marR="76200" marT="76200" marB="76200">
                    <a:lnL w="9525" cap="flat" cmpd="sng" algn="ctr">
                      <a:solidFill>
                        <a:srgbClr val="DD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DD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F8D9D0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3060"/>
                        </a:lnSpc>
                        <a:buNone/>
                      </a:pPr>
                      <a:r>
                        <a:rPr lang="en-US" sz="2550" dirty="0" spc="-58" kern="0">
                          <a:solidFill>
                            <a:srgbClr val="000000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Tách</a:t>
                      </a:r>
                      <a:r>
                        <a:rPr lang="en-US" sz="2550" dirty="0" spc="-3" kern="0">
                          <a:solidFill>
                            <a:srgbClr val="000000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bên</a:t>
                      </a:r>
                      <a:r>
                        <a:rPr lang="en-US" sz="2550" dirty="0" spc="40" kern="0">
                          <a:solidFill>
                            <a:srgbClr val="000000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gửi</a:t>
                      </a:r>
                      <a:r>
                        <a:rPr lang="en-US" sz="2550" dirty="0" spc="0" kern="0">
                          <a:solidFill>
                            <a:srgbClr val="000000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khỏi</a:t>
                      </a:r>
                      <a:r>
                        <a:rPr lang="en-US" sz="2550" dirty="0" spc="-3" kern="0">
                          <a:solidFill>
                            <a:srgbClr val="000000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bên</a:t>
                      </a:r>
                      <a:r>
                        <a:rPr lang="en-US" sz="2550" dirty="0" spc="-2" kern="0">
                          <a:solidFill>
                            <a:srgbClr val="000000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xử</a:t>
                      </a:r>
                      <a:r>
                        <a:rPr lang="en-US" sz="2550" dirty="0" spc="-1" kern="0">
                          <a:solidFill>
                            <a:srgbClr val="000000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lý</a:t>
                      </a:r>
                      <a:endParaRPr lang="en-US" sz="1200" dirty="0"/>
                    </a:p>
                  </a:txBody>
                  <a:tcPr marL="76200" marR="76200" marT="76200" marB="76200">
                    <a:lnL w="9525" cap="flat" cmpd="sng" algn="ctr">
                      <a:solidFill>
                        <a:srgbClr val="DD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E8E0CF"/>
                    </a:solidFill>
                  </a:tcPr>
                </a:tc>
              </a:tr>
              <a:tr h="1047750"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3060"/>
                        </a:lnSpc>
                        <a:buNone/>
                      </a:pPr>
                      <a:r>
                        <a:rPr lang="en-US" sz="2550" b="1" dirty="0" spc="-2" kern="0">
                          <a:solidFill>
                            <a:srgbClr val="000000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SNS</a:t>
                      </a:r>
                      <a:endParaRPr lang="en-US" sz="1200" dirty="0"/>
                    </a:p>
                  </a:txBody>
                  <a:tcPr marL="76200" marR="76200" marT="76200" marB="76200">
                    <a:lnL w="9525" cap="flat" cmpd="sng" algn="ctr">
                      <a:solidFill>
                        <a:srgbClr val="DD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DD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F8D9D0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3060"/>
                        </a:lnSpc>
                        <a:buNone/>
                      </a:pPr>
                      <a:r>
                        <a:rPr lang="en-US" sz="2550" dirty="0" spc="-7" kern="0">
                          <a:solidFill>
                            <a:srgbClr val="000000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Một</a:t>
                      </a:r>
                      <a:r>
                        <a:rPr lang="en-US" sz="2550" dirty="0" spc="0" kern="0">
                          <a:solidFill>
                            <a:srgbClr val="000000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thông</a:t>
                      </a:r>
                      <a:r>
                        <a:rPr lang="en-US" sz="2550" dirty="0" spc="-2" kern="0">
                          <a:solidFill>
                            <a:srgbClr val="000000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báo</a:t>
                      </a:r>
                      <a:r>
                        <a:rPr lang="en-US" sz="2550" dirty="0" spc="-13" kern="0">
                          <a:solidFill>
                            <a:srgbClr val="000000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tới</a:t>
                      </a:r>
                      <a:r>
                        <a:rPr lang="en-US" sz="2550" dirty="0" spc="1" kern="0">
                          <a:solidFill>
                            <a:srgbClr val="000000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nhiều</a:t>
                      </a:r>
                      <a:r>
                        <a:rPr lang="en-US" sz="2550" dirty="0" spc="-3" kern="0">
                          <a:solidFill>
                            <a:srgbClr val="000000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bên</a:t>
                      </a:r>
                      <a:endParaRPr lang="en-US" sz="1200" dirty="0"/>
                    </a:p>
                  </a:txBody>
                  <a:tcPr marL="76200" marR="76200" marT="76200" marB="76200">
                    <a:lnL w="9525" cap="flat" cmpd="sng" algn="ctr">
                      <a:solidFill>
                        <a:srgbClr val="DD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FBF8F2"/>
                    </a:solidFill>
                  </a:tcPr>
                </a:tc>
              </a:tr>
            </a:tbl>
          </a:graphicData>
        </a:graphic>
      </p:graphicFrame>
      <p:sp>
        <p:nvSpPr>
          <p:cNvPr id="5" name="Shape 2"/>
          <p:cNvSpPr/>
          <p:nvPr/>
        </p:nvSpPr>
        <p:spPr>
          <a:xfrm>
            <a:off x="93345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6" name="Shape 3"/>
          <p:cNvSpPr/>
          <p:nvPr/>
        </p:nvSpPr>
        <p:spPr>
          <a:xfrm>
            <a:off x="125730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7" name="Shape 4"/>
          <p:cNvSpPr/>
          <p:nvPr/>
        </p:nvSpPr>
        <p:spPr>
          <a:xfrm>
            <a:off x="158115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8" name="Shape 5"/>
          <p:cNvSpPr/>
          <p:nvPr/>
        </p:nvSpPr>
        <p:spPr>
          <a:xfrm>
            <a:off x="190500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>
            <a:off x="2190750" y="9391650"/>
            <a:ext cx="190500" cy="190500"/>
          </a:xfrm>
          <a:prstGeom prst="ellipse">
            <a:avLst/>
          </a:prstGeom>
          <a:solidFill>
            <a:srgbClr val="FF6A4D"/>
          </a:solidFill>
          <a:ln w="19050">
            <a:solidFill>
              <a:srgbClr val="FF6A4D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255270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287655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12" name="Shape 9"/>
          <p:cNvSpPr/>
          <p:nvPr/>
        </p:nvSpPr>
        <p:spPr>
          <a:xfrm>
            <a:off x="320040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>
            <a:off x="352425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914400" y="9715500"/>
            <a:ext cx="6667500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1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650" dirty="0" spc="3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33</a:t>
            </a:r>
            <a:r>
              <a:rPr lang="en-US" sz="165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05/09</a:t>
            </a:r>
            <a:endParaRPr lang="en-US" sz="1650" dirty="0"/>
          </a:p>
        </p:txBody>
      </p:sp>
      <p:sp>
        <p:nvSpPr>
          <p:cNvPr id="15" name="Shape 12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16" name="Moda image moda-export-watermark-2f298074-28d7-4271-99a8-e8a4addda6ec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1416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952500"/>
            <a:ext cx="142875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253" kern="0" dirty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VẬN</a:t>
            </a:r>
            <a:r>
              <a:rPr lang="en-US" sz="1800" b="1" spc="301" kern="0" dirty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HÀNH</a:t>
            </a:r>
            <a:r>
              <a:rPr lang="en-US" sz="1800" b="1" spc="254" kern="0" dirty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1800" b="1" spc="298" kern="0" dirty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NÂNG</a:t>
            </a:r>
            <a:r>
              <a:rPr lang="en-US" sz="1800" b="1" spc="268" kern="0" dirty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CAO</a:t>
            </a:r>
            <a:endParaRPr lang="en-US" sz="1800" dirty="0"/>
          </a:p>
        </p:txBody>
      </p:sp>
      <p:sp>
        <p:nvSpPr>
          <p:cNvPr id="3" name="Text 1"/>
          <p:cNvSpPr/>
          <p:nvPr/>
        </p:nvSpPr>
        <p:spPr>
          <a:xfrm>
            <a:off x="914400" y="1524000"/>
            <a:ext cx="16192500" cy="1143000"/>
          </a:xfrm>
          <a:prstGeom prst="rect">
            <a:avLst/>
          </a:prstGeom>
          <a:noFill/>
          <a:ln/>
        </p:spPr>
        <p:txBody>
          <a:bodyPr wrap="square" lIns="0" tIns="40005" rIns="0" bIns="-40005" rtlCol="0" anchor="t"/>
          <a:lstStyle/>
          <a:p>
            <a:pPr algn="l" indent="0" marL="0">
              <a:lnSpc>
                <a:spcPts val="6930"/>
              </a:lnSpc>
              <a:buNone/>
            </a:pPr>
            <a:r>
              <a:rPr lang="en-US" sz="6300" dirty="0" spc="-3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Chạy,</a:t>
            </a:r>
            <a:r>
              <a:rPr lang="en-US" sz="6300" dirty="0" spc="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theo</a:t>
            </a:r>
            <a:r>
              <a:rPr lang="en-US" sz="6300" dirty="0" spc="-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dõi,</a:t>
            </a:r>
            <a:r>
              <a:rPr lang="en-US" sz="6300" dirty="0" spc="3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mô</a:t>
            </a:r>
            <a:r>
              <a:rPr lang="en-US" sz="6300" dirty="0" spc="-5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tả</a:t>
            </a:r>
            <a:r>
              <a:rPr lang="en-US" sz="6300" dirty="0" spc="-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bằng</a:t>
            </a:r>
            <a:r>
              <a:rPr lang="en-US" sz="6300" dirty="0" spc="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mã.</a:t>
            </a:r>
            <a:endParaRPr lang="en-US" sz="6300" dirty="0"/>
          </a:p>
        </p:txBody>
      </p:sp>
      <p:sp>
        <p:nvSpPr>
          <p:cNvPr id="4" name="Shape 2"/>
          <p:cNvSpPr/>
          <p:nvPr/>
        </p:nvSpPr>
        <p:spPr>
          <a:xfrm>
            <a:off x="914400" y="3143250"/>
            <a:ext cx="16459200" cy="1428750"/>
          </a:xfrm>
          <a:prstGeom prst="roundRect">
            <a:avLst>
              <a:gd name="adj" fmla="val 16000"/>
            </a:avLst>
          </a:prstGeom>
          <a:solidFill>
            <a:srgbClr val="1E212B"/>
          </a:solidFill>
          <a:ln w="28575">
            <a:solidFill>
              <a:srgbClr val="7C93FF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295400" y="3143250"/>
            <a:ext cx="15716250" cy="14287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700" b="1" dirty="0" spc="-1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Lambda:</a:t>
            </a:r>
            <a:r>
              <a:rPr lang="en-US" sz="2700" b="1" dirty="0" spc="-9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chạy</a:t>
            </a:r>
            <a:r>
              <a:rPr lang="en-US" sz="2700" b="1" dirty="0" spc="-8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mã</a:t>
            </a:r>
            <a:r>
              <a:rPr lang="en-US" sz="2700" b="1" dirty="0" spc="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khi</a:t>
            </a:r>
            <a:r>
              <a:rPr lang="en-US" sz="2700" b="1" dirty="0" spc="-7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có</a:t>
            </a:r>
            <a:r>
              <a:rPr lang="en-US" sz="2700" b="1" dirty="0" spc="-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sự kiện,</a:t>
            </a:r>
            <a:r>
              <a:rPr lang="en-US" sz="2700" b="1" dirty="0" spc="-6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không</a:t>
            </a:r>
            <a:r>
              <a:rPr lang="en-US" sz="2700" b="1" dirty="0" spc="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quản</a:t>
            </a:r>
            <a:r>
              <a:rPr lang="en-US" sz="2700" b="1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lý</a:t>
            </a:r>
            <a:r>
              <a:rPr lang="en-US" sz="2700" b="1" dirty="0" spc="-14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máy</a:t>
            </a:r>
            <a:r>
              <a:rPr lang="en-US" sz="2700" b="1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chủ</a:t>
            </a:r>
            <a:endParaRPr lang="en-US" sz="2700" dirty="0"/>
          </a:p>
        </p:txBody>
      </p:sp>
      <p:sp>
        <p:nvSpPr>
          <p:cNvPr id="6" name="Shape 4"/>
          <p:cNvSpPr/>
          <p:nvPr/>
        </p:nvSpPr>
        <p:spPr>
          <a:xfrm>
            <a:off x="1485900" y="4857750"/>
            <a:ext cx="15316200" cy="1428750"/>
          </a:xfrm>
          <a:prstGeom prst="roundRect">
            <a:avLst>
              <a:gd name="adj" fmla="val 16000"/>
            </a:avLst>
          </a:prstGeom>
          <a:solidFill>
            <a:srgbClr val="1E212B"/>
          </a:solidFill>
          <a:ln w="28575">
            <a:solidFill>
              <a:srgbClr val="7C93FF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866900" y="4857750"/>
            <a:ext cx="14573250" cy="14287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700" b="1" dirty="0" spc="-18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CloudWatch:</a:t>
            </a:r>
            <a:r>
              <a:rPr lang="en-US" sz="2700" b="1" dirty="0" spc="-5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số</a:t>
            </a:r>
            <a:r>
              <a:rPr lang="en-US" sz="2700" b="1" dirty="0" spc="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đo,</a:t>
            </a:r>
            <a:r>
              <a:rPr lang="en-US" sz="2700" b="1" dirty="0" spc="-8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nhật</a:t>
            </a:r>
            <a:r>
              <a:rPr lang="en-US" sz="2700" b="1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ký,</a:t>
            </a:r>
            <a:r>
              <a:rPr lang="en-US" sz="2700" b="1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cảnh</a:t>
            </a:r>
            <a:r>
              <a:rPr lang="en-US" sz="2700" b="1" dirty="0" spc="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báo</a:t>
            </a:r>
            <a:endParaRPr lang="en-US" sz="2700" dirty="0"/>
          </a:p>
        </p:txBody>
      </p:sp>
      <p:sp>
        <p:nvSpPr>
          <p:cNvPr id="8" name="Shape 6"/>
          <p:cNvSpPr/>
          <p:nvPr/>
        </p:nvSpPr>
        <p:spPr>
          <a:xfrm>
            <a:off x="2057400" y="6572250"/>
            <a:ext cx="14173200" cy="1428750"/>
          </a:xfrm>
          <a:prstGeom prst="roundRect">
            <a:avLst>
              <a:gd name="adj" fmla="val 16000"/>
            </a:avLst>
          </a:prstGeom>
          <a:solidFill>
            <a:srgbClr val="1E212B"/>
          </a:solidFill>
          <a:ln w="28575">
            <a:solidFill>
              <a:srgbClr val="7C93FF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2438400" y="6572250"/>
            <a:ext cx="13430250" cy="14287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700" b="1" dirty="0" spc="-14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CloudFormation:</a:t>
            </a:r>
            <a:r>
              <a:rPr lang="en-US" sz="2700" b="1" dirty="0" spc="-8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mô</a:t>
            </a:r>
            <a:r>
              <a:rPr lang="en-US" sz="2700" b="1" dirty="0" spc="-1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tả</a:t>
            </a:r>
            <a:r>
              <a:rPr lang="en-US" sz="2700" b="1" dirty="0" spc="-4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hạ</a:t>
            </a:r>
            <a:r>
              <a:rPr lang="en-US" sz="2700" b="1" dirty="0" spc="-6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tầng</a:t>
            </a:r>
            <a:r>
              <a:rPr lang="en-US" sz="2700" b="1" dirty="0" spc="-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bằng</a:t>
            </a:r>
            <a:r>
              <a:rPr lang="en-US" sz="2700" b="1" dirty="0" spc="-7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mã</a:t>
            </a:r>
            <a:endParaRPr lang="en-US" sz="2700" dirty="0"/>
          </a:p>
        </p:txBody>
      </p:sp>
      <p:sp>
        <p:nvSpPr>
          <p:cNvPr id="10" name="Shape 8"/>
          <p:cNvSpPr/>
          <p:nvPr/>
        </p:nvSpPr>
        <p:spPr>
          <a:xfrm>
            <a:off x="93345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125730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158115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190500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222885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2514600" y="9391650"/>
            <a:ext cx="190500" cy="190500"/>
          </a:xfrm>
          <a:prstGeom prst="ellipse">
            <a:avLst/>
          </a:prstGeom>
          <a:solidFill>
            <a:srgbClr val="FF6A4D"/>
          </a:solidFill>
          <a:ln w="19050">
            <a:solidFill>
              <a:srgbClr val="FF6A4D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287655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6B6A66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320040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6B6A66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352425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6B6A66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914400" y="9715500"/>
            <a:ext cx="6667500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1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65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650" dirty="0" spc="3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33</a:t>
            </a:r>
            <a:r>
              <a:rPr lang="en-US" sz="1650" dirty="0" spc="-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06/09</a:t>
            </a:r>
            <a:endParaRPr lang="en-US" sz="1650" dirty="0"/>
          </a:p>
        </p:txBody>
      </p:sp>
      <p:sp>
        <p:nvSpPr>
          <p:cNvPr id="20" name="Shape 18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21" name="Moda image moda-export-watermark-e4e16c89-8e53-4002-9827-78275bc91c61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3EE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952500"/>
            <a:ext cx="142875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293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BÀI</a:t>
            </a:r>
            <a:r>
              <a:rPr lang="en-US" sz="1800" b="1" spc="264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TẬP:</a:t>
            </a:r>
            <a:r>
              <a:rPr lang="en-US" sz="1800" b="1" spc="324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ỨNG</a:t>
            </a:r>
            <a:r>
              <a:rPr lang="en-US" sz="1800" b="1" spc="300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DỤNG</a:t>
            </a:r>
            <a:r>
              <a:rPr lang="en-US" sz="1800" b="1" spc="301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CHIA SẺ</a:t>
            </a:r>
            <a:r>
              <a:rPr lang="en-US" sz="1800" b="1" spc="300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ẢNH</a:t>
            </a:r>
            <a:endParaRPr lang="en-US" sz="1800" dirty="0"/>
          </a:p>
        </p:txBody>
      </p:sp>
      <p:sp>
        <p:nvSpPr>
          <p:cNvPr id="3" name="Text 1"/>
          <p:cNvSpPr/>
          <p:nvPr/>
        </p:nvSpPr>
        <p:spPr>
          <a:xfrm>
            <a:off x="914400" y="1524000"/>
            <a:ext cx="16192500" cy="1143000"/>
          </a:xfrm>
          <a:prstGeom prst="rect">
            <a:avLst/>
          </a:prstGeom>
          <a:noFill/>
          <a:ln/>
        </p:spPr>
        <p:txBody>
          <a:bodyPr wrap="square" lIns="0" tIns="40005" rIns="0" bIns="-40005" rtlCol="0" anchor="t"/>
          <a:lstStyle/>
          <a:p>
            <a:pPr algn="l" indent="0" marL="0">
              <a:lnSpc>
                <a:spcPts val="6930"/>
              </a:lnSpc>
              <a:buNone/>
            </a:pPr>
            <a:r>
              <a:rPr lang="en-US" sz="6300" dirty="0" spc="0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Gắn</a:t>
            </a:r>
            <a:r>
              <a:rPr lang="en-US" sz="6300" dirty="0" spc="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nhu</a:t>
            </a:r>
            <a:r>
              <a:rPr lang="en-US" sz="6300" dirty="0" spc="-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cầu</a:t>
            </a:r>
            <a:r>
              <a:rPr lang="en-US" sz="6300" dirty="0" spc="-75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với</a:t>
            </a:r>
            <a:r>
              <a:rPr lang="en-US" sz="6300" dirty="0" spc="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dịch</a:t>
            </a:r>
            <a:r>
              <a:rPr lang="en-US" sz="6300" dirty="0" spc="-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vụ.</a:t>
            </a:r>
            <a:endParaRPr lang="en-US" sz="6300" dirty="0"/>
          </a:p>
        </p:txBody>
      </p:sp>
      <p:sp>
        <p:nvSpPr>
          <p:cNvPr id="4" name="Text 2"/>
          <p:cNvSpPr/>
          <p:nvPr/>
        </p:nvSpPr>
        <p:spPr>
          <a:xfrm>
            <a:off x="914400" y="3429000"/>
            <a:ext cx="4572000" cy="1809750"/>
          </a:xfrm>
          <a:prstGeom prst="roundRect">
            <a:avLst>
              <a:gd name="adj" fmla="val 12632"/>
            </a:avLst>
          </a:prstGeom>
          <a:solidFill>
            <a:srgbClr val="FBF8F2"/>
          </a:solidFill>
          <a:ln w="28575">
            <a:solidFill>
              <a:srgbClr val="14161C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50" b="1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Ảnh</a:t>
            </a:r>
            <a:r>
              <a:rPr lang="en-US" sz="2850" b="1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tải</a:t>
            </a:r>
            <a:r>
              <a:rPr lang="en-US" sz="2850" b="1" dirty="0" spc="-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lên:</a:t>
            </a:r>
            <a:r>
              <a:rPr lang="en-US" sz="2850" b="1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S3</a:t>
            </a:r>
            <a:endParaRPr lang="en-US" sz="2850" dirty="0"/>
          </a:p>
        </p:txBody>
      </p:sp>
      <p:sp>
        <p:nvSpPr>
          <p:cNvPr id="5" name="Text 3"/>
          <p:cNvSpPr/>
          <p:nvPr/>
        </p:nvSpPr>
        <p:spPr>
          <a:xfrm>
            <a:off x="6858000" y="3429000"/>
            <a:ext cx="4572000" cy="1809750"/>
          </a:xfrm>
          <a:prstGeom prst="roundRect">
            <a:avLst>
              <a:gd name="adj" fmla="val 12632"/>
            </a:avLst>
          </a:prstGeom>
          <a:solidFill>
            <a:srgbClr val="FBF8F2"/>
          </a:solidFill>
          <a:ln w="28575">
            <a:solidFill>
              <a:srgbClr val="14161C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50" b="1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Đổi</a:t>
            </a:r>
            <a:r>
              <a:rPr lang="en-US" sz="2850" b="1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cỡ</a:t>
            </a:r>
            <a:r>
              <a:rPr lang="en-US" sz="2850" b="1" dirty="0" spc="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ảnh:</a:t>
            </a:r>
            <a:r>
              <a:rPr lang="en-US" sz="2850" b="1" dirty="0" spc="-1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Lambda</a:t>
            </a:r>
            <a:endParaRPr lang="en-US" sz="2850" dirty="0"/>
          </a:p>
        </p:txBody>
      </p:sp>
      <p:sp>
        <p:nvSpPr>
          <p:cNvPr id="6" name="Text 4"/>
          <p:cNvSpPr/>
          <p:nvPr/>
        </p:nvSpPr>
        <p:spPr>
          <a:xfrm>
            <a:off x="12801600" y="3429000"/>
            <a:ext cx="4572000" cy="1809750"/>
          </a:xfrm>
          <a:prstGeom prst="roundRect">
            <a:avLst>
              <a:gd name="adj" fmla="val 12632"/>
            </a:avLst>
          </a:prstGeom>
          <a:solidFill>
            <a:srgbClr val="FBF8F2"/>
          </a:solidFill>
          <a:ln w="28575">
            <a:solidFill>
              <a:srgbClr val="14161C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550" b="1" dirty="0" spc="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Báo</a:t>
            </a:r>
            <a:r>
              <a:rPr lang="en-US" sz="2550" b="1" dirty="0" spc="1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người</a:t>
            </a:r>
            <a:r>
              <a:rPr lang="en-US" sz="2550" b="1" dirty="0" spc="-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theo</a:t>
            </a:r>
            <a:r>
              <a:rPr lang="en-US" sz="2550" b="1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dõi:</a:t>
            </a:r>
            <a:r>
              <a:rPr lang="en-US" sz="2550" b="1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SNS</a:t>
            </a:r>
            <a:endParaRPr lang="en-US" sz="2550" dirty="0"/>
          </a:p>
        </p:txBody>
      </p:sp>
      <p:sp>
        <p:nvSpPr>
          <p:cNvPr id="7" name="Connector line-1792423699261-365632828"/>
          <p:cNvSpPr/>
          <p:nvPr/>
        </p:nvSpPr>
        <p:spPr>
          <a:xfrm>
            <a:off x="5486400" y="4333875"/>
            <a:ext cx="1371600" cy="0"/>
          </a:xfrm>
          <a:prstGeom prst="line">
            <a:avLst/>
          </a:prstGeom>
          <a:noFill/>
          <a:ln w="47625">
            <a:solidFill>
              <a:srgbClr val="14161C"/>
            </a:solidFill>
            <a:prstDash val="solid"/>
            <a:headEnd type="none"/>
            <a:tailEnd type="triangle"/>
          </a:ln>
        </p:spPr>
      </p:sp>
      <p:sp>
        <p:nvSpPr>
          <p:cNvPr id="8" name="Connector line-1792423699261-697023067"/>
          <p:cNvSpPr/>
          <p:nvPr/>
        </p:nvSpPr>
        <p:spPr>
          <a:xfrm>
            <a:off x="11430000" y="4333875"/>
            <a:ext cx="1371600" cy="0"/>
          </a:xfrm>
          <a:prstGeom prst="line">
            <a:avLst/>
          </a:prstGeom>
          <a:noFill/>
          <a:ln w="47625">
            <a:solidFill>
              <a:srgbClr val="14161C"/>
            </a:solidFill>
            <a:prstDash val="solid"/>
            <a:headEnd type="none"/>
            <a:tailEnd type="triangle"/>
          </a:ln>
        </p:spPr>
      </p:sp>
      <p:sp>
        <p:nvSpPr>
          <p:cNvPr id="9" name="Text 7"/>
          <p:cNvSpPr/>
          <p:nvPr/>
        </p:nvSpPr>
        <p:spPr>
          <a:xfrm>
            <a:off x="914400" y="6286500"/>
            <a:ext cx="1619250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000" dirty="0" spc="3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IAM</a:t>
            </a:r>
            <a:r>
              <a:rPr lang="en-US" sz="3000" dirty="0" spc="0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giữ</a:t>
            </a:r>
            <a:r>
              <a:rPr lang="en-US" sz="3000" dirty="0" spc="-19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quyền</a:t>
            </a:r>
            <a:r>
              <a:rPr lang="en-US" sz="3000" dirty="0" spc="8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đọc</a:t>
            </a:r>
            <a:r>
              <a:rPr lang="en-US" sz="3000" dirty="0" spc="0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kho ảnh.</a:t>
            </a:r>
            <a:r>
              <a:rPr lang="en-US" sz="3000" dirty="0" spc="-20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CloudWatch</a:t>
            </a:r>
            <a:r>
              <a:rPr lang="en-US" sz="3000" dirty="0" spc="1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báo</a:t>
            </a:r>
            <a:r>
              <a:rPr lang="en-US" sz="3000" dirty="0" spc="3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khi</a:t>
            </a:r>
            <a:r>
              <a:rPr lang="en-US" sz="3000" dirty="0" spc="0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lỗi.</a:t>
            </a:r>
            <a:endParaRPr lang="en-US" sz="3000" dirty="0"/>
          </a:p>
        </p:txBody>
      </p:sp>
      <p:sp>
        <p:nvSpPr>
          <p:cNvPr id="10" name="Shape 8"/>
          <p:cNvSpPr/>
          <p:nvPr/>
        </p:nvSpPr>
        <p:spPr>
          <a:xfrm>
            <a:off x="93345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125730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158115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190500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222885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255270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2838450" y="9391650"/>
            <a:ext cx="190500" cy="190500"/>
          </a:xfrm>
          <a:prstGeom prst="ellipse">
            <a:avLst/>
          </a:prstGeom>
          <a:solidFill>
            <a:srgbClr val="FF6A4D"/>
          </a:solidFill>
          <a:ln w="19050">
            <a:solidFill>
              <a:srgbClr val="FF6A4D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320040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352425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914400" y="9715500"/>
            <a:ext cx="6667500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1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650" dirty="0" spc="3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33</a:t>
            </a:r>
            <a:r>
              <a:rPr lang="en-US" sz="165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-1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07/09</a:t>
            </a:r>
            <a:endParaRPr lang="en-US" sz="1650" dirty="0"/>
          </a:p>
        </p:txBody>
      </p:sp>
      <p:sp>
        <p:nvSpPr>
          <p:cNvPr id="20" name="Shape 18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21" name="Moda image moda-export-watermark-6abc50ad-59e6-4fec-8076-af73083575e0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1416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952500"/>
            <a:ext cx="142875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300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NHÌN</a:t>
            </a:r>
            <a:r>
              <a:rPr lang="en-US" sz="1800" b="1" spc="302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HÌNH</a:t>
            </a:r>
            <a:r>
              <a:rPr lang="en-US" sz="1800" b="1" spc="297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TRẢ</a:t>
            </a:r>
            <a:r>
              <a:rPr lang="en-US" sz="1800" b="1" spc="279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LỜI</a:t>
            </a:r>
            <a:endParaRPr lang="en-US" sz="1800" dirty="0"/>
          </a:p>
        </p:txBody>
      </p:sp>
      <p:sp>
        <p:nvSpPr>
          <p:cNvPr id="3" name="Text 1"/>
          <p:cNvSpPr/>
          <p:nvPr/>
        </p:nvSpPr>
        <p:spPr>
          <a:xfrm>
            <a:off x="914400" y="1809750"/>
            <a:ext cx="16192500" cy="2857500"/>
          </a:xfrm>
          <a:prstGeom prst="rect">
            <a:avLst/>
          </a:prstGeom>
          <a:noFill/>
          <a:ln/>
        </p:spPr>
        <p:txBody>
          <a:bodyPr wrap="square" lIns="0" tIns="40005" rIns="0" bIns="-40005" rtlCol="0" anchor="t"/>
          <a:lstStyle/>
          <a:p>
            <a:pPr algn="l" indent="0" marL="0">
              <a:lnSpc>
                <a:spcPts val="6930"/>
              </a:lnSpc>
              <a:buNone/>
            </a:pPr>
            <a:r>
              <a:rPr lang="en-US" sz="6300" dirty="0" spc="0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Mạng</a:t>
            </a:r>
            <a:r>
              <a:rPr lang="en-US" sz="6300" dirty="0" spc="-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ai cũng</a:t>
            </a:r>
            <a:r>
              <a:rPr lang="en-US" sz="6300" dirty="0" spc="-50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vào</a:t>
            </a:r>
            <a:r>
              <a:rPr lang="en-US" sz="6300" dirty="0" spc="-63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được:</a:t>
            </a:r>
            <a:r>
              <a:rPr lang="en-US" sz="6300" dirty="0" spc="0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học</a:t>
            </a:r>
            <a:r>
              <a:rPr lang="en-US" sz="6300" dirty="0" spc="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hai</a:t>
            </a:r>
            <a:r>
              <a:rPr lang="en-US" sz="6300" dirty="0" spc="3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nhóm</a:t>
            </a:r>
            <a:r>
              <a:rPr lang="en-US" sz="6300" dirty="0" spc="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nào</a:t>
            </a:r>
            <a:r>
              <a:rPr lang="en-US" sz="6300" dirty="0" spc="-77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trước?</a:t>
            </a:r>
            <a:endParaRPr lang="en-US" sz="6300" dirty="0"/>
          </a:p>
        </p:txBody>
      </p:sp>
      <p:sp>
        <p:nvSpPr>
          <p:cNvPr id="4" name="Shape 2"/>
          <p:cNvSpPr/>
          <p:nvPr/>
        </p:nvSpPr>
        <p:spPr>
          <a:xfrm>
            <a:off x="914400" y="5143500"/>
            <a:ext cx="16459200" cy="2857500"/>
          </a:xfrm>
          <a:prstGeom prst="roundRect">
            <a:avLst>
              <a:gd name="adj" fmla="val 9333"/>
            </a:avLst>
          </a:prstGeom>
          <a:solidFill>
            <a:srgbClr val="1E212B"/>
          </a:solidFill>
          <a:ln w="28575">
            <a:solidFill>
              <a:srgbClr val="FFB454"/>
            </a:solidFill>
            <a:prstDash val="solid"/>
          </a:ln>
        </p:spPr>
      </p:sp>
      <p:sp>
        <p:nvSpPr>
          <p:cNvPr id="5" name="Text richtext-1792423700391-555119500"/>
          <p:cNvSpPr/>
          <p:nvPr/>
        </p:nvSpPr>
        <p:spPr>
          <a:xfrm>
            <a:off x="1333500" y="5334000"/>
            <a:ext cx="15621000" cy="2476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marL="381000" indent="-272202">
              <a:buSzPct val="100000"/>
              <a:buFont typeface="Arial"/>
              <a:buChar char="•"/>
            </a:pPr>
            <a:r>
              <a:rPr lang="en-US" sz="3000" dirty="0" spc="-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Mạng</a:t>
            </a:r>
            <a:r>
              <a:rPr lang="en-US" sz="3000" dirty="0" spc="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(VPC)</a:t>
            </a:r>
            <a:r>
              <a:rPr lang="en-US" sz="3000" dirty="0" spc="-2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3000" dirty="0" spc="2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định</a:t>
            </a:r>
            <a:r>
              <a:rPr lang="en-US" sz="3000" dirty="0" spc="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danh</a:t>
            </a:r>
            <a:r>
              <a:rPr lang="en-US" sz="3000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(IAM).</a:t>
            </a:r>
            <a:endParaRPr lang="en-US" sz="3000" dirty="0"/>
          </a:p>
          <a:p>
            <a:pPr algn="l" marL="381000" indent="-272202">
              <a:buSzPct val="100000"/>
              <a:buFont typeface="Arial"/>
              <a:buChar char="•"/>
            </a:pPr>
            <a:r>
              <a:rPr lang="en-US" sz="3000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VPC</a:t>
            </a:r>
            <a:r>
              <a:rPr lang="en-US" sz="3000" dirty="0" spc="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chia</a:t>
            </a:r>
            <a:r>
              <a:rPr lang="en-US" sz="3000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mạng</a:t>
            </a:r>
            <a:r>
              <a:rPr lang="en-US" sz="3000" dirty="0" spc="9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riêng;</a:t>
            </a:r>
            <a:r>
              <a:rPr lang="en-US" sz="3000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IAM</a:t>
            </a:r>
            <a:r>
              <a:rPr lang="en-US" sz="3000" dirty="0" spc="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chia</a:t>
            </a:r>
            <a:r>
              <a:rPr lang="en-US" sz="3000" dirty="0" spc="-15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quyền.</a:t>
            </a:r>
            <a:endParaRPr lang="en-US" sz="3000" dirty="0"/>
          </a:p>
        </p:txBody>
      </p:sp>
      <p:sp>
        <p:nvSpPr>
          <p:cNvPr id="6" name="Shape 4"/>
          <p:cNvSpPr/>
          <p:nvPr/>
        </p:nvSpPr>
        <p:spPr>
          <a:xfrm>
            <a:off x="93345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125730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158115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190500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222885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255270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287655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3162300" y="9391650"/>
            <a:ext cx="190500" cy="190500"/>
          </a:xfrm>
          <a:prstGeom prst="ellipse">
            <a:avLst/>
          </a:prstGeom>
          <a:solidFill>
            <a:srgbClr val="FF6A4D"/>
          </a:solidFill>
          <a:ln w="19050">
            <a:solidFill>
              <a:srgbClr val="FF6A4D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352425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6B6A66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914400" y="9715500"/>
            <a:ext cx="6667500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1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65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650" dirty="0" spc="3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33</a:t>
            </a:r>
            <a:r>
              <a:rPr lang="en-US" sz="1650" dirty="0" spc="-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08/09</a:t>
            </a:r>
            <a:endParaRPr lang="en-US" sz="1650" dirty="0"/>
          </a:p>
        </p:txBody>
      </p:sp>
      <p:sp>
        <p:nvSpPr>
          <p:cNvPr id="16" name="Shape 14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17" name="Moda image moda-export-watermark-a5274308-faa1-4803-83f4-d5e466521d71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1416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952500"/>
            <a:ext cx="142875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255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THUẬT</a:t>
            </a:r>
            <a:r>
              <a:rPr lang="en-US" sz="1800" b="1" spc="300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NGỮ</a:t>
            </a:r>
            <a:r>
              <a:rPr lang="en-US" sz="1800" b="1" spc="254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1800" b="1" spc="300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NGUỒN ĐỐI</a:t>
            </a:r>
            <a:r>
              <a:rPr lang="en-US" sz="1800" b="1" spc="302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CHIẾU</a:t>
            </a:r>
            <a:endParaRPr lang="en-US" sz="1800" dirty="0"/>
          </a:p>
        </p:txBody>
      </p:sp>
      <p:sp>
        <p:nvSpPr>
          <p:cNvPr id="3" name="Text 1"/>
          <p:cNvSpPr/>
          <p:nvPr/>
        </p:nvSpPr>
        <p:spPr>
          <a:xfrm>
            <a:off x="914400" y="1524000"/>
            <a:ext cx="7620000" cy="476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250" b="1" spc="171" kern="0" dirty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THUẬT</a:t>
            </a:r>
            <a:r>
              <a:rPr lang="en-US" sz="2250" b="1" spc="227" kern="0" dirty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NGỮ</a:t>
            </a:r>
            <a:endParaRPr lang="en-US" sz="2250" dirty="0"/>
          </a:p>
        </p:txBody>
      </p:sp>
      <p:sp>
        <p:nvSpPr>
          <p:cNvPr id="4" name="Shape 2"/>
          <p:cNvSpPr/>
          <p:nvPr/>
        </p:nvSpPr>
        <p:spPr>
          <a:xfrm>
            <a:off x="914400" y="2190750"/>
            <a:ext cx="8001000" cy="1238250"/>
          </a:xfrm>
          <a:prstGeom prst="roundRect">
            <a:avLst>
              <a:gd name="adj" fmla="val 15385"/>
            </a:avLst>
          </a:prstGeom>
          <a:solidFill>
            <a:srgbClr val="1E212B"/>
          </a:solidFill>
          <a:ln w="28575">
            <a:solidFill>
              <a:srgbClr val="7C93FF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200150" y="2190750"/>
            <a:ext cx="7429500" cy="12382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50" b="1" dirty="0" spc="-56" kern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AWS</a:t>
            </a:r>
            <a:pPr algn="l" indent="0" marL="0">
              <a:buNone/>
            </a:pPr>
            <a:r>
              <a:rPr lang="en-US" sz="1950" dirty="0" spc="0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(Amazon</a:t>
            </a:r>
            <a:r>
              <a:rPr lang="en-US" sz="1950" dirty="0" spc="-23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Web</a:t>
            </a:r>
            <a:r>
              <a:rPr lang="en-US" sz="1950" dirty="0" spc="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Services):</a:t>
            </a:r>
            <a:r>
              <a:rPr lang="en-US" sz="1950" dirty="0" spc="3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nền</a:t>
            </a:r>
            <a:r>
              <a:rPr lang="en-US" sz="1950" dirty="0" spc="-8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tảng</a:t>
            </a:r>
            <a:r>
              <a:rPr lang="en-US" sz="1950" dirty="0" spc="18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điện</a:t>
            </a:r>
            <a:r>
              <a:rPr lang="en-US" sz="1950" dirty="0" spc="-10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toán</a:t>
            </a:r>
            <a:r>
              <a:rPr lang="en-US" sz="1950" dirty="0" spc="1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đám</a:t>
            </a:r>
            <a:r>
              <a:rPr lang="en-US" sz="1950" dirty="0" spc="-7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mây</a:t>
            </a:r>
            <a:r>
              <a:rPr lang="en-US" sz="1950" dirty="0" spc="-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của Amazon.</a:t>
            </a:r>
            <a:endParaRPr lang="en-US" sz="1950" dirty="0"/>
          </a:p>
        </p:txBody>
      </p:sp>
      <p:sp>
        <p:nvSpPr>
          <p:cNvPr id="6" name="Shape 4"/>
          <p:cNvSpPr/>
          <p:nvPr/>
        </p:nvSpPr>
        <p:spPr>
          <a:xfrm>
            <a:off x="9372600" y="2190750"/>
            <a:ext cx="8001000" cy="1238250"/>
          </a:xfrm>
          <a:prstGeom prst="roundRect">
            <a:avLst>
              <a:gd name="adj" fmla="val 15385"/>
            </a:avLst>
          </a:prstGeom>
          <a:solidFill>
            <a:srgbClr val="1E212B"/>
          </a:solidFill>
          <a:ln/>
        </p:spPr>
      </p:sp>
      <p:sp>
        <p:nvSpPr>
          <p:cNvPr id="7" name="Text 5"/>
          <p:cNvSpPr/>
          <p:nvPr/>
        </p:nvSpPr>
        <p:spPr>
          <a:xfrm>
            <a:off x="9658350" y="2190750"/>
            <a:ext cx="7429500" cy="12382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50" b="1" dirty="0" spc="-1" kern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VPC</a:t>
            </a:r>
            <a:pPr algn="l" indent="0" marL="0">
              <a:buNone/>
            </a:pPr>
            <a:r>
              <a:rPr lang="en-US" sz="1950" dirty="0" spc="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(Virtual</a:t>
            </a:r>
            <a:r>
              <a:rPr lang="en-US" sz="1950" dirty="0" spc="-8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Private</a:t>
            </a:r>
            <a:r>
              <a:rPr lang="en-US" sz="1950" dirty="0" spc="0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Cloud):</a:t>
            </a:r>
            <a:r>
              <a:rPr lang="en-US" sz="1950" dirty="0" spc="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mạng</a:t>
            </a:r>
            <a:r>
              <a:rPr lang="en-US" sz="1950" dirty="0" spc="9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riêng</a:t>
            </a:r>
            <a:r>
              <a:rPr lang="en-US" sz="1950" dirty="0" spc="-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ảo</a:t>
            </a:r>
            <a:r>
              <a:rPr lang="en-US" sz="1950" dirty="0" spc="-12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trong</a:t>
            </a:r>
            <a:r>
              <a:rPr lang="en-US" sz="1950" dirty="0" spc="-37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AWS.</a:t>
            </a:r>
            <a:endParaRPr lang="en-US" sz="1950" dirty="0"/>
          </a:p>
        </p:txBody>
      </p:sp>
      <p:sp>
        <p:nvSpPr>
          <p:cNvPr id="8" name="Shape 6"/>
          <p:cNvSpPr/>
          <p:nvPr/>
        </p:nvSpPr>
        <p:spPr>
          <a:xfrm>
            <a:off x="914400" y="3619500"/>
            <a:ext cx="8001000" cy="1238250"/>
          </a:xfrm>
          <a:prstGeom prst="roundRect">
            <a:avLst>
              <a:gd name="adj" fmla="val 15385"/>
            </a:avLst>
          </a:prstGeom>
          <a:solidFill>
            <a:srgbClr val="1E212B"/>
          </a:solidFill>
          <a:ln/>
        </p:spPr>
      </p:sp>
      <p:sp>
        <p:nvSpPr>
          <p:cNvPr id="9" name="Text 7"/>
          <p:cNvSpPr/>
          <p:nvPr/>
        </p:nvSpPr>
        <p:spPr>
          <a:xfrm>
            <a:off x="1200150" y="3619500"/>
            <a:ext cx="7429500" cy="12382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50" b="1" dirty="0" spc="-1" kern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IAM</a:t>
            </a:r>
            <a:pPr algn="l" indent="0" marL="0">
              <a:buNone/>
            </a:pPr>
            <a:r>
              <a:rPr lang="en-US" sz="1950" dirty="0" spc="-5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(Identity</a:t>
            </a:r>
            <a:r>
              <a:rPr lang="en-US" sz="1950" dirty="0" spc="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and</a:t>
            </a:r>
            <a:r>
              <a:rPr lang="en-US" sz="1950" dirty="0" spc="-6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Access</a:t>
            </a:r>
            <a:r>
              <a:rPr lang="en-US" sz="1950" dirty="0" spc="-4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Management):</a:t>
            </a:r>
            <a:r>
              <a:rPr lang="en-US" sz="1950" dirty="0" spc="3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ai</a:t>
            </a:r>
            <a:r>
              <a:rPr lang="en-US" sz="1950" dirty="0" spc="-3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hoặc</a:t>
            </a:r>
            <a:r>
              <a:rPr lang="en-US" sz="1950" dirty="0" spc="-2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dịch</a:t>
            </a:r>
            <a:r>
              <a:rPr lang="en-US" sz="1950" dirty="0" spc="-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vụ</a:t>
            </a:r>
            <a:r>
              <a:rPr lang="en-US" sz="1950" dirty="0" spc="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nào</a:t>
            </a:r>
            <a:r>
              <a:rPr lang="en-US" sz="1950" dirty="0" spc="4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được</a:t>
            </a:r>
            <a:r>
              <a:rPr lang="en-US" sz="1950" dirty="0" spc="0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làm</a:t>
            </a:r>
            <a:r>
              <a:rPr lang="en-US" sz="1950" dirty="0" spc="-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gì.</a:t>
            </a:r>
            <a:endParaRPr lang="en-US" sz="1950" dirty="0"/>
          </a:p>
        </p:txBody>
      </p:sp>
      <p:sp>
        <p:nvSpPr>
          <p:cNvPr id="10" name="Shape 8"/>
          <p:cNvSpPr/>
          <p:nvPr/>
        </p:nvSpPr>
        <p:spPr>
          <a:xfrm>
            <a:off x="9372600" y="3619500"/>
            <a:ext cx="8001000" cy="1238250"/>
          </a:xfrm>
          <a:prstGeom prst="roundRect">
            <a:avLst>
              <a:gd name="adj" fmla="val 15385"/>
            </a:avLst>
          </a:prstGeom>
          <a:solidFill>
            <a:srgbClr val="1E212B"/>
          </a:solidFill>
          <a:ln/>
        </p:spPr>
      </p:sp>
      <p:sp>
        <p:nvSpPr>
          <p:cNvPr id="11" name="Text 9"/>
          <p:cNvSpPr/>
          <p:nvPr/>
        </p:nvSpPr>
        <p:spPr>
          <a:xfrm>
            <a:off x="9658350" y="3619500"/>
            <a:ext cx="7429500" cy="12382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50" b="1" dirty="0" spc="1" kern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RDS</a:t>
            </a:r>
            <a:pPr algn="l" indent="0" marL="0">
              <a:buNone/>
            </a:pPr>
            <a:r>
              <a:rPr lang="en-US" sz="1950" dirty="0" spc="-10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(Relational</a:t>
            </a:r>
            <a:r>
              <a:rPr lang="en-US" sz="1950" dirty="0" spc="-12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Database</a:t>
            </a:r>
            <a:r>
              <a:rPr lang="en-US" sz="1950" dirty="0" spc="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Service):</a:t>
            </a:r>
            <a:r>
              <a:rPr lang="en-US" sz="1950" dirty="0" spc="-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cơ</a:t>
            </a:r>
            <a:r>
              <a:rPr lang="en-US" sz="1950" dirty="0" spc="-7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sở</a:t>
            </a:r>
            <a:r>
              <a:rPr lang="en-US" sz="1950" dirty="0" spc="-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dữ</a:t>
            </a:r>
            <a:r>
              <a:rPr lang="en-US" sz="1950" dirty="0" spc="0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liệu</a:t>
            </a:r>
            <a:r>
              <a:rPr lang="en-US" sz="1950" dirty="0" spc="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quan</a:t>
            </a:r>
            <a:r>
              <a:rPr lang="en-US" sz="1950" dirty="0" spc="0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hệ</a:t>
            </a:r>
            <a:r>
              <a:rPr lang="en-US" sz="1950" dirty="0" spc="-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do</a:t>
            </a:r>
            <a:r>
              <a:rPr lang="en-US" sz="1950" dirty="0" spc="-45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AWS</a:t>
            </a:r>
            <a:r>
              <a:rPr lang="en-US" sz="1950" dirty="0" spc="-10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vận</a:t>
            </a:r>
            <a:r>
              <a:rPr lang="en-US" sz="1950" dirty="0" spc="-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hành.</a:t>
            </a:r>
            <a:endParaRPr lang="en-US" sz="1950" dirty="0"/>
          </a:p>
        </p:txBody>
      </p:sp>
      <p:sp>
        <p:nvSpPr>
          <p:cNvPr id="12" name="Shape 10"/>
          <p:cNvSpPr/>
          <p:nvPr/>
        </p:nvSpPr>
        <p:spPr>
          <a:xfrm>
            <a:off x="914400" y="5048250"/>
            <a:ext cx="8001000" cy="1238250"/>
          </a:xfrm>
          <a:prstGeom prst="roundRect">
            <a:avLst>
              <a:gd name="adj" fmla="val 15385"/>
            </a:avLst>
          </a:prstGeom>
          <a:solidFill>
            <a:srgbClr val="1E212B"/>
          </a:solidFill>
          <a:ln/>
        </p:spPr>
      </p:sp>
      <p:sp>
        <p:nvSpPr>
          <p:cNvPr id="13" name="Text 11"/>
          <p:cNvSpPr/>
          <p:nvPr/>
        </p:nvSpPr>
        <p:spPr>
          <a:xfrm>
            <a:off x="1200150" y="5048250"/>
            <a:ext cx="7429500" cy="12382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50" b="1" dirty="0" spc="6" kern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SQS</a:t>
            </a:r>
            <a:pPr algn="l" indent="0" marL="0">
              <a:buNone/>
            </a:pPr>
            <a:r>
              <a:rPr lang="en-US" sz="1950" dirty="0" spc="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(Simple</a:t>
            </a:r>
            <a:r>
              <a:rPr lang="en-US" sz="1950" dirty="0" spc="4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Queue</a:t>
            </a:r>
            <a:r>
              <a:rPr lang="en-US" sz="1950" dirty="0" spc="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Service): hàng</a:t>
            </a:r>
            <a:r>
              <a:rPr lang="en-US" sz="1950" dirty="0" spc="9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đợi</a:t>
            </a:r>
            <a:r>
              <a:rPr lang="en-US" sz="1950" dirty="0" spc="-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cho</a:t>
            </a:r>
            <a:r>
              <a:rPr lang="en-US" sz="1950" dirty="0" spc="0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thông</a:t>
            </a:r>
            <a:r>
              <a:rPr lang="en-US" sz="1950" dirty="0" spc="16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điệp</a:t>
            </a:r>
            <a:r>
              <a:rPr lang="en-US" sz="1950" dirty="0" spc="-3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chờ</a:t>
            </a:r>
            <a:r>
              <a:rPr lang="en-US" sz="1950" dirty="0" spc="-2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bên</a:t>
            </a:r>
            <a:r>
              <a:rPr lang="en-US" sz="1950" dirty="0" spc="0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nhận.</a:t>
            </a:r>
            <a:endParaRPr lang="en-US" sz="1950" dirty="0"/>
          </a:p>
        </p:txBody>
      </p:sp>
      <p:sp>
        <p:nvSpPr>
          <p:cNvPr id="14" name="Shape 12"/>
          <p:cNvSpPr/>
          <p:nvPr/>
        </p:nvSpPr>
        <p:spPr>
          <a:xfrm>
            <a:off x="9372600" y="5048250"/>
            <a:ext cx="8001000" cy="1238250"/>
          </a:xfrm>
          <a:prstGeom prst="roundRect">
            <a:avLst>
              <a:gd name="adj" fmla="val 15385"/>
            </a:avLst>
          </a:prstGeom>
          <a:solidFill>
            <a:srgbClr val="1E212B"/>
          </a:solidFill>
          <a:ln/>
        </p:spPr>
      </p:sp>
      <p:sp>
        <p:nvSpPr>
          <p:cNvPr id="15" name="Text 13"/>
          <p:cNvSpPr/>
          <p:nvPr/>
        </p:nvSpPr>
        <p:spPr>
          <a:xfrm>
            <a:off x="9658350" y="5048250"/>
            <a:ext cx="7429500" cy="12382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50" b="1" dirty="0" spc="-2" kern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SNS</a:t>
            </a:r>
            <a:pPr algn="l" indent="0" marL="0">
              <a:buNone/>
            </a:pPr>
            <a:r>
              <a:rPr lang="en-US" sz="1950" dirty="0" spc="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(Simple</a:t>
            </a:r>
            <a:r>
              <a:rPr lang="en-US" sz="1950" dirty="0" spc="-3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Notification</a:t>
            </a:r>
            <a:r>
              <a:rPr lang="en-US" sz="1950" dirty="0" spc="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Service):</a:t>
            </a:r>
            <a:r>
              <a:rPr lang="en-US" sz="1950" dirty="0" spc="35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gửi</a:t>
            </a:r>
            <a:r>
              <a:rPr lang="en-US" sz="1950" dirty="0" spc="0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thông</a:t>
            </a:r>
            <a:r>
              <a:rPr lang="en-US" sz="1950" dirty="0" spc="-4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báo</a:t>
            </a:r>
            <a:r>
              <a:rPr lang="en-US" sz="1950" dirty="0" spc="-1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tới</a:t>
            </a:r>
            <a:r>
              <a:rPr lang="en-US" sz="1950" dirty="0" spc="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nhiều</a:t>
            </a:r>
            <a:r>
              <a:rPr lang="en-US" sz="1950" dirty="0" spc="-2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bên</a:t>
            </a:r>
            <a:r>
              <a:rPr lang="en-US" sz="1950" dirty="0" spc="10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đăng</a:t>
            </a:r>
            <a:r>
              <a:rPr lang="en-US" sz="1950" dirty="0" spc="-4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ký.</a:t>
            </a:r>
            <a:endParaRPr lang="en-US" sz="1950" dirty="0"/>
          </a:p>
        </p:txBody>
      </p:sp>
      <p:sp>
        <p:nvSpPr>
          <p:cNvPr id="16" name="Text 14"/>
          <p:cNvSpPr/>
          <p:nvPr/>
        </p:nvSpPr>
        <p:spPr>
          <a:xfrm>
            <a:off x="914400" y="6667500"/>
            <a:ext cx="7620000" cy="476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250" b="1" spc="224" kern="0" dirty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NGUỒN</a:t>
            </a:r>
            <a:r>
              <a:rPr lang="en-US" sz="2250" b="1" spc="228" kern="0" dirty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ĐỐI</a:t>
            </a:r>
            <a:r>
              <a:rPr lang="en-US" sz="2250" b="1" spc="227" kern="0" dirty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CHIẾU</a:t>
            </a:r>
            <a:endParaRPr lang="en-US" sz="2250" dirty="0"/>
          </a:p>
        </p:txBody>
      </p:sp>
      <p:sp>
        <p:nvSpPr>
          <p:cNvPr id="17" name="Shape 15"/>
          <p:cNvSpPr/>
          <p:nvPr/>
        </p:nvSpPr>
        <p:spPr>
          <a:xfrm>
            <a:off x="914400" y="7334250"/>
            <a:ext cx="8001000" cy="1047750"/>
          </a:xfrm>
          <a:prstGeom prst="roundRect">
            <a:avLst>
              <a:gd name="adj" fmla="val 18182"/>
            </a:avLst>
          </a:prstGeom>
          <a:solidFill>
            <a:srgbClr val="1E212B"/>
          </a:solidFill>
          <a:ln/>
        </p:spPr>
      </p:sp>
      <p:sp>
        <p:nvSpPr>
          <p:cNvPr id="18" name="Text 16"/>
          <p:cNvSpPr/>
          <p:nvPr/>
        </p:nvSpPr>
        <p:spPr>
          <a:xfrm>
            <a:off x="1238250" y="7334250"/>
            <a:ext cx="7429500" cy="10477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100" dirty="0" spc="-5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ByteByteGo: bài</a:t>
            </a:r>
            <a:r>
              <a:rPr lang="en-US" sz="2100" dirty="0" spc="-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nguồn</a:t>
            </a:r>
            <a:r>
              <a:rPr lang="en-US" sz="2100" dirty="0" spc="-1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tại</a:t>
            </a:r>
            <a:r>
              <a:rPr lang="en-US" sz="2100" dirty="0" spc="0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commit</a:t>
            </a:r>
            <a:r>
              <a:rPr lang="en-US" sz="2100" dirty="0" spc="-5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cố</a:t>
            </a:r>
            <a:r>
              <a:rPr lang="en-US" sz="2100" dirty="0" spc="18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định</a:t>
            </a:r>
            <a:endParaRPr lang="en-US" sz="2100" dirty="0"/>
          </a:p>
        </p:txBody>
      </p:sp>
      <p:sp>
        <p:nvSpPr>
          <p:cNvPr id="19" name="Shape 17"/>
          <p:cNvSpPr/>
          <p:nvPr/>
        </p:nvSpPr>
        <p:spPr>
          <a:xfrm>
            <a:off x="9372600" y="7334250"/>
            <a:ext cx="8001000" cy="1047750"/>
          </a:xfrm>
          <a:prstGeom prst="roundRect">
            <a:avLst>
              <a:gd name="adj" fmla="val 18182"/>
            </a:avLst>
          </a:prstGeom>
          <a:solidFill>
            <a:srgbClr val="1E212B"/>
          </a:solidFill>
          <a:ln/>
        </p:spPr>
      </p:sp>
      <p:sp>
        <p:nvSpPr>
          <p:cNvPr id="20" name="Text 18"/>
          <p:cNvSpPr/>
          <p:nvPr/>
        </p:nvSpPr>
        <p:spPr>
          <a:xfrm>
            <a:off x="9696450" y="7334250"/>
            <a:ext cx="7429500" cy="10477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100" dirty="0" spc="-50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AWS:</a:t>
            </a:r>
            <a:r>
              <a:rPr lang="en-US" sz="2100" dirty="0" spc="-1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tài</a:t>
            </a:r>
            <a:r>
              <a:rPr lang="en-US" sz="2100" dirty="0" spc="0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liệu</a:t>
            </a:r>
            <a:r>
              <a:rPr lang="en-US" sz="2100" dirty="0" spc="-2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các</a:t>
            </a:r>
            <a:r>
              <a:rPr lang="en-US" sz="2100" dirty="0" spc="-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dịch</a:t>
            </a:r>
            <a:r>
              <a:rPr lang="en-US" sz="2100" dirty="0" spc="-2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vụ</a:t>
            </a:r>
            <a:endParaRPr lang="en-US" sz="2100" dirty="0"/>
          </a:p>
        </p:txBody>
      </p:sp>
      <p:sp>
        <p:nvSpPr>
          <p:cNvPr id="21" name="Shape 19"/>
          <p:cNvSpPr/>
          <p:nvPr/>
        </p:nvSpPr>
        <p:spPr>
          <a:xfrm>
            <a:off x="93345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125730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158115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190500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22885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255270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287655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320040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3486150" y="9391650"/>
            <a:ext cx="190500" cy="190500"/>
          </a:xfrm>
          <a:prstGeom prst="ellipse">
            <a:avLst/>
          </a:prstGeom>
          <a:solidFill>
            <a:srgbClr val="FF6A4D"/>
          </a:solidFill>
          <a:ln w="19050">
            <a:solidFill>
              <a:srgbClr val="FF6A4D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914400" y="9715500"/>
            <a:ext cx="6667500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1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65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650" dirty="0" spc="3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33</a:t>
            </a:r>
            <a:r>
              <a:rPr lang="en-US" sz="1650" dirty="0" spc="-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09/09</a:t>
            </a:r>
            <a:endParaRPr lang="en-US" sz="1650" dirty="0"/>
          </a:p>
        </p:txBody>
      </p:sp>
      <p:sp>
        <p:nvSpPr>
          <p:cNvPr id="31" name="Shape 29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32" name="Moda image moda-export-watermark-209c653e-bdc8-4668-9598-b057caf15d12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9</Slides>
  <Notes>9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9</vt:i4>
      </vt:variant>
    </vt:vector>
  </HeadingPairs>
  <TitlesOfParts>
    <vt:vector size="12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2026-10-19T15:28:42Z</dcterms:created>
  <dcterms:modified xsi:type="dcterms:W3CDTF">2026-10-19T15:28:42Z</dcterms:modified>
</cp:coreProperties>
</file>