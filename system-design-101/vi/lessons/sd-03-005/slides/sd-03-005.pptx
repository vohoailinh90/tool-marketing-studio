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 Medium"/>
      <p:regular r:id="rId19"/>
    </p:embeddedFont>
    <p:embeddedFont>
      <p:font typeface="Be Vietnam Pr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9525000" cy="249555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Ngăn</a:t>
            </a:r>
            <a:r>
              <a:rPr lang="en-US" sz="8100" dirty="0" spc="-9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953000"/>
            <a:ext cx="8953500" cy="1238250"/>
          </a:xfrm>
          <a:prstGeom prst="rect">
            <a:avLst/>
          </a:prstGeom>
          <a:noFill/>
          <a:ln/>
        </p:spPr>
        <p:txBody>
          <a:bodyPr wrap="square" lIns="0" tIns="11986" rIns="0" bIns="-11986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31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Chọn công cụ bằng</a:t>
            </a:r>
            <a:r>
              <a:rPr lang="en-US" sz="3150" dirty="0" spc="-6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giấy phép</a:t>
            </a:r>
            <a:endParaRPr lang="en-US" sz="3150" dirty="0"/>
          </a:p>
          <a:p>
            <a:pPr algn="l" indent="0" marL="0">
              <a:lnSpc>
                <a:spcPts val="4253"/>
              </a:lnSpc>
              <a:buNone/>
            </a:pPr>
            <a:r>
              <a:rPr lang="en-US" sz="3150" dirty="0" spc="-3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và</a:t>
            </a:r>
            <a:r>
              <a:rPr lang="en-US" sz="31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3150" dirty="0" spc="-6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phép</a:t>
            </a:r>
            <a:r>
              <a:rPr lang="en-US" sz="3150" dirty="0" spc="1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đo.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666750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Shape 4"/>
          <p:cNvSpPr/>
          <p:nvPr/>
        </p:nvSpPr>
        <p:spPr>
          <a:xfrm>
            <a:off x="10858500" y="14287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858500" y="14287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1277600" y="16002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Giấy</a:t>
            </a:r>
            <a:r>
              <a:rPr lang="en-US" sz="33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 công</a:t>
            </a:r>
            <a:r>
              <a:rPr lang="en-US" sz="33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277600" y="21717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 kho,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858500" y="31813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8500" y="31813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1277600" y="33528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Giấy</a:t>
            </a:r>
            <a:r>
              <a:rPr lang="en-US" sz="33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33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3300" dirty="0" spc="-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1277600" y="39243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Llama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858500" y="49339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58500" y="49339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51054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Tìm kiếm</a:t>
            </a:r>
            <a:r>
              <a:rPr lang="en-US" sz="3300" dirty="0" spc="-2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vector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1277600" y="56769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0858500" y="66865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58500" y="66865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277600" y="68580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</a:t>
            </a:r>
            <a:r>
              <a:rPr lang="en-US" sz="3300" dirty="0" spc="-3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33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33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1277600" y="74295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6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30a944e6-a9d9-400d-ab14-62e494e31b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800" dirty="0" spc="-8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476750"/>
          </a:xfrm>
          <a:prstGeom prst="roundRect">
            <a:avLst>
              <a:gd name="adj" fmla="val 5106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71800"/>
            <a:ext cx="666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0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giấy</a:t>
            </a:r>
            <a:r>
              <a:rPr lang="en-US" sz="60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Của</a:t>
            </a:r>
            <a:r>
              <a:rPr lang="en-US" sz="25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42925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7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2762250"/>
            <a:ext cx="8001000" cy="4476750"/>
          </a:xfrm>
          <a:prstGeom prst="roundRect">
            <a:avLst>
              <a:gd name="adj" fmla="val 5106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2971800"/>
            <a:ext cx="666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</a:t>
            </a:r>
            <a:r>
              <a:rPr lang="en-US" sz="6000" dirty="0" spc="-1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60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kiếm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9753600" y="447675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753600" y="542925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“Mở”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33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mức,</a:t>
            </a:r>
            <a:r>
              <a:rPr lang="en-US" sz="33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kiếm</a:t>
            </a:r>
            <a:r>
              <a:rPr lang="en-US" sz="33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vector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 sót.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Text 22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1bc26bd6-3061-4181-9803-0b09d3436a8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81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GIẤY</a:t>
            </a:r>
            <a:r>
              <a:rPr lang="en-US" sz="1950" spc="225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 CÔNG</a:t>
            </a:r>
            <a:r>
              <a:rPr lang="en-US" sz="1950" spc="227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78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kho,</a:t>
            </a:r>
            <a:r>
              <a:rPr lang="en-US" sz="78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ngoại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60960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9525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971800"/>
            <a:ext cx="5524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Apache-2.0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95400" y="354330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Streamlit,</a:t>
            </a:r>
            <a:r>
              <a:rPr lang="en-US" sz="2250" dirty="0" spc="-1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Metaflow,</a:t>
            </a:r>
            <a:r>
              <a:rPr lang="en-US" sz="22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Milvus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4381500"/>
            <a:ext cx="60960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381500"/>
            <a:ext cx="9525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4591050"/>
            <a:ext cx="5524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MIT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295400" y="516255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FastAPI,</a:t>
            </a:r>
            <a:r>
              <a:rPr lang="en-US" sz="225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Ollama,</a:t>
            </a:r>
            <a:r>
              <a:rPr lang="en-US" sz="2250" dirty="0" spc="-1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Faiss,</a:t>
            </a:r>
            <a:r>
              <a:rPr lang="en-US" sz="2250" dirty="0" spc="-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Next.js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6000750"/>
            <a:ext cx="60960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6000750"/>
            <a:ext cx="9525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210300"/>
            <a:ext cx="5524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Kiểu</a:t>
            </a:r>
            <a:r>
              <a:rPr lang="en-US" sz="33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PostgreSQL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95400" y="678180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pgvector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7239000" y="2762250"/>
            <a:ext cx="10134600" cy="4667250"/>
          </a:xfrm>
          <a:prstGeom prst="roundRect">
            <a:avLst>
              <a:gd name="adj" fmla="val 4898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0" y="2971800"/>
            <a:ext cx="666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4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Weaviate</a:t>
            </a:r>
            <a:endParaRPr lang="en-US" sz="4200" dirty="0"/>
          </a:p>
        </p:txBody>
      </p:sp>
      <p:sp>
        <p:nvSpPr>
          <p:cNvPr id="18" name="Shape 16"/>
          <p:cNvSpPr/>
          <p:nvPr/>
        </p:nvSpPr>
        <p:spPr>
          <a:xfrm>
            <a:off x="7620000" y="3771900"/>
            <a:ext cx="9372600" cy="990600"/>
          </a:xfrm>
          <a:prstGeom prst="roundRect">
            <a:avLst>
              <a:gd name="adj" fmla="val 15385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7886700" y="3962400"/>
            <a:ext cx="323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BSD-3-Clause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1334750" y="3962400"/>
            <a:ext cx="5429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Phần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7620000" y="4914900"/>
            <a:ext cx="9372600" cy="990600"/>
          </a:xfrm>
          <a:prstGeom prst="roundRect">
            <a:avLst>
              <a:gd name="adj" fmla="val 15385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86700" y="5105400"/>
            <a:ext cx="323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</a:t>
            </a:r>
            <a:r>
              <a:rPr lang="en-US" sz="30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30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wl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1334750" y="5105400"/>
            <a:ext cx="5429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Giấy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phép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doanh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nghiệp</a:t>
            </a: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7620000" y="6057900"/>
            <a:ext cx="9372600" cy="990600"/>
          </a:xfrm>
          <a:prstGeom prst="roundRect">
            <a:avLst>
              <a:gd name="adj" fmla="val 15385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86700" y="6248400"/>
            <a:ext cx="323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30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giấy phép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1334750" y="6248400"/>
            <a:ext cx="5429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Bật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tính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năng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doanh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nghiệp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914400" y="7715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3EEE3"/>
          </a:solidFill>
          <a:ln/>
        </p:spPr>
      </p:sp>
      <p:sp>
        <p:nvSpPr>
          <p:cNvPr id="28" name="Text 26"/>
          <p:cNvSpPr/>
          <p:nvPr/>
        </p:nvSpPr>
        <p:spPr>
          <a:xfrm>
            <a:off x="1295400" y="786765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Tính</a:t>
            </a: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r>
              <a:rPr lang="en-US" sz="33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tôi</a:t>
            </a: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nằm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3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kho?</a:t>
            </a:r>
            <a:endParaRPr lang="en-US" sz="3300" dirty="0"/>
          </a:p>
        </p:txBody>
      </p:sp>
      <p:sp>
        <p:nvSpPr>
          <p:cNvPr id="29" name="Shape 2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1" name="Shape 2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3" name="Shape 3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4" name="Shape 3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5" name="Shape 3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6" name="Shape 3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7" name="Shape 3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8" name="Shape 3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9" name="Text 37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3ec42a85-6f7a-4f0d-8022-bcd4db86e20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5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</a:t>
            </a: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7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LLAMA</a:t>
            </a:r>
            <a:r>
              <a:rPr lang="en-US" sz="1950" spc="225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3.3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78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giấy</a:t>
            </a:r>
            <a:r>
              <a:rPr lang="en-US" sz="78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6667500" cy="4476750"/>
          </a:xfrm>
          <a:prstGeom prst="roundRect">
            <a:avLst>
              <a:gd name="adj" fmla="val 5106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28950"/>
            <a:ext cx="5905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dirty="0" spc="-4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700</a:t>
            </a:r>
            <a:r>
              <a:rPr lang="en-US" sz="84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1295400" y="4514850"/>
            <a:ext cx="5905500" cy="952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endParaRPr lang="en-US" sz="2850" dirty="0"/>
          </a:p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hàng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tháng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295400" y="5810250"/>
            <a:ext cx="5905500" cy="7239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6675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810500" y="2762250"/>
            <a:ext cx="9563100" cy="4476750"/>
          </a:xfrm>
          <a:prstGeom prst="roundRect">
            <a:avLst>
              <a:gd name="adj" fmla="val 510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1500" y="30289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48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KHI</a:t>
            </a:r>
            <a:r>
              <a:rPr lang="en-US" sz="1950" spc="150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 PHỐI</a:t>
            </a:r>
            <a:r>
              <a:rPr lang="en-US" sz="1950" spc="151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1950" spc="150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191500" y="36576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029700" y="3657600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4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Kèm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giấy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8191500" y="45529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029700" y="4552950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Ghi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“Built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with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Llama”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8191500" y="54483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029700" y="5448300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Đặt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“Llama”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8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8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8191500" y="63436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29700" y="6343650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5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Tuân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endParaRPr lang="en-US" sz="2850" dirty="0"/>
          </a:p>
        </p:txBody>
      </p:sp>
      <p:sp>
        <p:nvSpPr>
          <p:cNvPr id="19" name="Shape 17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</a:t>
            </a: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33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Apache-2.0</a:t>
            </a:r>
            <a:r>
              <a:rPr lang="en-US" sz="33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MIT.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Text 29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bc481670-8533-4e81-a81e-345275bfdc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TÌM</a:t>
            </a:r>
            <a:r>
              <a:rPr lang="en-US" sz="1950" spc="222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KIẾM</a:t>
            </a:r>
            <a:r>
              <a:rPr lang="en-US" sz="1950" spc="19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VECTOR</a:t>
            </a:r>
            <a:r>
              <a:rPr lang="en-US" sz="1950" spc="226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XẤP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XỈ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Nhanh</a:t>
            </a:r>
            <a:r>
              <a:rPr lang="en-US" sz="78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hơn,</a:t>
            </a:r>
            <a:r>
              <a:rPr lang="en-US" sz="78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78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sót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4667250"/>
          </a:xfrm>
          <a:prstGeom prst="roundRect">
            <a:avLst>
              <a:gd name="adj" fmla="val 489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718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2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 MỤC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0" y="297180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2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NHANH</a:t>
            </a:r>
            <a:r>
              <a:rPr lang="en-US" sz="1800" spc="153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1800" spc="152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1800" spc="136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34500" y="306705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8" name="Text 6"/>
          <p:cNvSpPr/>
          <p:nvPr/>
        </p:nvSpPr>
        <p:spPr>
          <a:xfrm>
            <a:off x="9639300" y="29718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2763500" y="306705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13068300" y="29718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không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</a:t>
            </a:r>
            <a:endParaRPr lang="en-US" sz="1950" dirty="0"/>
          </a:p>
        </p:txBody>
      </p:sp>
      <p:sp>
        <p:nvSpPr>
          <p:cNvPr id="11" name="Connector line-1792288615570-242953646"/>
          <p:cNvSpPr/>
          <p:nvPr/>
        </p:nvSpPr>
        <p:spPr>
          <a:xfrm>
            <a:off x="1295400" y="3467100"/>
            <a:ext cx="15697200" cy="0"/>
          </a:xfrm>
          <a:prstGeom prst="line">
            <a:avLst/>
          </a:prstGeom>
          <a:noFill/>
          <a:ln w="19050">
            <a:solidFill>
              <a:srgbClr val="3A3F50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295400" y="36957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IVF,</a:t>
            </a: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nprobe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95400" y="41910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mục</a:t>
            </a:r>
            <a:r>
              <a:rPr lang="en-US" sz="195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95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334000" y="373380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khoảng</a:t>
            </a:r>
            <a:r>
              <a:rPr lang="en-US" sz="30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90</a:t>
            </a:r>
            <a:r>
              <a:rPr lang="en-US" sz="30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572500" y="3657600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16" name="Shape 14"/>
          <p:cNvSpPr/>
          <p:nvPr/>
        </p:nvSpPr>
        <p:spPr>
          <a:xfrm>
            <a:off x="8572500" y="3657600"/>
            <a:ext cx="6286500" cy="38100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15049500" y="36576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94,3%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8572500" y="4152900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19" name="Shape 17"/>
          <p:cNvSpPr/>
          <p:nvPr/>
        </p:nvSpPr>
        <p:spPr>
          <a:xfrm>
            <a:off x="8572500" y="4152900"/>
            <a:ext cx="247650" cy="381000"/>
          </a:xfrm>
          <a:prstGeom prst="roundRect">
            <a:avLst>
              <a:gd name="adj" fmla="val 30769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9010650" y="41529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3,6%</a:t>
            </a:r>
            <a:endParaRPr lang="en-US" sz="2250" dirty="0"/>
          </a:p>
        </p:txBody>
      </p:sp>
      <p:sp>
        <p:nvSpPr>
          <p:cNvPr id="21" name="Connector line-1792288615581-651394533"/>
          <p:cNvSpPr/>
          <p:nvPr/>
        </p:nvSpPr>
        <p:spPr>
          <a:xfrm>
            <a:off x="1295400" y="4800600"/>
            <a:ext cx="15697200" cy="0"/>
          </a:xfrm>
          <a:prstGeom prst="line">
            <a:avLst/>
          </a:prstGeom>
          <a:noFill/>
          <a:ln w="19050">
            <a:solidFill>
              <a:srgbClr val="3A3F50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1295400" y="501015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IVF,</a:t>
            </a: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nprobe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295400" y="55054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mục</a:t>
            </a:r>
            <a:r>
              <a:rPr lang="en-US" sz="195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95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5334000" y="504825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khoảng</a:t>
            </a:r>
            <a:r>
              <a:rPr lang="en-US" sz="30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30</a:t>
            </a:r>
            <a:r>
              <a:rPr lang="en-US" sz="30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8572500" y="4972050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8572500" y="4972050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15430500" y="49720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100%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8572500" y="5467350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8572500" y="5467350"/>
            <a:ext cx="1019175" cy="381000"/>
          </a:xfrm>
          <a:prstGeom prst="roundRect">
            <a:avLst>
              <a:gd name="adj" fmla="val 20000"/>
            </a:avLst>
          </a:prstGeom>
          <a:solidFill>
            <a:srgbClr val="FF6A4D"/>
          </a:solidFill>
          <a:ln/>
        </p:spPr>
      </p:sp>
      <p:sp>
        <p:nvSpPr>
          <p:cNvPr id="30" name="Text 28"/>
          <p:cNvSpPr/>
          <p:nvPr/>
        </p:nvSpPr>
        <p:spPr>
          <a:xfrm>
            <a:off x="9782175" y="54673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15,3%</a:t>
            </a:r>
            <a:endParaRPr lang="en-US" sz="2250" dirty="0"/>
          </a:p>
        </p:txBody>
      </p:sp>
      <p:sp>
        <p:nvSpPr>
          <p:cNvPr id="31" name="Connector line-1792288615591-713119883"/>
          <p:cNvSpPr/>
          <p:nvPr/>
        </p:nvSpPr>
        <p:spPr>
          <a:xfrm>
            <a:off x="1295400" y="6115050"/>
            <a:ext cx="15697200" cy="0"/>
          </a:xfrm>
          <a:prstGeom prst="line">
            <a:avLst/>
          </a:prstGeom>
          <a:noFill/>
          <a:ln w="19050">
            <a:solidFill>
              <a:srgbClr val="3A3F50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1295400" y="63246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HNSW,</a:t>
            </a: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efSearch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1295400" y="68199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mục</a:t>
            </a:r>
            <a:r>
              <a:rPr lang="en-US" sz="1950" dirty="0" spc="1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95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5334000" y="636270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khoảng</a:t>
            </a:r>
            <a:r>
              <a:rPr lang="en-US" sz="3000" dirty="0" spc="-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40</a:t>
            </a:r>
            <a:r>
              <a:rPr lang="en-US" sz="30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3000" dirty="0"/>
          </a:p>
        </p:txBody>
      </p:sp>
      <p:sp>
        <p:nvSpPr>
          <p:cNvPr id="35" name="Shape 33"/>
          <p:cNvSpPr/>
          <p:nvPr/>
        </p:nvSpPr>
        <p:spPr>
          <a:xfrm>
            <a:off x="8572500" y="6286500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8572500" y="6286500"/>
            <a:ext cx="6657975" cy="38100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</p:sp>
      <p:sp>
        <p:nvSpPr>
          <p:cNvPr id="37" name="Text 35"/>
          <p:cNvSpPr/>
          <p:nvPr/>
        </p:nvSpPr>
        <p:spPr>
          <a:xfrm>
            <a:off x="15430500" y="62865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99,8%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8572500" y="6781800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8572500" y="6781800"/>
            <a:ext cx="3390900" cy="381000"/>
          </a:xfrm>
          <a:prstGeom prst="roundRect">
            <a:avLst>
              <a:gd name="adj" fmla="val 20000"/>
            </a:avLst>
          </a:prstGeom>
          <a:solidFill>
            <a:srgbClr val="FF6A4D"/>
          </a:solidFill>
          <a:ln/>
        </p:spPr>
      </p:sp>
      <p:sp>
        <p:nvSpPr>
          <p:cNvPr id="40" name="Text 38"/>
          <p:cNvSpPr/>
          <p:nvPr/>
        </p:nvSpPr>
        <p:spPr>
          <a:xfrm>
            <a:off x="12153900" y="67818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50,9%</a:t>
            </a:r>
            <a:endParaRPr lang="en-US" sz="2250" dirty="0"/>
          </a:p>
        </p:txBody>
      </p:sp>
      <p:sp>
        <p:nvSpPr>
          <p:cNvPr id="41" name="Shape 39"/>
          <p:cNvSpPr/>
          <p:nvPr/>
        </p:nvSpPr>
        <p:spPr>
          <a:xfrm>
            <a:off x="914400" y="7715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3EEE3"/>
          </a:solidFill>
          <a:ln/>
        </p:spPr>
      </p:sp>
      <p:sp>
        <p:nvSpPr>
          <p:cNvPr id="42" name="Text 40"/>
          <p:cNvSpPr/>
          <p:nvPr/>
        </p:nvSpPr>
        <p:spPr>
          <a:xfrm>
            <a:off x="1295400" y="786765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 cấu</a:t>
            </a:r>
            <a:r>
              <a:rPr lang="en-US" sz="33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hình,</a:t>
            </a:r>
            <a:r>
              <a:rPr lang="en-US" sz="3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phủ</a:t>
            </a:r>
            <a:r>
              <a:rPr lang="en-US" sz="3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33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liệu.</a:t>
            </a:r>
            <a:endParaRPr lang="en-US" sz="3300" dirty="0"/>
          </a:p>
        </p:txBody>
      </p:sp>
      <p:sp>
        <p:nvSpPr>
          <p:cNvPr id="43" name="Shape 4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4" name="Shape 4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5" name="Shape 4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6" name="Shape 4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7" name="Shape 4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8" name="Shape 4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9" name="Shape 4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50" name="Shape 4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51" name="Shape 4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52" name="Shape 5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53" name="Text 51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60113c29-46d6-4782-98d3-43da280775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TÌM</a:t>
            </a:r>
            <a:r>
              <a:rPr lang="en-US" sz="1950" spc="225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1950" spc="210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 KHO</a:t>
            </a:r>
            <a:r>
              <a:rPr lang="en-US" sz="1950" spc="226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78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8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xấp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xỉ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476750"/>
          </a:xfrm>
          <a:prstGeom prst="roundRect">
            <a:avLst>
              <a:gd name="adj" fmla="val 5106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051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 mili</a:t>
            </a:r>
            <a:r>
              <a:rPr lang="en-US" sz="84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1295400" y="46291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khoảng,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 tìm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295400" y="5448300"/>
            <a:ext cx="7239000" cy="190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7150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200.000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64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chiều,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vấn,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372600" y="2762250"/>
            <a:ext cx="8001000" cy="4476750"/>
          </a:xfrm>
          <a:prstGeom prst="roundRect">
            <a:avLst>
              <a:gd name="adj" fmla="val 510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53600" y="30289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3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VỚI</a:t>
            </a:r>
            <a:r>
              <a:rPr lang="en-US" sz="1950" spc="150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</a:t>
            </a:r>
            <a:r>
              <a:rPr lang="en-US" sz="1950" spc="151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CỠ</a:t>
            </a:r>
            <a:r>
              <a:rPr lang="en-US" sz="1950" spc="10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829800" y="4019550"/>
            <a:ext cx="266700" cy="266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0325100" y="3810000"/>
            <a:ext cx="666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 có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cột</a:t>
            </a:r>
            <a:r>
              <a:rPr lang="en-US" sz="28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vector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829800" y="5067300"/>
            <a:ext cx="266700" cy="266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10325100" y="4857750"/>
            <a:ext cx="666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Hoặc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mảng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 nhớ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9829800" y="6115050"/>
            <a:ext cx="266700" cy="266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10325100" y="5905500"/>
            <a:ext cx="666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Khỏi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chỉnh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tham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7715250"/>
            <a:ext cx="15697200" cy="1047750"/>
          </a:xfrm>
          <a:prstGeom prst="rect">
            <a:avLst/>
          </a:prstGeom>
          <a:noFill/>
          <a:ln/>
        </p:spPr>
        <p:txBody>
          <a:bodyPr wrap="square" lIns="0" tIns="6668" rIns="0" bIns="-6668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áp</a:t>
            </a:r>
            <a:r>
              <a:rPr lang="en-US" sz="3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30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 hơn</a:t>
            </a: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nhiều.</a:t>
            </a:r>
            <a:endParaRPr lang="en-US" sz="3000" dirty="0"/>
          </a:p>
          <a:p>
            <a:pPr algn="l" indent="0" marL="0">
              <a:lnSpc>
                <a:spcPts val="3750"/>
              </a:lnSpc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Cũng</a:t>
            </a:r>
            <a:r>
              <a:rPr lang="en-US" sz="3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30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vector</a:t>
            </a: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3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</a:t>
            </a:r>
            <a:r>
              <a:rPr lang="en-US" sz="30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hơn.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Text 27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c5031dbf-dcbe-41e1-a0a5-242be3cc7a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8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chừng</a:t>
            </a:r>
            <a:r>
              <a:rPr lang="en-US" sz="78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mực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86100"/>
            <a:ext cx="24765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04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1950" b="1" spc="14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1950" dirty="0"/>
          </a:p>
        </p:txBody>
      </p:sp>
      <p:sp>
        <p:nvSpPr>
          <p:cNvPr id="6" name="Text richtext-1792288675663-365426735"/>
          <p:cNvSpPr/>
          <p:nvPr/>
        </p:nvSpPr>
        <p:spPr>
          <a:xfrm>
            <a:off x="1295400" y="390525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Chỉ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nói</a:t>
            </a:r>
            <a:r>
              <a:rPr lang="en-US" sz="2700" dirty="0" spc="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7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tệp</a:t>
            </a: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giấy phép viết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 vấn pháp lý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Điều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khoản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 phiên bản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770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3086100"/>
            <a:ext cx="24765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4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1950" b="1" spc="152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950" dirty="0"/>
          </a:p>
        </p:txBody>
      </p:sp>
      <p:sp>
        <p:nvSpPr>
          <p:cNvPr id="9" name="Text richtext-1792288675687-757159380"/>
          <p:cNvSpPr/>
          <p:nvPr/>
        </p:nvSpPr>
        <p:spPr>
          <a:xfrm>
            <a:off x="6858000" y="390525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Dữ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7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tổng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hợp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cấu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</a:t>
            </a:r>
            <a:r>
              <a:rPr lang="en-US" sz="2700" dirty="0" spc="2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cứng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 viện: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Faiss 1.15.1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0396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F8D9D0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086100"/>
            <a:ext cx="2476500" cy="533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43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b="1" spc="14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1950" dirty="0"/>
          </a:p>
        </p:txBody>
      </p:sp>
      <p:sp>
        <p:nvSpPr>
          <p:cNvPr id="12" name="Text richtext-1792288675697-511640191"/>
          <p:cNvSpPr/>
          <p:nvPr/>
        </p:nvSpPr>
        <p:spPr>
          <a:xfrm>
            <a:off x="12420600" y="390525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7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so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Milvus,</a:t>
            </a:r>
            <a:r>
              <a:rPr lang="en-US" sz="2700" dirty="0" spc="-3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Weaviate,</a:t>
            </a:r>
            <a:r>
              <a:rPr lang="en-US" sz="27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pgvector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 hình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nhúng thật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</a:t>
            </a:r>
            <a:r>
              <a:rPr lang="en-US" sz="27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lượng</a:t>
            </a:r>
            <a:r>
              <a:rPr lang="en-US" sz="27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câu trả lời RAG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giấy</a:t>
            </a:r>
            <a:r>
              <a:rPr lang="en-US" sz="33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phép,</a:t>
            </a:r>
            <a:r>
              <a:rPr lang="en-US" sz="33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3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33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33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 của bạn.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Text 23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499b770-5a35-4302-816d-4aacac343e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8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5905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004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8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14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3771900"/>
            <a:ext cx="5334000" cy="4572000"/>
          </a:xfrm>
          <a:prstGeom prst="rect">
            <a:avLst/>
          </a:prstGeom>
          <a:noFill/>
          <a:ln/>
        </p:spPr>
        <p:txBody>
          <a:bodyPr wrap="square" lIns="0" tIns="11986" rIns="0" bIns="-11986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31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31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50.000</a:t>
            </a:r>
            <a:r>
              <a:rPr lang="en-US" sz="31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đoạn</a:t>
            </a:r>
            <a:r>
              <a:rPr lang="en-US" sz="31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văn</a:t>
            </a:r>
            <a:r>
              <a:rPr lang="en-US" sz="3150" dirty="0" spc="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31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31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vector.</a:t>
            </a:r>
            <a:r>
              <a:rPr lang="en-US" sz="3150" dirty="0" spc="-2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31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3150" dirty="0" spc="2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dựng</a:t>
            </a:r>
            <a:r>
              <a:rPr lang="en-US" sz="31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cơ</a:t>
            </a:r>
            <a:r>
              <a:rPr lang="en-US" sz="31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sở</a:t>
            </a:r>
            <a:r>
              <a:rPr lang="en-US" sz="31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31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31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vector</a:t>
            </a:r>
            <a:r>
              <a:rPr lang="en-US" sz="31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riêng,</a:t>
            </a:r>
            <a:r>
              <a:rPr lang="en-US" sz="31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nên</a:t>
            </a:r>
            <a:r>
              <a:rPr lang="en-US" sz="31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31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gì?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32004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150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001000" y="3848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8877300" y="3771900"/>
            <a:ext cx="811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30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30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877300" y="4305300"/>
            <a:ext cx="8115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250" dirty="0" spc="2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dirty="0" spc="-1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-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-1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001000" y="54673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8877300" y="5391150"/>
            <a:ext cx="811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30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xấp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xỉ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 độ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877300" y="5924550"/>
            <a:ext cx="8115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22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250" dirty="0" spc="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001000" y="7086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8877300" y="7010400"/>
            <a:ext cx="811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giấy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877300" y="7543800"/>
            <a:ext cx="8115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Kể</a:t>
            </a:r>
            <a:r>
              <a:rPr lang="en-US" sz="22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 phần</a:t>
            </a:r>
            <a:r>
              <a:rPr lang="en-US" sz="22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250" dirty="0" spc="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9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2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9" name="Text 27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78d039f6-fd9c-4fb1-bb72-1c34442ba7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78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đo,</a:t>
            </a:r>
            <a:r>
              <a:rPr lang="en-US" sz="78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8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8610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52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 ĐO</a:t>
            </a:r>
            <a:endParaRPr lang="en-US" sz="1950" dirty="0"/>
          </a:p>
        </p:txBody>
      </p:sp>
      <p:sp>
        <p:nvSpPr>
          <p:cNvPr id="6" name="Text richtext-1792288731329-890851108"/>
          <p:cNvSpPr/>
          <p:nvPr/>
        </p:nvSpPr>
        <p:spPr>
          <a:xfrm>
            <a:off x="1295400" y="390525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Cài</a:t>
            </a:r>
            <a:r>
              <a:rPr lang="en-US" sz="27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numpy</a:t>
            </a:r>
            <a:r>
              <a:rPr lang="en-US" sz="270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faiss-cpu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Tìm chính</a:t>
            </a:r>
            <a:r>
              <a:rPr lang="en-US" sz="270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xác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 chuẩn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So</a:t>
            </a:r>
            <a:r>
              <a:rPr lang="en-US" sz="2700" dirty="0" spc="-3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mục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 chuẩn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770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3086100"/>
            <a:ext cx="2857500" cy="533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51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950" b="1" spc="152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b="1" spc="14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9" name="Text richtext-1792288731341-706197276"/>
          <p:cNvSpPr/>
          <p:nvPr/>
        </p:nvSpPr>
        <p:spPr>
          <a:xfrm>
            <a:off x="6858000" y="390525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Mistral,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Qwen,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Phi,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Gemma: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giấy phép riêng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Nhiều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 của bài nguồn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Câu</a:t>
            </a:r>
            <a:r>
              <a:rPr lang="en-US" sz="27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“tốt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nhất”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thiếu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 kiện so sánh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0396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086100"/>
            <a:ext cx="34290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53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b="1" spc="81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1950" b="1" spc="15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spc="151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950" dirty="0"/>
          </a:p>
        </p:txBody>
      </p:sp>
      <p:sp>
        <p:nvSpPr>
          <p:cNvPr id="12" name="Text richtext-1792288731352-311974592"/>
          <p:cNvSpPr/>
          <p:nvPr/>
        </p:nvSpPr>
        <p:spPr>
          <a:xfrm>
            <a:off x="12420600" y="390525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Độ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phủ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giống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hệt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 lần chạy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8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Tốc</a:t>
            </a:r>
            <a:r>
              <a:rPr lang="en-US" sz="270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dao</a:t>
            </a:r>
            <a:r>
              <a:rPr lang="en-US" sz="270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7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lần chạy và máy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Nên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</a:t>
            </a:r>
            <a:r>
              <a:rPr lang="en-US" sz="270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mức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gần đúng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Danh</a:t>
            </a: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 chỉ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 dụ,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 khuyến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nghị.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Text 23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e086a308-b549-4ffe-8635-fd798ba9f0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3124200" cy="2209800"/>
          </a:xfrm>
          <a:prstGeom prst="roundRect">
            <a:avLst>
              <a:gd name="adj" fmla="val 689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2667000"/>
            <a:ext cx="27432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66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endParaRPr lang="en-US" sz="3866" dirty="0"/>
          </a:p>
        </p:txBody>
      </p:sp>
      <p:sp>
        <p:nvSpPr>
          <p:cNvPr id="6" name="Text 4"/>
          <p:cNvSpPr/>
          <p:nvPr/>
        </p:nvSpPr>
        <p:spPr>
          <a:xfrm>
            <a:off x="1104900" y="3295650"/>
            <a:ext cx="2743200" cy="13906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1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Artificial</a:t>
            </a:r>
            <a:r>
              <a:rPr lang="en-US" sz="1650" dirty="0" spc="-8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Intelligence</a:t>
            </a:r>
            <a:endParaRPr lang="en-US" sz="165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tuệ</a:t>
            </a: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4248150" y="2552700"/>
            <a:ext cx="3124200" cy="2209800"/>
          </a:xfrm>
          <a:prstGeom prst="roundRect">
            <a:avLst>
              <a:gd name="adj" fmla="val 6897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4438650" y="2667000"/>
            <a:ext cx="27432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66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RAG</a:t>
            </a:r>
            <a:endParaRPr lang="en-US" sz="3866" dirty="0"/>
          </a:p>
        </p:txBody>
      </p:sp>
      <p:sp>
        <p:nvSpPr>
          <p:cNvPr id="9" name="Text 7"/>
          <p:cNvSpPr/>
          <p:nvPr/>
        </p:nvSpPr>
        <p:spPr>
          <a:xfrm>
            <a:off x="4438650" y="3295650"/>
            <a:ext cx="2743200" cy="13906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13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Retrieval-Augmented</a:t>
            </a:r>
            <a:r>
              <a:rPr lang="en-US" sz="1650" dirty="0" spc="-9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Generation</a:t>
            </a:r>
            <a:endParaRPr lang="en-US" sz="165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6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1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cường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581900" y="2552700"/>
            <a:ext cx="3124200" cy="2209800"/>
          </a:xfrm>
          <a:prstGeom prst="roundRect">
            <a:avLst>
              <a:gd name="adj" fmla="val 6897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2667000"/>
            <a:ext cx="27432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66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866" dirty="0"/>
          </a:p>
        </p:txBody>
      </p:sp>
      <p:sp>
        <p:nvSpPr>
          <p:cNvPr id="12" name="Text 10"/>
          <p:cNvSpPr/>
          <p:nvPr/>
        </p:nvSpPr>
        <p:spPr>
          <a:xfrm>
            <a:off x="7772400" y="3295650"/>
            <a:ext cx="2743200" cy="13906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4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Application</a:t>
            </a:r>
            <a:r>
              <a:rPr lang="en-US" sz="1650" dirty="0" spc="-8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Programming</a:t>
            </a:r>
            <a:r>
              <a:rPr lang="en-US" sz="1650" dirty="0" spc="-6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Interface</a:t>
            </a:r>
            <a:endParaRPr lang="en-US" sz="165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1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915650" y="2552700"/>
            <a:ext cx="3124200" cy="2209800"/>
          </a:xfrm>
          <a:prstGeom prst="roundRect">
            <a:avLst>
              <a:gd name="adj" fmla="val 6897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106150" y="2667000"/>
            <a:ext cx="27432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66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3866" dirty="0"/>
          </a:p>
        </p:txBody>
      </p:sp>
      <p:sp>
        <p:nvSpPr>
          <p:cNvPr id="15" name="Text 13"/>
          <p:cNvSpPr/>
          <p:nvPr/>
        </p:nvSpPr>
        <p:spPr>
          <a:xfrm>
            <a:off x="11106150" y="3295650"/>
            <a:ext cx="2743200" cy="13906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6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Structured</a:t>
            </a:r>
            <a:r>
              <a:rPr lang="en-US" sz="1650" dirty="0" spc="1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Query</a:t>
            </a:r>
            <a:r>
              <a:rPr lang="en-US" sz="1650" dirty="0" spc="-7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Language</a:t>
            </a:r>
            <a:endParaRPr lang="en-US" sz="165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4249400" y="2552700"/>
            <a:ext cx="3124200" cy="2209800"/>
          </a:xfrm>
          <a:prstGeom prst="roundRect">
            <a:avLst>
              <a:gd name="adj" fmla="val 6897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4439900" y="2667000"/>
            <a:ext cx="27432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66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endParaRPr lang="en-US" sz="3866" dirty="0"/>
          </a:p>
        </p:txBody>
      </p:sp>
      <p:sp>
        <p:nvSpPr>
          <p:cNvPr id="18" name="Text 16"/>
          <p:cNvSpPr/>
          <p:nvPr/>
        </p:nvSpPr>
        <p:spPr>
          <a:xfrm>
            <a:off x="14439900" y="3295650"/>
            <a:ext cx="2743200" cy="13906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24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Large</a:t>
            </a:r>
            <a:r>
              <a:rPr lang="en-US" sz="1650" dirty="0" spc="-7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Language</a:t>
            </a:r>
            <a:r>
              <a:rPr lang="en-US" sz="1650" dirty="0" spc="-5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Model</a:t>
            </a:r>
            <a:endParaRPr lang="en-US" sz="165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 lớn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14400" y="4914900"/>
            <a:ext cx="3124200" cy="2209800"/>
          </a:xfrm>
          <a:prstGeom prst="roundRect">
            <a:avLst>
              <a:gd name="adj" fmla="val 6897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" y="5029200"/>
            <a:ext cx="27432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66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OSI</a:t>
            </a:r>
            <a:endParaRPr lang="en-US" sz="3866" dirty="0"/>
          </a:p>
        </p:txBody>
      </p:sp>
      <p:sp>
        <p:nvSpPr>
          <p:cNvPr id="21" name="Text 19"/>
          <p:cNvSpPr/>
          <p:nvPr/>
        </p:nvSpPr>
        <p:spPr>
          <a:xfrm>
            <a:off x="1104900" y="5657850"/>
            <a:ext cx="2743200" cy="13906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3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Open</a:t>
            </a:r>
            <a:r>
              <a:rPr lang="en-US" sz="1650" dirty="0" spc="-8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Source</a:t>
            </a:r>
            <a:r>
              <a:rPr lang="en-US" sz="1650" dirty="0" spc="-7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Initiative</a:t>
            </a:r>
            <a:endParaRPr lang="en-US" sz="165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10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1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1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4248150" y="4914900"/>
            <a:ext cx="3124200" cy="2209800"/>
          </a:xfrm>
          <a:prstGeom prst="roundRect">
            <a:avLst>
              <a:gd name="adj" fmla="val 6897"/>
            </a:avLst>
          </a:prstGeom>
          <a:solidFill>
            <a:srgbClr val="1E212B"/>
          </a:solidFill>
          <a:ln/>
        </p:spPr>
      </p:sp>
      <p:sp>
        <p:nvSpPr>
          <p:cNvPr id="23" name="Text 21"/>
          <p:cNvSpPr/>
          <p:nvPr/>
        </p:nvSpPr>
        <p:spPr>
          <a:xfrm>
            <a:off x="4438650" y="5029200"/>
            <a:ext cx="27432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66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MIT</a:t>
            </a:r>
            <a:endParaRPr lang="en-US" sz="3866" dirty="0"/>
          </a:p>
        </p:txBody>
      </p:sp>
      <p:sp>
        <p:nvSpPr>
          <p:cNvPr id="24" name="Text 22"/>
          <p:cNvSpPr/>
          <p:nvPr/>
        </p:nvSpPr>
        <p:spPr>
          <a:xfrm>
            <a:off x="4438650" y="5657850"/>
            <a:ext cx="2743200" cy="13906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5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Massachusetts Institute</a:t>
            </a:r>
            <a:r>
              <a:rPr lang="en-US" sz="1650" dirty="0" spc="-2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of</a:t>
            </a:r>
            <a:r>
              <a:rPr lang="en-US" sz="1650" dirty="0" spc="-17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Technology</a:t>
            </a:r>
            <a:endParaRPr lang="en-US" sz="165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MIT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7581900" y="4914900"/>
            <a:ext cx="3124200" cy="2209800"/>
          </a:xfrm>
          <a:prstGeom prst="roundRect">
            <a:avLst>
              <a:gd name="adj" fmla="val 6897"/>
            </a:avLst>
          </a:prstGeom>
          <a:solidFill>
            <a:srgbClr val="1E212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5029200"/>
            <a:ext cx="27432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66" dirty="0" spc="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BSD</a:t>
            </a:r>
            <a:endParaRPr lang="en-US" sz="3866" dirty="0"/>
          </a:p>
        </p:txBody>
      </p:sp>
      <p:sp>
        <p:nvSpPr>
          <p:cNvPr id="27" name="Text 25"/>
          <p:cNvSpPr/>
          <p:nvPr/>
        </p:nvSpPr>
        <p:spPr>
          <a:xfrm>
            <a:off x="7772400" y="5657850"/>
            <a:ext cx="2743200" cy="13906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18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Berkeley</a:t>
            </a:r>
            <a:r>
              <a:rPr lang="en-US" sz="1650" dirty="0" spc="-12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Software</a:t>
            </a:r>
            <a:r>
              <a:rPr lang="en-US" sz="1650" dirty="0" spc="0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Distribution</a:t>
            </a:r>
            <a:endParaRPr lang="en-US" sz="165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BSD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0915650" y="4914900"/>
            <a:ext cx="3124200" cy="2209800"/>
          </a:xfrm>
          <a:prstGeom prst="roundRect">
            <a:avLst>
              <a:gd name="adj" fmla="val 6897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11106150" y="5029200"/>
            <a:ext cx="27432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66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IVF</a:t>
            </a:r>
            <a:endParaRPr lang="en-US" sz="3866" dirty="0"/>
          </a:p>
        </p:txBody>
      </p:sp>
      <p:sp>
        <p:nvSpPr>
          <p:cNvPr id="30" name="Text 28"/>
          <p:cNvSpPr/>
          <p:nvPr/>
        </p:nvSpPr>
        <p:spPr>
          <a:xfrm>
            <a:off x="11106150" y="5657850"/>
            <a:ext cx="2743200" cy="13906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15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InVerted</a:t>
            </a:r>
            <a:r>
              <a:rPr lang="en-US" sz="1650" dirty="0" spc="-2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File</a:t>
            </a:r>
            <a:endParaRPr lang="en-US" sz="165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7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1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4249400" y="4914900"/>
            <a:ext cx="3124200" cy="2209800"/>
          </a:xfrm>
          <a:prstGeom prst="roundRect">
            <a:avLst>
              <a:gd name="adj" fmla="val 6897"/>
            </a:avLst>
          </a:prstGeom>
          <a:solidFill>
            <a:srgbClr val="1E212B"/>
          </a:solidFill>
          <a:ln/>
        </p:spPr>
      </p:sp>
      <p:sp>
        <p:nvSpPr>
          <p:cNvPr id="32" name="Text 30"/>
          <p:cNvSpPr/>
          <p:nvPr/>
        </p:nvSpPr>
        <p:spPr>
          <a:xfrm>
            <a:off x="14439900" y="5029200"/>
            <a:ext cx="27432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66" dirty="0" spc="-2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HNSW</a:t>
            </a:r>
            <a:endParaRPr lang="en-US" sz="3866" dirty="0"/>
          </a:p>
        </p:txBody>
      </p:sp>
      <p:sp>
        <p:nvSpPr>
          <p:cNvPr id="33" name="Text 31"/>
          <p:cNvSpPr/>
          <p:nvPr/>
        </p:nvSpPr>
        <p:spPr>
          <a:xfrm>
            <a:off x="14439900" y="5657850"/>
            <a:ext cx="2743200" cy="13906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9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Hierarchical</a:t>
            </a:r>
            <a:r>
              <a:rPr lang="en-US" sz="1650" dirty="0" spc="-7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Navigable</a:t>
            </a:r>
            <a:r>
              <a:rPr lang="en-US" sz="1650" dirty="0" spc="-2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Small</a:t>
            </a:r>
            <a:r>
              <a:rPr lang="en-US" sz="1650" dirty="0" spc="-16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World</a:t>
            </a:r>
            <a:endParaRPr lang="en-US" sz="165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 nhỏ</a:t>
            </a:r>
            <a:r>
              <a:rPr lang="en-US" sz="21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914400" y="7391400"/>
            <a:ext cx="16459200" cy="1562100"/>
          </a:xfrm>
          <a:prstGeom prst="roundRect">
            <a:avLst>
              <a:gd name="adj" fmla="val 14634"/>
            </a:avLst>
          </a:prstGeom>
          <a:solidFill>
            <a:srgbClr val="1E212B"/>
          </a:solidFill>
          <a:ln/>
        </p:spPr>
      </p:sp>
      <p:sp>
        <p:nvSpPr>
          <p:cNvPr id="35" name="Text 33"/>
          <p:cNvSpPr/>
          <p:nvPr/>
        </p:nvSpPr>
        <p:spPr>
          <a:xfrm>
            <a:off x="1295400" y="756285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1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753600" y="75628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dirty="0" spc="-7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195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950" dirty="0" spc="6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15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950" dirty="0" spc="15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950" dirty="0" spc="-8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-1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2026-10-16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295400" y="8172450"/>
            <a:ext cx="4381500" cy="419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•</a:t>
            </a:r>
            <a:r>
              <a:rPr lang="en-US" sz="21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ByteByteGo:</a:t>
            </a:r>
            <a:r>
              <a:rPr lang="en-US" sz="21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1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5905500" y="8172450"/>
            <a:ext cx="5334000" cy="419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•</a:t>
            </a:r>
            <a:r>
              <a:rPr lang="en-US" sz="2100" dirty="0" spc="-5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Tệp</a:t>
            </a:r>
            <a:r>
              <a:rPr lang="en-US" sz="21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giấy</a:t>
            </a:r>
            <a:r>
              <a:rPr lang="en-US" sz="21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phép</a:t>
            </a: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1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</a:t>
            </a: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1430000" y="8172450"/>
            <a:ext cx="5715000" cy="419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•</a:t>
            </a:r>
            <a:r>
              <a:rPr lang="en-US" sz="21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Giấy</a:t>
            </a:r>
            <a:r>
              <a:rPr lang="en-US" sz="21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phép</a:t>
            </a:r>
            <a:r>
              <a:rPr lang="en-US" sz="21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Llama</a:t>
            </a:r>
            <a:r>
              <a:rPr lang="en-US" sz="21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3.3; OSI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1" name="Shape 3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2" name="Shape 4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3" name="Shape 4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4" name="Shape 4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5" name="Shape 4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6" name="Shape 4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7" name="Shape 4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8" name="Shape 4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9" name="Shape 4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0" name="Text 48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db20bdf5-bda1-405a-8f92-f2da6e63a8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2026-10-18T06:48:28Z</dcterms:created>
  <dcterms:modified xsi:type="dcterms:W3CDTF">2026-10-18T06:48:28Z</dcterms:modified>
</cp:coreProperties>
</file>