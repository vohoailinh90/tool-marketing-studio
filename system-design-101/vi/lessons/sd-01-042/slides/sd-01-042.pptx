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  <p:embeddedFont>
      <p:font typeface="Roboto Mono"/>
      <p:bold r:id="rId19"/>
    </p:embeddedFont>
    <p:embeddedFont>
      <p:font typeface="Be Vietnam Pro Semi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906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8572500" cy="4972050"/>
          </a:xfrm>
          <a:prstGeom prst="rect">
            <a:avLst/>
          </a:prstGeom>
          <a:noFill/>
          <a:ln/>
        </p:spPr>
        <p:txBody>
          <a:bodyPr wrap="square" lIns="0" tIns="77152" rIns="0" bIns="-77152" rtlCol="0" anchor="t"/>
          <a:lstStyle/>
          <a:p>
            <a:pPr algn="l" indent="0" marL="0">
              <a:lnSpc>
                <a:spcPts val="8262"/>
              </a:lnSpc>
              <a:buNone/>
            </a:pP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r>
              <a:rPr lang="en-US" sz="8100" dirty="0" spc="-6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gateway: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chọn</a:t>
            </a:r>
            <a:r>
              <a:rPr lang="en-US" sz="81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đích,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áp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chính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sách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6096000"/>
            <a:ext cx="8191500" cy="104775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00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cửa</a:t>
            </a:r>
            <a:r>
              <a:rPr lang="en-US" sz="30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vào,</a:t>
            </a:r>
            <a:r>
              <a:rPr lang="en-US" sz="3000" dirty="0" spc="-2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30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 khác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</a:t>
            </a:r>
            <a:endParaRPr lang="en-US" sz="3000" dirty="0"/>
          </a:p>
        </p:txBody>
      </p:sp>
      <p:sp>
        <p:nvSpPr>
          <p:cNvPr id="5" name="Connector line-1792372831639-979041521"/>
          <p:cNvSpPr/>
          <p:nvPr/>
        </p:nvSpPr>
        <p:spPr>
          <a:xfrm>
            <a:off x="914400" y="7429500"/>
            <a:ext cx="8229600" cy="0"/>
          </a:xfrm>
          <a:prstGeom prst="line">
            <a:avLst/>
          </a:prstGeom>
          <a:noFill/>
          <a:ln w="19050">
            <a:solidFill>
              <a:srgbClr val="2C303C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715250"/>
            <a:ext cx="819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vụ,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áp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sách,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10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ranh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62025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287000" y="1714500"/>
            <a:ext cx="3048000" cy="1047750"/>
          </a:xfrm>
          <a:prstGeom prst="roundRect">
            <a:avLst>
              <a:gd name="adj" fmla="val 18182"/>
            </a:avLst>
          </a:prstGeom>
          <a:solidFill>
            <a:srgbClr val="1E212B"/>
          </a:solidFill>
          <a:ln w="19050">
            <a:solidFill>
              <a:srgbClr val="5A5F7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0287000" y="4000500"/>
            <a:ext cx="3048000" cy="13335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r>
              <a:rPr lang="en-US" sz="30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gateway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4287500" y="2857500"/>
            <a:ext cx="308610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Danh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4287500" y="5334000"/>
            <a:ext cx="308610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Mượn</a:t>
            </a:r>
            <a:r>
              <a:rPr lang="en-US" sz="25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endParaRPr lang="en-US" sz="2550" dirty="0"/>
          </a:p>
        </p:txBody>
      </p:sp>
      <p:sp>
        <p:nvSpPr>
          <p:cNvPr id="12" name="Connector line-1792372831663-493601323"/>
          <p:cNvSpPr/>
          <p:nvPr/>
        </p:nvSpPr>
        <p:spPr>
          <a:xfrm>
            <a:off x="11811000" y="2762250"/>
            <a:ext cx="0" cy="1238250"/>
          </a:xfrm>
          <a:prstGeom prst="line">
            <a:avLst/>
          </a:prstGeom>
          <a:noFill/>
          <a:ln w="38100">
            <a:solidFill>
              <a:srgbClr val="9AA0B5"/>
            </a:solidFill>
            <a:prstDash val="solid"/>
            <a:headEnd type="none"/>
            <a:tailEnd type="triangle" w="lg" len="lg"/>
          </a:ln>
        </p:spPr>
      </p:sp>
      <p:sp>
        <p:nvSpPr>
          <p:cNvPr id="13" name="Connector line-1792372831664-555548445"/>
          <p:cNvSpPr/>
          <p:nvPr/>
        </p:nvSpPr>
        <p:spPr>
          <a:xfrm flipV="1">
            <a:off x="13335000" y="3476625"/>
            <a:ext cx="952500" cy="1190625"/>
          </a:xfrm>
          <a:prstGeom prst="curvedConnector3">
            <a:avLst/>
          </a:prstGeom>
          <a:noFill/>
          <a:ln w="38100">
            <a:solidFill>
              <a:srgbClr val="3DD6A0"/>
            </a:solidFill>
            <a:prstDash val="solid"/>
            <a:headEnd type="none"/>
            <a:tailEnd type="triangle" w="lg" len="lg"/>
          </a:ln>
        </p:spPr>
      </p:sp>
      <p:sp>
        <p:nvSpPr>
          <p:cNvPr id="14" name="Connector line-1792372831664-88645804"/>
          <p:cNvSpPr/>
          <p:nvPr/>
        </p:nvSpPr>
        <p:spPr>
          <a:xfrm>
            <a:off x="13335000" y="4667250"/>
            <a:ext cx="952500" cy="1285875"/>
          </a:xfrm>
          <a:prstGeom prst="curvedConnector3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triangle" w="lg" len="lg"/>
          </a:ln>
        </p:spPr>
      </p:sp>
      <p:sp>
        <p:nvSpPr>
          <p:cNvPr id="15" name="Text 13"/>
          <p:cNvSpPr/>
          <p:nvPr/>
        </p:nvSpPr>
        <p:spPr>
          <a:xfrm>
            <a:off x="14287500" y="2381250"/>
            <a:ext cx="3086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kern="0">
                <a:solidFill>
                  <a:srgbClr val="3DD6A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/books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4287500" y="6667500"/>
            <a:ext cx="3086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kern="0">
                <a:solidFill>
                  <a:srgbClr val="7C93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/loans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cbab7866-9616-4c50-be6e-a92d3e866a5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BỐI</a:t>
            </a:r>
            <a:r>
              <a:rPr lang="en-US" sz="1800" b="1" spc="28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cổng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chung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69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ứng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429000"/>
            <a:ext cx="4762500" cy="2857500"/>
          </a:xfrm>
          <a:prstGeom prst="roundRect">
            <a:avLst>
              <a:gd name="adj" fmla="val 93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714750"/>
            <a:ext cx="400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8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1950" b="1" spc="15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1950" b="1" spc="15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1950" b="1" spc="15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endParaRPr lang="en-US" sz="1950" dirty="0"/>
          </a:p>
        </p:txBody>
      </p:sp>
      <p:sp>
        <p:nvSpPr>
          <p:cNvPr id="6" name="Text richtext-1792372845777-686483268"/>
          <p:cNvSpPr/>
          <p:nvPr/>
        </p:nvSpPr>
        <p:spPr>
          <a:xfrm>
            <a:off x="1295400" y="4286250"/>
            <a:ext cx="4000500" cy="17145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marL="342900" indent="-244981">
              <a:lnSpc>
                <a:spcPts val="3780"/>
              </a:lnSpc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endParaRPr lang="en-US" sz="2700" dirty="0"/>
          </a:p>
          <a:p>
            <a:pPr algn="l" marL="342900" indent="-244981">
              <a:lnSpc>
                <a:spcPts val="3780"/>
              </a:lnSpc>
              <a:buSzPct val="100000"/>
              <a:buFont typeface="Arial"/>
              <a:buChar char="•"/>
            </a:pPr>
            <a:r>
              <a:rPr lang="en-US" sz="2700" dirty="0" spc="-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phiếu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mượn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762750" y="3429000"/>
            <a:ext cx="4762500" cy="2857500"/>
          </a:xfrm>
          <a:prstGeom prst="roundRect">
            <a:avLst>
              <a:gd name="adj" fmla="val 9333"/>
            </a:avLst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7143750" y="3714750"/>
            <a:ext cx="400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CỔNG CHUNG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143750" y="4286250"/>
            <a:ext cx="4000500" cy="1714500"/>
          </a:xfrm>
          <a:prstGeom prst="rect">
            <a:avLst/>
          </a:prstGeom>
          <a:noFill/>
          <a:ln/>
        </p:spPr>
        <p:txBody>
          <a:bodyPr wrap="square" lIns="0" tIns="26670" rIns="0" bIns="-2667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r>
              <a:rPr lang="en-US" sz="4200" dirty="0" spc="-3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gateway</a:t>
            </a:r>
            <a:endParaRPr lang="en-US" sz="4200" dirty="0"/>
          </a:p>
        </p:txBody>
      </p:sp>
      <p:sp>
        <p:nvSpPr>
          <p:cNvPr id="10" name="Shape 8"/>
          <p:cNvSpPr/>
          <p:nvPr/>
        </p:nvSpPr>
        <p:spPr>
          <a:xfrm>
            <a:off x="12611100" y="3429000"/>
            <a:ext cx="4762500" cy="2857500"/>
          </a:xfrm>
          <a:prstGeom prst="roundRect">
            <a:avLst>
              <a:gd name="adj" fmla="val 93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92100" y="3714750"/>
            <a:ext cx="400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4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1950" b="1" spc="15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1950" b="1" spc="8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endParaRPr lang="en-US" sz="1950" dirty="0"/>
          </a:p>
        </p:txBody>
      </p:sp>
      <p:sp>
        <p:nvSpPr>
          <p:cNvPr id="12" name="Text richtext-1792372845810-318410639"/>
          <p:cNvSpPr/>
          <p:nvPr/>
        </p:nvSpPr>
        <p:spPr>
          <a:xfrm>
            <a:off x="12992100" y="4286250"/>
            <a:ext cx="4000500" cy="17145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marL="342900" indent="-244981">
              <a:lnSpc>
                <a:spcPts val="3780"/>
              </a:lnSpc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270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endParaRPr lang="en-US" sz="2700" dirty="0"/>
          </a:p>
          <a:p>
            <a:pPr algn="l" marL="342900" indent="-244981">
              <a:lnSpc>
                <a:spcPts val="3780"/>
              </a:lnSpc>
              <a:buSzPct val="100000"/>
              <a:buFont typeface="Arial"/>
              <a:buChar char="•"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Áp chính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endParaRPr lang="en-US" sz="2700" dirty="0"/>
          </a:p>
        </p:txBody>
      </p:sp>
      <p:sp>
        <p:nvSpPr>
          <p:cNvPr id="13" name="Connector line-1792372845815-633946273"/>
          <p:cNvSpPr/>
          <p:nvPr/>
        </p:nvSpPr>
        <p:spPr>
          <a:xfrm>
            <a:off x="5676900" y="4857750"/>
            <a:ext cx="10858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4" name="Connector line-1792372845815-357256729"/>
          <p:cNvSpPr/>
          <p:nvPr/>
        </p:nvSpPr>
        <p:spPr>
          <a:xfrm>
            <a:off x="11525250" y="4857750"/>
            <a:ext cx="10858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14400" y="70485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3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Gateway</a:t>
            </a:r>
            <a:r>
              <a:rPr lang="en-US" sz="2850" dirty="0" spc="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dựa</a:t>
            </a:r>
            <a:r>
              <a:rPr lang="en-US" sz="28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tắc</a:t>
            </a:r>
            <a:r>
              <a:rPr lang="en-US" sz="2850" dirty="0" spc="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đã</a:t>
            </a:r>
            <a:r>
              <a:rPr lang="en-US" sz="28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cấu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hình.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3da5eec9-1fe0-40e3-a2e2-d6f58ffc177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 ·</a:t>
            </a:r>
            <a:r>
              <a:rPr lang="en-US" sz="180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 DỊCH</a:t>
            </a:r>
            <a:r>
              <a:rPr lang="en-US" sz="1800" b="1" spc="30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Định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tuyến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69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loại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yêu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16459200" cy="1714500"/>
          </a:xfrm>
          <a:prstGeom prst="roundRect">
            <a:avLst>
              <a:gd name="adj" fmla="val 15556"/>
            </a:avLst>
          </a:prstGeom>
          <a:solidFill>
            <a:srgbClr val="CFE8E2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143250"/>
            <a:ext cx="1333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6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2857500" y="3219450"/>
            <a:ext cx="8572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 spc="-2" kern="0">
                <a:solidFill>
                  <a:srgbClr val="0F766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/books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857500" y="3905250"/>
            <a:ext cx="1409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 vụ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4857750"/>
            <a:ext cx="16459200" cy="1714500"/>
          </a:xfrm>
          <a:prstGeom prst="roundRect">
            <a:avLst>
              <a:gd name="adj" fmla="val 15556"/>
            </a:avLst>
          </a:prstGeom>
          <a:solidFill>
            <a:srgbClr val="CFE8E2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5048250"/>
            <a:ext cx="1333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2857500" y="5124450"/>
            <a:ext cx="8572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 spc="-2" kern="0">
                <a:solidFill>
                  <a:srgbClr val="0F766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/loans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857500" y="5810250"/>
            <a:ext cx="1409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 vụ</a:t>
            </a:r>
            <a:r>
              <a:rPr lang="en-US" sz="27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mượn</a:t>
            </a:r>
            <a:r>
              <a:rPr lang="en-US" sz="270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14400" y="6762750"/>
            <a:ext cx="16459200" cy="1714500"/>
          </a:xfrm>
          <a:prstGeom prst="roundRect">
            <a:avLst>
              <a:gd name="adj" fmla="val 1555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33500" y="6953250"/>
            <a:ext cx="1333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5" kern="0">
                <a:solidFill>
                  <a:srgbClr val="8A867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2857500" y="7029450"/>
            <a:ext cx="14097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Chọn</a:t>
            </a:r>
            <a:r>
              <a:rPr lang="en-US" sz="3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3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r>
              <a:rPr lang="en-US" sz="33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3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</a:t>
            </a:r>
            <a:r>
              <a:rPr lang="en-US" sz="3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</a:t>
            </a:r>
            <a:r>
              <a:rPr lang="en-US" sz="33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2857500" y="7715250"/>
            <a:ext cx="1409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55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</a:t>
            </a:r>
            <a:r>
              <a:rPr lang="en-US" sz="2700" dirty="0" spc="-7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2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700" dirty="0" spc="19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700" dirty="0" spc="0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3ae25c8e-9e1b-4fef-a74f-e5805077b22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ÁP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1800" b="1" spc="28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3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Tùy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sản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phẩm</a:t>
            </a:r>
            <a:r>
              <a:rPr lang="en-US" sz="6900" dirty="0" spc="-7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cấu</a:t>
            </a:r>
            <a:r>
              <a:rPr lang="en-US" sz="69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3886200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238500"/>
            <a:ext cx="3143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dirty="0" spc="-1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3750" dirty="0"/>
          </a:p>
        </p:txBody>
      </p:sp>
      <p:sp>
        <p:nvSpPr>
          <p:cNvPr id="6" name="Text 4"/>
          <p:cNvSpPr/>
          <p:nvPr/>
        </p:nvSpPr>
        <p:spPr>
          <a:xfrm>
            <a:off x="1295400" y="4286250"/>
            <a:ext cx="3143250" cy="1143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Kiểm</a:t>
            </a:r>
            <a:r>
              <a:rPr lang="en-US" sz="2700" dirty="0" spc="-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thông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</a:t>
            </a:r>
            <a:r>
              <a:rPr lang="en-US" sz="2700" dirty="0" spc="-2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xác</a:t>
            </a:r>
            <a:r>
              <a:rPr lang="en-US" sz="27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thực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5105400" y="2857500"/>
            <a:ext cx="3886200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0" y="3238500"/>
            <a:ext cx="3143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3750" dirty="0"/>
          </a:p>
        </p:txBody>
      </p:sp>
      <p:sp>
        <p:nvSpPr>
          <p:cNvPr id="9" name="Text 7"/>
          <p:cNvSpPr/>
          <p:nvPr/>
        </p:nvSpPr>
        <p:spPr>
          <a:xfrm>
            <a:off x="5486400" y="4286250"/>
            <a:ext cx="3143250" cy="1143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Hạn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chế</a:t>
            </a:r>
            <a:r>
              <a:rPr lang="en-US" sz="27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tần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suất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296400" y="2857500"/>
            <a:ext cx="3886200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9677400" y="3238500"/>
            <a:ext cx="3143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dirty="0" spc="-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3750" dirty="0"/>
          </a:p>
        </p:txBody>
      </p:sp>
      <p:sp>
        <p:nvSpPr>
          <p:cNvPr id="12" name="Text 10"/>
          <p:cNvSpPr/>
          <p:nvPr/>
        </p:nvSpPr>
        <p:spPr>
          <a:xfrm>
            <a:off x="9677400" y="4286250"/>
            <a:ext cx="3143250" cy="1143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Biến</a:t>
            </a:r>
            <a:r>
              <a:rPr lang="en-US" sz="27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13487400" y="2857500"/>
            <a:ext cx="3886200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13868400" y="3238500"/>
            <a:ext cx="3143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04</a:t>
            </a:r>
            <a:endParaRPr lang="en-US" sz="3750" dirty="0"/>
          </a:p>
        </p:txBody>
      </p:sp>
      <p:sp>
        <p:nvSpPr>
          <p:cNvPr id="15" name="Text 13"/>
          <p:cNvSpPr/>
          <p:nvPr/>
        </p:nvSpPr>
        <p:spPr>
          <a:xfrm>
            <a:off x="13868400" y="4286250"/>
            <a:ext cx="3143250" cy="1143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2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Lưu</a:t>
            </a:r>
            <a:r>
              <a:rPr lang="en-US" sz="27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tạm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phản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hồi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14400" y="6096000"/>
            <a:ext cx="16459200" cy="26670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381750"/>
            <a:ext cx="152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7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NHƯNG</a:t>
            </a:r>
            <a:endParaRPr lang="en-US" sz="1950" dirty="0"/>
          </a:p>
        </p:txBody>
      </p:sp>
      <p:sp>
        <p:nvSpPr>
          <p:cNvPr id="18" name="Text richtext-1792372875821-757075810"/>
          <p:cNvSpPr/>
          <p:nvPr/>
        </p:nvSpPr>
        <p:spPr>
          <a:xfrm>
            <a:off x="1295400" y="6953250"/>
            <a:ext cx="15621000" cy="1619250"/>
          </a:xfrm>
          <a:prstGeom prst="rect">
            <a:avLst/>
          </a:prstGeom>
          <a:noFill/>
          <a:ln/>
        </p:spPr>
        <p:txBody>
          <a:bodyPr wrap="square" lIns="0" tIns="1715" rIns="0" bIns="-1715" rtlCol="0" anchor="t"/>
          <a:lstStyle/>
          <a:p>
            <a:pPr algn="l" marL="342900" indent="-244981">
              <a:lnSpc>
                <a:spcPts val="3915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70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7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7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bật</a:t>
            </a:r>
            <a:endParaRPr lang="en-US" sz="2700" dirty="0"/>
          </a:p>
          <a:p>
            <a:pPr algn="l" marL="342900" indent="-244981">
              <a:lnSpc>
                <a:spcPts val="3915"/>
              </a:lnSpc>
              <a:buSzPct val="100000"/>
              <a:buFont typeface="Arial"/>
              <a:buChar char="•"/>
            </a:pP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70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70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7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7f666f96-4b9d-4109-823d-85e476ff92f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 ĐÚNG</a:t>
            </a:r>
            <a:r>
              <a:rPr lang="en-US" sz="180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RANH GIỚI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tầng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69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mình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905000"/>
          </a:xfrm>
          <a:prstGeom prst="roundRect">
            <a:avLst>
              <a:gd name="adj" fmla="val 14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14325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</a:t>
            </a:r>
            <a:r>
              <a:rPr lang="en-US" sz="1950" b="1" spc="15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14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15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1950" b="1" spc="8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GATEWAY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33500" y="3714750"/>
            <a:ext cx="1562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Nhận</a:t>
            </a:r>
            <a:r>
              <a:rPr lang="en-US" sz="3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diện</a:t>
            </a:r>
            <a:r>
              <a:rPr lang="en-US" sz="3600" dirty="0" spc="-4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36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36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914400" y="4953000"/>
            <a:ext cx="16459200" cy="2476500"/>
          </a:xfrm>
          <a:prstGeom prst="roundRect">
            <a:avLst>
              <a:gd name="adj" fmla="val 10769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33500" y="523875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</a:t>
            </a:r>
            <a:r>
              <a:rPr lang="en-US" sz="1950" b="1" spc="14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950" b="1" spc="14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15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1950" b="1" spc="15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1950" b="1" spc="15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MƯỢN</a:t>
            </a:r>
            <a:r>
              <a:rPr lang="en-US" sz="1950" b="1" spc="14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endParaRPr lang="en-US" sz="1950" dirty="0"/>
          </a:p>
        </p:txBody>
      </p:sp>
      <p:sp>
        <p:nvSpPr>
          <p:cNvPr id="9" name="Text richtext-1792372888859-460119553"/>
          <p:cNvSpPr/>
          <p:nvPr/>
        </p:nvSpPr>
        <p:spPr>
          <a:xfrm>
            <a:off x="1333500" y="5810250"/>
            <a:ext cx="15621000" cy="1333500"/>
          </a:xfrm>
          <a:prstGeom prst="rect">
            <a:avLst/>
          </a:prstGeom>
          <a:noFill/>
          <a:ln/>
        </p:spPr>
        <p:txBody>
          <a:bodyPr wrap="square" lIns="0" tIns="6667" rIns="0" bIns="-6667" rtlCol="0" anchor="t"/>
          <a:lstStyle/>
          <a:p>
            <a:pPr algn="l" marL="381000" indent="-272202">
              <a:lnSpc>
                <a:spcPts val="4200"/>
              </a:lnSpc>
              <a:buSzPct val="100000"/>
              <a:buFont typeface="Arial"/>
              <a:buChar char="•"/>
            </a:pPr>
            <a:r>
              <a:rPr lang="en-US" sz="30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Bảo</a:t>
            </a:r>
            <a:r>
              <a:rPr lang="en-US" sz="300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đảm</a:t>
            </a:r>
            <a:r>
              <a:rPr lang="en-US" sz="300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30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gọi</a:t>
            </a:r>
            <a:r>
              <a:rPr lang="en-US" sz="3000" dirty="0" spc="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30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đọc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phiếu cụ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endParaRPr lang="en-US" sz="3000" dirty="0"/>
          </a:p>
          <a:p>
            <a:pPr algn="l" marL="381000" indent="-272202">
              <a:lnSpc>
                <a:spcPts val="4200"/>
              </a:lnSpc>
              <a:buSzPct val="100000"/>
              <a:buFont typeface="Arial"/>
              <a:buChar char="•"/>
            </a:pPr>
            <a:r>
              <a:rPr lang="en-US" sz="3000" dirty="0" spc="-5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Xử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lý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tắc nghiệp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vụ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914400" y="7762875"/>
            <a:ext cx="114300" cy="533400"/>
          </a:xfrm>
          <a:prstGeom prst="rect">
            <a:avLst/>
          </a:prstGeom>
          <a:solidFill>
            <a:srgbClr val="1F3FD1"/>
          </a:solidFill>
          <a:ln/>
        </p:spPr>
      </p:sp>
      <p:sp>
        <p:nvSpPr>
          <p:cNvPr id="11" name="Text 9"/>
          <p:cNvSpPr/>
          <p:nvPr/>
        </p:nvSpPr>
        <p:spPr>
          <a:xfrm>
            <a:off x="1333500" y="7762875"/>
            <a:ext cx="16002000" cy="9525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850" b="1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85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8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phiếu.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37a22f75-3d25-40ec-8182-ea13d71356e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TÓM</a:t>
            </a:r>
            <a:r>
              <a:rPr lang="en-US" sz="1800" b="1" spc="29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quanh</a:t>
            </a:r>
            <a:r>
              <a:rPr lang="en-US" sz="69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cổng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5715000"/>
          </a:xfrm>
          <a:prstGeom prst="roundRect">
            <a:avLst>
              <a:gd name="adj" fmla="val 4667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14325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239000" y="3143250"/>
            <a:ext cx="971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1800" b="1" spc="20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7" name="Connector line-1792372905259-966806477"/>
          <p:cNvSpPr/>
          <p:nvPr/>
        </p:nvSpPr>
        <p:spPr>
          <a:xfrm>
            <a:off x="914400" y="3714750"/>
            <a:ext cx="16459200" cy="0"/>
          </a:xfrm>
          <a:prstGeom prst="line">
            <a:avLst/>
          </a:prstGeom>
          <a:noFill/>
          <a:ln w="19050">
            <a:solidFill>
              <a:srgbClr val="2C303C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1333500" y="4095750"/>
            <a:ext cx="5524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Chọn</a:t>
            </a:r>
            <a:r>
              <a:rPr lang="en-US" sz="330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</a:t>
            </a:r>
            <a:r>
              <a:rPr lang="en-US" sz="3300" dirty="0" spc="-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7239000" y="4133850"/>
            <a:ext cx="971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/books,</a:t>
            </a:r>
            <a:r>
              <a:rPr lang="en-US" sz="27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/loans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70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70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2700" dirty="0"/>
          </a:p>
        </p:txBody>
      </p:sp>
      <p:sp>
        <p:nvSpPr>
          <p:cNvPr id="10" name="Connector line-1792372905263-473850505"/>
          <p:cNvSpPr/>
          <p:nvPr/>
        </p:nvSpPr>
        <p:spPr>
          <a:xfrm>
            <a:off x="914400" y="5334000"/>
            <a:ext cx="16459200" cy="0"/>
          </a:xfrm>
          <a:prstGeom prst="line">
            <a:avLst/>
          </a:prstGeom>
          <a:noFill/>
          <a:ln w="19050">
            <a:solidFill>
              <a:srgbClr val="2C303C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1333500" y="5715000"/>
            <a:ext cx="5524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6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Áp</a:t>
            </a:r>
            <a:r>
              <a:rPr lang="en-US" sz="33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chính</a:t>
            </a:r>
            <a:r>
              <a:rPr lang="en-US" sz="330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sách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7239000" y="5753100"/>
            <a:ext cx="971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9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Tùy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hình,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tự</a:t>
            </a:r>
            <a:r>
              <a:rPr lang="en-US" sz="27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bật</a:t>
            </a:r>
            <a:endParaRPr lang="en-US" sz="2700" dirty="0"/>
          </a:p>
        </p:txBody>
      </p:sp>
      <p:sp>
        <p:nvSpPr>
          <p:cNvPr id="13" name="Connector line-1792372905266-797285097"/>
          <p:cNvSpPr/>
          <p:nvPr/>
        </p:nvSpPr>
        <p:spPr>
          <a:xfrm>
            <a:off x="914400" y="6953250"/>
            <a:ext cx="16459200" cy="0"/>
          </a:xfrm>
          <a:prstGeom prst="line">
            <a:avLst/>
          </a:prstGeom>
          <a:noFill/>
          <a:ln w="19050">
            <a:solidFill>
              <a:srgbClr val="2C303C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1333500" y="7334250"/>
            <a:ext cx="5524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Giữ</a:t>
            </a:r>
            <a:r>
              <a:rPr lang="en-US" sz="3300" dirty="0" spc="-1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ranh</a:t>
            </a:r>
            <a:r>
              <a:rPr lang="en-US" sz="3300" dirty="0" spc="-1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giới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7239000" y="7372350"/>
            <a:ext cx="971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7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7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nghiệp vụ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7829aac7-790d-41d7-97e2-f90ce0bd3bb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THỬ</a:t>
            </a:r>
            <a:r>
              <a:rPr lang="en-US" sz="180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459200" cy="60960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0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3000" dirty="0" spc="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3000" dirty="0" spc="1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mượn</a:t>
            </a:r>
            <a:r>
              <a:rPr lang="en-US" sz="3000" dirty="0" spc="-3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3000" dirty="0" spc="0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2114550"/>
            <a:ext cx="16459200" cy="60960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-42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Gateway</a:t>
            </a:r>
            <a:r>
              <a:rPr lang="en-US" sz="3000" dirty="0" spc="-16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3000" dirty="0" spc="5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3000" dirty="0" spc="-3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/loans</a:t>
            </a:r>
            <a:r>
              <a:rPr lang="en-US" sz="3000" dirty="0" spc="-5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3000" dirty="0" spc="0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3000" dirty="0" spc="2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3000" dirty="0" spc="1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000" dirty="0" spc="0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3238500"/>
            <a:ext cx="114300" cy="247650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6" name="Text 4"/>
          <p:cNvSpPr/>
          <p:nvPr/>
        </p:nvSpPr>
        <p:spPr>
          <a:xfrm>
            <a:off x="1428750" y="3190875"/>
            <a:ext cx="15621000" cy="2571750"/>
          </a:xfrm>
          <a:prstGeom prst="rect">
            <a:avLst/>
          </a:prstGeom>
          <a:noFill/>
          <a:ln/>
        </p:spPr>
        <p:txBody>
          <a:bodyPr wrap="square" lIns="0" tIns="59436" rIns="0" bIns="-59436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Không.</a:t>
            </a:r>
            <a:r>
              <a:rPr lang="en-US" sz="78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Danh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mục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7800" dirty="0" spc="-6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thực</a:t>
            </a: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hiện</a:t>
            </a:r>
            <a:r>
              <a:rPr lang="en-US" sz="7800" dirty="0" spc="-5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hợp</a:t>
            </a:r>
            <a:r>
              <a:rPr lang="en-US" sz="78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đồng</a:t>
            </a:r>
            <a:r>
              <a:rPr lang="en-US" sz="7800" dirty="0" spc="-10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mượn</a:t>
            </a:r>
            <a:r>
              <a:rPr lang="en-US" sz="78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trả.</a:t>
            </a:r>
            <a:endParaRPr lang="en-US" sz="7800" dirty="0"/>
          </a:p>
        </p:txBody>
      </p:sp>
      <p:sp>
        <p:nvSpPr>
          <p:cNvPr id="7" name="Shape 5"/>
          <p:cNvSpPr/>
          <p:nvPr/>
        </p:nvSpPr>
        <p:spPr>
          <a:xfrm>
            <a:off x="914400" y="6477000"/>
            <a:ext cx="8001000" cy="2286000"/>
          </a:xfrm>
          <a:prstGeom prst="roundRect">
            <a:avLst>
              <a:gd name="adj" fmla="val 1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67627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1950" b="1" spc="15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 CHỈ</a:t>
            </a:r>
            <a:r>
              <a:rPr lang="en-US" sz="1950" b="1" spc="15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1950" b="1" spc="15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295400" y="7334250"/>
            <a:ext cx="7239000" cy="11430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Đích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hành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255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372600" y="6477000"/>
            <a:ext cx="8001000" cy="2286000"/>
          </a:xfrm>
          <a:prstGeom prst="roundRect">
            <a:avLst>
              <a:gd name="adj" fmla="val 1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53600" y="67627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4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NẾU CÓ</a:t>
            </a:r>
            <a:r>
              <a:rPr lang="en-US" sz="1950" b="1" spc="12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1950" b="1" spc="15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11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NGẮT</a:t>
            </a:r>
            <a:r>
              <a:rPr lang="en-US" sz="1950" b="1" spc="13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MẠCH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753600" y="7334250"/>
            <a:ext cx="7239000" cy="11430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tạm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 lời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cad5e803-9853-4cfd-ae00-2c51846e364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5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BỐI</a:t>
            </a:r>
            <a:r>
              <a:rPr lang="en-US" sz="1800" b="1" spc="28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nhắc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905000"/>
          </a:xfrm>
          <a:prstGeom prst="roundRect">
            <a:avLst>
              <a:gd name="adj" fmla="val 140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048000"/>
            <a:ext cx="1333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6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2857500" y="3067050"/>
            <a:ext cx="1409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Ngắt</a:t>
            </a:r>
            <a:r>
              <a:rPr lang="en-US" sz="31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mạch</a:t>
            </a:r>
            <a:r>
              <a:rPr lang="en-US" sz="3150" dirty="0" spc="-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(circuit</a:t>
            </a:r>
            <a:r>
              <a:rPr lang="en-US" sz="3150" dirty="0" spc="-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breaker)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2857500" y="3657600"/>
            <a:ext cx="14097000" cy="9525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7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Tạm</a:t>
            </a:r>
            <a:r>
              <a:rPr lang="en-US" sz="2250" dirty="0" spc="16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ngừng</a:t>
            </a:r>
            <a:r>
              <a:rPr lang="en-US" sz="2250" dirty="0" spc="-1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250" dirty="0" spc="-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thao</a:t>
            </a:r>
            <a:r>
              <a:rPr lang="en-US" sz="2250" dirty="0" spc="-10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250" dirty="0" spc="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</a:t>
            </a:r>
            <a:r>
              <a:rPr lang="en-US" sz="2250" dirty="0" spc="-9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thất</a:t>
            </a:r>
            <a:r>
              <a:rPr lang="en-US" sz="2250" dirty="0" spc="-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bại.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4953000"/>
            <a:ext cx="16459200" cy="1905000"/>
          </a:xfrm>
          <a:prstGeom prst="roundRect">
            <a:avLst>
              <a:gd name="adj" fmla="val 14000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5143500"/>
            <a:ext cx="1333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2857500" y="5162550"/>
            <a:ext cx="1409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Chính</a:t>
            </a:r>
            <a:r>
              <a:rPr lang="en-US" sz="31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sách cả</a:t>
            </a:r>
            <a:r>
              <a:rPr lang="en-US" sz="31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chiều</a:t>
            </a:r>
            <a:r>
              <a:rPr lang="en-US" sz="315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31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lẫn</a:t>
            </a:r>
            <a:r>
              <a:rPr lang="en-US" sz="31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chiều</a:t>
            </a:r>
            <a:r>
              <a:rPr lang="en-US" sz="3150" dirty="0" spc="-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2857500" y="5753100"/>
            <a:ext cx="14097000" cy="9525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250" dirty="0" spc="0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250" dirty="0" spc="-14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Azure</a:t>
            </a:r>
            <a:r>
              <a:rPr lang="en-US" sz="2250" dirty="0" spc="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-12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250" dirty="0" spc="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buộc</a:t>
            </a:r>
            <a:r>
              <a:rPr lang="en-US" sz="2250" dirty="0" spc="0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mọi</a:t>
            </a:r>
            <a:r>
              <a:rPr lang="en-US" sz="2250" dirty="0" spc="-30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gateway.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14400" y="7048500"/>
            <a:ext cx="16459200" cy="1905000"/>
          </a:xfrm>
          <a:prstGeom prst="roundRect">
            <a:avLst>
              <a:gd name="adj" fmla="val 14000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333500" y="7239000"/>
            <a:ext cx="1333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2857500" y="7258050"/>
            <a:ext cx="1409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Cổng chung thêm</a:t>
            </a:r>
            <a:r>
              <a:rPr lang="en-US" sz="315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31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chặng</a:t>
            </a:r>
            <a:endParaRPr lang="en-US" sz="3150" dirty="0"/>
          </a:p>
        </p:txBody>
      </p:sp>
      <p:sp>
        <p:nvSpPr>
          <p:cNvPr id="15" name="Text 13"/>
          <p:cNvSpPr/>
          <p:nvPr/>
        </p:nvSpPr>
        <p:spPr>
          <a:xfrm>
            <a:off x="2857500" y="7848600"/>
            <a:ext cx="14097000" cy="9525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250" dirty="0" spc="0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250" dirty="0" spc="-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nghẽn;</a:t>
            </a:r>
            <a:r>
              <a:rPr lang="en-US" sz="2250" dirty="0" spc="2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250" dirty="0" spc="0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250" dirty="0" spc="8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lực,</a:t>
            </a:r>
            <a:r>
              <a:rPr lang="en-US" sz="2250" dirty="0" spc="4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2250" dirty="0" spc="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phòng, quan</a:t>
            </a:r>
            <a:r>
              <a:rPr lang="en-US" sz="2250" dirty="0" spc="-1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20839d14-44b7-47a7-a0a0-49b64687e3c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9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tắt,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năm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7239000" cy="5905500"/>
          </a:xfrm>
          <a:prstGeom prst="roundRect">
            <a:avLst>
              <a:gd name="adj" fmla="val 4516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238500"/>
            <a:ext cx="6477000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0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endParaRPr lang="en-US" sz="8100" dirty="0"/>
          </a:p>
        </p:txBody>
      </p:sp>
      <p:sp>
        <p:nvSpPr>
          <p:cNvPr id="6" name="Text 4"/>
          <p:cNvSpPr/>
          <p:nvPr/>
        </p:nvSpPr>
        <p:spPr>
          <a:xfrm>
            <a:off x="1295400" y="4667250"/>
            <a:ext cx="647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Application</a:t>
            </a:r>
            <a:r>
              <a:rPr lang="en-US" sz="19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Programming</a:t>
            </a:r>
            <a:r>
              <a:rPr lang="en-US" sz="19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Interface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95400" y="5334000"/>
            <a:ext cx="6477000" cy="15240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70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7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7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70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8496300" y="2857500"/>
            <a:ext cx="8877300" cy="5905500"/>
          </a:xfrm>
          <a:prstGeom prst="roundRect">
            <a:avLst>
              <a:gd name="adj" fmla="val 4516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8877300" y="3238500"/>
            <a:ext cx="8191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10" name="Text richtext-1792372947691-350390624"/>
          <p:cNvSpPr/>
          <p:nvPr/>
        </p:nvSpPr>
        <p:spPr>
          <a:xfrm>
            <a:off x="8877300" y="3905250"/>
            <a:ext cx="8191500" cy="4381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marL="304800" indent="-217761">
              <a:lnSpc>
                <a:spcPts val="3360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ByteByteGo,</a:t>
            </a:r>
            <a:r>
              <a:rPr lang="en-US" sz="24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body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ghim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4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Microsoft,</a:t>
            </a:r>
            <a:r>
              <a:rPr lang="en-US" sz="2400" dirty="0" spc="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4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Microsoft,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4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4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Microsoft,</a:t>
            </a:r>
            <a:r>
              <a:rPr lang="en-US" sz="24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ngắt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mạch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Quyền trên</a:t>
            </a:r>
            <a:r>
              <a:rPr lang="en-US" sz="2400" dirty="0" spc="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40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40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bec08672-3d8f-4212-8cc9-9b7f48a12d3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2026-10-19T01:23:31Z</dcterms:created>
  <dcterms:modified xsi:type="dcterms:W3CDTF">2026-10-19T01:23:31Z</dcterms:modified>
</cp:coreProperties>
</file>