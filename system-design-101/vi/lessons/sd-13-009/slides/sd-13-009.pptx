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e Vietnam Pro SemiBold"/>
      <p:regular r:id="rId19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34290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8748"/>
              </a:lnSpc>
              <a:buNone/>
            </a:pPr>
            <a:r>
              <a:rPr lang="en-US" sz="81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Cụm</a:t>
            </a:r>
            <a:r>
              <a:rPr lang="en-US" sz="8100" dirty="0" spc="-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Kubernetes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81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8100" dirty="0" spc="-7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trước:</a:t>
            </a:r>
            <a:r>
              <a:rPr lang="en-US" sz="8100" dirty="0" spc="3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81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triệu</a:t>
            </a:r>
            <a:r>
              <a:rPr lang="en-US" sz="81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chứng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9530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30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3000" dirty="0" spc="-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300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6096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17" kern="0" dirty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BA</a:t>
            </a:r>
            <a:r>
              <a:rPr lang="en-US" sz="1800" spc="226" kern="0" dirty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TRIỆU</a:t>
            </a:r>
            <a:r>
              <a:rPr lang="en-US" sz="1800" spc="242" kern="0" dirty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6629400"/>
            <a:ext cx="5143500" cy="8763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b="1" dirty="0" spc="-1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250" b="1" dirty="0" spc="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cụm</a:t>
            </a:r>
            <a:r>
              <a:rPr lang="en-US" sz="225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2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b="1" dirty="0" spc="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6343650" y="6629400"/>
            <a:ext cx="4953000" cy="8763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25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biết</a:t>
            </a:r>
            <a:r>
              <a:rPr lang="en-US" sz="22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250" b="1" dirty="0" spc="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1582400" y="6629400"/>
            <a:ext cx="4381500" cy="8763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Bí</a:t>
            </a:r>
            <a:r>
              <a:rPr lang="en-US" sz="225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25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250" b="1" dirty="0" spc="-1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b="1" dirty="0" spc="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0" name="Moda image moda-export-watermark-b83ffa79-e3e0-43f4-a3d4-d6372c71c96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1619250"/>
            <a:ext cx="133350" cy="247650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1524000"/>
            <a:ext cx="15240000" cy="4191000"/>
          </a:xfrm>
          <a:prstGeom prst="rect">
            <a:avLst/>
          </a:prstGeom>
          <a:noFill/>
          <a:ln/>
        </p:spPr>
        <p:txBody>
          <a:bodyPr wrap="square" lIns="0" tIns="53340" rIns="0" bIns="-53340" rtlCol="0" anchor="t"/>
          <a:lstStyle/>
          <a:p>
            <a:pPr algn="l" indent="0" marL="0">
              <a:lnSpc>
                <a:spcPts val="9240"/>
              </a:lnSpc>
              <a:buNone/>
            </a:pPr>
            <a:r>
              <a:rPr lang="en-US" sz="84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Chọn</a:t>
            </a:r>
            <a:r>
              <a:rPr lang="en-US" sz="84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r>
              <a:rPr lang="en-US" sz="84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</a:t>
            </a:r>
            <a:r>
              <a:rPr lang="en-US" sz="8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bắt</a:t>
            </a:r>
            <a:r>
              <a:rPr lang="en-US" sz="84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r>
              <a:rPr lang="en-US" sz="84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84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triệu</a:t>
            </a:r>
            <a:r>
              <a:rPr lang="en-US" sz="84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chứng</a:t>
            </a:r>
            <a:r>
              <a:rPr lang="en-US" sz="84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đang</a:t>
            </a:r>
            <a:r>
              <a:rPr lang="en-US" sz="840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gặp.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914400" y="6572250"/>
            <a:ext cx="4953000" cy="1428750"/>
          </a:xfrm>
          <a:prstGeom prst="roundRect">
            <a:avLst>
              <a:gd name="adj" fmla="val 16000"/>
            </a:avLst>
          </a:prstGeom>
          <a:solidFill>
            <a:srgbClr val="E8E0CF"/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6572250"/>
            <a:ext cx="43053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Mỗi</a:t>
            </a:r>
            <a:r>
              <a:rPr lang="en-US" sz="27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triệu</a:t>
            </a:r>
            <a:r>
              <a:rPr lang="en-US" sz="2700" dirty="0" spc="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chứng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gợi</a:t>
            </a:r>
            <a:r>
              <a:rPr lang="en-US" sz="2700" dirty="0" spc="-2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</a:t>
            </a:r>
            <a:r>
              <a:rPr lang="en-US" sz="27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nhu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248400" y="6572250"/>
            <a:ext cx="4953000" cy="1428750"/>
          </a:xfrm>
          <a:prstGeom prst="roundRect">
            <a:avLst>
              <a:gd name="adj" fmla="val 16000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6572250" y="6572250"/>
            <a:ext cx="43053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Ba</a:t>
            </a: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nhu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</a:t>
            </a:r>
            <a:r>
              <a:rPr lang="en-US" sz="27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độc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lập,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 tự.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11582400" y="6572250"/>
            <a:ext cx="4953000" cy="1428750"/>
          </a:xfrm>
          <a:prstGeom prst="roundRect">
            <a:avLst>
              <a:gd name="adj" fmla="val 16000"/>
            </a:avLst>
          </a:prstGeom>
          <a:solidFill>
            <a:srgbClr val="E8E0CF"/>
          </a:solidFill>
          <a:ln/>
        </p:spPr>
      </p:sp>
      <p:sp>
        <p:nvSpPr>
          <p:cNvPr id="10" name="Text 8"/>
          <p:cNvSpPr/>
          <p:nvPr/>
        </p:nvSpPr>
        <p:spPr>
          <a:xfrm>
            <a:off x="11906250" y="6572250"/>
            <a:ext cx="43053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 phải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270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hệ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sinh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thái.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3" name="Shape 11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4" name="Shape 12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5" name="Shape 13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6" name="Shape 14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7" name="Shape 15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8" name="Shape 16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9" name="Shape 17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0" name="Text 18"/>
          <p:cNvSpPr/>
          <p:nvPr/>
        </p:nvSpPr>
        <p:spPr>
          <a:xfrm>
            <a:off x="34480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09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c5d9079b-c41c-4819-a678-8378a4618fa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TRIỆU</a:t>
            </a:r>
            <a:r>
              <a:rPr lang="en-US" sz="1950" b="1" spc="31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195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690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rõ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cụm chạy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endParaRPr lang="en-US" sz="6900" dirty="0"/>
          </a:p>
        </p:txBody>
      </p:sp>
      <p:sp>
        <p:nvSpPr>
          <p:cNvPr id="4" name="Connector line-1792370525424-239853270"/>
          <p:cNvSpPr/>
          <p:nvPr/>
        </p:nvSpPr>
        <p:spPr>
          <a:xfrm>
            <a:off x="2857500" y="4095750"/>
            <a:ext cx="1257300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2362200" y="3600450"/>
            <a:ext cx="990600" cy="99060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9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590" dirty="0"/>
          </a:p>
        </p:txBody>
      </p:sp>
      <p:sp>
        <p:nvSpPr>
          <p:cNvPr id="6" name="Text 4"/>
          <p:cNvSpPr/>
          <p:nvPr/>
        </p:nvSpPr>
        <p:spPr>
          <a:xfrm>
            <a:off x="8648700" y="3600450"/>
            <a:ext cx="990600" cy="99060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9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590" dirty="0"/>
          </a:p>
        </p:txBody>
      </p:sp>
      <p:sp>
        <p:nvSpPr>
          <p:cNvPr id="7" name="Text 5"/>
          <p:cNvSpPr/>
          <p:nvPr/>
        </p:nvSpPr>
        <p:spPr>
          <a:xfrm>
            <a:off x="14935200" y="3600450"/>
            <a:ext cx="990600" cy="99060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9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590" dirty="0"/>
          </a:p>
        </p:txBody>
      </p:sp>
      <p:sp>
        <p:nvSpPr>
          <p:cNvPr id="8" name="Shape 6"/>
          <p:cNvSpPr/>
          <p:nvPr/>
        </p:nvSpPr>
        <p:spPr>
          <a:xfrm>
            <a:off x="914400" y="5143500"/>
            <a:ext cx="3886200" cy="1905000"/>
          </a:xfrm>
          <a:prstGeom prst="roundRect">
            <a:avLst>
              <a:gd name="adj" fmla="val 12000"/>
            </a:avLst>
          </a:prstGeom>
          <a:solidFill>
            <a:srgbClr val="F3DFB8"/>
          </a:solidFill>
          <a:ln/>
        </p:spPr>
      </p:sp>
      <p:sp>
        <p:nvSpPr>
          <p:cNvPr id="9" name="Text 7"/>
          <p:cNvSpPr/>
          <p:nvPr/>
        </p:nvSpPr>
        <p:spPr>
          <a:xfrm>
            <a:off x="1238250" y="5143500"/>
            <a:ext cx="3238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Cấu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8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7200900" y="5143500"/>
            <a:ext cx="3886200" cy="1905000"/>
          </a:xfrm>
          <a:prstGeom prst="roundRect">
            <a:avLst>
              <a:gd name="adj" fmla="val 12000"/>
            </a:avLst>
          </a:prstGeom>
          <a:solidFill>
            <a:srgbClr val="F3DFB8"/>
          </a:solidFill>
          <a:ln/>
        </p:spPr>
      </p:sp>
      <p:sp>
        <p:nvSpPr>
          <p:cNvPr id="11" name="Text 9"/>
          <p:cNvSpPr/>
          <p:nvPr/>
        </p:nvSpPr>
        <p:spPr>
          <a:xfrm>
            <a:off x="7524750" y="5143500"/>
            <a:ext cx="3238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Argo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CD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 Flux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13487400" y="5143500"/>
            <a:ext cx="3886200" cy="1905000"/>
          </a:xfrm>
          <a:prstGeom prst="roundRect">
            <a:avLst>
              <a:gd name="adj" fmla="val 12000"/>
            </a:avLst>
          </a:prstGeom>
          <a:solidFill>
            <a:srgbClr val="F3DFB8"/>
          </a:solidFill>
          <a:ln/>
        </p:spPr>
      </p:sp>
      <p:sp>
        <p:nvSpPr>
          <p:cNvPr id="13" name="Text 11"/>
          <p:cNvSpPr/>
          <p:nvPr/>
        </p:nvSpPr>
        <p:spPr>
          <a:xfrm>
            <a:off x="13811250" y="5143500"/>
            <a:ext cx="3238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Cụm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914400" y="77152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CD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 liên tục.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6" name="Shape 14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7" name="Shape 15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9" name="Shape 17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0" name="Shape 18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1" name="Shape 19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2" name="Shape 20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3" name="Shape 21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4" name="Text 22"/>
          <p:cNvSpPr/>
          <p:nvPr/>
        </p:nvSpPr>
        <p:spPr>
          <a:xfrm>
            <a:off x="34480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09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d83603b5-e837-41e8-a727-ebdb1591a70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TRIỆU</a:t>
            </a:r>
            <a:r>
              <a:rPr lang="en-US" sz="1950" b="1" spc="31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1950" b="1" spc="29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7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Người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 biết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lỗi</a:t>
            </a:r>
            <a:r>
              <a:rPr lang="en-US" sz="6900" dirty="0" spc="-7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57175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30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30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300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000500"/>
            <a:ext cx="438150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16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Prometheus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953250" y="4000500"/>
            <a:ext cx="438150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Alertmanager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2992100" y="4000500"/>
            <a:ext cx="438150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Email, PagerDuty</a:t>
            </a:r>
            <a:endParaRPr lang="en-US" sz="3300" dirty="0"/>
          </a:p>
        </p:txBody>
      </p:sp>
      <p:sp>
        <p:nvSpPr>
          <p:cNvPr id="8" name="Connector line-1792370536075-869953684"/>
          <p:cNvSpPr/>
          <p:nvPr/>
        </p:nvSpPr>
        <p:spPr>
          <a:xfrm>
            <a:off x="5391150" y="4953000"/>
            <a:ext cx="146685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9" name="Connector line-1792370536075-311042356"/>
          <p:cNvSpPr/>
          <p:nvPr/>
        </p:nvSpPr>
        <p:spPr>
          <a:xfrm>
            <a:off x="11430000" y="4953000"/>
            <a:ext cx="146685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914400" y="6191250"/>
            <a:ext cx="438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4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6953250" y="6191250"/>
            <a:ext cx="4381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Gom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nhóm,</a:t>
            </a: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trùng,</a:t>
            </a:r>
            <a:r>
              <a:rPr lang="en-US" sz="22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2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2992100" y="6191250"/>
            <a:ext cx="438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Nơi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4" name="Shape 12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5" name="Shape 13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6" name="Shape 14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7" name="Shape 15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8" name="Shape 16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9" name="Shape 17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0" name="Shape 18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1" name="Shape 19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2" name="Text 20"/>
          <p:cNvSpPr/>
          <p:nvPr/>
        </p:nvSpPr>
        <p:spPr>
          <a:xfrm>
            <a:off x="34480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09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1869aa91-753c-4232-aea3-0aaa623b072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TRIỆU</a:t>
            </a:r>
            <a:r>
              <a:rPr lang="en-US" sz="1950" b="1" spc="31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Bí mật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nằm</a:t>
            </a: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Git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57175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30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30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30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30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ngoài,</a:t>
            </a:r>
            <a:r>
              <a:rPr lang="en-US" sz="30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30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cụm.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000500"/>
            <a:ext cx="4191000" cy="2095500"/>
          </a:xfrm>
          <a:prstGeom prst="roundRect">
            <a:avLst>
              <a:gd name="adj" fmla="val 12727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Kho</a:t>
            </a:r>
            <a:r>
              <a:rPr lang="en-US" sz="300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bí</a:t>
            </a:r>
            <a:r>
              <a:rPr lang="en-US" sz="3000" dirty="0" spc="-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mật</a:t>
            </a:r>
            <a:r>
              <a:rPr lang="en-US" sz="3000" dirty="0" spc="-1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bên</a:t>
            </a:r>
            <a:r>
              <a:rPr lang="en-US" sz="300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ngoài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048500" y="4000500"/>
            <a:ext cx="4191000" cy="2095500"/>
          </a:xfrm>
          <a:prstGeom prst="roundRect">
            <a:avLst>
              <a:gd name="adj" fmla="val 12727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External</a:t>
            </a:r>
            <a:r>
              <a:rPr lang="en-US" sz="22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Secrets</a:t>
            </a:r>
            <a:r>
              <a:rPr lang="en-US" sz="22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Operator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2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Secrets</a:t>
            </a:r>
            <a:r>
              <a:rPr lang="en-US" sz="22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Store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CSI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Driver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182600" y="4000500"/>
            <a:ext cx="4191000" cy="2095500"/>
          </a:xfrm>
          <a:prstGeom prst="roundRect">
            <a:avLst>
              <a:gd name="adj" fmla="val 12727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Cụm</a:t>
            </a:r>
            <a:r>
              <a:rPr lang="en-US" sz="3000" dirty="0" spc="-2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Kubernetes</a:t>
            </a:r>
            <a:endParaRPr lang="en-US" sz="3000" dirty="0"/>
          </a:p>
        </p:txBody>
      </p:sp>
      <p:sp>
        <p:nvSpPr>
          <p:cNvPr id="8" name="Connector line-1792370545291-488586805"/>
          <p:cNvSpPr/>
          <p:nvPr/>
        </p:nvSpPr>
        <p:spPr>
          <a:xfrm>
            <a:off x="5200650" y="5048250"/>
            <a:ext cx="175260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9" name="Connector line-1792370545292-378386498"/>
          <p:cNvSpPr/>
          <p:nvPr/>
        </p:nvSpPr>
        <p:spPr>
          <a:xfrm>
            <a:off x="11334750" y="5048250"/>
            <a:ext cx="175260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914400" y="666750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CSI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250" dirty="0" spc="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 cho</a:t>
            </a:r>
            <a:r>
              <a:rPr lang="en-US" sz="22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container.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3" name="Shape 11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4" name="Shape 12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5" name="Shape 13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6" name="Shape 14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7" name="Shape 15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8" name="Shape 16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9" name="Shape 17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0" name="Text 18"/>
          <p:cNvSpPr/>
          <p:nvPr/>
        </p:nvSpPr>
        <p:spPr>
          <a:xfrm>
            <a:off x="34480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09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435f5df0-e7f6-4b64-9225-eece365f341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1950" b="1" spc="2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195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257300"/>
          </a:xfrm>
          <a:prstGeom prst="roundRect">
            <a:avLst>
              <a:gd name="adj" fmla="val 18182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3086100"/>
            <a:ext cx="800100" cy="800100"/>
          </a:xfrm>
          <a:prstGeom prst="ellipse">
            <a:avLst/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8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2708" dirty="0"/>
          </a:p>
        </p:txBody>
      </p:sp>
      <p:sp>
        <p:nvSpPr>
          <p:cNvPr id="6" name="Shape 4"/>
          <p:cNvSpPr/>
          <p:nvPr/>
        </p:nvSpPr>
        <p:spPr>
          <a:xfrm>
            <a:off x="914400" y="4362450"/>
            <a:ext cx="16459200" cy="1257300"/>
          </a:xfrm>
          <a:prstGeom prst="roundRect">
            <a:avLst>
              <a:gd name="adj" fmla="val 18182"/>
            </a:avLst>
          </a:prstGeom>
          <a:solidFill>
            <a:srgbClr val="E8E0CF"/>
          </a:solidFill>
          <a:ln/>
        </p:spPr>
      </p:sp>
      <p:sp>
        <p:nvSpPr>
          <p:cNvPr id="7" name="Text 5"/>
          <p:cNvSpPr/>
          <p:nvPr/>
        </p:nvSpPr>
        <p:spPr>
          <a:xfrm>
            <a:off x="1238250" y="4591050"/>
            <a:ext cx="800100" cy="800100"/>
          </a:xfrm>
          <a:prstGeom prst="ellipse">
            <a:avLst/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8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708" dirty="0"/>
          </a:p>
        </p:txBody>
      </p:sp>
      <p:sp>
        <p:nvSpPr>
          <p:cNvPr id="8" name="Shape 6"/>
          <p:cNvSpPr/>
          <p:nvPr/>
        </p:nvSpPr>
        <p:spPr>
          <a:xfrm>
            <a:off x="914400" y="5867400"/>
            <a:ext cx="16459200" cy="1257300"/>
          </a:xfrm>
          <a:prstGeom prst="roundRect">
            <a:avLst>
              <a:gd name="adj" fmla="val 18182"/>
            </a:avLst>
          </a:prstGeom>
          <a:solidFill>
            <a:srgbClr val="E8E0CF"/>
          </a:solidFill>
          <a:ln/>
        </p:spPr>
      </p:sp>
      <p:sp>
        <p:nvSpPr>
          <p:cNvPr id="9" name="Text 7"/>
          <p:cNvSpPr/>
          <p:nvPr/>
        </p:nvSpPr>
        <p:spPr>
          <a:xfrm>
            <a:off x="1238250" y="6096000"/>
            <a:ext cx="800100" cy="800100"/>
          </a:xfrm>
          <a:prstGeom prst="ellipse">
            <a:avLst/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8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2708" dirty="0"/>
          </a:p>
        </p:txBody>
      </p:sp>
      <p:sp>
        <p:nvSpPr>
          <p:cNvPr id="10" name="Shape 8"/>
          <p:cNvSpPr/>
          <p:nvPr/>
        </p:nvSpPr>
        <p:spPr>
          <a:xfrm>
            <a:off x="914400" y="7372350"/>
            <a:ext cx="16459200" cy="1257300"/>
          </a:xfrm>
          <a:prstGeom prst="roundRect">
            <a:avLst>
              <a:gd name="adj" fmla="val 18182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1238250" y="7600950"/>
            <a:ext cx="800100" cy="800100"/>
          </a:xfrm>
          <a:prstGeom prst="ellipse">
            <a:avLst/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8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2708" dirty="0"/>
          </a:p>
        </p:txBody>
      </p:sp>
      <p:sp>
        <p:nvSpPr>
          <p:cNvPr id="12" name="Text 10"/>
          <p:cNvSpPr/>
          <p:nvPr/>
        </p:nvSpPr>
        <p:spPr>
          <a:xfrm>
            <a:off x="2381250" y="2857500"/>
            <a:ext cx="1457325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Mỗi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r>
              <a:rPr lang="en-US" sz="28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thêm</a:t>
            </a:r>
            <a:r>
              <a:rPr lang="en-US" sz="28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nâng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cấp,</a:t>
            </a:r>
            <a:r>
              <a:rPr lang="en-US" sz="28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vá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lỗi.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2381250" y="4362450"/>
            <a:ext cx="1457325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4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Xem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nhà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cung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cấp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cụm</a:t>
            </a:r>
            <a:r>
              <a:rPr lang="en-US" sz="285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đã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85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chức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năng</a:t>
            </a:r>
            <a:r>
              <a:rPr lang="en-US" sz="285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đó</a:t>
            </a:r>
            <a:r>
              <a:rPr lang="en-US" sz="28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chưa.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2381250" y="5867400"/>
            <a:ext cx="1457325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Ba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nhu</a:t>
            </a:r>
            <a:r>
              <a:rPr lang="en-US" sz="28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 là</a:t>
            </a:r>
            <a:r>
              <a:rPr lang="en-US" sz="2850" dirty="0" spc="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điểm</a:t>
            </a:r>
            <a:r>
              <a:rPr lang="en-US" sz="28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bắt</a:t>
            </a:r>
            <a:r>
              <a:rPr lang="en-US" sz="285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nhóm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nhỏ.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2381250" y="7372350"/>
            <a:ext cx="1457325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9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Tên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r>
              <a:rPr lang="en-US" sz="28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ví dụ,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8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khuyến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nghị.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7" name="Shape 15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8" name="Shape 16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9" name="Shape 17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0" name="Shape 18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1" name="Shape 19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Shape 20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3" name="Shape 21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4" name="Shape 22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5" name="Text 23"/>
          <p:cNvSpPr/>
          <p:nvPr/>
        </p:nvSpPr>
        <p:spPr>
          <a:xfrm>
            <a:off x="34480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09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42911e6b-2c7a-468f-b5b9-b49a84650a6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95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7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7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Sửa</a:t>
            </a:r>
            <a:r>
              <a:rPr lang="en-US" sz="69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tay</a:t>
            </a:r>
            <a:r>
              <a:rPr lang="en-US" sz="69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Deployment,</a:t>
            </a:r>
            <a:r>
              <a:rPr lang="en-US" sz="6900" dirty="0" spc="-5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Argo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CD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69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49555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</a:t>
            </a:r>
            <a:r>
              <a:rPr lang="en-US" sz="28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8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8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3619500"/>
            <a:ext cx="8001000" cy="4000500"/>
          </a:xfrm>
          <a:prstGeom prst="roundRect">
            <a:avLst>
              <a:gd name="adj" fmla="val 6667"/>
            </a:avLst>
          </a:prstGeom>
          <a:solidFill>
            <a:srgbClr val="1E212B"/>
          </a:solidFill>
          <a:ln w="28575">
            <a:solidFill>
              <a:srgbClr val="9AA0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33500" y="390525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2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MẶC</a:t>
            </a:r>
            <a:r>
              <a:rPr lang="en-US" sz="225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7" name="Text richtext-1792370569729-879953392"/>
          <p:cNvSpPr/>
          <p:nvPr/>
        </p:nvSpPr>
        <p:spPr>
          <a:xfrm>
            <a:off x="1333500" y="4572000"/>
            <a:ext cx="7239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61950" indent="-258592"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Chỉ báo</a:t>
            </a:r>
            <a:r>
              <a:rPr lang="en-US" sz="28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lệch</a:t>
            </a:r>
            <a:r>
              <a:rPr lang="en-US" sz="28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Git</a:t>
            </a:r>
            <a:r>
              <a:rPr lang="en-US" sz="28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(OutOfSync)</a:t>
            </a:r>
            <a:endParaRPr lang="en-US" sz="2850" dirty="0"/>
          </a:p>
          <a:p>
            <a:pPr algn="l" marL="361950" indent="-258592"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8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85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2850" dirty="0" spc="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sửa</a:t>
            </a:r>
            <a:endParaRPr lang="en-US" sz="2850" dirty="0"/>
          </a:p>
          <a:p>
            <a:pPr algn="l" marL="361950" indent="-258592">
              <a:buSzPct val="100000"/>
              <a:buFont typeface="Arial"/>
              <a:buChar char="•"/>
            </a:pPr>
            <a:r>
              <a:rPr lang="en-US" sz="285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Thay</a:t>
            </a:r>
            <a:r>
              <a:rPr lang="en-US" sz="285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r>
              <a:rPr lang="en-US" sz="285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285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cụm</a:t>
            </a:r>
            <a:r>
              <a:rPr lang="en-US" sz="28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kích</a:t>
            </a:r>
            <a:r>
              <a:rPr lang="en-US" sz="285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hoạt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đồng</a:t>
            </a:r>
            <a:r>
              <a:rPr lang="en-US" sz="28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bộ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9372600" y="3619500"/>
            <a:ext cx="8001000" cy="4000500"/>
          </a:xfrm>
          <a:prstGeom prst="roundRect">
            <a:avLst>
              <a:gd name="adj" fmla="val 6667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91700" y="390525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4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BẬT</a:t>
            </a:r>
            <a:r>
              <a:rPr lang="en-US" sz="225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SELFHEAL</a:t>
            </a:r>
            <a:endParaRPr lang="en-US" sz="2250" dirty="0"/>
          </a:p>
        </p:txBody>
      </p:sp>
      <p:sp>
        <p:nvSpPr>
          <p:cNvPr id="10" name="Text richtext-1792370569754-908490042"/>
          <p:cNvSpPr/>
          <p:nvPr/>
        </p:nvSpPr>
        <p:spPr>
          <a:xfrm>
            <a:off x="9791700" y="4572000"/>
            <a:ext cx="7239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61950" indent="-258592"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850" dirty="0" spc="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Đưa</a:t>
            </a:r>
            <a:r>
              <a:rPr lang="en-US" sz="28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cụm</a:t>
            </a:r>
            <a:r>
              <a:rPr lang="en-US" sz="285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về</a:t>
            </a: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đúng</a:t>
            </a:r>
            <a:r>
              <a:rPr lang="en-US" sz="28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285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8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Git</a:t>
            </a:r>
            <a:endParaRPr lang="en-US" sz="2850" dirty="0"/>
          </a:p>
          <a:p>
            <a:pPr algn="l" marL="361950" indent="-258592">
              <a:buSzPct val="100000"/>
              <a:buFont typeface="Arial"/>
              <a:buChar char="•"/>
            </a:pP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Nằm</a:t>
            </a:r>
            <a:r>
              <a:rPr lang="en-US" sz="285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8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chính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sách</a:t>
            </a:r>
            <a:r>
              <a:rPr lang="en-US" sz="28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đồng</a:t>
            </a:r>
            <a:r>
              <a:rPr lang="en-US" sz="28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bộ</a:t>
            </a:r>
            <a:r>
              <a:rPr lang="en-US" sz="28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 động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914400" y="80962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Muốn</a:t>
            </a:r>
            <a:r>
              <a:rPr lang="en-US" sz="3000" b="1" dirty="0" spc="-1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3000" b="1" dirty="0" spc="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3000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bền</a:t>
            </a:r>
            <a:r>
              <a:rPr lang="en-US" sz="3000" b="1" dirty="0" spc="2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vững,</a:t>
            </a:r>
            <a:r>
              <a:rPr lang="en-US" sz="3000" b="1" dirty="0" spc="-1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hãy</a:t>
            </a:r>
            <a:r>
              <a:rPr lang="en-US" sz="3000" b="1" dirty="0" spc="1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3000" b="1" dirty="0" spc="-1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00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Git.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3" name="Shape 11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4" name="Shape 12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5" name="Shape 13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6" name="Shape 14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7" name="Shape 15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8" name="Shape 16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9" name="Shape 17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0" name="Shape 18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1" name="Text 19"/>
          <p:cNvSpPr/>
          <p:nvPr/>
        </p:nvSpPr>
        <p:spPr>
          <a:xfrm>
            <a:off x="34480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09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28b3cf7a-49e9-45af-a783-4e90d0da1b1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</a:t>
            </a:r>
            <a:r>
              <a:rPr lang="en-US" sz="1950" b="1" spc="28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nhu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cầu,</a:t>
            </a: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ví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4000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NHU</a:t>
            </a:r>
            <a:r>
              <a:rPr lang="en-US" sz="1950" b="1" spc="20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5334000" y="2762250"/>
            <a:ext cx="476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19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195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19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477500" y="2762250"/>
            <a:ext cx="685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1950" b="1" spc="20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14400" y="3333750"/>
            <a:ext cx="16459200" cy="16002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5124450"/>
            <a:ext cx="16459200" cy="16002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6915150"/>
            <a:ext cx="16459200" cy="16002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333750"/>
            <a:ext cx="133350" cy="16002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5124450"/>
            <a:ext cx="133350" cy="16002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6915150"/>
            <a:ext cx="133350" cy="160020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13" name="Text 11"/>
          <p:cNvSpPr/>
          <p:nvPr/>
        </p:nvSpPr>
        <p:spPr>
          <a:xfrm>
            <a:off x="1333500" y="3333750"/>
            <a:ext cx="371475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Đồng</a:t>
            </a:r>
            <a:r>
              <a:rPr lang="en-US" sz="2700" dirty="0" spc="-6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bộ theo</a:t>
            </a:r>
            <a:r>
              <a:rPr lang="en-US" sz="2700" dirty="0" spc="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Git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5334000" y="3333750"/>
            <a:ext cx="47625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2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Argo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CD,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Flux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0477500" y="3333750"/>
            <a:ext cx="66675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cụm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 cấu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Git.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333500" y="5124450"/>
            <a:ext cx="371475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Cảnh báo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5334000" y="5124450"/>
            <a:ext cx="47625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Prometheus,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Alertmanager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0477500" y="5124450"/>
            <a:ext cx="66675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Cảnh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 theo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triệu</a:t>
            </a:r>
            <a:r>
              <a:rPr lang="en-US" sz="25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chứng,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ít.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333500" y="6915150"/>
            <a:ext cx="371475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Bí</a:t>
            </a:r>
            <a:r>
              <a:rPr lang="en-US" sz="2700" dirty="0" spc="-9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mật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5334000" y="6915150"/>
            <a:ext cx="47625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External</a:t>
            </a:r>
            <a:r>
              <a:rPr lang="en-US" sz="22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Secrets Operator,</a:t>
            </a:r>
            <a:r>
              <a:rPr lang="en-US" sz="22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Secrets</a:t>
            </a:r>
            <a:r>
              <a:rPr lang="en-US" sz="22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Store</a:t>
            </a:r>
            <a:r>
              <a:rPr lang="en-US" sz="22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CSI</a:t>
            </a: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Driver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0477500" y="6915150"/>
            <a:ext cx="66675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Secret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25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hóa;</a:t>
            </a:r>
            <a:r>
              <a:rPr lang="en-US" sz="25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đừng</a:t>
            </a: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Git.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3" name="Shape 21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4" name="Shape 22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5" name="Shape 23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6" name="Shape 24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7" name="Shape 25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8" name="Shape 26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9" name="Shape 27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0" name="Shape 28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31" name="Text 29"/>
          <p:cNvSpPr/>
          <p:nvPr/>
        </p:nvSpPr>
        <p:spPr>
          <a:xfrm>
            <a:off x="34480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09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21d6c508-8c7a-4291-8608-8be7e42b804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950" b="1" spc="2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950" b="1" spc="24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1428750"/>
            <a:ext cx="80010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95400" y="1428750"/>
            <a:ext cx="7239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CD</a:t>
            </a:r>
            <a:r>
              <a:rPr lang="en-US" sz="30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</a:t>
            </a:r>
            <a:r>
              <a:rPr lang="en-US" sz="30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30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372600" y="1428750"/>
            <a:ext cx="80010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53600" y="1428750"/>
            <a:ext cx="7239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CSI</a:t>
            </a:r>
            <a:r>
              <a:rPr lang="en-US" sz="30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</a:t>
            </a:r>
            <a:r>
              <a:rPr lang="en-US" sz="30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3000" b="1" dirty="0" spc="4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30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container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38100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14400" y="4476750"/>
            <a:ext cx="5257800" cy="10477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6515100" y="4476750"/>
            <a:ext cx="5257800" cy="10477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115800" y="4476750"/>
            <a:ext cx="5257800" cy="10477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5810250"/>
            <a:ext cx="5257800" cy="10477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</p:sp>
      <p:sp>
        <p:nvSpPr>
          <p:cNvPr id="12" name="Shape 10"/>
          <p:cNvSpPr/>
          <p:nvPr/>
        </p:nvSpPr>
        <p:spPr>
          <a:xfrm>
            <a:off x="6515100" y="5810250"/>
            <a:ext cx="5257800" cy="10477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</p:sp>
      <p:sp>
        <p:nvSpPr>
          <p:cNvPr id="13" name="Shape 11"/>
          <p:cNvSpPr/>
          <p:nvPr/>
        </p:nvSpPr>
        <p:spPr>
          <a:xfrm>
            <a:off x="12115800" y="5810250"/>
            <a:ext cx="5257800" cy="10477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7143750"/>
            <a:ext cx="5257800" cy="10477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</p:sp>
      <p:sp>
        <p:nvSpPr>
          <p:cNvPr id="15" name="Shape 13"/>
          <p:cNvSpPr/>
          <p:nvPr/>
        </p:nvSpPr>
        <p:spPr>
          <a:xfrm>
            <a:off x="6515100" y="7143750"/>
            <a:ext cx="5257800" cy="10477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</p:sp>
      <p:sp>
        <p:nvSpPr>
          <p:cNvPr id="16" name="Shape 14"/>
          <p:cNvSpPr/>
          <p:nvPr/>
        </p:nvSpPr>
        <p:spPr>
          <a:xfrm>
            <a:off x="12115800" y="7143750"/>
            <a:ext cx="5257800" cy="10477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476750"/>
            <a:ext cx="5257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5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ByteByteGo</a:t>
            </a:r>
            <a:r>
              <a:rPr lang="en-US" sz="2100" dirty="0" spc="0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(bản chụp</a:t>
            </a:r>
            <a:r>
              <a:rPr lang="en-US" sz="2100" dirty="0" spc="-5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cố</a:t>
            </a:r>
            <a:r>
              <a:rPr lang="en-US" sz="2100" dirty="0" spc="12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định)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515100" y="4476750"/>
            <a:ext cx="5257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3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Đồng</a:t>
            </a:r>
            <a:r>
              <a:rPr lang="en-US" sz="2100" dirty="0" spc="-4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bộ</a:t>
            </a:r>
            <a:r>
              <a:rPr lang="en-US" sz="2100" dirty="0" spc="0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2100" dirty="0" spc="1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2100" dirty="0" spc="-20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100" dirty="0" spc="0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2100" dirty="0" spc="6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chữa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2115800" y="4476750"/>
            <a:ext cx="5257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3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Flux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14400" y="5810250"/>
            <a:ext cx="5257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4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Alertmanager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6515100" y="5810250"/>
            <a:ext cx="5257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11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Thực</a:t>
            </a:r>
            <a:r>
              <a:rPr lang="en-US" sz="2100" dirty="0" spc="-3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hành</a:t>
            </a:r>
            <a:r>
              <a:rPr lang="en-US" sz="2100" dirty="0" spc="-2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cảnh</a:t>
            </a:r>
            <a:r>
              <a:rPr lang="en-US" sz="2100" dirty="0" spc="-3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báo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115800" y="5810250"/>
            <a:ext cx="5257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7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Secret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14400" y="7143750"/>
            <a:ext cx="5257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6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External</a:t>
            </a:r>
            <a:r>
              <a:rPr lang="en-US" sz="2100" dirty="0" spc="-14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Secrets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6515100" y="7143750"/>
            <a:ext cx="5257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5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Secrets</a:t>
            </a:r>
            <a:r>
              <a:rPr lang="en-US" sz="2100" dirty="0" spc="-17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Store</a:t>
            </a:r>
            <a:r>
              <a:rPr lang="en-US" sz="2100" dirty="0" spc="-1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CSI</a:t>
            </a:r>
            <a:r>
              <a:rPr lang="en-US" sz="2100" dirty="0" spc="-5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Driver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2115800" y="7143750"/>
            <a:ext cx="5257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3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Landscape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7" name="Shape 25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8" name="Shape 26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9" name="Shape 27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0" name="Shape 28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1" name="Shape 29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2" name="Shape 30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3" name="Shape 31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4" name="Shape 32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5" name="Text 33"/>
          <p:cNvSpPr/>
          <p:nvPr/>
        </p:nvSpPr>
        <p:spPr>
          <a:xfrm>
            <a:off x="34480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09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41b7db7b-9fdc-475f-b3d9-16b200c8f94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2026-10-19T14:04:35Z</dcterms:created>
  <dcterms:modified xsi:type="dcterms:W3CDTF">2026-10-19T14:04:35Z</dcterms:modified>
</cp:coreProperties>
</file>