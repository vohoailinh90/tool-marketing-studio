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JetBrains Mono"/>
      <p:bold r:id="rId20"/>
    </p:embeddedFont>
    <p:embeddedFont>
      <p:font typeface="JetBrains Mon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3429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 từ nhật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3000" dirty="0" spc="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563100" y="1619250"/>
            <a:ext cx="7810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44100" y="198120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4287500" y="1876425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grep -C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63100" y="3048000"/>
            <a:ext cx="7810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44100" y="340995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287500" y="3305175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zgrep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63100" y="4476750"/>
            <a:ext cx="7810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44100" y="483870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287500" y="4733925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tail -f | grep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63100" y="5905500"/>
            <a:ext cx="7810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44100" y="626745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4287500" y="6162675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jq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63100" y="7334250"/>
            <a:ext cx="7810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44100" y="769620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4287500" y="7591425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awk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575d661-a35e-4564-90a0-ba6324858a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Hỏi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391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9565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33500" y="4286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33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lỗi?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34500" y="2952750"/>
            <a:ext cx="80391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29565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753600" y="4286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33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33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ghi?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5810250"/>
            <a:ext cx="80391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15315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333500" y="7143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3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3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JSON?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334500" y="5810250"/>
            <a:ext cx="80391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615315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753600" y="7143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3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số?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fa591ac-c420-425a-998d-2f906afc1f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8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5905500" cy="5334000"/>
          </a:xfrm>
          <a:prstGeom prst="rect">
            <a:avLst/>
          </a:prstGeom>
          <a:noFill/>
          <a:ln/>
        </p:spPr>
        <p:txBody>
          <a:bodyPr wrap="square" lIns="0" tIns="396240" rIns="0" bIns="-396240" rtlCol="0" anchor="t"/>
          <a:lstStyle/>
          <a:p>
            <a:pPr algn="ctr" indent="0" marL="0">
              <a:lnSpc>
                <a:spcPts val="39000"/>
              </a:lnSpc>
              <a:buNone/>
            </a:pPr>
            <a:r>
              <a:rPr lang="en-US" sz="39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59055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ctr" indent="0" marL="0">
              <a:lnSpc>
                <a:spcPts val="3705"/>
              </a:lnSpc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7429500" y="1619250"/>
            <a:ext cx="994410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5750" y="1952625"/>
            <a:ext cx="899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10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b="1" spc="13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100" b="1" spc="14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10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100" b="1" spc="1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05750" y="2571750"/>
            <a:ext cx="8991600" cy="85725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grep -n -C 3 "timeout" app.log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905750" y="3714750"/>
            <a:ext cx="8991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-n</a:t>
            </a:r>
            <a:r>
              <a:rPr lang="en-US" sz="25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dòng; -C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7429500" y="5143500"/>
            <a:ext cx="994410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5750" y="5476875"/>
            <a:ext cx="8991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100" b="1" spc="14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b="1" spc="1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b="1" spc="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XOAY</a:t>
            </a:r>
            <a:r>
              <a:rPr lang="en-US" sz="2100" b="1" spc="14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b="1" spc="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spc="14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905750" y="6096000"/>
            <a:ext cx="8991600" cy="85725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zgrep "ERROR" app.log.*.gz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905750" y="7239000"/>
            <a:ext cx="8991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gzip,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nén</a:t>
            </a:r>
            <a:r>
              <a:rPr lang="en-US" sz="25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a90ba11-5249-4cbc-9360-cf785608a5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ống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43815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tail</a:t>
            </a:r>
            <a:r>
              <a:rPr lang="en-US" sz="2400" b="1" dirty="0" spc="2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-f app.log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6250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295900" y="3429000"/>
            <a:ext cx="704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5" kern="0">
                <a:solidFill>
                  <a:srgbClr val="E8472B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|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000750" y="3143250"/>
            <a:ext cx="6286500" cy="1428750"/>
          </a:xfrm>
          <a:prstGeom prst="roundRect">
            <a:avLst>
              <a:gd name="adj" fmla="val 18667"/>
            </a:avLst>
          </a:prstGeom>
          <a:solidFill>
            <a:srgbClr val="E8472B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grep</a:t>
            </a:r>
            <a:r>
              <a:rPr lang="en-US" sz="2400" b="1" dirty="0" spc="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--line-buffered</a:t>
            </a:r>
            <a:r>
              <a:rPr lang="en-US" sz="2400" b="1" dirty="0" spc="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"ERROR"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00750" y="476250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Lọc,</a:t>
            </a: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</a:t>
            </a:r>
            <a:r>
              <a:rPr lang="en-US" sz="255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287250" y="3429000"/>
            <a:ext cx="704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5" kern="0">
                <a:solidFill>
                  <a:srgbClr val="E8472B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|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2992100" y="3143250"/>
            <a:ext cx="43815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tee</a:t>
            </a:r>
            <a:r>
              <a:rPr lang="en-US" sz="2400" b="1" dirty="0" spc="2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errors.log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992100" y="476250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-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096000"/>
            <a:ext cx="16459200" cy="2381250"/>
          </a:xfrm>
          <a:prstGeom prst="roundRect">
            <a:avLst>
              <a:gd name="adj" fmla="val 12800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390650" y="6429375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100" b="1" spc="1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b="1" spc="1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spc="13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--line-buffered</a:t>
            </a:r>
            <a:endParaRPr lang="en-US" sz="2100" dirty="0"/>
          </a:p>
        </p:txBody>
      </p:sp>
      <p:sp>
        <p:nvSpPr>
          <p:cNvPr id="14" name="Text richtext-1792373311319-224789239"/>
          <p:cNvSpPr/>
          <p:nvPr/>
        </p:nvSpPr>
        <p:spPr>
          <a:xfrm>
            <a:off x="1390650" y="7000875"/>
            <a:ext cx="156210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grep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cờ: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grep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khớp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3ec5a44-fe75-4709-b35d-94f1dbec5d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b="1" spc="28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jq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cắt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2A2E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jq</a:t>
            </a:r>
            <a:r>
              <a:rPr lang="en-US" sz="2850" b="1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-r</a:t>
            </a:r>
            <a:r>
              <a:rPr lang="en-US" sz="2850" b="1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'select(.level=="error")</a:t>
            </a:r>
            <a:r>
              <a:rPr lang="en-US" sz="2850" b="1" dirty="0" spc="-8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</a:t>
            </a:r>
            <a:r>
              <a:rPr lang="en-US" sz="2850" b="1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.message'</a:t>
            </a:r>
            <a:r>
              <a:rPr lang="en-US" sz="2850" b="1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app.json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46863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3810000" y="4667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{"level":"error","message":"..."}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239500" y="4686300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 JSON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295400" y="5715000"/>
            <a:ext cx="15697200" cy="1238250"/>
          </a:xfrm>
          <a:prstGeom prst="roundRect">
            <a:avLst>
              <a:gd name="adj" fmla="val 18462"/>
            </a:avLst>
          </a:prstGeom>
          <a:solidFill>
            <a:srgbClr val="1F3FD1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6400" y="61150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191000" y="60960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select(.level=="error")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239500" y="61150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level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error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676400" y="7143750"/>
            <a:ext cx="14935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75438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4572000" y="75247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.message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1239500" y="75438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</a:t>
            </a:r>
            <a:r>
              <a:rPr lang="en-US" sz="25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01589c0-9ea0-4ac1-8598-1c47909152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 5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7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1950" b="1" spc="3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awk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bình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awk '{s += $5; n++} END {if (n) print s/n}' latency.log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095750"/>
          <a:ext cx="13716000" cy="914400"/>
        </p:xfrm>
        <a:graphic>
          <a:graphicData uri="http://schemas.openxmlformats.org/drawingml/2006/table">
            <a:tbl>
              <a:tblPr/>
              <a:tblGrid>
                <a:gridCol w="6254496"/>
                <a:gridCol w="10204704"/>
              </a:tblGrid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Phần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Làm</a:t>
                      </a:r>
                      <a:r>
                        <a:rPr lang="en-US" sz="25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{s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+=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$5;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n++}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Cộng</a:t>
                      </a: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cột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năm,</a:t>
                      </a:r>
                      <a:r>
                        <a:rPr lang="en-US" sz="255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đếm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dòng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END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Chạy</a:t>
                      </a: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55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hết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tệp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if (n)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Chặn chia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 0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tệp</a:t>
                      </a:r>
                      <a:r>
                        <a:rPr lang="en-US" sz="255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rỗng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6c44d2cc-c63d-4988-841e-50aaf3992a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334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514350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8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jq,</a:t>
            </a:r>
            <a:r>
              <a:rPr lang="en-US" sz="28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8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477000" y="3143250"/>
            <a:ext cx="5334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524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Stack</a:t>
            </a:r>
            <a:r>
              <a:rPr lang="en-US" sz="3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trace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858000" y="514350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-A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-C</a:t>
            </a:r>
            <a:r>
              <a:rPr lang="en-US" sz="28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039600" y="3143250"/>
            <a:ext cx="5334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524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Tệp</a:t>
            </a:r>
            <a:r>
              <a:rPr lang="en-US" sz="39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420600" y="514350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8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3d06de8-eca7-45d9-ae7d-7b76ab8fc1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grep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--line-buffered?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619750"/>
          </a:xfrm>
          <a:prstGeom prst="roundRect">
            <a:avLst>
              <a:gd name="adj" fmla="val 54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10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0650" y="40957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cần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cờ</a:t>
            </a:r>
            <a:endParaRPr lang="en-US" sz="4500" dirty="0"/>
          </a:p>
        </p:txBody>
      </p:sp>
      <p:sp>
        <p:nvSpPr>
          <p:cNvPr id="7" name="Text richtext-1792373362953-957678375"/>
          <p:cNvSpPr/>
          <p:nvPr/>
        </p:nvSpPr>
        <p:spPr>
          <a:xfrm>
            <a:off x="1390650" y="5905500"/>
            <a:ext cx="7048500" cy="2381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grep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5619750"/>
          </a:xfrm>
          <a:prstGeom prst="roundRect">
            <a:avLst>
              <a:gd name="adj" fmla="val 5424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8850" y="34290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100" b="1" spc="14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b="1" spc="13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100" b="1" spc="14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b="1" spc="13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848850" y="40957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4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--line-buffered</a:t>
            </a:r>
            <a:endParaRPr lang="en-US" sz="4500" dirty="0"/>
          </a:p>
        </p:txBody>
      </p:sp>
      <p:sp>
        <p:nvSpPr>
          <p:cNvPr id="11" name="Text richtext-1792373362972-114864735"/>
          <p:cNvSpPr/>
          <p:nvPr/>
        </p:nvSpPr>
        <p:spPr>
          <a:xfrm>
            <a:off x="9848850" y="5905500"/>
            <a:ext cx="7048500" cy="2381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tee,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grep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khối,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khớp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grep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dbaaf40-ae7a-4fa1-be83-408e751daa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Ngữ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 quanh dòng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5334000" y="2857500"/>
            <a:ext cx="6667500" cy="8572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550" b="1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334000" y="3905250"/>
            <a:ext cx="6667500" cy="8572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550" b="1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34000" y="4953000"/>
            <a:ext cx="6667500" cy="85725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334000" y="6000750"/>
            <a:ext cx="6667500" cy="8572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5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334000" y="7048500"/>
            <a:ext cx="6667500" cy="8572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5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2857500"/>
            <a:ext cx="36195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0150" y="30480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1F3FD1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-B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200150" y="3810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2" name="Connector line-1792373381629-361888144"/>
          <p:cNvSpPr/>
          <p:nvPr/>
        </p:nvSpPr>
        <p:spPr>
          <a:xfrm>
            <a:off x="4629150" y="3810000"/>
            <a:ext cx="6096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914400" y="6000750"/>
            <a:ext cx="36195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0150" y="61912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1F3FD1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-A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200150" y="6953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550" dirty="0"/>
          </a:p>
        </p:txBody>
      </p:sp>
      <p:sp>
        <p:nvSpPr>
          <p:cNvPr id="16" name="Connector line-1792373381633-98347420"/>
          <p:cNvSpPr/>
          <p:nvPr/>
        </p:nvSpPr>
        <p:spPr>
          <a:xfrm>
            <a:off x="4629150" y="6953250"/>
            <a:ext cx="6096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373381633-317960344"/>
          <p:cNvSpPr/>
          <p:nvPr/>
        </p:nvSpPr>
        <p:spPr>
          <a:xfrm>
            <a:off x="12382500" y="2857500"/>
            <a:ext cx="0" cy="50482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8" name="Connector line-1792373381633-970419965"/>
          <p:cNvSpPr/>
          <p:nvPr/>
        </p:nvSpPr>
        <p:spPr>
          <a:xfrm>
            <a:off x="12192000" y="2857500"/>
            <a:ext cx="1905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9" name="Connector line-1792373381634-208328558"/>
          <p:cNvSpPr/>
          <p:nvPr/>
        </p:nvSpPr>
        <p:spPr>
          <a:xfrm>
            <a:off x="12192000" y="7905750"/>
            <a:ext cx="1905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2801600" y="4429125"/>
            <a:ext cx="4572000" cy="1905000"/>
          </a:xfrm>
          <a:prstGeom prst="roundRect">
            <a:avLst>
              <a:gd name="adj" fmla="val 14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87350" y="4619625"/>
            <a:ext cx="400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E8472B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-C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3087350" y="5381625"/>
            <a:ext cx="40005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khớp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37b59ea8-10c7-478a-9421-3e3fd46d20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2116455"/>
                <a:gridCol w="7503795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25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r>
                        <a:rPr lang="en-US" sz="2250" b="1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nghĩa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JSON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JavaScript</a:t>
                      </a:r>
                      <a:r>
                        <a:rPr lang="en-US" sz="22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Object Notation: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ký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hiệu</a:t>
                      </a:r>
                      <a:r>
                        <a:rPr lang="en-US" sz="2250" dirty="0" spc="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đối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tượng</a:t>
                      </a: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JavaScript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915650" y="2762250"/>
            <a:ext cx="6457950" cy="571500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96650" y="3048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richtext-1792373394158-695158570"/>
          <p:cNvSpPr/>
          <p:nvPr/>
        </p:nvSpPr>
        <p:spPr>
          <a:xfrm>
            <a:off x="11296650" y="3619500"/>
            <a:ext cx="5810250" cy="4667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 cố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grep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gzip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zgrep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gawk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jq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manual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9a2ac55a-e16b-4b3f-8e03-28cebd10ab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2026-10-19T02:36:23Z</dcterms:created>
  <dcterms:modified xsi:type="dcterms:W3CDTF">2026-10-19T02:36:23Z</dcterms:modified>
</cp:coreProperties>
</file>