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30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Những</a:t>
            </a:r>
            <a:r>
              <a:rPr lang="en-US" sz="81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4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70%,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30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Khi</a:t>
            </a:r>
            <a:r>
              <a:rPr lang="en-US" sz="33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33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33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nhiều,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</a:t>
            </a:r>
            <a:r>
              <a:rPr lang="en-US" sz="3300" dirty="0" spc="-1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3094" dirty="0" spc="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sống,</a:t>
            </a:r>
            <a:r>
              <a:rPr lang="en-US" sz="3094" dirty="0" spc="-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3094" dirty="0" spc="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094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3094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f1b4619-c43a-4916-a67a-9c124598af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30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Tới</a:t>
            </a:r>
            <a:r>
              <a:rPr lang="en-US" sz="9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99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mức,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 không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mua</a:t>
            </a:r>
            <a:r>
              <a:rPr lang="en-US" sz="9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99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76d8135-df8e-4591-b2b0-bc01abbedd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KHI</a:t>
            </a:r>
            <a:r>
              <a:rPr lang="en-US" sz="1950" spc="20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NÀO ĐÁNG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nhiều,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8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8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7800" dirty="0"/>
          </a:p>
        </p:txBody>
      </p:sp>
      <p:sp>
        <p:nvSpPr>
          <p:cNvPr id="4" name="Connector line-1792371165275-774555619"/>
          <p:cNvSpPr/>
          <p:nvPr/>
        </p:nvSpPr>
        <p:spPr>
          <a:xfrm>
            <a:off x="2571750" y="4000500"/>
            <a:ext cx="13144500" cy="0"/>
          </a:xfrm>
          <a:prstGeom prst="line">
            <a:avLst/>
          </a:prstGeom>
          <a:noFill/>
          <a:ln w="57150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2190750" y="36195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36195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5335250" y="36195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2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Hợp</a:t>
            </a:r>
            <a:endParaRPr lang="en-US" sz="3122" dirty="0"/>
          </a:p>
        </p:txBody>
      </p:sp>
      <p:sp>
        <p:nvSpPr>
          <p:cNvPr id="10" name="Text 8"/>
          <p:cNvSpPr/>
          <p:nvPr/>
        </p:nvSpPr>
        <p:spPr>
          <a:xfrm>
            <a:off x="12382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657225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689610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122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hợp</a:t>
            </a:r>
            <a:endParaRPr lang="en-US" sz="3122" dirty="0"/>
          </a:p>
        </p:txBody>
      </p:sp>
      <p:sp>
        <p:nvSpPr>
          <p:cNvPr id="13" name="Text 11"/>
          <p:cNvSpPr/>
          <p:nvPr/>
        </p:nvSpPr>
        <p:spPr>
          <a:xfrm>
            <a:off x="689610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nhanh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230100" y="4857750"/>
            <a:ext cx="5143500" cy="40005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53950" y="5143500"/>
            <a:ext cx="4495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22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Luôn</a:t>
            </a:r>
            <a:r>
              <a:rPr lang="en-US" sz="3122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3122" dirty="0"/>
          </a:p>
        </p:txBody>
      </p:sp>
      <p:sp>
        <p:nvSpPr>
          <p:cNvPr id="16" name="Text 14"/>
          <p:cNvSpPr/>
          <p:nvPr/>
        </p:nvSpPr>
        <p:spPr>
          <a:xfrm>
            <a:off x="12553950" y="5810250"/>
            <a:ext cx="4495800" cy="2857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mất;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quý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kho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Text 2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b705f06-3ea9-4fba-9d35-f459da4b94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1950" spc="222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GÌ:</a:t>
            </a:r>
            <a:r>
              <a:rPr lang="en-US" sz="1950" spc="225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LỆNH</a:t>
            </a:r>
            <a:r>
              <a:rPr lang="en-US" sz="1950" spc="21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INFO</a:t>
            </a:r>
            <a:r>
              <a:rPr lang="en-US" sz="1950" spc="217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8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TỶ</a:t>
            </a:r>
            <a:r>
              <a:rPr lang="en-US" sz="21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1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954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9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keyspace_hits, keyspace_misses</a:t>
            </a:r>
            <a:endParaRPr lang="en-US" sz="3809" dirty="0"/>
          </a:p>
        </p:txBody>
      </p:sp>
      <p:sp>
        <p:nvSpPr>
          <p:cNvPr id="7" name="Text 5"/>
          <p:cNvSpPr/>
          <p:nvPr/>
        </p:nvSpPr>
        <p:spPr>
          <a:xfrm>
            <a:off x="12954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hits chia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hits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misses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3048000"/>
          </a:xfrm>
          <a:prstGeom prst="roundRect">
            <a:avLst>
              <a:gd name="adj" fmla="val 7500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0861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-7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753600" y="36195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evicted_keys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9753600" y="4476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954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2954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198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753600" y="695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3900" dirty="0"/>
          </a:p>
        </p:txBody>
      </p:sp>
      <p:sp>
        <p:nvSpPr>
          <p:cNvPr id="19" name="Text 17"/>
          <p:cNvSpPr/>
          <p:nvPr/>
        </p:nvSpPr>
        <p:spPr>
          <a:xfrm>
            <a:off x="9753600" y="7810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5bc956ab-095c-40d2-883f-208a6181307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1950" spc="231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1950" spc="172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4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KHỞI ĐỘNG</a:t>
            </a:r>
            <a:r>
              <a:rPr lang="en-US" sz="1950" spc="225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NGUỘI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78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trượt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Hạn</a:t>
            </a:r>
            <a:r>
              <a:rPr lang="en-US" sz="51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sống</a:t>
            </a:r>
            <a:r>
              <a:rPr lang="en-US" sz="5100" dirty="0" spc="-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(TTL)</a:t>
            </a:r>
            <a:endParaRPr lang="en-US" sz="5100" dirty="0"/>
          </a:p>
        </p:txBody>
      </p:sp>
      <p:sp>
        <p:nvSpPr>
          <p:cNvPr id="7" name="Text richtext-1792371191458-324357107"/>
          <p:cNvSpPr/>
          <p:nvPr/>
        </p:nvSpPr>
        <p:spPr>
          <a:xfrm>
            <a:off x="12954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kịp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lại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 lâu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372600" y="2762250"/>
            <a:ext cx="8001000" cy="6096000"/>
          </a:xfrm>
          <a:prstGeom prst="roundRect">
            <a:avLst>
              <a:gd name="adj" fmla="val 375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2194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2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510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51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nguội</a:t>
            </a:r>
            <a:endParaRPr lang="en-US" sz="5100" dirty="0"/>
          </a:p>
        </p:txBody>
      </p:sp>
      <p:sp>
        <p:nvSpPr>
          <p:cNvPr id="11" name="Text richtext-1792371191481-470445532"/>
          <p:cNvSpPr/>
          <p:nvPr/>
        </p:nvSpPr>
        <p:spPr>
          <a:xfrm>
            <a:off x="9753600" y="4476750"/>
            <a:ext cx="7239000" cy="4191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800"/>
              </a:spcAft>
              <a:buSzPct val="100000"/>
              <a:buFont typeface="Arial"/>
              <a:buChar char="•"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30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30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30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(seed)</a:t>
            </a:r>
            <a:r>
              <a:rPr lang="en-US" sz="30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30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7be5c57-60cc-4896-b488-6676629fed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của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3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Tỷ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lệ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trúng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phụ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thuộc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kiểu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</a:t>
            </a:r>
            <a:r>
              <a:rPr lang="en-US" sz="34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cập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bạn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Đo</a:t>
            </a:r>
            <a:r>
              <a:rPr lang="en-US" sz="34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r>
              <a:rPr lang="en-US" sz="34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34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trước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kích</a:t>
            </a:r>
            <a:r>
              <a:rPr lang="en-US" sz="34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thước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Thêm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nơi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dữ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cũ,</a:t>
            </a:r>
            <a:r>
              <a:rPr lang="en-US" sz="34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hệ</a:t>
            </a:r>
            <a:r>
              <a:rPr lang="en-US" sz="345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3450" dirty="0" spc="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nữa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66fca51-af0f-49d0-89fb-628e4c05902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Trúng</a:t>
            </a:r>
            <a:r>
              <a:rPr lang="en-US" sz="78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70%,</a:t>
            </a:r>
            <a:r>
              <a:rPr lang="en-US" sz="78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78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nhớ?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7048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15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70%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Trúng</a:t>
            </a:r>
            <a:r>
              <a:rPr lang="en-US" sz="28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70%;</a:t>
            </a:r>
            <a:r>
              <a:rPr lang="en-US" sz="28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nghiệp</a:t>
            </a:r>
            <a:r>
              <a:rPr lang="en-US" sz="2850" dirty="0" spc="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r>
              <a:rPr lang="en-US" sz="28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gấp</a:t>
            </a:r>
            <a:r>
              <a:rPr lang="en-US" sz="28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8572500" y="2762250"/>
            <a:ext cx="8801100" cy="1524000"/>
          </a:xfrm>
          <a:prstGeom prst="roundRect">
            <a:avLst>
              <a:gd name="adj" fmla="val 15000"/>
            </a:avLst>
          </a:prstGeom>
          <a:solidFill>
            <a:srgbClr val="F3EEE3"/>
          </a:solidFill>
          <a:ln/>
        </p:spPr>
      </p:sp>
      <p:sp>
        <p:nvSpPr>
          <p:cNvPr id="7" name="Text 5"/>
          <p:cNvSpPr/>
          <p:nvPr/>
        </p:nvSpPr>
        <p:spPr>
          <a:xfrm>
            <a:off x="8915400" y="2819400"/>
            <a:ext cx="8115300" cy="1409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ctr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3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3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ý,</a:t>
            </a:r>
            <a:r>
              <a:rPr lang="en-US" sz="36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36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3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36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cấu</a:t>
            </a:r>
            <a:r>
              <a:rPr lang="en-US" sz="36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6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INFO?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4476750"/>
          </a:xfrm>
          <a:prstGeom prst="roundRect">
            <a:avLst>
              <a:gd name="adj" fmla="val 5106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8572500" y="4572000"/>
            <a:ext cx="88011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0" name="Text 8"/>
          <p:cNvSpPr/>
          <p:nvPr/>
        </p:nvSpPr>
        <p:spPr>
          <a:xfrm>
            <a:off x="8953500" y="4914900"/>
            <a:ext cx="8039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6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Xem</a:t>
            </a:r>
            <a:r>
              <a:rPr lang="en-US" sz="36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 sách</a:t>
            </a:r>
            <a:r>
              <a:rPr lang="en-US" sz="36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1" name="Text richtext-1792371195441-842450428"/>
          <p:cNvSpPr/>
          <p:nvPr/>
        </p:nvSpPr>
        <p:spPr>
          <a:xfrm>
            <a:off x="8953500" y="5810250"/>
            <a:ext cx="8039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maxmemory-policy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noeviction,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volatile: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</a:t>
            </a:r>
            <a:r>
              <a:rPr lang="en-US" sz="27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 bị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7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evicted_keys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thì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Text 1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989f47c-3454-470d-9846-ba4e27c625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HƠN:</a:t>
            </a: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</a:t>
            </a:r>
            <a:r>
              <a:rPr lang="en-US" sz="1950" spc="224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 REDIS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72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nhớ,</a:t>
            </a:r>
            <a:r>
              <a:rPr lang="en-US" sz="72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7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8629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0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MB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 thêm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667000"/>
          <a:ext cx="13716000" cy="914400"/>
        </p:xfrm>
        <a:graphic>
          <a:graphicData uri="http://schemas.openxmlformats.org/drawingml/2006/table">
            <a:tbl>
              <a:tblPr/>
              <a:tblGrid>
                <a:gridCol w="4608576"/>
                <a:gridCol w="5925312"/>
                <a:gridCol w="5925312"/>
              </a:tblGrid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Giới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Tỷ</a:t>
                      </a:r>
                      <a:r>
                        <a:rPr lang="en-US" sz="3000" b="1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 trúng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b="1" dirty="0" spc="-1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Khóa</a:t>
                      </a:r>
                      <a:r>
                        <a:rPr lang="en-US" sz="3000" b="1" dirty="0" spc="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bị</a:t>
                      </a:r>
                      <a:r>
                        <a:rPr lang="en-US" sz="3000" b="1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đẩy</a:t>
                      </a:r>
                      <a:r>
                        <a:rPr lang="en-US" sz="3000" b="1" dirty="0" spc="-2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5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2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21.024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6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4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79%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9.620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549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143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16</a:t>
                      </a:r>
                      <a:r>
                        <a:rPr lang="en-US" sz="3000" dirty="0" spc="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 MB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88%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5ac72f4e-78fc-4b4c-937e-a4ff5e1f441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8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MB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382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Megabyte,</a:t>
            </a:r>
            <a:r>
              <a:rPr lang="en-US" sz="2400" dirty="0" spc="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đơn</a:t>
            </a: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vị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240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lượng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4770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008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68008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Time</a:t>
            </a:r>
            <a:r>
              <a:rPr lang="en-US" sz="1800" dirty="0" spc="-5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</a:t>
            </a: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Live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008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24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gian</a:t>
            </a:r>
            <a:r>
              <a:rPr lang="en-US" sz="24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sống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4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12039600" y="2667000"/>
            <a:ext cx="5334000" cy="2476500"/>
          </a:xfrm>
          <a:prstGeom prst="roundRect">
            <a:avLst>
              <a:gd name="adj" fmla="val 769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63450" y="2857500"/>
            <a:ext cx="476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OOM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12363450" y="37147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Out</a:t>
            </a:r>
            <a:r>
              <a:rPr lang="en-US" sz="1800" dirty="0" spc="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Of</a:t>
            </a:r>
            <a:r>
              <a:rPr lang="en-US" sz="1800" dirty="0" spc="-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Memory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63450" y="41338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Hết</a:t>
            </a:r>
            <a:r>
              <a:rPr lang="en-US" sz="24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24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429250"/>
            <a:ext cx="16459200" cy="3619500"/>
          </a:xfrm>
          <a:prstGeom prst="roundRect">
            <a:avLst>
              <a:gd name="adj" fmla="val 5263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56578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658600" y="56578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9" name="Text richtext-1792371218327-690177432"/>
          <p:cNvSpPr/>
          <p:nvPr/>
        </p:nvSpPr>
        <p:spPr>
          <a:xfrm>
            <a:off x="1295400" y="6153150"/>
            <a:ext cx="15697200" cy="2762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Text 27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09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1700078-f3c4-4066-8cdd-3d888d05e0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2026-10-19T14:01:34Z</dcterms:created>
  <dcterms:modified xsi:type="dcterms:W3CDTF">2026-10-19T14:01:34Z</dcterms:modified>
</cp:coreProperties>
</file>