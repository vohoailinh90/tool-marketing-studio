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952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334500" cy="38100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Ngăn</a:t>
            </a:r>
            <a:r>
              <a:rPr lang="en-US" sz="7500" dirty="0" spc="-8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nghệ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75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667" rIns="0" bIns="-6667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0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000" dirty="0" spc="-2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30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3000" dirty="0" spc="-2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</a:t>
            </a:r>
            <a:r>
              <a:rPr lang="en-US" sz="3000" dirty="0" spc="4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300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đâu?</a:t>
            </a:r>
            <a:endParaRPr lang="en-US" sz="3000" dirty="0"/>
          </a:p>
        </p:txBody>
      </p:sp>
      <p:sp>
        <p:nvSpPr>
          <p:cNvPr id="5" name="Connector line-1792382176601-421485724"/>
          <p:cNvSpPr/>
          <p:nvPr/>
        </p:nvSpPr>
        <p:spPr>
          <a:xfrm>
            <a:off x="914400" y="7239000"/>
            <a:ext cx="8610600" cy="0"/>
          </a:xfrm>
          <a:prstGeom prst="line">
            <a:avLst/>
          </a:prstGeom>
          <a:noFill/>
          <a:ln w="19050">
            <a:solidFill>
              <a:srgbClr val="2D3140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7524750"/>
            <a:ext cx="8572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Tám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mảng, từ</a:t>
            </a:r>
            <a:r>
              <a:rPr lang="en-US" sz="2100" dirty="0" spc="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1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1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620250"/>
            <a:ext cx="8572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 Tình</a:t>
            </a:r>
            <a:r>
              <a:rPr lang="en-US" sz="16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65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tế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06680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9537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9537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3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Web,</a:t>
            </a:r>
            <a:r>
              <a:rPr lang="en-US" sz="315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</a:t>
            </a:r>
            <a:r>
              <a:rPr lang="en-US" sz="315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endParaRPr lang="en-US" sz="3150" dirty="0"/>
          </a:p>
        </p:txBody>
      </p:sp>
      <p:sp>
        <p:nvSpPr>
          <p:cNvPr id="11" name="Shape 9"/>
          <p:cNvSpPr/>
          <p:nvPr/>
        </p:nvSpPr>
        <p:spPr>
          <a:xfrm>
            <a:off x="14135100" y="14287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4420850" y="17145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420850" y="27622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Lưới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150" dirty="0" spc="-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vụ,</a:t>
            </a:r>
            <a:r>
              <a:rPr lang="en-US" sz="3150" dirty="0" spc="-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315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3150" dirty="0"/>
          </a:p>
        </p:txBody>
      </p:sp>
      <p:sp>
        <p:nvSpPr>
          <p:cNvPr id="14" name="Shape 12"/>
          <p:cNvSpPr/>
          <p:nvPr/>
        </p:nvSpPr>
        <p:spPr>
          <a:xfrm>
            <a:off x="106680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9537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537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Lưu</a:t>
            </a:r>
            <a:r>
              <a:rPr lang="en-US" sz="3150" dirty="0" spc="-16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trữ,</a:t>
            </a:r>
            <a:r>
              <a:rPr lang="en-US" sz="315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15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150" dirty="0" spc="-2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3150" dirty="0"/>
          </a:p>
        </p:txBody>
      </p:sp>
      <p:sp>
        <p:nvSpPr>
          <p:cNvPr id="17" name="Shape 15"/>
          <p:cNvSpPr/>
          <p:nvPr/>
        </p:nvSpPr>
        <p:spPr>
          <a:xfrm>
            <a:off x="14135100" y="4895850"/>
            <a:ext cx="3238500" cy="3238500"/>
          </a:xfrm>
          <a:prstGeom prst="roundRect">
            <a:avLst>
              <a:gd name="adj" fmla="val 8235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420850" y="5181600"/>
            <a:ext cx="26670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04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4420850" y="6229350"/>
            <a:ext cx="2667000" cy="1619250"/>
          </a:xfrm>
          <a:prstGeom prst="rect">
            <a:avLst/>
          </a:prstGeom>
          <a:noFill/>
          <a:ln/>
        </p:spPr>
        <p:txBody>
          <a:bodyPr wrap="square" lIns="0" tIns="20002" rIns="0" bIns="-20002" rtlCol="0" anchor="t"/>
          <a:lstStyle/>
          <a:p>
            <a:pPr algn="l" indent="0" marL="0">
              <a:lnSpc>
                <a:spcPts val="3465"/>
              </a:lnSpc>
              <a:buNone/>
            </a:pPr>
            <a:r>
              <a:rPr lang="en-US" sz="3150" dirty="0" spc="-59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Xử</a:t>
            </a:r>
            <a:r>
              <a:rPr lang="en-US" sz="3150" dirty="0" spc="-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lý,</a:t>
            </a:r>
            <a:r>
              <a:rPr lang="en-US" sz="315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phát</a:t>
            </a:r>
            <a:r>
              <a:rPr lang="en-US" sz="3150" dirty="0" spc="-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hành</a:t>
            </a:r>
            <a:endParaRPr lang="en-US" sz="31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eca04054-736a-43cd-b3b1-29af89b4a6d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24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905000"/>
            <a:ext cx="16459200" cy="361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0" dirty="0" spc="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8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571500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mảng</a:t>
            </a:r>
            <a:r>
              <a:rPr lang="en-US" sz="48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 ngăn</a:t>
            </a:r>
            <a:r>
              <a:rPr lang="en-US" sz="4800" dirty="0" spc="-5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xếp</a:t>
            </a:r>
            <a:r>
              <a:rPr lang="en-US" sz="4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6858000"/>
            <a:ext cx="14287500" cy="11430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 từ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kỹ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Uber.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7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8" name="Moda image moda-export-watermark-f2ff1e05-0729-4bb2-83fb-d68933c4619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PHÍA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1950" b="1" spc="29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 ĐỘNG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Uber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 cả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FF6A4D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1432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Fusion.js:</a:t>
            </a:r>
            <a:r>
              <a:rPr lang="en-US" sz="3450" dirty="0" spc="-1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framework</a:t>
            </a:r>
            <a:r>
              <a:rPr lang="en-US" sz="345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React</a:t>
            </a:r>
            <a:endParaRPr lang="en-US" sz="3450" dirty="0"/>
          </a:p>
        </p:txBody>
      </p:sp>
      <p:sp>
        <p:nvSpPr>
          <p:cNvPr id="7" name="Shape 5"/>
          <p:cNvSpPr/>
          <p:nvPr/>
        </p:nvSpPr>
        <p:spPr>
          <a:xfrm>
            <a:off x="9372600" y="28575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53600" y="31432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WEB</a:t>
            </a:r>
            <a:r>
              <a:rPr lang="en-US" sz="1950" b="1" spc="22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753600" y="36576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visualization.js</a:t>
            </a:r>
            <a:endParaRPr lang="en-US" sz="3450" dirty="0"/>
          </a:p>
        </p:txBody>
      </p:sp>
      <p:sp>
        <p:nvSpPr>
          <p:cNvPr id="10" name="Shape 8"/>
          <p:cNvSpPr/>
          <p:nvPr/>
        </p:nvSpPr>
        <p:spPr>
          <a:xfrm>
            <a:off x="9144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6197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DI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295400" y="6134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Kiến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trúc</a:t>
            </a:r>
            <a:r>
              <a:rPr lang="en-US" sz="345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RIB,</a:t>
            </a:r>
            <a:r>
              <a:rPr lang="en-US" sz="345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dựa</a:t>
            </a:r>
            <a:r>
              <a:rPr lang="en-US" sz="34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45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VIPER</a:t>
            </a:r>
            <a:endParaRPr lang="en-US" sz="3450" dirty="0"/>
          </a:p>
        </p:txBody>
      </p:sp>
      <p:sp>
        <p:nvSpPr>
          <p:cNvPr id="13" name="Shape 11"/>
          <p:cNvSpPr/>
          <p:nvPr/>
        </p:nvSpPr>
        <p:spPr>
          <a:xfrm>
            <a:off x="9372600" y="5334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753600" y="561975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NGÔN</a:t>
            </a: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753600" y="61341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17526" rIns="0" bIns="-17526" rtlCol="0" anchor="t"/>
          <a:lstStyle/>
          <a:p>
            <a:pPr algn="l" indent="0" marL="0">
              <a:lnSpc>
                <a:spcPts val="3864"/>
              </a:lnSpc>
              <a:buNone/>
            </a:pPr>
            <a:r>
              <a:rPr lang="en-US" sz="345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Swift</a:t>
            </a:r>
            <a:r>
              <a:rPr lang="en-US" sz="345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iOS,</a:t>
            </a:r>
            <a:r>
              <a:rPr lang="en-US" sz="3450" dirty="0" spc="-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r>
              <a:rPr lang="en-US" sz="345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345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Android</a:t>
            </a:r>
            <a:endParaRPr lang="en-US" sz="34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0260e834-d8fd-4e6c-95cb-e54a6bffe2b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LƯỚI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1950" b="1" spc="24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5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6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6600" dirty="0" spc="-5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6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dịch</a:t>
            </a:r>
            <a:r>
              <a:rPr lang="en-US" sz="66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vụ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6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800" b="1" spc="21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KHÁCH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5730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Gửi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 cầu</a:t>
            </a:r>
            <a:endParaRPr lang="en-US" sz="3300" dirty="0"/>
          </a:p>
        </p:txBody>
      </p:sp>
      <p:sp>
        <p:nvSpPr>
          <p:cNvPr id="7" name="Connector line-1792382179379-160581063"/>
          <p:cNvSpPr/>
          <p:nvPr/>
        </p:nvSpPr>
        <p:spPr>
          <a:xfrm>
            <a:off x="460057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19112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1F3FD1"/>
          </a:solidFill>
          <a:ln/>
        </p:spPr>
      </p:sp>
      <p:sp>
        <p:nvSpPr>
          <p:cNvPr id="9" name="Text 7"/>
          <p:cNvSpPr/>
          <p:nvPr/>
        </p:nvSpPr>
        <p:spPr>
          <a:xfrm>
            <a:off x="553402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UBER</a:t>
            </a:r>
            <a:r>
              <a:rPr lang="en-US" sz="1800" b="1" spc="163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GATEWAY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553402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Cấu</a:t>
            </a:r>
            <a:r>
              <a:rPr lang="en-US" sz="33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3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33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NGINX</a:t>
            </a:r>
            <a:endParaRPr lang="en-US" sz="3300" dirty="0"/>
          </a:p>
        </p:txBody>
      </p:sp>
      <p:sp>
        <p:nvSpPr>
          <p:cNvPr id="11" name="Connector line-1792382179385-111418932"/>
          <p:cNvSpPr/>
          <p:nvPr/>
        </p:nvSpPr>
        <p:spPr>
          <a:xfrm>
            <a:off x="8877300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467850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10750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80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9810750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gRPC,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QUIC;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API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 Thrift</a:t>
            </a:r>
            <a:endParaRPr lang="en-US" sz="3300" dirty="0"/>
          </a:p>
        </p:txBody>
      </p:sp>
      <p:sp>
        <p:nvSpPr>
          <p:cNvPr id="15" name="Connector line-1792382179389-245308388"/>
          <p:cNvSpPr/>
          <p:nvPr/>
        </p:nvSpPr>
        <p:spPr>
          <a:xfrm>
            <a:off x="13154025" y="4667250"/>
            <a:ext cx="51435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13744575" y="3143250"/>
            <a:ext cx="3609975" cy="3048000"/>
          </a:xfrm>
          <a:prstGeom prst="roundRect">
            <a:avLst>
              <a:gd name="adj" fmla="val 875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087475" y="3448050"/>
            <a:ext cx="2924175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DỊCH</a:t>
            </a:r>
            <a:r>
              <a:rPr lang="en-US" sz="1800" b="1" spc="22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087475" y="3924300"/>
            <a:ext cx="2924175" cy="20955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t"/>
          <a:lstStyle/>
          <a:p>
            <a:pPr algn="l" indent="0" marL="0">
              <a:lnSpc>
                <a:spcPts val="3696"/>
              </a:lnSpc>
              <a:buNone/>
            </a:pPr>
            <a:r>
              <a:rPr lang="en-US" sz="3300" dirty="0" spc="-5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Flipr,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H3,</a:t>
            </a:r>
            <a:r>
              <a:rPr lang="en-US" sz="3300" dirty="0" spc="-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uAct,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Cadence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914400" y="68580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Flipr: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cấu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hình.</a:t>
            </a:r>
            <a:r>
              <a:rPr lang="en-US" sz="2550" dirty="0" spc="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H3: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 vị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trí.</a:t>
            </a:r>
            <a:r>
              <a:rPr lang="en-US" sz="25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uAct: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sự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kiện. Cadence: quy</a:t>
            </a:r>
            <a:r>
              <a:rPr lang="en-US" sz="25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9d4a210-2851-47b4-8883-62f4d55bf78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30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2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27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428750"/>
          </a:xfrm>
          <a:prstGeom prst="rect">
            <a:avLst/>
          </a:prstGeom>
          <a:noFill/>
          <a:ln/>
        </p:spPr>
        <p:txBody>
          <a:bodyPr wrap="square" lIns="0" tIns="33528" rIns="0" bIns="-33528" rtlCol="0" anchor="t"/>
          <a:lstStyle/>
          <a:p>
            <a:pPr algn="l" indent="0" marL="0">
              <a:lnSpc>
                <a:spcPts val="7392"/>
              </a:lnSpc>
              <a:buNone/>
            </a:pPr>
            <a:r>
              <a:rPr lang="en-US" sz="66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6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lưu</a:t>
            </a:r>
            <a:r>
              <a:rPr lang="en-US" sz="6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6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FFB454"/>
          </a:solidFill>
          <a:ln/>
        </p:spPr>
      </p:sp>
      <p:sp>
        <p:nvSpPr>
          <p:cNvPr id="5" name="Text 3"/>
          <p:cNvSpPr/>
          <p:nvPr/>
        </p:nvSpPr>
        <p:spPr>
          <a:xfrm>
            <a:off x="13716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950" b="1" spc="23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95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1950" b="1" spc="22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16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OLTP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3716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DocStore</a:t>
            </a:r>
            <a:r>
              <a:rPr lang="en-US" sz="3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3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MySQL,</a:t>
            </a:r>
            <a:r>
              <a:rPr lang="en-US" sz="3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PostgreSQL</a:t>
            </a:r>
            <a:endParaRPr lang="en-US" sz="390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4000500"/>
          </a:xfrm>
          <a:prstGeom prst="roundRect">
            <a:avLst>
              <a:gd name="adj" fmla="val 7619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829800" y="3619500"/>
            <a:ext cx="7239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9829800" y="4191000"/>
            <a:ext cx="7086600" cy="2762250"/>
          </a:xfrm>
          <a:prstGeom prst="rect">
            <a:avLst/>
          </a:prstGeom>
          <a:noFill/>
          <a:ln/>
        </p:spPr>
        <p:txBody>
          <a:bodyPr wrap="square" lIns="0" tIns="19812" rIns="0" bIns="-19812" rtlCol="0" anchor="t"/>
          <a:lstStyle/>
          <a:p>
            <a:pPr algn="l" indent="0" marL="0">
              <a:lnSpc>
                <a:spcPts val="4368"/>
              </a:lnSpc>
              <a:buNone/>
            </a:pPr>
            <a:r>
              <a:rPr lang="en-US" sz="3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Hadoop,</a:t>
            </a:r>
            <a:r>
              <a:rPr lang="en-US" sz="3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Hudi,</a:t>
            </a:r>
            <a:r>
              <a:rPr lang="en-US" sz="3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Parquet;</a:t>
            </a:r>
            <a:r>
              <a:rPr lang="en-US" sz="3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Pinot,</a:t>
            </a:r>
            <a:r>
              <a:rPr lang="en-US" sz="3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AresDB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914400" y="7810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DocStore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quán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mạnh, dùng</a:t>
            </a:r>
            <a:r>
              <a:rPr lang="en-US" sz="210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RocksDB.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Alluxio</a:t>
            </a:r>
            <a:r>
              <a:rPr lang="en-US" sz="21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đệm.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1ee5ef00-b7dd-40e2-937e-ec776468823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XỬ</a:t>
            </a:r>
            <a:r>
              <a:rPr lang="en-US" sz="1950" b="1" spc="1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195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950" b="1" spc="301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950" b="1" spc="25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6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95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Đứng</a:t>
            </a:r>
            <a:r>
              <a:rPr lang="en-US" sz="6900" dirty="0" spc="-3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ngoài</a:t>
            </a:r>
            <a:r>
              <a:rPr lang="en-US" sz="69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đường</a:t>
            </a:r>
            <a:r>
              <a:rPr lang="en-US" sz="6900" dirty="0" spc="3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0F766E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17" kern="0">
                <a:solidFill>
                  <a:srgbClr val="CFE8E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Hive,</a:t>
            </a:r>
            <a:r>
              <a:rPr lang="en-US" sz="345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Spark,</a:t>
            </a:r>
            <a:r>
              <a:rPr lang="en-US" sz="3450" dirty="0" spc="-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Marmaray</a:t>
            </a:r>
            <a:endParaRPr lang="en-US" sz="3450" dirty="0"/>
          </a:p>
        </p:txBody>
      </p:sp>
      <p:sp>
        <p:nvSpPr>
          <p:cNvPr id="7" name="Text 5"/>
          <p:cNvSpPr/>
          <p:nvPr/>
        </p:nvSpPr>
        <p:spPr>
          <a:xfrm>
            <a:off x="12954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7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Marmaray:</a:t>
            </a:r>
            <a:r>
              <a:rPr lang="en-US" sz="2250" dirty="0" spc="0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2250" dirty="0" spc="1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2250" dirty="0" spc="5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3" kern="0">
                <a:solidFill>
                  <a:srgbClr val="CFE8E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653415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1515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691515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Kafka,</a:t>
            </a:r>
            <a:r>
              <a:rPr lang="en-US" sz="345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Flink</a:t>
            </a:r>
            <a:endParaRPr lang="en-US" sz="3450" dirty="0"/>
          </a:p>
        </p:txBody>
      </p:sp>
      <p:sp>
        <p:nvSpPr>
          <p:cNvPr id="11" name="Text 9"/>
          <p:cNvSpPr/>
          <p:nvPr/>
        </p:nvSpPr>
        <p:spPr>
          <a:xfrm>
            <a:off x="691515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Truyền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2250" dirty="0" spc="-1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250" dirty="0" spc="5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12153900" y="3048000"/>
            <a:ext cx="5219700" cy="4191000"/>
          </a:xfrm>
          <a:prstGeom prst="roundRect">
            <a:avLst>
              <a:gd name="adj" fmla="val 636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34900" y="3352800"/>
            <a:ext cx="445770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5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12534900" y="428625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Monorepo,</a:t>
            </a:r>
            <a:r>
              <a:rPr lang="en-US" sz="345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Spinnaker,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M3</a:t>
            </a:r>
            <a:endParaRPr lang="en-US" sz="3450" dirty="0"/>
          </a:p>
        </p:txBody>
      </p:sp>
      <p:sp>
        <p:nvSpPr>
          <p:cNvPr id="15" name="Text 13"/>
          <p:cNvSpPr/>
          <p:nvPr/>
        </p:nvSpPr>
        <p:spPr>
          <a:xfrm>
            <a:off x="12534900" y="5715000"/>
            <a:ext cx="4457700" cy="13335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1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devpod;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uMetric,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uMonitor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cảnh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báo.</a:t>
            </a:r>
            <a:endParaRPr lang="en-US" sz="2250" dirty="0"/>
          </a:p>
        </p:txBody>
      </p:sp>
      <p:sp>
        <p:nvSpPr>
          <p:cNvPr id="16" name="Shape 14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878f2fa-6c71-4e55-97cd-aae09eaa6cd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nêu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527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438400" y="33432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cụ chỉ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70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trò.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914400" y="447675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77202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9" name="Text 7"/>
          <p:cNvSpPr/>
          <p:nvPr/>
        </p:nvSpPr>
        <p:spPr>
          <a:xfrm>
            <a:off x="2438400" y="496252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mô,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năm,</a:t>
            </a:r>
            <a:r>
              <a:rPr lang="en-US" sz="27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14400" y="6096000"/>
            <a:ext cx="16459200" cy="1428750"/>
          </a:xfrm>
          <a:prstGeom prst="roundRect">
            <a:avLst>
              <a:gd name="adj" fmla="val 16000"/>
            </a:avLst>
          </a:prstGeom>
          <a:solidFill>
            <a:srgbClr val="FF6A4D"/>
          </a:solidFill>
          <a:ln/>
        </p:spPr>
      </p:sp>
      <p:sp>
        <p:nvSpPr>
          <p:cNvPr id="11" name="Text 9"/>
          <p:cNvSpPr/>
          <p:nvPr/>
        </p:nvSpPr>
        <p:spPr>
          <a:xfrm>
            <a:off x="1295400" y="6391275"/>
            <a:ext cx="1047750" cy="10382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2438400" y="6581775"/>
            <a:ext cx="14478000" cy="590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 của Flipr không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thích.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192585c4-2bb2-4fec-9ca3-eb0dbb4f574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Đặt</a:t>
            </a:r>
            <a:r>
              <a:rPr lang="en-US" sz="69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xe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iPhone</a:t>
            </a:r>
            <a:endParaRPr lang="en-US" sz="6900" dirty="0"/>
          </a:p>
        </p:txBody>
      </p:sp>
      <p:sp>
        <p:nvSpPr>
          <p:cNvPr id="4" name="Connector line-1792382230341-114620580"/>
          <p:cNvSpPr/>
          <p:nvPr/>
        </p:nvSpPr>
        <p:spPr>
          <a:xfrm>
            <a:off x="914400" y="4000500"/>
            <a:ext cx="16459200" cy="0"/>
          </a:xfrm>
          <a:prstGeom prst="line">
            <a:avLst/>
          </a:prstGeom>
          <a:noFill/>
          <a:ln w="47625">
            <a:solidFill>
              <a:srgbClr val="1F3FD1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9525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9144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</a:t>
            </a:r>
            <a:r>
              <a:rPr lang="en-US" sz="345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iOS</a:t>
            </a:r>
            <a:endParaRPr lang="en-US" sz="3450" dirty="0"/>
          </a:p>
        </p:txBody>
      </p:sp>
      <p:sp>
        <p:nvSpPr>
          <p:cNvPr id="8" name="Text 6"/>
          <p:cNvSpPr/>
          <p:nvPr/>
        </p:nvSpPr>
        <p:spPr>
          <a:xfrm>
            <a:off x="9144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Kiến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trúc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RIB,</a:t>
            </a:r>
            <a:r>
              <a:rPr lang="en-US" sz="2250" dirty="0" spc="-7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Swift.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50673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6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50292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Uber</a:t>
            </a:r>
            <a:r>
              <a:rPr lang="en-US" sz="3450" dirty="0" spc="-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Gateway</a:t>
            </a:r>
            <a:endParaRPr lang="en-US" sz="3450" dirty="0"/>
          </a:p>
        </p:txBody>
      </p:sp>
      <p:sp>
        <p:nvSpPr>
          <p:cNvPr id="12" name="Text 10"/>
          <p:cNvSpPr/>
          <p:nvPr/>
        </p:nvSpPr>
        <p:spPr>
          <a:xfrm>
            <a:off x="50292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gRPC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250" dirty="0" spc="1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QUIC.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91821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4" name="Text 12"/>
          <p:cNvSpPr/>
          <p:nvPr/>
        </p:nvSpPr>
        <p:spPr>
          <a:xfrm>
            <a:off x="91440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2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91440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Dịch vụ</a:t>
            </a:r>
            <a:endParaRPr lang="en-US" sz="3450" dirty="0"/>
          </a:p>
        </p:txBody>
      </p:sp>
      <p:sp>
        <p:nvSpPr>
          <p:cNvPr id="16" name="Text 14"/>
          <p:cNvSpPr/>
          <p:nvPr/>
        </p:nvSpPr>
        <p:spPr>
          <a:xfrm>
            <a:off x="91440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250" dirty="0" spc="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</a:t>
            </a:r>
            <a:r>
              <a:rPr lang="en-US" sz="2250" dirty="0" spc="0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phía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sau.</a:t>
            </a:r>
            <a:endParaRPr lang="en-US" sz="2250" dirty="0"/>
          </a:p>
        </p:txBody>
      </p:sp>
      <p:sp>
        <p:nvSpPr>
          <p:cNvPr id="17" name="Shape 15"/>
          <p:cNvSpPr/>
          <p:nvPr/>
        </p:nvSpPr>
        <p:spPr>
          <a:xfrm>
            <a:off x="13296900" y="3810000"/>
            <a:ext cx="381000" cy="3810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13258800" y="3143250"/>
            <a:ext cx="3733800" cy="714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3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3258800" y="4572000"/>
            <a:ext cx="3733800" cy="123825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45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DocStore</a:t>
            </a:r>
            <a:endParaRPr lang="en-US" sz="3450" dirty="0"/>
          </a:p>
        </p:txBody>
      </p:sp>
      <p:sp>
        <p:nvSpPr>
          <p:cNvPr id="20" name="Text 18"/>
          <p:cNvSpPr/>
          <p:nvPr/>
        </p:nvSpPr>
        <p:spPr>
          <a:xfrm>
            <a:off x="13258800" y="5905500"/>
            <a:ext cx="3638550" cy="1905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6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250" dirty="0" spc="4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dirty="0" spc="-2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250" dirty="0" spc="3" kern="0">
                <a:solidFill>
                  <a:srgbClr val="4A494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dịch.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914400" y="81915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2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ngay: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lớn,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xử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lý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14161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08/10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d389cc47-fcef-4e50-b080-77a4ecde67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t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 sao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Uber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tự làm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công cụ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2766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950" b="1" spc="19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5676900" y="3181350"/>
            <a:ext cx="11315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Công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</a:t>
            </a:r>
            <a:r>
              <a:rPr lang="en-US" sz="2850" b="1" dirty="0" spc="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đôi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8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đáp</a:t>
            </a:r>
            <a:r>
              <a:rPr lang="en-US" sz="2850" b="1" dirty="0" spc="3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1295400" y="4152900"/>
            <a:ext cx="15697200" cy="1143000"/>
          </a:xfrm>
          <a:prstGeom prst="roundRect">
            <a:avLst>
              <a:gd name="adj" fmla="val 16667"/>
            </a:avLst>
          </a:prstGeom>
          <a:solidFill>
            <a:srgbClr val="1E212B"/>
          </a:solidFill>
          <a:ln w="19050">
            <a:solidFill>
              <a:srgbClr val="2D31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676400" y="45720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ĐỔI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950" dirty="0"/>
          </a:p>
        </p:txBody>
      </p:sp>
      <p:sp>
        <p:nvSpPr>
          <p:cNvPr id="9" name="Text 7"/>
          <p:cNvSpPr/>
          <p:nvPr/>
        </p:nvSpPr>
        <p:spPr>
          <a:xfrm>
            <a:off x="6057900" y="4476750"/>
            <a:ext cx="10553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Khớp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nhu cầu,</a:t>
            </a:r>
            <a:r>
              <a:rPr lang="en-US" sz="2850" b="1" dirty="0" spc="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1676400" y="5448300"/>
            <a:ext cx="14935200" cy="1143000"/>
          </a:xfrm>
          <a:prstGeom prst="roundRect">
            <a:avLst>
              <a:gd name="adj" fmla="val 16667"/>
            </a:avLst>
          </a:prstGeom>
          <a:solidFill>
            <a:srgbClr val="FFB454"/>
          </a:solidFill>
          <a:ln/>
        </p:spPr>
      </p:sp>
      <p:sp>
        <p:nvSpPr>
          <p:cNvPr id="11" name="Text 9"/>
          <p:cNvSpPr/>
          <p:nvPr/>
        </p:nvSpPr>
        <p:spPr>
          <a:xfrm>
            <a:off x="2057400" y="5867400"/>
            <a:ext cx="4191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8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19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6438900" y="5772150"/>
            <a:ext cx="9791700" cy="6191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8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nguồn:</a:t>
            </a:r>
            <a:r>
              <a:rPr lang="en-US" sz="28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H3,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Cadence</a:t>
            </a:r>
            <a:endParaRPr lang="en-US" sz="2850" dirty="0"/>
          </a:p>
        </p:txBody>
      </p:sp>
      <p:sp>
        <p:nvSpPr>
          <p:cNvPr id="13" name="Text 11"/>
          <p:cNvSpPr/>
          <p:nvPr/>
        </p:nvSpPr>
        <p:spPr>
          <a:xfrm>
            <a:off x="914400" y="6972300"/>
            <a:ext cx="1645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Nhận</a:t>
            </a:r>
            <a:r>
              <a:rPr lang="en-US" sz="2100" dirty="0" spc="-2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xét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210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nguồn.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5" name="Shape 2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6" name="Moda image moda-export-watermark-b73cfad2-8098-4cde-a425-2ea10c94e72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76200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162050"/>
            <a:ext cx="16192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3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3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RIB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bộ</a:t>
                      </a:r>
                      <a:r>
                        <a:rPr lang="en-US" sz="210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tuyến,</a:t>
                      </a:r>
                      <a:r>
                        <a:rPr lang="en-US" sz="21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tương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tác,</a:t>
                      </a:r>
                      <a:r>
                        <a:rPr lang="en-US" sz="2100" dirty="0" spc="1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dựng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VIPER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kiến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di</a:t>
                      </a:r>
                      <a:r>
                        <a:rPr lang="en-US" sz="2100" dirty="0" spc="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động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năm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vai</a:t>
                      </a:r>
                      <a:r>
                        <a:rPr lang="en-US" sz="2100" dirty="0" spc="-2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trò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12" kern="0">
                          <a:solidFill>
                            <a:srgbClr val="FF6A4D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MVC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dữ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 giao diện,</a:t>
                      </a:r>
                      <a:r>
                        <a:rPr lang="en-US" sz="2100" dirty="0" spc="1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1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khiển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gRPC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hệ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thống</a:t>
                      </a:r>
                      <a:r>
                        <a:rPr lang="en-US" sz="2100" dirty="0" spc="-1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gọi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hàm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từ</a:t>
                      </a:r>
                      <a:r>
                        <a:rPr lang="en-US" sz="2100" dirty="0" spc="-24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xa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2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QUIC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</a:t>
                      </a:r>
                      <a:r>
                        <a:rPr lang="en-US" sz="2100" dirty="0" spc="6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thức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nhanh,</a:t>
                      </a:r>
                      <a:r>
                        <a:rPr lang="en-US" sz="2100" dirty="0" spc="-9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chạy</a:t>
                      </a:r>
                      <a:r>
                        <a:rPr lang="en-US" sz="210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UDP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372600" y="2381250"/>
          <a:ext cx="13716000" cy="914400"/>
        </p:xfrm>
        <a:graphic>
          <a:graphicData uri="http://schemas.openxmlformats.org/drawingml/2006/table">
            <a:tbl>
              <a:tblPr/>
              <a:tblGrid>
                <a:gridCol w="1905000"/>
                <a:gridCol w="6096000"/>
              </a:tblGrid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72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Từ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5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Nghĩa</a:t>
                      </a:r>
                      <a:r>
                        <a:rPr lang="en-US" sz="2100" b="1" dirty="0" spc="-14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trong</a:t>
                      </a:r>
                      <a:r>
                        <a:rPr lang="en-US" sz="2100" b="1" dirty="0" spc="-1" kern="0">
                          <a:solidFill>
                            <a:srgbClr val="9AA0B5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bài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12B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4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UDP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48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gửi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gói</a:t>
                      </a: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tin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không cần</a:t>
                      </a:r>
                      <a:r>
                        <a:rPr lang="en-US" sz="210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bắt</a:t>
                      </a:r>
                      <a:r>
                        <a:rPr lang="en-US" sz="2100" dirty="0" spc="-2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tay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kern="0">
                          <a:solidFill>
                            <a:srgbClr val="7C93FF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API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giao diện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lập</a:t>
                      </a:r>
                      <a:r>
                        <a:rPr lang="en-US" sz="21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trình</a:t>
                      </a:r>
                      <a:r>
                        <a:rPr lang="en-US" sz="2100" dirty="0" spc="2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ứng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dụng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7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SQL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ngôn</a:t>
                      </a:r>
                      <a:r>
                        <a:rPr lang="en-US" sz="2100" dirty="0" spc="0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ngữ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truy</a:t>
                      </a:r>
                      <a:r>
                        <a:rPr lang="en-US" sz="210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vấn</a:t>
                      </a:r>
                      <a:r>
                        <a:rPr lang="en-US" sz="2100" dirty="0" spc="-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có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cấu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trúc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3" kern="0">
                          <a:solidFill>
                            <a:srgbClr val="FFB454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OLTP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xử</a:t>
                      </a:r>
                      <a:r>
                        <a:rPr lang="en-US" sz="2100" dirty="0" spc="-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lý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giao dịch</a:t>
                      </a:r>
                      <a:r>
                        <a:rPr lang="en-US" sz="2100" dirty="0" spc="5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trực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tuyến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4161C"/>
                    </a:solidFill>
                  </a:tcPr>
                </a:tc>
              </a:tr>
              <a:tr h="742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b="1" dirty="0" spc="-8" kern="0">
                          <a:solidFill>
                            <a:srgbClr val="3DD6A0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DevOps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520"/>
                        </a:lnSpc>
                        <a:buNone/>
                      </a:pPr>
                      <a:r>
                        <a:rPr lang="en-US" sz="2100" dirty="0" spc="-13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phát</a:t>
                      </a:r>
                      <a:r>
                        <a:rPr lang="en-US" sz="2100" dirty="0" spc="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triển</a:t>
                      </a:r>
                      <a:r>
                        <a:rPr lang="en-US" sz="2100" dirty="0" spc="-17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và</a:t>
                      </a:r>
                      <a:r>
                        <a:rPr lang="en-US" sz="2100" dirty="0" spc="-12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vận</a:t>
                      </a:r>
                      <a:r>
                        <a:rPr lang="en-US" sz="2100" dirty="0" spc="-1" kern="0">
                          <a:solidFill>
                            <a:srgbClr val="E4E1D8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hành</a:t>
                      </a:r>
                      <a:endParaRPr lang="en-US" sz="1200" dirty="0"/>
                    </a:p>
                  </a:txBody>
                  <a:tcPr marL="76200" marR="76200" marT="76200" marB="76200">
                    <a:lnL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D31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A1D25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914400" y="7219950"/>
            <a:ext cx="1143000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7" name="Text 3"/>
          <p:cNvSpPr/>
          <p:nvPr/>
        </p:nvSpPr>
        <p:spPr>
          <a:xfrm>
            <a:off x="914400" y="7639050"/>
            <a:ext cx="16459200" cy="552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55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system-design-101,</a:t>
            </a: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55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550" dirty="0"/>
          </a:p>
        </p:txBody>
      </p:sp>
      <p:sp>
        <p:nvSpPr>
          <p:cNvPr id="8" name="Text 4"/>
          <p:cNvSpPr/>
          <p:nvPr/>
        </p:nvSpPr>
        <p:spPr>
          <a:xfrm>
            <a:off x="914400" y="8172450"/>
            <a:ext cx="16459200" cy="3905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lập.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9144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2573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16002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9431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22860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289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29718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3147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657600" y="9353550"/>
            <a:ext cx="152400" cy="1524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000500" y="9353550"/>
            <a:ext cx="152400" cy="1524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914400" y="9677400"/>
            <a:ext cx="7620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27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0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94a578c7-554e-4305-a16e-e894049898c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2026-10-19T03:57:46Z</dcterms:created>
  <dcterms:modified xsi:type="dcterms:W3CDTF">2026-10-19T03:57:46Z</dcterms:modified>
</cp:coreProperties>
</file>