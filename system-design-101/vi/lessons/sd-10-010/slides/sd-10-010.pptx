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false" autoCompressPictures="0" embedTrueTypeFonts="true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8288000" cy="10287000"/>
  <p:notesSz cx="10287000" cy="18288000"/>
  <p:embeddedFontLst>
    <p:embeddedFont>
      <p:font typeface="Be Vietnam Pro"/>
      <p:regular r:id="rId19"/>
      <p:bold r:id="rId17"/>
    </p:embeddedFont>
    <p:embeddedFont>
      <p:font typeface="Bricolage Grotesque ExtraBold"/>
      <p:regular r:id="rId18"/>
    </p:embeddedFont>
    <p:embeddedFont>
      <p:font typeface="Be Vietnam Pro ExtraBold"/>
      <p:regular r:id="rId20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font" Target="fonts/font1.fntdata"/><Relationship Id="rId18" Type="http://schemas.openxmlformats.org/officeDocument/2006/relationships/font" Target="fonts/font2.fntdata"/><Relationship Id="rId19" Type="http://schemas.openxmlformats.org/officeDocument/2006/relationships/font" Target="fonts/font3.fntdata"/><Relationship Id="rId20" Type="http://schemas.openxmlformats.org/officeDocument/2006/relationships/font" Target="fonts/font4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8572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950" b="1" spc="222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950" b="1" spc="220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428750"/>
            <a:ext cx="9144000" cy="381000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8100" dirty="0" spc="-2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r>
              <a:rPr lang="en-US" sz="8100" dirty="0" spc="-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</a:t>
            </a:r>
            <a:pPr algn="l" indent="0" marL="0">
              <a:lnSpc>
                <a:spcPts val="8748"/>
              </a:lnSpc>
              <a:buNone/>
            </a:pPr>
            <a:r>
              <a:rPr lang="en-US" sz="8100" dirty="0" spc="4" kern="0">
                <a:solidFill>
                  <a:srgbClr val="FFB454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chặn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-1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và</a:t>
            </a:r>
            <a:r>
              <a:rPr lang="en-US" sz="81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hàng</a:t>
            </a:r>
            <a:r>
              <a:rPr lang="en-US" sz="8100" dirty="0" spc="-2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8100" dirty="0"/>
          </a:p>
          <a:p>
            <a:pPr algn="l" indent="0" marL="0">
              <a:lnSpc>
                <a:spcPts val="8748"/>
              </a:lnSpc>
              <a:buNone/>
            </a:pPr>
            <a:r>
              <a:rPr lang="en-US" sz="8100" dirty="0" spc="0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8100" dirty="0" spc="2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chặn</a:t>
            </a:r>
            <a:endParaRPr lang="en-US" sz="8100" dirty="0"/>
          </a:p>
        </p:txBody>
      </p:sp>
      <p:sp>
        <p:nvSpPr>
          <p:cNvPr id="4" name="Text 2"/>
          <p:cNvSpPr/>
          <p:nvPr/>
        </p:nvSpPr>
        <p:spPr>
          <a:xfrm>
            <a:off x="914400" y="5619750"/>
            <a:ext cx="8572500" cy="114300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8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850" dirty="0" spc="-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8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hàng</a:t>
            </a:r>
            <a:r>
              <a:rPr lang="en-US" sz="28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trống:</a:t>
            </a:r>
            <a:r>
              <a:rPr lang="en-US" sz="28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đợi,</a:t>
            </a:r>
            <a:r>
              <a:rPr lang="en-US" sz="2850" dirty="0" spc="-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28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đợi?</a:t>
            </a:r>
            <a:endParaRPr lang="en-US" sz="2850" dirty="0"/>
          </a:p>
        </p:txBody>
      </p:sp>
      <p:sp>
        <p:nvSpPr>
          <p:cNvPr id="5" name="Shape 3"/>
          <p:cNvSpPr/>
          <p:nvPr/>
        </p:nvSpPr>
        <p:spPr>
          <a:xfrm>
            <a:off x="9144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6" name="Text 4"/>
          <p:cNvSpPr/>
          <p:nvPr/>
        </p:nvSpPr>
        <p:spPr>
          <a:xfrm>
            <a:off x="11049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kiểu</a:t>
            </a: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1051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8" name="Text 6"/>
          <p:cNvSpPr/>
          <p:nvPr/>
        </p:nvSpPr>
        <p:spPr>
          <a:xfrm>
            <a:off x="32956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tính</a:t>
            </a:r>
            <a:r>
              <a:rPr lang="en-US" sz="1800" dirty="0" spc="-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529590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548640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kỹ</a:t>
            </a:r>
            <a:r>
              <a:rPr lang="en-US" sz="18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thuật</a:t>
            </a:r>
            <a:r>
              <a:rPr lang="en-US" sz="18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7486650" y="7048500"/>
            <a:ext cx="2038350" cy="1619250"/>
          </a:xfrm>
          <a:prstGeom prst="roundRect">
            <a:avLst>
              <a:gd name="adj" fmla="val 11765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7677150" y="8172450"/>
            <a:ext cx="180975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lợi</a:t>
            </a:r>
            <a:r>
              <a:rPr lang="en-US" sz="18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14400" y="9696450"/>
            <a:ext cx="857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system-design-101</a:t>
            </a:r>
            <a:r>
              <a:rPr lang="en-US" sz="1650" dirty="0" spc="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nhóm</a:t>
            </a:r>
            <a:r>
              <a:rPr lang="en-US" sz="1650" dirty="0" spc="-4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1650" dirty="0" spc="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 mềm</a:t>
            </a:r>
            <a:endParaRPr lang="en-US" sz="1650" dirty="0"/>
          </a:p>
        </p:txBody>
      </p:sp>
      <p:sp>
        <p:nvSpPr>
          <p:cNvPr id="14" name="Shape 12"/>
          <p:cNvSpPr/>
          <p:nvPr/>
        </p:nvSpPr>
        <p:spPr>
          <a:xfrm>
            <a:off x="10477500" y="914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5" name="Text 13"/>
          <p:cNvSpPr/>
          <p:nvPr/>
        </p:nvSpPr>
        <p:spPr>
          <a:xfrm>
            <a:off x="10820400" y="1200150"/>
            <a:ext cx="1428750" cy="4191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0820400" y="1790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2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Đợi</a:t>
            </a:r>
            <a:r>
              <a:rPr lang="en-US" sz="42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khi</a:t>
            </a:r>
            <a:r>
              <a:rPr lang="en-US" sz="4200" dirty="0" spc="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</a:t>
            </a:r>
            <a:r>
              <a:rPr lang="en-US" sz="42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hoặc</a:t>
            </a:r>
            <a:r>
              <a:rPr lang="en-US" sz="42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4200" dirty="0"/>
          </a:p>
        </p:txBody>
      </p:sp>
      <p:sp>
        <p:nvSpPr>
          <p:cNvPr id="17" name="Text 15"/>
          <p:cNvSpPr/>
          <p:nvPr/>
        </p:nvSpPr>
        <p:spPr>
          <a:xfrm>
            <a:off x="10820400" y="2514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2550" dirty="0"/>
          </a:p>
        </p:txBody>
      </p:sp>
      <p:sp>
        <p:nvSpPr>
          <p:cNvPr id="18" name="Shape 16"/>
          <p:cNvSpPr/>
          <p:nvPr/>
        </p:nvSpPr>
        <p:spPr>
          <a:xfrm>
            <a:off x="10477500" y="37719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19" name="Text 17"/>
          <p:cNvSpPr/>
          <p:nvPr/>
        </p:nvSpPr>
        <p:spPr>
          <a:xfrm>
            <a:off x="10820400" y="4057650"/>
            <a:ext cx="2286000" cy="4191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6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CHẶN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0820400" y="46482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Thua</a:t>
            </a:r>
            <a:r>
              <a:rPr lang="en-US" sz="4200" dirty="0" spc="-1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thì</a:t>
            </a:r>
            <a:r>
              <a:rPr lang="en-US" sz="42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lại</a:t>
            </a:r>
            <a:endParaRPr lang="en-US" sz="4200" dirty="0"/>
          </a:p>
        </p:txBody>
      </p:sp>
      <p:sp>
        <p:nvSpPr>
          <p:cNvPr id="21" name="Shape 19"/>
          <p:cNvSpPr/>
          <p:nvPr/>
        </p:nvSpPr>
        <p:spPr>
          <a:xfrm>
            <a:off x="10477500" y="6629400"/>
            <a:ext cx="6896100" cy="2590800"/>
          </a:xfrm>
          <a:prstGeom prst="roundRect">
            <a:avLst>
              <a:gd name="adj" fmla="val 10294"/>
            </a:avLst>
          </a:prstGeom>
          <a:solidFill>
            <a:srgbClr val="1E212B"/>
          </a:solidFill>
          <a:ln/>
        </p:spPr>
      </p:sp>
      <p:sp>
        <p:nvSpPr>
          <p:cNvPr id="22" name="Text 20"/>
          <p:cNvSpPr/>
          <p:nvPr/>
        </p:nvSpPr>
        <p:spPr>
          <a:xfrm>
            <a:off x="10820400" y="6915150"/>
            <a:ext cx="2857500" cy="4191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spc="225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 TÍNH</a:t>
            </a:r>
            <a:r>
              <a:rPr lang="en-US" sz="1800" b="1" spc="189" kern="0" dirty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0820400" y="7505700"/>
            <a:ext cx="621030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2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4200" dirty="0" spc="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4200" dirty="0" spc="-4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r>
              <a:rPr lang="en-US" sz="4200" dirty="0" spc="-3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wait-free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10820400" y="82296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 đặt không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11049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6" name="Text 24"/>
          <p:cNvSpPr/>
          <p:nvPr/>
        </p:nvSpPr>
        <p:spPr>
          <a:xfrm>
            <a:off x="32956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7" name="Text 25"/>
          <p:cNvSpPr/>
          <p:nvPr/>
        </p:nvSpPr>
        <p:spPr>
          <a:xfrm>
            <a:off x="548640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3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1</a:t>
            </a:r>
            <a:endParaRPr lang="en-US" sz="6300" dirty="0"/>
          </a:p>
        </p:txBody>
      </p:sp>
      <p:sp>
        <p:nvSpPr>
          <p:cNvPr id="28" name="Text 26"/>
          <p:cNvSpPr/>
          <p:nvPr/>
        </p:nvSpPr>
        <p:spPr>
          <a:xfrm>
            <a:off x="7677150" y="7124700"/>
            <a:ext cx="1714500" cy="990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6300" dirty="0" spc="-4" kern="0">
                <a:solidFill>
                  <a:srgbClr val="3DD6A0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2</a:t>
            </a:r>
            <a:endParaRPr lang="en-US" sz="6300" dirty="0"/>
          </a:p>
        </p:txBody>
      </p:sp>
      <p:sp>
        <p:nvSpPr>
          <p:cNvPr id="29" name="Text 27"/>
          <p:cNvSpPr/>
          <p:nvPr/>
        </p:nvSpPr>
        <p:spPr>
          <a:xfrm>
            <a:off x="10820400" y="5372100"/>
            <a:ext cx="6210300" cy="876300"/>
          </a:xfrm>
          <a:prstGeom prst="rect">
            <a:avLst/>
          </a:prstGeom>
          <a:noFill/>
          <a:ln/>
        </p:spPr>
        <p:txBody>
          <a:bodyPr wrap="square" lIns="0" tIns="9700" rIns="0" bIns="-9700" rtlCol="0" anchor="t"/>
          <a:lstStyle/>
          <a:p>
            <a:pPr algn="l" indent="0" marL="0">
              <a:lnSpc>
                <a:spcPts val="3443"/>
              </a:lnSpc>
              <a:buNone/>
            </a:pPr>
            <a:r>
              <a:rPr lang="en-US" sz="2550" dirty="0" spc="-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550" dirty="0" spc="-3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046a2afd-5ef1-4f14-bf4d-aaa9bfabb6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TÌNH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HUỐNG</a:t>
            </a:r>
            <a:r>
              <a:rPr lang="en-US" sz="1950" b="1" spc="174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MỤC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3810000"/>
            <a:ext cx="7620000" cy="1809750"/>
          </a:xfrm>
          <a:prstGeom prst="rect">
            <a:avLst/>
          </a:prstGeom>
          <a:noFill/>
          <a:ln/>
        </p:spPr>
        <p:txBody>
          <a:bodyPr wrap="square" lIns="0" tIns="6334" rIns="0" bIns="-6334" rtlCol="0" anchor="t"/>
          <a:lstStyle/>
          <a:p>
            <a:pPr algn="l" indent="0" marL="0">
              <a:lnSpc>
                <a:spcPts val="3990"/>
              </a:lnSpc>
              <a:buNone/>
            </a:pP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8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bắt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đầu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chính</a:t>
            </a:r>
            <a:r>
              <a:rPr lang="en-US" sz="28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bộ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2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vựng</a:t>
            </a:r>
            <a:r>
              <a:rPr lang="en-US" sz="28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này.</a:t>
            </a:r>
            <a:r>
              <a:rPr lang="en-US" sz="2850" dirty="0" spc="-8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</a:t>
            </a:r>
            <a:r>
              <a:rPr lang="en-US" sz="28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850" dirty="0" spc="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8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85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trước,</a:t>
            </a:r>
            <a:r>
              <a:rPr lang="en-US" sz="2850" dirty="0" spc="-2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850" dirty="0" spc="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8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850" dirty="0" spc="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8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8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chặn.</a:t>
            </a:r>
            <a:endParaRPr lang="en-US" sz="2850" dirty="0"/>
          </a:p>
        </p:txBody>
      </p:sp>
      <p:sp>
        <p:nvSpPr>
          <p:cNvPr id="4" name="Shape 2"/>
          <p:cNvSpPr/>
          <p:nvPr/>
        </p:nvSpPr>
        <p:spPr>
          <a:xfrm>
            <a:off x="914400" y="5905500"/>
            <a:ext cx="7620000" cy="2762250"/>
          </a:xfrm>
          <a:prstGeom prst="roundRect">
            <a:avLst>
              <a:gd name="adj" fmla="val 9655"/>
            </a:avLst>
          </a:prstGeom>
          <a:solidFill>
            <a:srgbClr val="E8E0CF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6210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MỤC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TIÊU</a:t>
            </a:r>
            <a:endParaRPr lang="en-US" sz="1800" dirty="0"/>
          </a:p>
        </p:txBody>
      </p:sp>
      <p:sp>
        <p:nvSpPr>
          <p:cNvPr id="6" name="Text richtext-1792339204546-287941272"/>
          <p:cNvSpPr/>
          <p:nvPr/>
        </p:nvSpPr>
        <p:spPr>
          <a:xfrm>
            <a:off x="1295400" y="6705600"/>
            <a:ext cx="6858000" cy="1809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Phân</a:t>
            </a: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Hiểu</a:t>
            </a:r>
            <a:r>
              <a:rPr lang="en-US" sz="255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55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</a:t>
            </a:r>
            <a:endParaRPr lang="en-US" sz="2550" dirty="0"/>
          </a:p>
          <a:p>
            <a:pPr algn="l" marL="323850" indent="-231371">
              <a:lnSpc>
                <a:spcPts val="3570"/>
              </a:lnSpc>
              <a:buSzPct val="100000"/>
              <a:buFont typeface="Arial"/>
              <a:buChar char="•"/>
            </a:pPr>
            <a:r>
              <a:rPr lang="en-US" sz="255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Biết</a:t>
            </a:r>
            <a:r>
              <a:rPr lang="en-US" sz="2550" dirty="0" spc="-3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55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 lợi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2550" dirty="0"/>
          </a:p>
        </p:txBody>
      </p:sp>
      <p:sp>
        <p:nvSpPr>
          <p:cNvPr id="7" name="Shape 5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NĂM</a:t>
            </a:r>
            <a:r>
              <a:rPr lang="en-US" sz="1800" b="1" spc="22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1800" b="1" spc="18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HAY</a:t>
            </a:r>
            <a:r>
              <a:rPr lang="en-US" sz="1800" b="1" spc="181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GÂY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NHẦM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6012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13373100" y="2000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6012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6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2" name="Text 10"/>
          <p:cNvSpPr/>
          <p:nvPr/>
        </p:nvSpPr>
        <p:spPr>
          <a:xfrm>
            <a:off x="13373100" y="3905250"/>
            <a:ext cx="3543300" cy="1619250"/>
          </a:xfrm>
          <a:prstGeom prst="roundRect">
            <a:avLst>
              <a:gd name="adj" fmla="val 14118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6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6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600" dirty="0"/>
          </a:p>
        </p:txBody>
      </p:sp>
      <p:sp>
        <p:nvSpPr>
          <p:cNvPr id="13" name="Text 11"/>
          <p:cNvSpPr/>
          <p:nvPr/>
        </p:nvSpPr>
        <p:spPr>
          <a:xfrm>
            <a:off x="9601200" y="5810250"/>
            <a:ext cx="7315200" cy="1619250"/>
          </a:xfrm>
          <a:prstGeom prst="roundRect">
            <a:avLst>
              <a:gd name="adj" fmla="val 14118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wait-free</a:t>
            </a:r>
            <a:endParaRPr lang="en-US" sz="3600" dirty="0"/>
          </a:p>
        </p:txBody>
      </p:sp>
      <p:sp>
        <p:nvSpPr>
          <p:cNvPr id="14" name="Text 12"/>
          <p:cNvSpPr/>
          <p:nvPr/>
        </p:nvSpPr>
        <p:spPr>
          <a:xfrm>
            <a:off x="9601200" y="7848600"/>
            <a:ext cx="731520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5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2250" dirty="0" spc="1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19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từng</a:t>
            </a:r>
            <a:r>
              <a:rPr lang="en-US" sz="2250" dirty="0" spc="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</a:t>
            </a:r>
            <a:r>
              <a:rPr lang="en-US" sz="22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một,</a:t>
            </a:r>
            <a:r>
              <a:rPr lang="en-US" sz="2250" dirty="0" spc="-2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2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đến</a:t>
            </a:r>
            <a:r>
              <a:rPr lang="en-US" sz="22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cách</a:t>
            </a:r>
            <a:r>
              <a:rPr lang="en-US" sz="22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cài</a:t>
            </a:r>
            <a:r>
              <a:rPr lang="en-US" sz="22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đặt.</a:t>
            </a:r>
            <a:endParaRPr lang="en-US" sz="2250" dirty="0"/>
          </a:p>
        </p:txBody>
      </p:sp>
      <p:sp>
        <p:nvSpPr>
          <p:cNvPr id="15" name="Shape 13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02/10</a:t>
            </a:r>
            <a:endParaRPr lang="en-US" sz="1650" dirty="0"/>
          </a:p>
        </p:txBody>
      </p:sp>
      <p:sp>
        <p:nvSpPr>
          <p:cNvPr id="26" name="Text 24"/>
          <p:cNvSpPr/>
          <p:nvPr/>
        </p:nvSpPr>
        <p:spPr>
          <a:xfrm>
            <a:off x="914400" y="1333500"/>
            <a:ext cx="7810500" cy="2190750"/>
          </a:xfrm>
          <a:prstGeom prst="rect">
            <a:avLst/>
          </a:prstGeom>
          <a:noFill/>
          <a:ln/>
        </p:spPr>
        <p:txBody>
          <a:bodyPr wrap="square" lIns="0" tIns="61722" rIns="0" bIns="-61722" rtlCol="0" anchor="t"/>
          <a:lstStyle/>
          <a:p>
            <a:pPr algn="l" indent="0" marL="0">
              <a:lnSpc>
                <a:spcPts val="7560"/>
              </a:lnSpc>
              <a:buNone/>
            </a:pPr>
            <a:r>
              <a:rPr lang="en-US" sz="7200" dirty="0" spc="-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Bộ</a:t>
            </a:r>
            <a:r>
              <a:rPr lang="en-US" sz="72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từ</a:t>
            </a:r>
            <a:r>
              <a:rPr lang="en-US" sz="7200" dirty="0" spc="1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vựng</a:t>
            </a:r>
            <a:endParaRPr lang="en-US" sz="7200" dirty="0"/>
          </a:p>
          <a:p>
            <a:pPr algn="l" indent="0" marL="0">
              <a:lnSpc>
                <a:spcPts val="7560"/>
              </a:lnSpc>
              <a:buNone/>
            </a:pPr>
            <a:r>
              <a:rPr lang="en-US" sz="72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</a:t>
            </a:r>
            <a:r>
              <a:rPr lang="en-US" sz="7200" dirty="0" spc="-1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gây</a:t>
            </a:r>
            <a:r>
              <a:rPr lang="en-US" sz="72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nhầm</a:t>
            </a:r>
            <a:endParaRPr lang="en-US" sz="7200" dirty="0"/>
          </a:p>
        </p:txBody>
      </p:sp>
      <p:sp>
        <p:nvSpPr>
          <p:cNvPr id="27" name="Shape 25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28" name="Moda image moda-export-watermark-23e5d821-426d-414e-aa58-b3a738f82132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đầy,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4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phải</a:t>
            </a:r>
            <a:r>
              <a:rPr lang="en-US" sz="6900" dirty="0" spc="-2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đợi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Chặn: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300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13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525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</a:t>
            </a:r>
            <a:r>
              <a:rPr lang="en-US" sz="2550" dirty="0" spc="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 hàng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đầy;</a:t>
            </a:r>
            <a:r>
              <a:rPr lang="en-US" sz="2550" dirty="0" spc="-3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take</a:t>
            </a:r>
            <a:r>
              <a:rPr lang="en-US" sz="2550" dirty="0" spc="1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đầy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100" b="1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524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offer,</a:t>
            </a:r>
            <a:r>
              <a:rPr lang="en-US" sz="2100" b="1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poll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b="1" dirty="0" spc="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trống,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vì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11662-21997165"/>
          <p:cNvSpPr/>
          <p:nvPr/>
        </p:nvSpPr>
        <p:spPr>
          <a:xfrm>
            <a:off x="10477500" y="2705100"/>
            <a:ext cx="0" cy="120015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11663-255152144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11663-910674176"/>
          <p:cNvSpPr/>
          <p:nvPr/>
        </p:nvSpPr>
        <p:spPr>
          <a:xfrm>
            <a:off x="16040100" y="2705100"/>
            <a:ext cx="0" cy="2667000"/>
          </a:xfrm>
          <a:prstGeom prst="line">
            <a:avLst/>
          </a:prstGeom>
          <a:noFill/>
          <a:ln w="19050">
            <a:solidFill>
              <a:srgbClr val="9AA0B5">
                <a:alpha val="60000"/>
              </a:srgbClr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3905250"/>
            <a:ext cx="190500" cy="3714750"/>
          </a:xfrm>
          <a:prstGeom prst="roundRect">
            <a:avLst>
              <a:gd name="adj" fmla="val 30000"/>
            </a:avLst>
          </a:prstGeom>
          <a:solidFill>
            <a:srgbClr val="FFB454"/>
          </a:solidFill>
          <a:ln/>
        </p:spPr>
      </p:sp>
      <p:sp>
        <p:nvSpPr>
          <p:cNvPr id="17" name="Shape 15"/>
          <p:cNvSpPr/>
          <p:nvPr/>
        </p:nvSpPr>
        <p:spPr>
          <a:xfrm>
            <a:off x="15944850" y="5372100"/>
            <a:ext cx="190500" cy="2247900"/>
          </a:xfrm>
          <a:prstGeom prst="roundRect">
            <a:avLst>
              <a:gd name="adj" fmla="val 30000"/>
            </a:avLst>
          </a:prstGeom>
          <a:solidFill>
            <a:srgbClr val="9AA0B5"/>
          </a:solidFill>
          <a:ln/>
        </p:spPr>
      </p:sp>
      <p:sp>
        <p:nvSpPr>
          <p:cNvPr id="18" name="Text 16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1" name="Text 19"/>
          <p:cNvSpPr/>
          <p:nvPr/>
        </p:nvSpPr>
        <p:spPr>
          <a:xfrm>
            <a:off x="10668000" y="3143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put: lấp</a:t>
            </a:r>
            <a:r>
              <a:rPr lang="en-US" sz="19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r>
              <a:rPr lang="en-US" sz="19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endParaRPr lang="en-US" sz="1950" dirty="0"/>
          </a:p>
        </p:txBody>
      </p:sp>
      <p:sp>
        <p:nvSpPr>
          <p:cNvPr id="22" name="Connector line-1792362711671-196212295"/>
          <p:cNvSpPr/>
          <p:nvPr/>
        </p:nvSpPr>
        <p:spPr>
          <a:xfrm>
            <a:off x="10572750" y="39052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solid"/>
            <a:headEnd type="none"/>
            <a:tailEnd type="triangle"/>
          </a:ln>
        </p:spPr>
      </p:sp>
      <p:sp>
        <p:nvSpPr>
          <p:cNvPr id="23" name="Text 21"/>
          <p:cNvSpPr/>
          <p:nvPr/>
        </p:nvSpPr>
        <p:spPr>
          <a:xfrm>
            <a:off x="13354050" y="46101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put:</a:t>
            </a:r>
            <a:r>
              <a:rPr lang="en-US" sz="19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r>
              <a:rPr lang="en-US" sz="19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4" name="Connector line-1792362711674-558131163"/>
          <p:cNvSpPr/>
          <p:nvPr/>
        </p:nvSpPr>
        <p:spPr>
          <a:xfrm flipH="1">
            <a:off x="13258800" y="5372100"/>
            <a:ext cx="2686050" cy="0"/>
          </a:xfrm>
          <a:prstGeom prst="line">
            <a:avLst/>
          </a:prstGeom>
          <a:noFill/>
          <a:ln w="47625">
            <a:solidFill>
              <a:srgbClr val="F3EEE3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13354050" y="60388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dirty="0" spc="-1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đầy:</a:t>
            </a:r>
            <a:r>
              <a:rPr lang="en-US" sz="1950" b="1" dirty="0" spc="7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dirty="0" spc="0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1950" b="1" dirty="0" spc="2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b="1" dirty="0" spc="-6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b="1" dirty="0" spc="-4" kern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endParaRPr lang="en-US" sz="1950" dirty="0"/>
          </a:p>
        </p:txBody>
      </p:sp>
      <p:sp>
        <p:nvSpPr>
          <p:cNvPr id="26" name="Connector line-1792362711677-18195127"/>
          <p:cNvSpPr/>
          <p:nvPr/>
        </p:nvSpPr>
        <p:spPr>
          <a:xfrm>
            <a:off x="13258800" y="6838950"/>
            <a:ext cx="2686050" cy="0"/>
          </a:xfrm>
          <a:prstGeom prst="line">
            <a:avLst/>
          </a:prstGeom>
          <a:noFill/>
          <a:ln w="47625">
            <a:solidFill>
              <a:srgbClr val="FFB454"/>
            </a:solidFill>
            <a:prstDash val="lgDash"/>
            <a:headEnd type="none"/>
            <a:tailEnd type="triangle"/>
          </a:ln>
        </p:spPr>
      </p:sp>
      <p:sp>
        <p:nvSpPr>
          <p:cNvPr id="27" name="Text 25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lấp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</a:t>
            </a:r>
            <a:endParaRPr lang="en-US" sz="2100" dirty="0"/>
          </a:p>
        </p:txBody>
      </p:sp>
      <p:sp>
        <p:nvSpPr>
          <p:cNvPr id="28" name="Text 26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9AA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đang</a:t>
            </a:r>
            <a:r>
              <a:rPr lang="en-US" sz="210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100" dirty="0"/>
          </a:p>
        </p:txBody>
      </p:sp>
      <p:sp>
        <p:nvSpPr>
          <p:cNvPr id="29" name="Shape 2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 03/10</a:t>
            </a:r>
            <a:endParaRPr lang="en-US" sz="1650" dirty="0"/>
          </a:p>
        </p:txBody>
      </p:sp>
      <p:sp>
        <p:nvSpPr>
          <p:cNvPr id="40" name="Shape 3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1" name="Moda image moda-export-watermark-736b616c-ba13-4372-9b2b-96c9e3ed12d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95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95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195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thua</a:t>
            </a:r>
            <a:r>
              <a:rPr lang="en-US" sz="6900" dirty="0" spc="-8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thì</a:t>
            </a: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thử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5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Thuật</a:t>
            </a:r>
            <a:r>
              <a:rPr lang="en-US" sz="3000" b="1" dirty="0" spc="-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toán</a:t>
            </a:r>
            <a:r>
              <a:rPr lang="en-US" sz="3000" b="1" dirty="0" spc="-1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3000" b="1" dirty="0" spc="-3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70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cuối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270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CAS;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419100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nhiều</a:t>
            </a:r>
            <a:r>
              <a:rPr lang="en-US" sz="21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CFE8E2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550" dirty="0" spc="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800" b="1" spc="180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800" b="1" spc="20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 ĐỢI</a:t>
            </a:r>
            <a:endParaRPr lang="en-US" sz="1800" dirty="0"/>
          </a:p>
        </p:txBody>
      </p:sp>
      <p:sp>
        <p:nvSpPr>
          <p:cNvPr id="13" name="Connector line-1792362746588-269968748"/>
          <p:cNvSpPr/>
          <p:nvPr/>
        </p:nvSpPr>
        <p:spPr>
          <a:xfrm>
            <a:off x="104775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4" name="Connector line-1792362746588-327332899"/>
          <p:cNvSpPr/>
          <p:nvPr/>
        </p:nvSpPr>
        <p:spPr>
          <a:xfrm>
            <a:off x="132588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5" name="Connector line-1792362746588-238963505"/>
          <p:cNvSpPr/>
          <p:nvPr/>
        </p:nvSpPr>
        <p:spPr>
          <a:xfrm>
            <a:off x="16040100" y="2705100"/>
            <a:ext cx="0" cy="4914900"/>
          </a:xfrm>
          <a:prstGeom prst="line">
            <a:avLst/>
          </a:prstGeom>
          <a:noFill/>
          <a:ln w="28575">
            <a:solidFill>
              <a:srgbClr val="DDD5C1"/>
            </a:solidFill>
            <a:prstDash val="lgDash"/>
            <a:headEnd type="none"/>
            <a:tailEnd type="none"/>
          </a:ln>
        </p:spPr>
      </p:sp>
      <p:sp>
        <p:nvSpPr>
          <p:cNvPr id="16" name="Shape 14"/>
          <p:cNvSpPr/>
          <p:nvPr/>
        </p:nvSpPr>
        <p:spPr>
          <a:xfrm>
            <a:off x="10382250" y="6572250"/>
            <a:ext cx="190500" cy="571500"/>
          </a:xfrm>
          <a:prstGeom prst="roundRect">
            <a:avLst>
              <a:gd name="adj" fmla="val 30000"/>
            </a:avLst>
          </a:prstGeom>
          <a:solidFill>
            <a:srgbClr val="0F766E"/>
          </a:solidFill>
          <a:ln/>
        </p:spPr>
      </p:sp>
      <p:sp>
        <p:nvSpPr>
          <p:cNvPr id="17" name="Text 15"/>
          <p:cNvSpPr/>
          <p:nvPr/>
        </p:nvSpPr>
        <p:spPr>
          <a:xfrm>
            <a:off x="94297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</a:t>
            </a:r>
            <a:endParaRPr lang="en-US" sz="2250" dirty="0"/>
          </a:p>
        </p:txBody>
      </p:sp>
      <p:sp>
        <p:nvSpPr>
          <p:cNvPr id="18" name="Text 16"/>
          <p:cNvSpPr/>
          <p:nvPr/>
        </p:nvSpPr>
        <p:spPr>
          <a:xfrm>
            <a:off x="122110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2250" b="1" dirty="0" spc="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250" dirty="0"/>
          </a:p>
        </p:txBody>
      </p:sp>
      <p:sp>
        <p:nvSpPr>
          <p:cNvPr id="19" name="Text 17"/>
          <p:cNvSpPr/>
          <p:nvPr/>
        </p:nvSpPr>
        <p:spPr>
          <a:xfrm>
            <a:off x="14992350" y="1866900"/>
            <a:ext cx="2095500" cy="838200"/>
          </a:xfrm>
          <a:prstGeom prst="roundRect">
            <a:avLst>
              <a:gd name="adj" fmla="val 22727"/>
            </a:avLst>
          </a:prstGeom>
          <a:solidFill>
            <a:srgbClr val="E8E0C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endParaRPr lang="en-US" sz="2250" dirty="0"/>
          </a:p>
        </p:txBody>
      </p:sp>
      <p:sp>
        <p:nvSpPr>
          <p:cNvPr id="20" name="Text 18"/>
          <p:cNvSpPr/>
          <p:nvPr/>
        </p:nvSpPr>
        <p:spPr>
          <a:xfrm>
            <a:off x="13354050" y="285750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3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950" dirty="0"/>
          </a:p>
        </p:txBody>
      </p:sp>
      <p:sp>
        <p:nvSpPr>
          <p:cNvPr id="21" name="Connector line-1792362746609-793103627"/>
          <p:cNvSpPr/>
          <p:nvPr/>
        </p:nvSpPr>
        <p:spPr>
          <a:xfrm flipH="1">
            <a:off x="13258800" y="3600450"/>
            <a:ext cx="2781300" cy="0"/>
          </a:xfrm>
          <a:prstGeom prst="line">
            <a:avLst/>
          </a:prstGeom>
          <a:noFill/>
          <a:ln w="47625">
            <a:solidFill>
              <a:srgbClr val="14161C"/>
            </a:solidFill>
            <a:prstDash val="solid"/>
            <a:headEnd type="none"/>
            <a:tailEnd type="triangle"/>
          </a:ln>
        </p:spPr>
      </p:sp>
      <p:sp>
        <p:nvSpPr>
          <p:cNvPr id="22" name="Text 20"/>
          <p:cNvSpPr/>
          <p:nvPr/>
        </p:nvSpPr>
        <p:spPr>
          <a:xfrm>
            <a:off x="13354050" y="4286250"/>
            <a:ext cx="249555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b="1" dirty="0" spc="-2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Thua</a:t>
            </a:r>
            <a:r>
              <a:rPr lang="en-US" sz="1950" b="1" dirty="0" spc="-26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CAS: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 lại,</a:t>
            </a:r>
            <a:r>
              <a:rPr lang="en-US" sz="1950" b="1" dirty="0" spc="-1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950" b="1" dirty="0" spc="0" kern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1950" dirty="0"/>
          </a:p>
        </p:txBody>
      </p:sp>
      <p:sp>
        <p:nvSpPr>
          <p:cNvPr id="23" name="Connector line-1792362746616-600210904"/>
          <p:cNvSpPr/>
          <p:nvPr/>
        </p:nvSpPr>
        <p:spPr>
          <a:xfrm>
            <a:off x="13258800" y="5029200"/>
            <a:ext cx="278130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lgDash"/>
            <a:headEnd type="none"/>
            <a:tailEnd type="triangle"/>
          </a:ln>
        </p:spPr>
      </p:sp>
      <p:sp>
        <p:nvSpPr>
          <p:cNvPr id="24" name="Connector line-1792362746624-159809696"/>
          <p:cNvSpPr/>
          <p:nvPr/>
        </p:nvSpPr>
        <p:spPr>
          <a:xfrm>
            <a:off x="10572750" y="6858000"/>
            <a:ext cx="2686050" cy="0"/>
          </a:xfrm>
          <a:prstGeom prst="line">
            <a:avLst/>
          </a:prstGeom>
          <a:noFill/>
          <a:ln w="47625">
            <a:solidFill>
              <a:srgbClr val="0F766E"/>
            </a:solidFill>
            <a:prstDash val="solid"/>
            <a:headEnd type="none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94297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gắn</a:t>
            </a:r>
            <a:r>
              <a:rPr lang="en-US" sz="2100" b="1" dirty="0" spc="-2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</a:t>
            </a:r>
            <a:endParaRPr lang="en-US" sz="2100" dirty="0"/>
          </a:p>
        </p:txBody>
      </p:sp>
      <p:sp>
        <p:nvSpPr>
          <p:cNvPr id="26" name="Text 24"/>
          <p:cNvSpPr/>
          <p:nvPr/>
        </p:nvSpPr>
        <p:spPr>
          <a:xfrm>
            <a:off x="14992350" y="773430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 lại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04/10</a:t>
            </a:r>
            <a:endParaRPr lang="en-US" sz="1650" dirty="0"/>
          </a:p>
        </p:txBody>
      </p:sp>
      <p:sp>
        <p:nvSpPr>
          <p:cNvPr id="38" name="Text 36"/>
          <p:cNvSpPr/>
          <p:nvPr/>
        </p:nvSpPr>
        <p:spPr>
          <a:xfrm>
            <a:off x="10572750" y="5619750"/>
            <a:ext cx="2590800" cy="11049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nút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cuối bằng</a:t>
            </a:r>
            <a:endParaRPr lang="en-US" sz="1950" dirty="0"/>
          </a:p>
          <a:p>
            <a:pPr algn="ctr" indent="0" marL="0">
              <a:buNone/>
            </a:pPr>
            <a:r>
              <a:rPr lang="en-US" sz="1950" dirty="0" spc="-4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</a:t>
            </a:r>
            <a:endParaRPr lang="en-US" sz="1950" dirty="0"/>
          </a:p>
        </p:txBody>
      </p:sp>
      <p:sp>
        <p:nvSpPr>
          <p:cNvPr id="39" name="Shape 37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0" name="Moda image moda-export-watermark-7f775aaf-371c-4508-a1e8-676529b8ff3e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0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KHÁC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BIỆT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CHÍNH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4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Đợi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hay thử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lại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30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3000" b="1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30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30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3000" b="1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giữ</a:t>
            </a:r>
            <a:r>
              <a:rPr lang="en-US" sz="255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550" dirty="0" spc="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để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1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r>
              <a:rPr lang="en-US" sz="2550" dirty="0" spc="-1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095500" cy="6096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Giữ B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200400" y="5505450"/>
            <a:ext cx="22860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100" b="1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100" b="1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thành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3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1800" b="1" spc="228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B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73100" y="1866900"/>
            <a:ext cx="35433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25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9601200" y="28194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XIN</a:t>
            </a:r>
            <a:r>
              <a:rPr lang="en-US" sz="1800" b="1" spc="221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1800" b="1" spc="20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96012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phải</a:t>
            </a:r>
            <a:r>
              <a:rPr lang="en-US" sz="2400" b="1" dirty="0" spc="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13373100" y="32194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thử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9601200" y="470535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1800" b="1" spc="224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 TIẾP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800" b="1" spc="20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6012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Khi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chỗ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hoặc</a:t>
            </a:r>
            <a:r>
              <a:rPr lang="en-US" sz="24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400" b="1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400" dirty="0"/>
          </a:p>
        </p:txBody>
      </p:sp>
      <p:sp>
        <p:nvSpPr>
          <p:cNvPr id="20" name="Text 18"/>
          <p:cNvSpPr/>
          <p:nvPr/>
        </p:nvSpPr>
        <p:spPr>
          <a:xfrm>
            <a:off x="13373100" y="510540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Sau</a:t>
            </a:r>
            <a:r>
              <a:rPr lang="en-US" sz="24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mỗi</a:t>
            </a:r>
            <a:r>
              <a:rPr lang="en-US" sz="2400" b="1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endParaRPr lang="en-US" sz="2400" dirty="0"/>
          </a:p>
        </p:txBody>
      </p:sp>
      <p:sp>
        <p:nvSpPr>
          <p:cNvPr id="21" name="Text 19"/>
          <p:cNvSpPr/>
          <p:nvPr/>
        </p:nvSpPr>
        <p:spPr>
          <a:xfrm>
            <a:off x="9601200" y="65913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 BỊ</a:t>
            </a:r>
            <a:r>
              <a:rPr lang="en-US" sz="1800" b="1" spc="21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1800" b="1" spc="22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ĐÓI?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96012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40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3" name="Text 21"/>
          <p:cNvSpPr/>
          <p:nvPr/>
        </p:nvSpPr>
        <p:spPr>
          <a:xfrm>
            <a:off x="13373100" y="6991350"/>
            <a:ext cx="3543300" cy="1143000"/>
          </a:xfrm>
          <a:prstGeom prst="roundRect">
            <a:avLst>
              <a:gd name="adj" fmla="val 20000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 spc="-4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Vẫn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thể</a:t>
            </a:r>
            <a:r>
              <a:rPr lang="en-US" sz="240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24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2400" b="1" dirty="0" spc="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2400" dirty="0"/>
          </a:p>
        </p:txBody>
      </p:sp>
      <p:sp>
        <p:nvSpPr>
          <p:cNvPr id="24" name="Shape 22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05/10</a:t>
            </a:r>
            <a:endParaRPr lang="en-US" sz="165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a37d7214-93ef-4489-a34b-1747e356be4f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950" b="1" spc="226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TÍNH</a:t>
            </a:r>
            <a:r>
              <a:rPr lang="en-US" sz="1950" b="1" spc="184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CHẤT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Bỏ</a:t>
            </a:r>
            <a:r>
              <a:rPr lang="en-US" sz="6900" dirty="0" spc="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đói</a:t>
            </a:r>
            <a:r>
              <a:rPr lang="en-US" sz="6900" dirty="0" spc="-77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và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61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wait-free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4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Bị</a:t>
            </a:r>
            <a:r>
              <a:rPr lang="en-US" sz="3000" b="1" dirty="0" spc="-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000" b="1" dirty="0" spc="7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r>
              <a:rPr lang="en-US" sz="3000" b="1" dirty="0" spc="-13" kern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(starvation)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-1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giành</a:t>
            </a:r>
            <a:r>
              <a:rPr lang="en-US" sz="2700" dirty="0" spc="9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quyền</a:t>
            </a:r>
            <a:r>
              <a:rPr lang="en-US" sz="27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truy</a:t>
            </a:r>
            <a:r>
              <a:rPr lang="en-US" sz="270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cập,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tiến</a:t>
            </a:r>
            <a:r>
              <a:rPr lang="en-US" sz="270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lên</a:t>
            </a:r>
            <a:r>
              <a:rPr lang="en-US" sz="2700" dirty="0" spc="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được.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486150" y="5505450"/>
            <a:ext cx="3143250" cy="609600"/>
          </a:xfrm>
          <a:prstGeom prst="roundRect">
            <a:avLst>
              <a:gd name="adj" fmla="val 50000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starvation-free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DDE3FA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1F3FD1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chưa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chắc</a:t>
            </a:r>
            <a:r>
              <a:rPr lang="en-US" sz="25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 luồng</a:t>
            </a:r>
            <a:r>
              <a:rPr lang="en-US" sz="25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nào</a:t>
            </a:r>
            <a:r>
              <a:rPr lang="en-US" sz="25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cũng</a:t>
            </a:r>
            <a:r>
              <a:rPr lang="en-US" sz="2550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 ngay.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5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</a:t>
            </a:r>
            <a:r>
              <a:rPr lang="en-US" sz="1800" b="1" spc="223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RIÊNG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18669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3300" dirty="0"/>
          </a:p>
        </p:txBody>
      </p:sp>
      <p:sp>
        <p:nvSpPr>
          <p:cNvPr id="14" name="Text 12"/>
          <p:cNvSpPr/>
          <p:nvPr/>
        </p:nvSpPr>
        <p:spPr>
          <a:xfrm>
            <a:off x="9601200" y="31051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endParaRPr lang="en-US" sz="4494" dirty="0"/>
          </a:p>
        </p:txBody>
      </p:sp>
      <p:sp>
        <p:nvSpPr>
          <p:cNvPr id="15" name="Text 13"/>
          <p:cNvSpPr/>
          <p:nvPr/>
        </p:nvSpPr>
        <p:spPr>
          <a:xfrm>
            <a:off x="9601200" y="3848100"/>
            <a:ext cx="7315200" cy="1181100"/>
          </a:xfrm>
          <a:prstGeom prst="roundRect">
            <a:avLst>
              <a:gd name="adj" fmla="val 19355"/>
            </a:avLst>
          </a:prstGeom>
          <a:solidFill>
            <a:srgbClr val="1F3FD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300" b="1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33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bị</a:t>
            </a:r>
            <a:r>
              <a:rPr lang="en-US" sz="3300" b="1" dirty="0" spc="-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bỏ</a:t>
            </a:r>
            <a:r>
              <a:rPr lang="en-US" sz="330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đói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9601200" y="508635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94" dirty="0" spc="6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·</a:t>
            </a:r>
            <a:endParaRPr lang="en-US" sz="4494" dirty="0"/>
          </a:p>
        </p:txBody>
      </p:sp>
      <p:sp>
        <p:nvSpPr>
          <p:cNvPr id="17" name="Text 15"/>
          <p:cNvSpPr/>
          <p:nvPr/>
        </p:nvSpPr>
        <p:spPr>
          <a:xfrm>
            <a:off x="9601200" y="5829300"/>
            <a:ext cx="7315200" cy="1333500"/>
          </a:xfrm>
          <a:prstGeom prst="roundRect">
            <a:avLst>
              <a:gd name="adj" fmla="val 17143"/>
            </a:avLst>
          </a:prstGeom>
          <a:solidFill>
            <a:srgbClr val="14161C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500" dirty="0" spc="-44" kern="0">
                <a:solidFill>
                  <a:srgbClr val="F3EEE3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Wait-free</a:t>
            </a:r>
            <a:endParaRPr lang="en-US" sz="4500" dirty="0"/>
          </a:p>
        </p:txBody>
      </p:sp>
      <p:sp>
        <p:nvSpPr>
          <p:cNvPr id="18" name="Text 16"/>
          <p:cNvSpPr/>
          <p:nvPr/>
        </p:nvSpPr>
        <p:spPr>
          <a:xfrm>
            <a:off x="9601200" y="7353300"/>
            <a:ext cx="7315200" cy="952500"/>
          </a:xfrm>
          <a:prstGeom prst="rect">
            <a:avLst/>
          </a:prstGeom>
          <a:noFill/>
          <a:ln/>
        </p:spPr>
        <p:txBody>
          <a:bodyPr wrap="square" lIns="0" tIns="6271" rIns="0" bIns="-6271" rtlCol="0" anchor="t"/>
          <a:lstStyle/>
          <a:p>
            <a:pPr algn="ctr" indent="0" marL="0">
              <a:lnSpc>
                <a:spcPts val="2228"/>
              </a:lnSpc>
              <a:buNone/>
            </a:pPr>
            <a:r>
              <a:rPr lang="en-US" sz="165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Mỗi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thao</a:t>
            </a:r>
            <a:r>
              <a:rPr lang="en-US" sz="1650" dirty="0" spc="-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tác</a:t>
            </a:r>
            <a:r>
              <a:rPr lang="en-US" sz="1650" dirty="0" spc="-1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xong trong</a:t>
            </a:r>
            <a:r>
              <a:rPr lang="en-US" sz="1650" dirty="0" spc="-4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số</a:t>
            </a:r>
            <a:r>
              <a:rPr lang="en-US" sz="1650" dirty="0" spc="6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bước</a:t>
            </a:r>
            <a:r>
              <a:rPr lang="en-US" sz="1650" dirty="0" spc="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hữu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hạn,</a:t>
            </a:r>
            <a:r>
              <a:rPr lang="en-US" sz="1650" dirty="0" spc="-7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bất</a:t>
            </a:r>
            <a:r>
              <a:rPr lang="en-US" sz="1650" dirty="0" spc="-2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kể</a:t>
            </a:r>
            <a:r>
              <a:rPr lang="en-US" sz="165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1650" dirty="0"/>
          </a:p>
        </p:txBody>
      </p:sp>
      <p:sp>
        <p:nvSpPr>
          <p:cNvPr id="19" name="Shape 17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06/10</a:t>
            </a:r>
            <a:endParaRPr lang="en-US" sz="1650" dirty="0"/>
          </a:p>
        </p:txBody>
      </p:sp>
      <p:sp>
        <p:nvSpPr>
          <p:cNvPr id="30" name="Shape 28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1" name="Moda image moda-export-watermark-9c5ca40b-5981-4481-9e6a-b054cef38581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199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CÀI</a:t>
            </a:r>
            <a:r>
              <a:rPr lang="en-US" sz="1950" b="1" spc="15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1950" b="1" spc="17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1950" b="1" spc="20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95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1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Dựng</a:t>
            </a:r>
            <a:r>
              <a:rPr lang="en-US" sz="6900" dirty="0" spc="-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bằng</a:t>
            </a:r>
            <a:r>
              <a:rPr lang="en-US" sz="6900" dirty="0" spc="-67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CAS,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không</a:t>
            </a:r>
            <a:r>
              <a:rPr lang="en-US" sz="6900" dirty="0" spc="-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cần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-65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CAS</a:t>
            </a:r>
            <a:r>
              <a:rPr lang="en-US" sz="3000" b="1" dirty="0" spc="-10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(Compare</a:t>
            </a:r>
            <a:r>
              <a:rPr lang="en-US" sz="3000" b="1" dirty="0" spc="-6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3000" b="1" dirty="0" spc="-11" kern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Swap)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Chỉ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 giá</a:t>
            </a:r>
            <a:r>
              <a:rPr lang="en-US" sz="2550" dirty="0" spc="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 giá</a:t>
            </a:r>
            <a:r>
              <a:rPr lang="en-US" sz="2550" dirty="0" spc="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hiện</a:t>
            </a:r>
            <a:r>
              <a:rPr lang="en-US" sz="2550" dirty="0" spc="-1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tại</a:t>
            </a:r>
            <a:r>
              <a:rPr lang="en-US" sz="255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vẫn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r>
              <a:rPr lang="en-US" sz="2550" dirty="0" spc="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55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không,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lại.</a:t>
            </a:r>
            <a:endParaRPr lang="en-US" sz="2550" dirty="0"/>
          </a:p>
        </p:txBody>
      </p:sp>
      <p:sp>
        <p:nvSpPr>
          <p:cNvPr id="6" name="Text 4"/>
          <p:cNvSpPr/>
          <p:nvPr/>
        </p:nvSpPr>
        <p:spPr>
          <a:xfrm>
            <a:off x="91440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100" b="1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100" b="1" dirty="0" spc="-1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1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3867150" y="5505450"/>
            <a:ext cx="276225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1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thay</a:t>
            </a:r>
            <a:r>
              <a:rPr lang="en-US" sz="2100" b="1" dirty="0" spc="-6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cho</a:t>
            </a:r>
            <a:r>
              <a:rPr lang="en-US" sz="2100" b="1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100" dirty="0"/>
          </a:p>
        </p:txBody>
      </p:sp>
      <p:sp>
        <p:nvSpPr>
          <p:cNvPr id="8" name="Shape 6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7437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95400" y="7219950"/>
            <a:ext cx="6858000" cy="12382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 ai chờ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 không</a:t>
            </a:r>
            <a:r>
              <a:rPr lang="en-US" sz="2550" dirty="0" spc="-2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550" dirty="0" spc="-1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 chết.</a:t>
            </a:r>
            <a:endParaRPr lang="en-US" sz="255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LẦN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1800" b="1" spc="216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CỦA</a:t>
            </a:r>
            <a:r>
              <a:rPr lang="en-US" sz="1800" b="1" spc="19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6012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221105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Còn đúng?</a:t>
            </a:r>
            <a:endParaRPr lang="en-US" sz="2250" dirty="0"/>
          </a:p>
        </p:txBody>
      </p:sp>
      <p:sp>
        <p:nvSpPr>
          <p:cNvPr id="15" name="Text 13"/>
          <p:cNvSpPr/>
          <p:nvPr/>
        </p:nvSpPr>
        <p:spPr>
          <a:xfrm>
            <a:off x="14820900" y="2133600"/>
            <a:ext cx="2095500" cy="1047750"/>
          </a:xfrm>
          <a:prstGeom prst="roundRect">
            <a:avLst>
              <a:gd name="adj" fmla="val 21818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Ghi</a:t>
            </a:r>
            <a:r>
              <a:rPr lang="en-US" sz="2250" b="1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b="1" dirty="0" spc="1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b="1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endParaRPr lang="en-US" sz="2250" dirty="0"/>
          </a:p>
        </p:txBody>
      </p:sp>
      <p:sp>
        <p:nvSpPr>
          <p:cNvPr id="16" name="Connector line-1792362949174-106345684"/>
          <p:cNvSpPr/>
          <p:nvPr/>
        </p:nvSpPr>
        <p:spPr>
          <a:xfrm>
            <a:off x="11715750" y="2657475"/>
            <a:ext cx="476250" cy="0"/>
          </a:xfrm>
          <a:prstGeom prst="line">
            <a:avLst/>
          </a:prstGeom>
          <a:noFill/>
          <a:ln w="47625">
            <a:solidFill>
              <a:srgbClr val="7C93FF"/>
            </a:solidFill>
            <a:prstDash val="solid"/>
            <a:headEnd type="none"/>
            <a:tailEnd type="triangle"/>
          </a:ln>
        </p:spPr>
      </p:sp>
      <p:sp>
        <p:nvSpPr>
          <p:cNvPr id="17" name="Connector line-1792362949174-521898701"/>
          <p:cNvSpPr/>
          <p:nvPr/>
        </p:nvSpPr>
        <p:spPr>
          <a:xfrm>
            <a:off x="14325600" y="2657475"/>
            <a:ext cx="476250" cy="0"/>
          </a:xfrm>
          <a:prstGeom prst="line">
            <a:avLst/>
          </a:prstGeom>
          <a:noFill/>
          <a:ln w="47625">
            <a:solidFill>
              <a:srgbClr val="3DD6A0"/>
            </a:solidFill>
            <a:prstDash val="solid"/>
            <a:headEnd type="none"/>
            <a:tailEnd type="triangle"/>
          </a:ln>
        </p:spPr>
      </p:sp>
      <p:sp>
        <p:nvSpPr>
          <p:cNvPr id="18" name="Text 16"/>
          <p:cNvSpPr/>
          <p:nvPr/>
        </p:nvSpPr>
        <p:spPr>
          <a:xfrm>
            <a:off x="14230350" y="2209800"/>
            <a:ext cx="6667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Có</a:t>
            </a:r>
            <a:endParaRPr lang="en-US" sz="1800" dirty="0"/>
          </a:p>
        </p:txBody>
      </p:sp>
      <p:sp>
        <p:nvSpPr>
          <p:cNvPr id="19" name="Connector line-1792362949176-700409803"/>
          <p:cNvSpPr/>
          <p:nvPr/>
        </p:nvSpPr>
        <p:spPr>
          <a:xfrm>
            <a:off x="13258800" y="3200400"/>
            <a:ext cx="0" cy="571500"/>
          </a:xfrm>
          <a:prstGeom prst="line">
            <a:avLst/>
          </a:prstGeom>
          <a:noFill/>
          <a:ln w="47625">
            <a:solidFill>
              <a:srgbClr val="FF6A4D"/>
            </a:solidFill>
            <a:prstDash val="solid"/>
            <a:headEnd type="none"/>
            <a:tailEnd type="triangle"/>
          </a:ln>
        </p:spPr>
      </p:sp>
      <p:sp>
        <p:nvSpPr>
          <p:cNvPr id="20" name="Text 18"/>
          <p:cNvSpPr/>
          <p:nvPr/>
        </p:nvSpPr>
        <p:spPr>
          <a:xfrm>
            <a:off x="13411200" y="3295650"/>
            <a:ext cx="1143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 spc="-8" kern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2211050" y="3790950"/>
            <a:ext cx="2095500" cy="857250"/>
          </a:xfrm>
          <a:prstGeom prst="roundRect">
            <a:avLst>
              <a:gd name="adj" fmla="val 26667"/>
            </a:avLst>
          </a:prstGeom>
          <a:solidFill>
            <a:srgbClr val="14161C"/>
          </a:solidFill>
          <a:ln w="28575">
            <a:solidFill>
              <a:srgbClr val="FF6A4D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Thử</a:t>
            </a:r>
            <a:r>
              <a:rPr lang="en-US" sz="2250" b="1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250" dirty="0"/>
          </a:p>
        </p:txBody>
      </p:sp>
      <p:sp>
        <p:nvSpPr>
          <p:cNvPr id="22" name="Text 20"/>
          <p:cNvSpPr/>
          <p:nvPr/>
        </p:nvSpPr>
        <p:spPr>
          <a:xfrm>
            <a:off x="9601200" y="50292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HAI</a:t>
            </a:r>
            <a:r>
              <a:rPr lang="en-US" sz="1800" b="1" spc="20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LỢI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ÍCH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96012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8679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2550" dirty="0"/>
          </a:p>
        </p:txBody>
      </p:sp>
      <p:sp>
        <p:nvSpPr>
          <p:cNvPr id="25" name="Text 23"/>
          <p:cNvSpPr/>
          <p:nvPr/>
        </p:nvSpPr>
        <p:spPr>
          <a:xfrm>
            <a:off x="98679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</a:t>
            </a:r>
            <a:r>
              <a:rPr lang="en-US" sz="2400" b="1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endParaRPr lang="en-US" sz="2400" dirty="0"/>
          </a:p>
        </p:txBody>
      </p:sp>
      <p:sp>
        <p:nvSpPr>
          <p:cNvPr id="26" name="Text 24"/>
          <p:cNvSpPr/>
          <p:nvPr/>
        </p:nvSpPr>
        <p:spPr>
          <a:xfrm>
            <a:off x="98679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ai</a:t>
            </a:r>
            <a:r>
              <a:rPr lang="en-US" sz="2100" dirty="0" spc="9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100" dirty="0" spc="-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100" dirty="0" spc="-3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bị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treo.</a:t>
            </a:r>
            <a:endParaRPr lang="en-US" sz="2100" dirty="0"/>
          </a:p>
        </p:txBody>
      </p:sp>
      <p:sp>
        <p:nvSpPr>
          <p:cNvPr id="27" name="Shape 25"/>
          <p:cNvSpPr/>
          <p:nvPr/>
        </p:nvSpPr>
        <p:spPr>
          <a:xfrm>
            <a:off x="13373100" y="5448300"/>
            <a:ext cx="3543300" cy="3009900"/>
          </a:xfrm>
          <a:prstGeom prst="roundRect">
            <a:avLst>
              <a:gd name="adj" fmla="val 7595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3639800" y="5715000"/>
            <a:ext cx="609600" cy="6096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550" dirty="0" spc="6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2550" dirty="0"/>
          </a:p>
        </p:txBody>
      </p:sp>
      <p:sp>
        <p:nvSpPr>
          <p:cNvPr id="29" name="Text 27"/>
          <p:cNvSpPr/>
          <p:nvPr/>
        </p:nvSpPr>
        <p:spPr>
          <a:xfrm>
            <a:off x="13639800" y="6515100"/>
            <a:ext cx="304800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24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chết</a:t>
            </a:r>
            <a:endParaRPr lang="en-US" sz="2400" dirty="0"/>
          </a:p>
        </p:txBody>
      </p:sp>
      <p:sp>
        <p:nvSpPr>
          <p:cNvPr id="30" name="Text 28"/>
          <p:cNvSpPr/>
          <p:nvPr/>
        </p:nvSpPr>
        <p:spPr>
          <a:xfrm>
            <a:off x="13639800" y="7029450"/>
            <a:ext cx="3048000" cy="1238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A</a:t>
            </a:r>
            <a:r>
              <a:rPr lang="en-US" sz="2100" dirty="0" spc="-1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 không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2100" dirty="0" spc="-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khóa,</a:t>
            </a:r>
            <a:r>
              <a:rPr lang="en-US" sz="2100" dirty="0" spc="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nên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100" dirty="0" spc="-2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kẹt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lẫn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nhau.</a:t>
            </a:r>
            <a:endParaRPr lang="en-US" sz="2100" dirty="0"/>
          </a:p>
        </p:txBody>
      </p:sp>
      <p:sp>
        <p:nvSpPr>
          <p:cNvPr id="31" name="Shape 29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-1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07/10</a:t>
            </a:r>
            <a:endParaRPr lang="en-US" sz="1650" dirty="0"/>
          </a:p>
        </p:txBody>
      </p:sp>
      <p:sp>
        <p:nvSpPr>
          <p:cNvPr id="42" name="Shape 40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43" name="Moda image moda-export-watermark-6407909a-95de-4284-a410-69b0e68e55c4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3EEE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GẶP LẠI</a:t>
            </a:r>
            <a:r>
              <a:rPr lang="en-US" sz="1950" b="1" spc="21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95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1950" b="1" spc="225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1950" b="1" spc="152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Thấy</a:t>
            </a:r>
            <a:r>
              <a:rPr lang="en-US" sz="6900" dirty="0" spc="-13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trong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thư</a:t>
            </a:r>
            <a:r>
              <a:rPr lang="en-US" sz="6900" dirty="0" spc="4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viện</a:t>
            </a:r>
            <a:r>
              <a:rPr lang="en-US" sz="6900" dirty="0" spc="-90" kern="0">
                <a:solidFill>
                  <a:srgbClr val="14161C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Java</a:t>
            </a:r>
            <a:endParaRPr lang="en-US" sz="6900" dirty="0"/>
          </a:p>
        </p:txBody>
      </p:sp>
      <p:sp>
        <p:nvSpPr>
          <p:cNvPr id="4" name="Text 2"/>
          <p:cNvSpPr/>
          <p:nvPr/>
        </p:nvSpPr>
        <p:spPr>
          <a:xfrm>
            <a:off x="914400" y="3543300"/>
            <a:ext cx="7810500" cy="533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Đối chiếu</a:t>
            </a:r>
            <a:r>
              <a:rPr lang="en-US" sz="3000" b="1" dirty="0" spc="-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</a:t>
            </a:r>
            <a:r>
              <a:rPr lang="en-US" sz="3000" b="1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3000" b="1" dirty="0" spc="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914400" y="5505450"/>
            <a:ext cx="2381250" cy="60960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đợi</a:t>
            </a:r>
            <a:r>
              <a:rPr lang="en-US" sz="2100" b="1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100" b="1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đầy/trống</a:t>
            </a:r>
            <a:endParaRPr lang="en-US" sz="2100" dirty="0"/>
          </a:p>
        </p:txBody>
      </p:sp>
      <p:sp>
        <p:nvSpPr>
          <p:cNvPr id="6" name="Text 4"/>
          <p:cNvSpPr/>
          <p:nvPr/>
        </p:nvSpPr>
        <p:spPr>
          <a:xfrm>
            <a:off x="3486150" y="5505450"/>
            <a:ext cx="3810000" cy="609600"/>
          </a:xfrm>
          <a:prstGeom prst="roundRect">
            <a:avLst>
              <a:gd name="adj" fmla="val 50000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2100" b="1" dirty="0" spc="-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914400" y="6438900"/>
            <a:ext cx="7620000" cy="2228850"/>
          </a:xfrm>
          <a:prstGeom prst="roundRect">
            <a:avLst>
              <a:gd name="adj" fmla="val 11966"/>
            </a:avLst>
          </a:prstGeom>
          <a:solidFill>
            <a:srgbClr val="F8D9D0"/>
          </a:solidFill>
          <a:ln/>
        </p:spPr>
      </p:sp>
      <p:sp>
        <p:nvSpPr>
          <p:cNvPr id="8" name="Text 6"/>
          <p:cNvSpPr/>
          <p:nvPr/>
        </p:nvSpPr>
        <p:spPr>
          <a:xfrm>
            <a:off x="1295400" y="6743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GIỚI</a:t>
            </a:r>
            <a:r>
              <a:rPr lang="en-US" sz="1800" b="1" spc="226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HẠN</a:t>
            </a:r>
            <a:r>
              <a:rPr lang="en-US" sz="1800" b="1" spc="20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CẦN</a:t>
            </a:r>
            <a:r>
              <a:rPr lang="en-US" sz="1800" b="1" spc="227" kern="0" dirty="0">
                <a:solidFill>
                  <a:srgbClr val="E8472B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NHỚ</a:t>
            </a:r>
            <a:endParaRPr lang="en-US" sz="1800" dirty="0"/>
          </a:p>
        </p:txBody>
      </p:sp>
      <p:sp>
        <p:nvSpPr>
          <p:cNvPr id="9" name="Text richtext-1792363540411-819274671"/>
          <p:cNvSpPr/>
          <p:nvPr/>
        </p:nvSpPr>
        <p:spPr>
          <a:xfrm>
            <a:off x="1295400" y="7239000"/>
            <a:ext cx="7048500" cy="1238250"/>
          </a:xfrm>
          <a:prstGeom prst="rect">
            <a:avLst/>
          </a:prstGeom>
          <a:noFill/>
          <a:ln/>
        </p:spPr>
        <p:txBody>
          <a:bodyPr wrap="square" lIns="0" tIns="5334" rIns="0" bIns="-5334" rtlCol="0" anchor="t"/>
          <a:lstStyle/>
          <a:p>
            <a:pPr algn="l" marL="304800" indent="-217761">
              <a:lnSpc>
                <a:spcPts val="3360"/>
              </a:lnSpc>
              <a:spcAft>
                <a:spcPts val="1050"/>
              </a:spcAft>
              <a:buSzPct val="100000"/>
              <a:buFont typeface="Arial"/>
              <a:buChar char="•"/>
            </a:pP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Không</a:t>
            </a:r>
            <a:r>
              <a:rPr lang="en-US" sz="24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hứa</a:t>
            </a:r>
            <a:r>
              <a:rPr lang="en-US" sz="24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thắng</a:t>
            </a:r>
            <a:r>
              <a:rPr lang="en-US" sz="2400" dirty="0" spc="-1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ngay</a:t>
            </a:r>
            <a:endParaRPr lang="en-US" sz="2400" dirty="0"/>
          </a:p>
          <a:p>
            <a:pPr algn="l" marL="304800" indent="-217761">
              <a:lnSpc>
                <a:spcPts val="3360"/>
              </a:lnSpc>
              <a:buSzPct val="100000"/>
              <a:buFont typeface="Arial"/>
              <a:buChar char="•"/>
            </a:pPr>
            <a:r>
              <a:rPr lang="en-US" sz="24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Thua</a:t>
            </a:r>
            <a:r>
              <a:rPr lang="en-US" sz="2400" dirty="0" spc="-35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</a:t>
            </a:r>
            <a:r>
              <a:rPr lang="en-US" sz="24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40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</a:t>
            </a:r>
            <a:endParaRPr lang="en-US" sz="2400" dirty="0"/>
          </a:p>
        </p:txBody>
      </p:sp>
      <p:sp>
        <p:nvSpPr>
          <p:cNvPr id="10" name="Shape 8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FBF8F2"/>
          </a:solidFill>
          <a:ln w="19050">
            <a:solidFill>
              <a:srgbClr val="DDD5C1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0" y="1619250"/>
            <a:ext cx="7315200" cy="3143250"/>
          </a:xfrm>
          <a:prstGeom prst="roundRect">
            <a:avLst>
              <a:gd name="adj" fmla="val 7273"/>
            </a:avLst>
          </a:prstGeom>
          <a:solidFill>
            <a:srgbClr val="F3DFB8"/>
          </a:solidFill>
          <a:ln/>
        </p:spPr>
      </p:sp>
      <p:sp>
        <p:nvSpPr>
          <p:cNvPr id="12" name="Text 10"/>
          <p:cNvSpPr/>
          <p:nvPr/>
        </p:nvSpPr>
        <p:spPr>
          <a:xfrm>
            <a:off x="9867900" y="184785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B45309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9867900" y="23241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50" b="1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</a:t>
            </a:r>
            <a:endParaRPr lang="en-US" sz="2250" dirty="0"/>
          </a:p>
        </p:txBody>
      </p:sp>
      <p:sp>
        <p:nvSpPr>
          <p:cNvPr id="14" name="Text 12"/>
          <p:cNvSpPr/>
          <p:nvPr/>
        </p:nvSpPr>
        <p:spPr>
          <a:xfrm>
            <a:off x="13392150" y="23241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-7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lấy,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chờ</a:t>
            </a:r>
            <a:r>
              <a:rPr lang="en-US" sz="1950" dirty="0" spc="-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 chỗ</a:t>
            </a:r>
            <a:r>
              <a:rPr lang="en-US" sz="195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thêm</a:t>
            </a:r>
            <a:endParaRPr lang="en-US" sz="1950" dirty="0"/>
          </a:p>
        </p:txBody>
      </p:sp>
      <p:sp>
        <p:nvSpPr>
          <p:cNvPr id="15" name="Text 13"/>
          <p:cNvSpPr/>
          <p:nvPr/>
        </p:nvSpPr>
        <p:spPr>
          <a:xfrm>
            <a:off x="9867900" y="354330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B45309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LinkedBlockingQueue</a:t>
            </a:r>
            <a:endParaRPr lang="en-US" sz="2100" dirty="0"/>
          </a:p>
        </p:txBody>
      </p:sp>
      <p:sp>
        <p:nvSpPr>
          <p:cNvPr id="16" name="Text 14"/>
          <p:cNvSpPr/>
          <p:nvPr/>
        </p:nvSpPr>
        <p:spPr>
          <a:xfrm>
            <a:off x="13392150" y="354330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Dùng</a:t>
            </a:r>
            <a:r>
              <a:rPr lang="en-US" sz="1950" dirty="0" spc="-2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ReentrantLock</a:t>
            </a:r>
            <a:endParaRPr lang="en-US" sz="1950" dirty="0"/>
          </a:p>
        </p:txBody>
      </p:sp>
      <p:sp>
        <p:nvSpPr>
          <p:cNvPr id="17" name="Shape 15"/>
          <p:cNvSpPr/>
          <p:nvPr/>
        </p:nvSpPr>
        <p:spPr>
          <a:xfrm>
            <a:off x="9601200" y="4991100"/>
            <a:ext cx="7315200" cy="1905000"/>
          </a:xfrm>
          <a:prstGeom prst="roundRect">
            <a:avLst>
              <a:gd name="adj" fmla="val 12000"/>
            </a:avLst>
          </a:prstGeom>
          <a:solidFill>
            <a:srgbClr val="CFE8E2"/>
          </a:solidFill>
          <a:ln/>
        </p:spPr>
      </p:sp>
      <p:sp>
        <p:nvSpPr>
          <p:cNvPr id="18" name="Text 16"/>
          <p:cNvSpPr/>
          <p:nvPr/>
        </p:nvSpPr>
        <p:spPr>
          <a:xfrm>
            <a:off x="9867900" y="5219700"/>
            <a:ext cx="5715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0F766E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9867900" y="5695950"/>
            <a:ext cx="3333750" cy="914400"/>
          </a:xfrm>
          <a:prstGeom prst="roundRect">
            <a:avLst>
              <a:gd name="adj" fmla="val 20833"/>
            </a:avLst>
          </a:prstGeom>
          <a:solidFill>
            <a:srgbClr val="0F766E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50" b="1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ConcurrentLinkedQueue</a:t>
            </a:r>
            <a:endParaRPr lang="en-US" sz="1950" dirty="0"/>
          </a:p>
        </p:txBody>
      </p:sp>
      <p:sp>
        <p:nvSpPr>
          <p:cNvPr id="20" name="Text 18"/>
          <p:cNvSpPr/>
          <p:nvPr/>
        </p:nvSpPr>
        <p:spPr>
          <a:xfrm>
            <a:off x="13392150" y="5695950"/>
            <a:ext cx="3295650" cy="914400"/>
          </a:xfrm>
          <a:prstGeom prst="rect">
            <a:avLst/>
          </a:prstGeom>
          <a:noFill/>
          <a:ln/>
        </p:spPr>
        <p:txBody>
          <a:bodyPr wrap="square" lIns="0" tIns="10525" rIns="0" bIns="-10525" rtlCol="0" anchor="ctr"/>
          <a:lstStyle/>
          <a:p>
            <a:pPr algn="l" indent="0" marL="0">
              <a:lnSpc>
                <a:spcPts val="2535"/>
              </a:lnSpc>
              <a:buNone/>
            </a:pP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Cập</a:t>
            </a:r>
            <a:r>
              <a:rPr lang="en-US" sz="1950" dirty="0" spc="-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nhật</a:t>
            </a:r>
            <a:r>
              <a:rPr lang="en-US" sz="1950" dirty="0" spc="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</a:t>
            </a:r>
            <a:r>
              <a:rPr lang="en-US" sz="1950" dirty="0" spc="-2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trỏ</a:t>
            </a:r>
            <a:r>
              <a:rPr lang="en-US" sz="195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bằng</a:t>
            </a:r>
            <a:r>
              <a:rPr lang="en-US" sz="1950" dirty="0" spc="-1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compareAndSet</a:t>
            </a:r>
            <a:endParaRPr lang="en-US" sz="1950" dirty="0"/>
          </a:p>
        </p:txBody>
      </p:sp>
      <p:sp>
        <p:nvSpPr>
          <p:cNvPr id="21" name="Text 19"/>
          <p:cNvSpPr/>
          <p:nvPr/>
        </p:nvSpPr>
        <p:spPr>
          <a:xfrm>
            <a:off x="9601200" y="7239000"/>
            <a:ext cx="7315200" cy="1047750"/>
          </a:xfrm>
          <a:prstGeom prst="rect">
            <a:avLst/>
          </a:prstGeom>
          <a:noFill/>
          <a:ln/>
        </p:spPr>
        <p:txBody>
          <a:bodyPr wrap="square" lIns="0" tIns="4667" rIns="0" bIns="-4667" rtlCol="0" anchor="t"/>
          <a:lstStyle/>
          <a:p>
            <a:pPr algn="l" indent="0" marL="0">
              <a:lnSpc>
                <a:spcPts val="2940"/>
              </a:lnSpc>
              <a:buNone/>
            </a:pPr>
            <a:r>
              <a:rPr lang="en-US" sz="2100" dirty="0" spc="-6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Tài</a:t>
            </a:r>
            <a:r>
              <a:rPr lang="en-US" sz="210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liệu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</a:t>
            </a:r>
            <a:r>
              <a:rPr lang="en-US" sz="2100" dirty="0" spc="-3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10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thể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chia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mức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nhỏ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hơn</a:t>
            </a:r>
            <a:r>
              <a:rPr lang="en-US" sz="2100" dirty="0" spc="-18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đặt</a:t>
            </a:r>
            <a:r>
              <a:rPr lang="en-US" sz="2100" dirty="0" spc="-1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2100" dirty="0" spc="-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khác.</a:t>
            </a:r>
            <a:endParaRPr lang="en-US" sz="210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14161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E8472B"/>
          </a:solidFill>
          <a:ln w="19050">
            <a:solidFill>
              <a:srgbClr val="E8472B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6B6A66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08/10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914400" y="4248150"/>
            <a:ext cx="7620000" cy="99060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dirty="0" spc="3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Cả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hai</a:t>
            </a:r>
            <a:r>
              <a:rPr lang="en-US" sz="2700" dirty="0" spc="-4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loại</a:t>
            </a:r>
            <a:r>
              <a:rPr lang="en-US" sz="2700" dirty="0" spc="1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đều</a:t>
            </a:r>
            <a:r>
              <a:rPr lang="en-US" sz="2700" dirty="0" spc="-1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700" dirty="0" spc="-20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2700" dirty="0" spc="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thư</a:t>
            </a:r>
            <a:r>
              <a:rPr lang="en-US" sz="2700" dirty="0" spc="-2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viện</a:t>
            </a:r>
            <a:r>
              <a:rPr lang="en-US" sz="2700" dirty="0" spc="-18" kern="0">
                <a:solidFill>
                  <a:srgbClr val="14161C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700" dirty="0"/>
          </a:p>
        </p:txBody>
      </p:sp>
      <p:sp>
        <p:nvSpPr>
          <p:cNvPr id="34" name="Text 32"/>
          <p:cNvSpPr/>
          <p:nvPr/>
        </p:nvSpPr>
        <p:spPr>
          <a:xfrm>
            <a:off x="9601200" y="11430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6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BA</a:t>
            </a:r>
            <a:r>
              <a:rPr lang="en-US" sz="1800" b="1" spc="22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TÊN</a:t>
            </a:r>
            <a:r>
              <a:rPr lang="en-US" sz="1800" b="1" spc="214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TRONG</a:t>
            </a:r>
            <a:r>
              <a:rPr lang="en-US" sz="1800" b="1" spc="228" kern="0" dirty="0">
                <a:solidFill>
                  <a:srgbClr val="6B6A6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f65306d3-1b93-460a-9f2b-9d342902cb76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6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NHÌN</a:t>
            </a: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1950" b="1" spc="224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TRẢ</a:t>
            </a:r>
            <a:r>
              <a:rPr lang="en-US" sz="1950" b="1" spc="20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LỜI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B</a:t>
            </a:r>
            <a:r>
              <a:rPr lang="en-US" sz="6900" dirty="0" spc="-16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gặp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hàng</a:t>
            </a:r>
            <a:r>
              <a:rPr lang="en-US" sz="6900" dirty="0" spc="-13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trống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5048250"/>
          </a:xfrm>
          <a:prstGeom prst="roundRect">
            <a:avLst>
              <a:gd name="adj" fmla="val 5283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924300"/>
            <a:ext cx="4762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02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CÂU</a:t>
            </a:r>
            <a:r>
              <a:rPr lang="en-US" sz="180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HỎI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295400" y="4419600"/>
            <a:ext cx="6858000" cy="2190750"/>
          </a:xfrm>
          <a:prstGeom prst="rect">
            <a:avLst/>
          </a:prstGeom>
          <a:noFill/>
          <a:ln/>
        </p:spPr>
        <p:txBody>
          <a:bodyPr wrap="square" lIns="0" tIns="5667" rIns="0" bIns="-5667" rtlCol="0" anchor="t"/>
          <a:lstStyle/>
          <a:p>
            <a:pPr algn="l" indent="0" marL="0">
              <a:lnSpc>
                <a:spcPts val="3570"/>
              </a:lnSpc>
              <a:buNone/>
            </a:pP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Luồng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</a:t>
            </a:r>
            <a:r>
              <a:rPr lang="en-US" sz="2550" dirty="0" spc="-9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lấy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 từ</a:t>
            </a: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một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r>
              <a:rPr lang="en-US" sz="25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trống.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Chuyện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</a:t>
            </a:r>
            <a:r>
              <a:rPr lang="en-US" sz="2550" dirty="0" spc="-2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xảy</a:t>
            </a:r>
            <a:r>
              <a:rPr lang="en-US" sz="25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ra</a:t>
            </a:r>
            <a:r>
              <a:rPr lang="en-US" sz="2550" dirty="0" spc="-1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với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B?</a:t>
            </a:r>
            <a:endParaRPr lang="en-US" sz="2550" dirty="0"/>
          </a:p>
        </p:txBody>
      </p:sp>
      <p:sp>
        <p:nvSpPr>
          <p:cNvPr id="7" name="Connector line-1792367696196-396049160"/>
          <p:cNvSpPr/>
          <p:nvPr/>
        </p:nvSpPr>
        <p:spPr>
          <a:xfrm>
            <a:off x="1295400" y="6705600"/>
            <a:ext cx="6858000" cy="0"/>
          </a:xfrm>
          <a:prstGeom prst="line">
            <a:avLst/>
          </a:prstGeom>
          <a:noFill/>
          <a:ln w="19050">
            <a:solidFill>
              <a:srgbClr val="9AA0B5"/>
            </a:solidFill>
            <a:prstDash val="lgDash"/>
            <a:headEnd type="none"/>
            <a:tailEnd type="none"/>
          </a:ln>
        </p:spPr>
      </p:sp>
      <p:sp>
        <p:nvSpPr>
          <p:cNvPr id="8" name="Text 6"/>
          <p:cNvSpPr/>
          <p:nvPr/>
        </p:nvSpPr>
        <p:spPr>
          <a:xfrm>
            <a:off x="1295400" y="6991350"/>
            <a:ext cx="6858000" cy="1428750"/>
          </a:xfrm>
          <a:prstGeom prst="rect">
            <a:avLst/>
          </a:prstGeom>
          <a:noFill/>
          <a:ln/>
        </p:spPr>
        <p:txBody>
          <a:bodyPr wrap="square" lIns="0" tIns="6001" rIns="0" bIns="-6001" rtlCol="0" anchor="t"/>
          <a:lstStyle/>
          <a:p>
            <a:pPr algn="l" indent="0" marL="0">
              <a:lnSpc>
                <a:spcPts val="3780"/>
              </a:lnSpc>
              <a:buNone/>
            </a:pPr>
            <a:r>
              <a:rPr lang="en-US" sz="2700" b="1" dirty="0" spc="-4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Với</a:t>
            </a:r>
            <a:r>
              <a:rPr lang="en-US" sz="2700" b="1" dirty="0" spc="-3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2700" b="1" dirty="0" spc="1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700" b="1" dirty="0" spc="-6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700" b="1" dirty="0" spc="-1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chặn,</a:t>
            </a:r>
            <a:r>
              <a:rPr lang="en-US" sz="2700" b="1" dirty="0" spc="-5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</a:t>
            </a:r>
            <a:r>
              <a:rPr lang="en-US" sz="2700" b="1" dirty="0" spc="0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thua</a:t>
            </a:r>
            <a:r>
              <a:rPr lang="en-US" sz="2700" b="1" dirty="0" spc="-4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</a:t>
            </a:r>
            <a:r>
              <a:rPr lang="en-US" sz="2700" b="1" dirty="0" spc="-4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làm</a:t>
            </a:r>
            <a:r>
              <a:rPr lang="en-US" sz="2700" b="1" dirty="0" spc="2" kern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gì?</a:t>
            </a:r>
            <a:endParaRPr lang="en-US" sz="2700" dirty="0"/>
          </a:p>
        </p:txBody>
      </p:sp>
      <p:sp>
        <p:nvSpPr>
          <p:cNvPr id="9" name="Shape 7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0" name="Text 8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199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ĐÁP</a:t>
            </a:r>
            <a:r>
              <a:rPr lang="en-US" sz="1800" b="1" spc="223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ÁN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9601200" y="1866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FFB454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906000" y="2171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FFB45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1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10858500" y="2247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FFB454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CHẶN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0858500" y="2743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tới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khi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có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phần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tử</a:t>
            </a:r>
            <a:endParaRPr lang="en-US" sz="2550" dirty="0"/>
          </a:p>
        </p:txBody>
      </p:sp>
      <p:sp>
        <p:nvSpPr>
          <p:cNvPr id="15" name="Shape 13"/>
          <p:cNvSpPr/>
          <p:nvPr/>
        </p:nvSpPr>
        <p:spPr>
          <a:xfrm>
            <a:off x="9601200" y="4152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7C93F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906000" y="4457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7C93FF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5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2</a:t>
            </a:r>
            <a:endParaRPr lang="en-US" sz="3000" dirty="0"/>
          </a:p>
        </p:txBody>
      </p:sp>
      <p:sp>
        <p:nvSpPr>
          <p:cNvPr id="17" name="Text 15"/>
          <p:cNvSpPr/>
          <p:nvPr/>
        </p:nvSpPr>
        <p:spPr>
          <a:xfrm>
            <a:off x="10858500" y="4533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6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VÌ</a:t>
            </a:r>
            <a:r>
              <a:rPr lang="en-US" sz="1800" b="1" spc="225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HÀNG</a:t>
            </a:r>
            <a:r>
              <a:rPr lang="en-US" sz="1800" b="1" spc="209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ĐANG</a:t>
            </a:r>
            <a:r>
              <a:rPr lang="en-US" sz="1800" b="1" spc="214" kern="0" dirty="0">
                <a:solidFill>
                  <a:srgbClr val="7C93FF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TRỐNG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858500" y="5029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Một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luồng khác thêm</a:t>
            </a:r>
            <a:r>
              <a:rPr lang="en-US" sz="2550" dirty="0" spc="-1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vào</a:t>
            </a:r>
            <a:r>
              <a:rPr lang="en-US" sz="25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thì B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</a:t>
            </a:r>
            <a:r>
              <a:rPr lang="en-US" sz="2550" dirty="0" spc="3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đi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</a:t>
            </a:r>
            <a:endParaRPr lang="en-US" sz="2550" dirty="0"/>
          </a:p>
        </p:txBody>
      </p:sp>
      <p:sp>
        <p:nvSpPr>
          <p:cNvPr id="19" name="Shape 17"/>
          <p:cNvSpPr/>
          <p:nvPr/>
        </p:nvSpPr>
        <p:spPr>
          <a:xfrm>
            <a:off x="9601200" y="6438900"/>
            <a:ext cx="7315200" cy="2057400"/>
          </a:xfrm>
          <a:prstGeom prst="roundRect">
            <a:avLst>
              <a:gd name="adj" fmla="val 11111"/>
            </a:avLst>
          </a:prstGeom>
          <a:solidFill>
            <a:srgbClr val="14161C"/>
          </a:solidFill>
          <a:ln w="28575">
            <a:solidFill>
              <a:srgbClr val="3DD6A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906000" y="6743700"/>
            <a:ext cx="685800" cy="685800"/>
          </a:xfrm>
          <a:prstGeom prst="roundRect">
            <a:avLst>
              <a:gd name="adj" fmla="val 50000"/>
            </a:avLst>
          </a:prstGeom>
          <a:solidFill>
            <a:srgbClr val="3DD6A0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dirty="0" spc="-2" kern="0">
                <a:solidFill>
                  <a:srgbClr val="14161C"/>
                </a:solidFill>
                <a:latin typeface="Be Vietnam Pro ExtraBold" pitchFamily="34" charset="0"/>
                <a:ea typeface="Be Vietnam Pro ExtraBold" pitchFamily="34" charset="-122"/>
                <a:cs typeface="Be Vietnam Pro ExtraBold" pitchFamily="34" charset="-120"/>
              </a:rPr>
              <a:t>3</a:t>
            </a:r>
            <a:endParaRPr lang="en-US" sz="3000" dirty="0"/>
          </a:p>
        </p:txBody>
      </p:sp>
      <p:sp>
        <p:nvSpPr>
          <p:cNvPr id="21" name="Text 19"/>
          <p:cNvSpPr/>
          <p:nvPr/>
        </p:nvSpPr>
        <p:spPr>
          <a:xfrm>
            <a:off x="10858500" y="6819900"/>
            <a:ext cx="581025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4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HÀNG</a:t>
            </a:r>
            <a:r>
              <a:rPr lang="en-US" sz="1800" b="1" spc="225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1800" b="1" spc="226" kern="0" dirty="0">
                <a:solidFill>
                  <a:srgbClr val="3DD6A0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0858500" y="7315200"/>
            <a:ext cx="5810250" cy="952500"/>
          </a:xfrm>
          <a:prstGeom prst="rect">
            <a:avLst/>
          </a:prstGeom>
          <a:noFill/>
          <a:ln/>
        </p:spPr>
        <p:txBody>
          <a:bodyPr wrap="square" lIns="0" tIns="13764" rIns="0" bIns="-13764" rtlCol="0" anchor="t"/>
          <a:lstStyle/>
          <a:p>
            <a:pPr algn="l" indent="0" marL="0">
              <a:lnSpc>
                <a:spcPts val="3315"/>
              </a:lnSpc>
              <a:buNone/>
            </a:pPr>
            <a:r>
              <a:rPr lang="en-US" sz="2550" dirty="0" spc="-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Đọc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lại,</a:t>
            </a:r>
            <a:r>
              <a:rPr lang="en-US" sz="25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thử</a:t>
            </a:r>
            <a:r>
              <a:rPr lang="en-US" sz="2550" dirty="0" spc="-1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gắn</a:t>
            </a:r>
            <a:r>
              <a:rPr lang="en-US" sz="25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tiếp,</a:t>
            </a:r>
            <a:r>
              <a:rPr lang="en-US" sz="25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</a:t>
            </a:r>
            <a:r>
              <a:rPr lang="en-US" sz="25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đợi</a:t>
            </a:r>
            <a:r>
              <a:rPr lang="en-US" sz="25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endParaRPr lang="en-US" sz="2550" dirty="0"/>
          </a:p>
        </p:txBody>
      </p:sp>
      <p:sp>
        <p:nvSpPr>
          <p:cNvPr id="23" name="Shape 21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14161C"/>
          </a:solidFill>
          <a:ln w="19050">
            <a:solidFill>
              <a:srgbClr val="9AA0B5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09/10</a:t>
            </a:r>
            <a:endParaRPr lang="en-US" sz="1650" dirty="0"/>
          </a:p>
        </p:txBody>
      </p:sp>
      <p:sp>
        <p:nvSpPr>
          <p:cNvPr id="34" name="Shape 32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5" name="Moda image moda-export-watermark-383f9aba-3239-4b2e-b278-532e902b152b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4161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914400"/>
            <a:ext cx="781050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950" b="1" spc="227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TỪ</a:t>
            </a:r>
            <a:r>
              <a:rPr lang="en-US" sz="1950" b="1" spc="209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KHÓA</a:t>
            </a:r>
            <a:r>
              <a:rPr lang="en-US" sz="1950" b="1" spc="17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195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950" dirty="0"/>
          </a:p>
        </p:txBody>
      </p:sp>
      <p:sp>
        <p:nvSpPr>
          <p:cNvPr id="3" name="Text 1"/>
          <p:cNvSpPr/>
          <p:nvPr/>
        </p:nvSpPr>
        <p:spPr>
          <a:xfrm>
            <a:off x="914400" y="1333500"/>
            <a:ext cx="7810500" cy="2000250"/>
          </a:xfrm>
          <a:prstGeom prst="rect">
            <a:avLst/>
          </a:prstGeom>
          <a:noFill/>
          <a:ln/>
        </p:spPr>
        <p:txBody>
          <a:bodyPr wrap="square" lIns="0" tIns="59150" rIns="0" bIns="-59150" rtlCol="0" anchor="t"/>
          <a:lstStyle/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59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Từ</a:t>
            </a:r>
            <a:r>
              <a:rPr lang="en-US" sz="6900" dirty="0" spc="-8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khóa</a:t>
            </a:r>
            <a:endParaRPr lang="en-US" sz="6900" dirty="0"/>
          </a:p>
          <a:p>
            <a:pPr algn="l" indent="0" marL="0">
              <a:lnSpc>
                <a:spcPts val="7245"/>
              </a:lnSpc>
              <a:buNone/>
            </a:pPr>
            <a:r>
              <a:rPr lang="en-US" sz="6900" dirty="0" spc="-2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cần</a:t>
            </a:r>
            <a:r>
              <a:rPr lang="en-US" sz="6900" dirty="0" spc="1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 nhớ</a:t>
            </a:r>
            <a:endParaRPr lang="en-US" sz="6900" dirty="0"/>
          </a:p>
        </p:txBody>
      </p:sp>
      <p:sp>
        <p:nvSpPr>
          <p:cNvPr id="4" name="Shape 2"/>
          <p:cNvSpPr/>
          <p:nvPr/>
        </p:nvSpPr>
        <p:spPr>
          <a:xfrm>
            <a:off x="914400" y="361950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5" name="Text 3"/>
          <p:cNvSpPr/>
          <p:nvPr/>
        </p:nvSpPr>
        <p:spPr>
          <a:xfrm>
            <a:off x="1295400" y="381000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spc="-91" kern="0">
                <a:solidFill>
                  <a:srgbClr val="7C93FF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CAS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1295400" y="472440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Compare</a:t>
            </a:r>
            <a:r>
              <a:rPr lang="en-US" sz="2100" b="1" dirty="0" spc="-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And</a:t>
            </a:r>
            <a:r>
              <a:rPr lang="en-US" sz="2100" b="1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Swap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295400" y="5143500"/>
            <a:ext cx="6858000" cy="76200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So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sánh</a:t>
            </a:r>
            <a:r>
              <a:rPr lang="en-US" sz="2250" dirty="0" spc="-2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rồi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đổi: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chỉ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ghi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nếu</a:t>
            </a:r>
            <a:r>
              <a:rPr lang="en-US" sz="2250" dirty="0" spc="-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giá</a:t>
            </a:r>
            <a:r>
              <a:rPr lang="en-US" sz="2250" dirty="0" spc="1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trị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còn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đúng.</a:t>
            </a:r>
            <a:endParaRPr lang="en-US" sz="2250" dirty="0"/>
          </a:p>
        </p:txBody>
      </p:sp>
      <p:sp>
        <p:nvSpPr>
          <p:cNvPr id="8" name="Shape 6"/>
          <p:cNvSpPr/>
          <p:nvPr/>
        </p:nvSpPr>
        <p:spPr>
          <a:xfrm>
            <a:off x="914400" y="6191250"/>
            <a:ext cx="7620000" cy="2381250"/>
          </a:xfrm>
          <a:prstGeom prst="roundRect">
            <a:avLst>
              <a:gd name="adj" fmla="val 11200"/>
            </a:avLst>
          </a:prstGeom>
          <a:solidFill>
            <a:srgbClr val="1E212B"/>
          </a:solidFill>
          <a:ln/>
        </p:spPr>
      </p:sp>
      <p:sp>
        <p:nvSpPr>
          <p:cNvPr id="9" name="Text 7"/>
          <p:cNvSpPr/>
          <p:nvPr/>
        </p:nvSpPr>
        <p:spPr>
          <a:xfrm>
            <a:off x="1295400" y="6381750"/>
            <a:ext cx="3810000" cy="857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5400" dirty="0" kern="0">
                <a:solidFill>
                  <a:srgbClr val="F3EEE3"/>
                </a:solidFill>
                <a:latin typeface="Bricolage Grotesque ExtraBold" pitchFamily="34" charset="0"/>
                <a:ea typeface="Bricolage Grotesque ExtraBold" pitchFamily="34" charset="-122"/>
                <a:cs typeface="Bricolage Grotesque ExtraBold" pitchFamily="34" charset="-120"/>
              </a:rPr>
              <a:t>JDK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1295400" y="7296150"/>
            <a:ext cx="68580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 spc="-26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Java</a:t>
            </a:r>
            <a:r>
              <a:rPr lang="en-US" sz="2100" b="1" dirty="0" spc="-18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Development</a:t>
            </a:r>
            <a:r>
              <a:rPr lang="en-US" sz="2100" b="1" dirty="0" spc="-3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Kit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9144000" y="914400"/>
            <a:ext cx="8229600" cy="7848600"/>
          </a:xfrm>
          <a:prstGeom prst="roundRect">
            <a:avLst>
              <a:gd name="adj" fmla="val 3398"/>
            </a:avLst>
          </a:prstGeom>
          <a:solidFill>
            <a:srgbClr val="1E212B"/>
          </a:solidFill>
          <a:ln/>
        </p:spPr>
      </p:sp>
      <p:sp>
        <p:nvSpPr>
          <p:cNvPr id="12" name="Text 10"/>
          <p:cNvSpPr/>
          <p:nvPr/>
        </p:nvSpPr>
        <p:spPr>
          <a:xfrm>
            <a:off x="9601200" y="1333500"/>
            <a:ext cx="73152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5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NGUỒN ĐỐI</a:t>
            </a:r>
            <a:r>
              <a:rPr lang="en-US" sz="1800" b="1" spc="227" kern="0" dirty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CHIẾU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9601200" y="18669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4" name="Text 12"/>
          <p:cNvSpPr/>
          <p:nvPr/>
        </p:nvSpPr>
        <p:spPr>
          <a:xfrm>
            <a:off x="9906000" y="21145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1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BÀI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9906000" y="25336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ByteByteGo</a:t>
            </a:r>
            <a:endParaRPr lang="en-US" sz="2700" dirty="0"/>
          </a:p>
        </p:txBody>
      </p:sp>
      <p:sp>
        <p:nvSpPr>
          <p:cNvPr id="16" name="Shape 14"/>
          <p:cNvSpPr/>
          <p:nvPr/>
        </p:nvSpPr>
        <p:spPr>
          <a:xfrm>
            <a:off x="9601200" y="4305300"/>
            <a:ext cx="7315200" cy="2209800"/>
          </a:xfrm>
          <a:prstGeom prst="roundRect">
            <a:avLst>
              <a:gd name="adj" fmla="val 10345"/>
            </a:avLst>
          </a:prstGeom>
          <a:solidFill>
            <a:srgbClr val="14161C"/>
          </a:solidFill>
          <a:ln/>
        </p:spPr>
      </p:sp>
      <p:sp>
        <p:nvSpPr>
          <p:cNvPr id="17" name="Text 15"/>
          <p:cNvSpPr/>
          <p:nvPr/>
        </p:nvSpPr>
        <p:spPr>
          <a:xfrm>
            <a:off x="9906000" y="4552950"/>
            <a:ext cx="66675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spc="223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MÃ</a:t>
            </a:r>
            <a:r>
              <a:rPr lang="en-US" sz="1800" b="1" spc="225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1800" b="1" spc="228" kern="0" dirty="0">
                <a:solidFill>
                  <a:srgbClr val="FF6A4D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JDK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9906000" y="4972050"/>
            <a:ext cx="6667500" cy="4381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700" b="1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OpenJDK</a:t>
            </a:r>
            <a:endParaRPr lang="en-US" sz="2700" dirty="0"/>
          </a:p>
        </p:txBody>
      </p:sp>
      <p:sp>
        <p:nvSpPr>
          <p:cNvPr id="19" name="Text 17"/>
          <p:cNvSpPr/>
          <p:nvPr/>
        </p:nvSpPr>
        <p:spPr>
          <a:xfrm>
            <a:off x="9906000" y="55054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BlockingQueue,</a:t>
            </a:r>
            <a:r>
              <a:rPr lang="en-US" sz="2100" dirty="0" spc="-6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LinkedBlockingQueue</a:t>
            </a:r>
            <a:r>
              <a:rPr lang="en-US" sz="2100" dirty="0" spc="-15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và</a:t>
            </a:r>
            <a:r>
              <a:rPr lang="en-US" sz="2100" dirty="0" spc="-1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ConcurrentLinkedQueue,</a:t>
            </a:r>
            <a:r>
              <a:rPr lang="en-US" sz="2100" dirty="0" spc="8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từ kho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mã.</a:t>
            </a:r>
            <a:endParaRPr lang="en-US" sz="2100" dirty="0"/>
          </a:p>
        </p:txBody>
      </p:sp>
      <p:sp>
        <p:nvSpPr>
          <p:cNvPr id="20" name="Shape 18"/>
          <p:cNvSpPr/>
          <p:nvPr/>
        </p:nvSpPr>
        <p:spPr>
          <a:xfrm>
            <a:off x="9601200" y="6896100"/>
            <a:ext cx="76200" cy="1181100"/>
          </a:xfrm>
          <a:prstGeom prst="roundRect">
            <a:avLst>
              <a:gd name="adj" fmla="val 50000"/>
            </a:avLst>
          </a:prstGeom>
          <a:solidFill>
            <a:srgbClr val="FF6A4D"/>
          </a:solidFill>
          <a:ln/>
        </p:spPr>
      </p:sp>
      <p:sp>
        <p:nvSpPr>
          <p:cNvPr id="21" name="Text 19"/>
          <p:cNvSpPr/>
          <p:nvPr/>
        </p:nvSpPr>
        <p:spPr>
          <a:xfrm>
            <a:off x="9906000" y="6896100"/>
            <a:ext cx="7010400" cy="1181100"/>
          </a:xfrm>
          <a:prstGeom prst="rect">
            <a:avLst/>
          </a:prstGeom>
          <a:noFill/>
          <a:ln/>
        </p:spPr>
        <p:txBody>
          <a:bodyPr wrap="square" lIns="0" tIns="8557" rIns="0" bIns="-8557" rtlCol="0" anchor="ctr"/>
          <a:lstStyle/>
          <a:p>
            <a:pPr algn="l" indent="0" marL="0">
              <a:lnSpc>
                <a:spcPts val="3038"/>
              </a:lnSpc>
              <a:buNone/>
            </a:pP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Đã</a:t>
            </a:r>
            <a:r>
              <a:rPr lang="en-US" sz="2250" dirty="0" spc="1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đọc</a:t>
            </a:r>
            <a:r>
              <a:rPr lang="en-US" sz="2250" dirty="0" spc="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nguồn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ngày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2026-10-19.</a:t>
            </a:r>
            <a:r>
              <a:rPr lang="en-US" sz="2250" dirty="0" spc="0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Hình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minh</a:t>
            </a:r>
            <a:r>
              <a:rPr lang="en-US" sz="2250" dirty="0" spc="-2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họa</a:t>
            </a:r>
            <a:r>
              <a:rPr lang="en-US" sz="2250" dirty="0" spc="-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là</a:t>
            </a:r>
            <a:r>
              <a:rPr lang="en-US" sz="2250" dirty="0" spc="-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thiết</a:t>
            </a:r>
            <a:r>
              <a:rPr lang="en-US" sz="2250" dirty="0" spc="-35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kế</a:t>
            </a:r>
            <a:r>
              <a:rPr lang="en-US" sz="2250" dirty="0" spc="1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mới.</a:t>
            </a:r>
            <a:endParaRPr lang="en-US" sz="2250" dirty="0"/>
          </a:p>
        </p:txBody>
      </p:sp>
      <p:sp>
        <p:nvSpPr>
          <p:cNvPr id="22" name="Shape 20"/>
          <p:cNvSpPr/>
          <p:nvPr/>
        </p:nvSpPr>
        <p:spPr>
          <a:xfrm>
            <a:off x="9810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3239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6668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0097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23526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26955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30384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33813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724275" y="9439275"/>
            <a:ext cx="133350" cy="133350"/>
          </a:xfrm>
          <a:prstGeom prst="ellipse">
            <a:avLst/>
          </a:prstGeom>
          <a:solidFill>
            <a:srgbClr val="F3EEE3"/>
          </a:solidFill>
          <a:ln w="19050">
            <a:solidFill>
              <a:srgbClr val="F3EEE3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4067175" y="9439275"/>
            <a:ext cx="133350" cy="133350"/>
          </a:xfrm>
          <a:prstGeom prst="ellipse">
            <a:avLst/>
          </a:prstGeom>
          <a:solidFill>
            <a:srgbClr val="FF6A4D"/>
          </a:solidFill>
          <a:ln w="19050">
            <a:solidFill>
              <a:srgbClr val="FF6A4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914400" y="9696450"/>
            <a:ext cx="7620000" cy="3238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50" dirty="0" spc="-1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System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Design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101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1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Bài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</a:t>
            </a:r>
            <a:r>
              <a:rPr lang="en-US" sz="1650" dirty="0" spc="0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·</a:t>
            </a:r>
            <a:r>
              <a:rPr lang="en-US" sz="1650" dirty="0" spc="2" kern="0">
                <a:solidFill>
                  <a:srgbClr val="9AA0B5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10/10</a:t>
            </a:r>
            <a:endParaRPr lang="en-US" sz="1650" dirty="0"/>
          </a:p>
        </p:txBody>
      </p:sp>
      <p:sp>
        <p:nvSpPr>
          <p:cNvPr id="33" name="Text 31"/>
          <p:cNvSpPr/>
          <p:nvPr/>
        </p:nvSpPr>
        <p:spPr>
          <a:xfrm>
            <a:off x="1295400" y="7715250"/>
            <a:ext cx="6858000" cy="476250"/>
          </a:xfrm>
          <a:prstGeom prst="rect">
            <a:avLst/>
          </a:prstGeom>
          <a:noFill/>
          <a:ln/>
        </p:spPr>
        <p:txBody>
          <a:bodyPr wrap="square" lIns="0" tIns="12144" rIns="0" bIns="-12144" rtlCol="0" anchor="t"/>
          <a:lstStyle/>
          <a:p>
            <a:pPr algn="l" indent="0" marL="0">
              <a:lnSpc>
                <a:spcPts val="2925"/>
              </a:lnSpc>
              <a:buNone/>
            </a:pP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Bộ</a:t>
            </a:r>
            <a:r>
              <a:rPr lang="en-US" sz="2250" dirty="0" spc="3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công</a:t>
            </a:r>
            <a:r>
              <a:rPr lang="en-US" sz="2250" dirty="0" spc="4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cụ</a:t>
            </a:r>
            <a:r>
              <a:rPr lang="en-US" sz="2250" dirty="0" spc="-8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phát</a:t>
            </a:r>
            <a:r>
              <a:rPr lang="en-US" sz="2250" dirty="0" spc="6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triển</a:t>
            </a:r>
            <a:r>
              <a:rPr lang="en-US" sz="2250" dirty="0" spc="-17" kern="0">
                <a:solidFill>
                  <a:srgbClr val="F3EEE3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Java.</a:t>
            </a:r>
            <a:endParaRPr lang="en-US" sz="2250" dirty="0"/>
          </a:p>
        </p:txBody>
      </p:sp>
      <p:sp>
        <p:nvSpPr>
          <p:cNvPr id="34" name="Text 32"/>
          <p:cNvSpPr/>
          <p:nvPr/>
        </p:nvSpPr>
        <p:spPr>
          <a:xfrm>
            <a:off x="9906000" y="3067050"/>
            <a:ext cx="6667500" cy="857250"/>
          </a:xfrm>
          <a:prstGeom prst="rect">
            <a:avLst/>
          </a:prstGeom>
          <a:noFill/>
          <a:ln/>
        </p:spPr>
        <p:txBody>
          <a:bodyPr wrap="square" lIns="0" tIns="8001" rIns="0" bIns="-8001" rtlCol="0" anchor="t"/>
          <a:lstStyle/>
          <a:p>
            <a:pPr algn="l" indent="0" marL="0">
              <a:lnSpc>
                <a:spcPts val="2835"/>
              </a:lnSpc>
              <a:buNone/>
            </a:pPr>
            <a:r>
              <a:rPr lang="en-US" sz="2100" dirty="0" spc="-6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Tên</a:t>
            </a:r>
            <a:r>
              <a:rPr lang="en-US" sz="2100" dirty="0" spc="-2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các</a:t>
            </a: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khái</a:t>
            </a:r>
            <a:r>
              <a:rPr lang="en-US" sz="2100" dirty="0" spc="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niệm:</a:t>
            </a:r>
            <a:endParaRPr lang="en-US" sz="2100" dirty="0"/>
          </a:p>
          <a:p>
            <a:pPr algn="l" indent="0" marL="0">
              <a:lnSpc>
                <a:spcPts val="2835"/>
              </a:lnSpc>
              <a:buNone/>
            </a:pPr>
            <a:r>
              <a:rPr lang="en-US" sz="2100" dirty="0" spc="0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chặn,</a:t>
            </a:r>
            <a:r>
              <a:rPr lang="en-US" sz="2100" dirty="0" spc="-1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không chặn,</a:t>
            </a:r>
            <a:r>
              <a:rPr lang="en-US" sz="2100" dirty="0" spc="-14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wait-free,</a:t>
            </a:r>
            <a:r>
              <a:rPr lang="en-US" sz="2100" dirty="0" spc="-27" kern="0">
                <a:solidFill>
                  <a:srgbClr val="C4C8D6"/>
                </a:solidFill>
                <a:latin typeface="Be Vietnam Pro" pitchFamily="34" charset="0"/>
                <a:ea typeface="Be Vietnam Pro" pitchFamily="34" charset="-122"/>
                <a:cs typeface="Be Vietnam Pro" pitchFamily="34" charset="-120"/>
              </a:rPr>
              <a:t> CAS.</a:t>
            </a:r>
            <a:endParaRPr lang="en-US" sz="2100" dirty="0"/>
          </a:p>
        </p:txBody>
      </p:sp>
      <p:sp>
        <p:nvSpPr>
          <p:cNvPr id="35" name="Shape 33"/>
          <p:cNvSpPr/>
          <p:nvPr/>
        </p:nvSpPr>
        <p:spPr>
          <a:xfrm>
            <a:off x="15983712" y="9076331"/>
            <a:ext cx="1645920" cy="552301"/>
          </a:xfrm>
          <a:prstGeom prst="roundRect">
            <a:avLst>
              <a:gd name="adj" fmla="val 28000"/>
            </a:avLst>
          </a:prstGeom>
          <a:solidFill>
            <a:srgbClr val="FFFFFF">
              <a:alpha val="82000"/>
            </a:srgbClr>
          </a:solidFill>
          <a:ln/>
        </p:spPr>
      </p:sp>
      <p:pic>
        <p:nvPicPr>
          <p:cNvPr id="36" name="Moda image moda-export-watermark-04cb1b2c-0ca3-46d5-819a-8f829877ae69" descr="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16109781" y="9202400"/>
            <a:ext cx="1393783" cy="30016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2026-10-19T13:27:40Z</dcterms:created>
  <dcterms:modified xsi:type="dcterms:W3CDTF">2026-10-19T13:27:40Z</dcterms:modified>
</cp:coreProperties>
</file>