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ExtraBold"/>
      <p:regular r:id="rId20"/>
    </p:embeddedFont>
    <p:embeddedFont>
      <p:font typeface="Be Vietnam Pro SemiBold"/>
      <p:regular r:id="rId21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Relationship Id="rId21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3429000"/>
          </a:xfrm>
          <a:prstGeom prst="rect">
            <a:avLst/>
          </a:prstGeom>
          <a:noFill/>
          <a:ln/>
        </p:spPr>
        <p:txBody>
          <a:bodyPr wrap="square" lIns="0" tIns="61722" rIns="0" bIns="-61722" rtlCol="0" anchor="t"/>
          <a:lstStyle/>
          <a:p>
            <a:pPr algn="l" indent="0" marL="0">
              <a:lnSpc>
                <a:spcPts val="8748"/>
              </a:lnSpc>
              <a:buNone/>
            </a:pPr>
            <a:r>
              <a:rPr lang="en-US" sz="8100" dirty="0" spc="-8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Terraform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plan</a:t>
            </a:r>
            <a:r>
              <a:rPr lang="en-US" sz="81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báo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thay</a:t>
            </a:r>
            <a:r>
              <a:rPr lang="en-US" sz="8100" dirty="0" spc="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r>
              <a:rPr lang="en-US" sz="81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bạn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8100" dirty="0" spc="2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làm: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năm nguyên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nhân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95300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Bạn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00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 mà plan</a:t>
            </a:r>
            <a:r>
              <a:rPr lang="en-US" sz="300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30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3000" dirty="0" spc="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5905500"/>
            <a:ext cx="30480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1100" y="60960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181100" y="6572250"/>
            <a:ext cx="25146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7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Hạ</a:t>
            </a:r>
            <a:r>
              <a:rPr lang="en-US" sz="2250" dirty="0" spc="-2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tầng</a:t>
            </a:r>
            <a:r>
              <a:rPr lang="en-US" sz="2250" dirty="0" spc="3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bị</a:t>
            </a:r>
            <a:r>
              <a:rPr lang="en-US" sz="2250" dirty="0" spc="15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sửa</a:t>
            </a:r>
            <a:r>
              <a:rPr lang="en-US" sz="2250" dirty="0" spc="-3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ngoài</a:t>
            </a:r>
            <a:r>
              <a:rPr lang="en-US" sz="2250" dirty="0" spc="-30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Terraform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4267200" y="5905500"/>
            <a:ext cx="30480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33900" y="60960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4533900" y="6572250"/>
            <a:ext cx="25146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3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Phiên</a:t>
            </a:r>
            <a:r>
              <a:rPr lang="en-US" sz="2250" dirty="0" spc="3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bản</a:t>
            </a:r>
            <a:r>
              <a:rPr lang="en-US" sz="2250" dirty="0" spc="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đổi</a:t>
            </a:r>
            <a:endParaRPr lang="en-US" sz="2250" dirty="0"/>
          </a:p>
        </p:txBody>
      </p:sp>
      <p:sp>
        <p:nvSpPr>
          <p:cNvPr id="11" name="Shape 9"/>
          <p:cNvSpPr/>
          <p:nvPr/>
        </p:nvSpPr>
        <p:spPr>
          <a:xfrm>
            <a:off x="7620000" y="5905500"/>
            <a:ext cx="30480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886700" y="60960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7886700" y="6572250"/>
            <a:ext cx="25146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4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Sai</a:t>
            </a:r>
            <a:r>
              <a:rPr lang="en-US" sz="2250" dirty="0" spc="-12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workspace</a:t>
            </a:r>
            <a:r>
              <a:rPr lang="en-US" sz="2250" dirty="0" spc="0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hoặc</a:t>
            </a:r>
            <a:r>
              <a:rPr lang="en-US" sz="2250" dirty="0" spc="8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đầu</a:t>
            </a:r>
            <a:r>
              <a:rPr lang="en-US" sz="2250" dirty="0" spc="-9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vào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10972800" y="5905500"/>
            <a:ext cx="30480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239500" y="60960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1239500" y="6572250"/>
            <a:ext cx="25146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Giá</a:t>
            </a:r>
            <a:r>
              <a:rPr lang="en-US" sz="2250" dirty="0" spc="11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trị</a:t>
            </a:r>
            <a:r>
              <a:rPr lang="en-US" sz="2250" dirty="0" spc="2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tự</a:t>
            </a:r>
            <a:r>
              <a:rPr lang="en-US" sz="2250" dirty="0" spc="6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điền,</a:t>
            </a:r>
            <a:r>
              <a:rPr lang="en-US" sz="2250" dirty="0" spc="3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thứ tự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14325600" y="5905500"/>
            <a:ext cx="30480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4592300" y="60960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5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14592300" y="6572250"/>
            <a:ext cx="25146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State</a:t>
            </a:r>
            <a:r>
              <a:rPr lang="en-US" sz="2250" dirty="0" spc="-8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không</a:t>
            </a:r>
            <a:r>
              <a:rPr lang="en-US" sz="2250" dirty="0" spc="-3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dùng</a:t>
            </a:r>
            <a:r>
              <a:rPr lang="en-US" sz="2250" dirty="0" spc="-1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chung</a:t>
            </a:r>
            <a:endParaRPr lang="en-US" sz="225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b5c5b672-3829-48cb-b59d-f80d5b76c53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Plan</a:t>
            </a:r>
            <a:r>
              <a:rPr lang="en-US" sz="63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so</a:t>
            </a:r>
            <a:r>
              <a:rPr lang="en-US" sz="6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sánh</a:t>
            </a:r>
            <a:r>
              <a:rPr lang="en-US" sz="63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mã,</a:t>
            </a:r>
            <a:r>
              <a:rPr lang="en-US" sz="630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state,</a:t>
            </a:r>
            <a:r>
              <a:rPr lang="en-US" sz="63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</a:t>
            </a:r>
            <a:r>
              <a:rPr lang="en-US" sz="63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tầng</a:t>
            </a:r>
            <a:r>
              <a:rPr lang="en-US" sz="63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thật</a:t>
            </a:r>
            <a:endParaRPr lang="en-US" sz="6300" dirty="0"/>
          </a:p>
        </p:txBody>
      </p:sp>
      <p:sp>
        <p:nvSpPr>
          <p:cNvPr id="4" name="Text 2"/>
          <p:cNvSpPr/>
          <p:nvPr/>
        </p:nvSpPr>
        <p:spPr>
          <a:xfrm>
            <a:off x="914400" y="3238500"/>
            <a:ext cx="4572000" cy="2286000"/>
          </a:xfrm>
          <a:prstGeom prst="roundRect">
            <a:avLst>
              <a:gd name="adj" fmla="val 11667"/>
            </a:avLst>
          </a:prstGeom>
          <a:solidFill>
            <a:srgbClr val="E8E0CF"/>
          </a:solidFill>
          <a:ln w="28575">
            <a:solidFill>
              <a:srgbClr val="6B6A66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Mã</a:t>
            </a:r>
            <a:endParaRPr lang="en-US" sz="4500" dirty="0"/>
          </a:p>
        </p:txBody>
      </p:sp>
      <p:sp>
        <p:nvSpPr>
          <p:cNvPr id="5" name="Text 3"/>
          <p:cNvSpPr/>
          <p:nvPr/>
        </p:nvSpPr>
        <p:spPr>
          <a:xfrm>
            <a:off x="6858000" y="3238500"/>
            <a:ext cx="4572000" cy="2286000"/>
          </a:xfrm>
          <a:prstGeom prst="roundRect">
            <a:avLst>
              <a:gd name="adj" fmla="val 11667"/>
            </a:avLst>
          </a:prstGeom>
          <a:solidFill>
            <a:srgbClr val="E8E0CF"/>
          </a:solidFill>
          <a:ln w="28575">
            <a:solidFill>
              <a:srgbClr val="6B6A66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0" dirty="0" spc="-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State</a:t>
            </a:r>
            <a:endParaRPr lang="en-US" sz="4500" dirty="0"/>
          </a:p>
        </p:txBody>
      </p:sp>
      <p:sp>
        <p:nvSpPr>
          <p:cNvPr id="6" name="Text 4"/>
          <p:cNvSpPr/>
          <p:nvPr/>
        </p:nvSpPr>
        <p:spPr>
          <a:xfrm>
            <a:off x="12801600" y="3238500"/>
            <a:ext cx="4572000" cy="2286000"/>
          </a:xfrm>
          <a:prstGeom prst="roundRect">
            <a:avLst>
              <a:gd name="adj" fmla="val 11667"/>
            </a:avLst>
          </a:prstGeom>
          <a:solidFill>
            <a:srgbClr val="E8E0CF"/>
          </a:solidFill>
          <a:ln w="28575">
            <a:solidFill>
              <a:srgbClr val="6B6A66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Hạ</a:t>
            </a:r>
            <a:r>
              <a:rPr lang="en-US" sz="4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tầng</a:t>
            </a:r>
            <a:r>
              <a:rPr lang="en-US" sz="45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thật</a:t>
            </a:r>
            <a:endParaRPr lang="en-US" sz="4500" dirty="0"/>
          </a:p>
        </p:txBody>
      </p:sp>
      <p:sp>
        <p:nvSpPr>
          <p:cNvPr id="7" name="Connector line-1792371220927-621823202"/>
          <p:cNvSpPr/>
          <p:nvPr/>
        </p:nvSpPr>
        <p:spPr>
          <a:xfrm>
            <a:off x="5619750" y="4381500"/>
            <a:ext cx="11049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triangle"/>
            <a:tailEnd type="triangle"/>
          </a:ln>
        </p:spPr>
      </p:sp>
      <p:sp>
        <p:nvSpPr>
          <p:cNvPr id="8" name="Connector line-1792371220928-633121884"/>
          <p:cNvSpPr/>
          <p:nvPr/>
        </p:nvSpPr>
        <p:spPr>
          <a:xfrm>
            <a:off x="11563350" y="4381500"/>
            <a:ext cx="11049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triangle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914400" y="628650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10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Mỗi</a:t>
            </a:r>
            <a:r>
              <a:rPr lang="en-US" sz="3300" dirty="0" spc="-13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thay</a:t>
            </a:r>
            <a:r>
              <a:rPr lang="en-US" sz="3300" dirty="0" spc="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đổi</a:t>
            </a:r>
            <a:r>
              <a:rPr lang="en-US" sz="3300" dirty="0" spc="-8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bất</a:t>
            </a:r>
            <a:r>
              <a:rPr lang="en-US" sz="3300" dirty="0" spc="-10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ngờ</a:t>
            </a:r>
            <a:r>
              <a:rPr lang="en-US" sz="3300" dirty="0" spc="2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đều</a:t>
            </a:r>
            <a:r>
              <a:rPr lang="en-US" sz="3300" dirty="0" spc="-3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lần</a:t>
            </a:r>
            <a:r>
              <a:rPr lang="en-US" sz="3300" dirty="0" spc="13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được</a:t>
            </a:r>
            <a:r>
              <a:rPr lang="en-US" sz="3300" dirty="0" spc="-3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về</a:t>
            </a:r>
            <a:r>
              <a:rPr lang="en-US" sz="3300" dirty="0" spc="-14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một</a:t>
            </a:r>
            <a:r>
              <a:rPr lang="en-US" sz="3300" dirty="0" spc="-8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chỗ</a:t>
            </a:r>
            <a:r>
              <a:rPr lang="en-US" sz="3300" dirty="0" spc="-9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lệch.</a:t>
            </a:r>
            <a:endParaRPr lang="en-US" sz="3300" dirty="0"/>
          </a:p>
        </p:txBody>
      </p:sp>
      <p:sp>
        <p:nvSpPr>
          <p:cNvPr id="10" name="Text 8"/>
          <p:cNvSpPr/>
          <p:nvPr/>
        </p:nvSpPr>
        <p:spPr>
          <a:xfrm>
            <a:off x="914400" y="704850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lệch</a:t>
            </a: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lập, mỗi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550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kèm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ngăn.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2" name="Shape 10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3" name="Shape 11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5" name="Shape 13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Shape 18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Text 19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f7443bca-e4fe-4425-8bd7-d3b7fe487d9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950" b="1" spc="29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LỆCH</a:t>
            </a:r>
            <a:r>
              <a:rPr lang="en-US" sz="1950" b="1" spc="30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4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Hạ tầng</a:t>
            </a: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đổi,</a:t>
            </a: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phiên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6900" dirty="0" spc="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16459200" cy="2190750"/>
          </a:xfrm>
          <a:prstGeom prst="roundRect">
            <a:avLst>
              <a:gd name="adj" fmla="val 10435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838575"/>
            <a:ext cx="800100" cy="800100"/>
          </a:xfrm>
          <a:prstGeom prst="ellipse">
            <a:avLst/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2476500" y="3333750"/>
            <a:ext cx="14478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10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Hạ</a:t>
            </a:r>
            <a:r>
              <a:rPr lang="en-US" sz="3300" dirty="0" spc="-5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tầng</a:t>
            </a:r>
            <a:r>
              <a:rPr lang="en-US" sz="3300" dirty="0" spc="-3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bị</a:t>
            </a:r>
            <a:r>
              <a:rPr lang="en-US" sz="3300" dirty="0" spc="18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sửa</a:t>
            </a:r>
            <a:r>
              <a:rPr lang="en-US" sz="3300" dirty="0" spc="-8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ngoài</a:t>
            </a:r>
            <a:r>
              <a:rPr lang="en-US" sz="3300" dirty="0" spc="-47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Terraform</a:t>
            </a:r>
            <a:endParaRPr lang="en-US" sz="3300" dirty="0"/>
          </a:p>
        </p:txBody>
      </p:sp>
      <p:sp>
        <p:nvSpPr>
          <p:cNvPr id="7" name="Text 5"/>
          <p:cNvSpPr/>
          <p:nvPr/>
        </p:nvSpPr>
        <p:spPr>
          <a:xfrm>
            <a:off x="2476500" y="4095750"/>
            <a:ext cx="14478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270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cloud</a:t>
            </a:r>
            <a:r>
              <a:rPr lang="en-US" sz="270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(drift):</a:t>
            </a:r>
            <a:r>
              <a:rPr lang="en-US" sz="270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plan</a:t>
            </a:r>
            <a:r>
              <a:rPr lang="en-US" sz="27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-refresh-only.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14400" y="5715000"/>
            <a:ext cx="16459200" cy="2190750"/>
          </a:xfrm>
          <a:prstGeom prst="roundRect">
            <a:avLst>
              <a:gd name="adj" fmla="val 10435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95400" y="6410325"/>
            <a:ext cx="800100" cy="800100"/>
          </a:xfrm>
          <a:prstGeom prst="ellipse">
            <a:avLst/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2476500" y="5905500"/>
            <a:ext cx="14478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5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Phiên</a:t>
            </a:r>
            <a:r>
              <a:rPr lang="en-US" sz="3300" dirty="0" spc="-2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bản</a:t>
            </a:r>
            <a:r>
              <a:rPr lang="en-US" sz="3300" dirty="0" spc="2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đổi</a:t>
            </a:r>
            <a:endParaRPr lang="en-US" sz="3300" dirty="0"/>
          </a:p>
        </p:txBody>
      </p:sp>
      <p:sp>
        <p:nvSpPr>
          <p:cNvPr id="11" name="Text 9"/>
          <p:cNvSpPr/>
          <p:nvPr/>
        </p:nvSpPr>
        <p:spPr>
          <a:xfrm>
            <a:off x="2476500" y="6667500"/>
            <a:ext cx="14478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Provider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.terraform.lock.hcl;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module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70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ràng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buộc</a:t>
            </a:r>
            <a:r>
              <a:rPr lang="en-US" sz="27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version</a:t>
            </a:r>
            <a:r>
              <a:rPr lang="en-US" sz="270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riêng.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3" name="Shape 11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5" name="Shape 13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Shape 18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Shape 19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2" name="Text 20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b0236ac1-83bb-431f-8431-bba635949b8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950" b="1" spc="29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LỆCH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Sai</a:t>
            </a:r>
            <a:r>
              <a:rPr lang="en-US" sz="6900" dirty="0" spc="-2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workspace</a:t>
            </a:r>
            <a:r>
              <a:rPr lang="en-US" sz="69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hoặc</a:t>
            </a:r>
            <a:r>
              <a:rPr lang="en-US" sz="690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đầu</a:t>
            </a:r>
            <a:r>
              <a:rPr lang="en-US" sz="6900" dirty="0" spc="-5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238500"/>
            <a:ext cx="47625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50" dirty="0" spc="-7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Cùng</a:t>
            </a:r>
            <a:r>
              <a:rPr lang="en-US" sz="3150" dirty="0" spc="-13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một</a:t>
            </a:r>
            <a:r>
              <a:rPr lang="en-US" sz="3150" dirty="0" spc="-8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mã</a:t>
            </a:r>
            <a:endParaRPr lang="en-US" sz="3150" dirty="0"/>
          </a:p>
        </p:txBody>
      </p:sp>
      <p:sp>
        <p:nvSpPr>
          <p:cNvPr id="5" name="Text 3"/>
          <p:cNvSpPr/>
          <p:nvPr/>
        </p:nvSpPr>
        <p:spPr>
          <a:xfrm>
            <a:off x="6762750" y="3238500"/>
            <a:ext cx="47625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-3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Khác</a:t>
            </a:r>
            <a:r>
              <a:rPr lang="en-US" sz="2550" dirty="0" spc="-15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workspace,</a:t>
            </a:r>
            <a:r>
              <a:rPr lang="en-US" sz="2550" dirty="0" spc="-19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tfvars</a:t>
            </a:r>
            <a:r>
              <a:rPr lang="en-US" sz="2550" dirty="0" spc="-14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hay</a:t>
            </a:r>
            <a:r>
              <a:rPr lang="en-US" sz="2550" dirty="0" spc="-22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TF_VAR_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12611100" y="3238500"/>
            <a:ext cx="4762500" cy="2286000"/>
          </a:xfrm>
          <a:prstGeom prst="roundRect">
            <a:avLst>
              <a:gd name="adj" fmla="val 11667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50" dirty="0" spc="-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Plan</a:t>
            </a:r>
            <a:r>
              <a:rPr lang="en-US" sz="315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khác</a:t>
            </a:r>
            <a:endParaRPr lang="en-US" sz="3150" dirty="0"/>
          </a:p>
        </p:txBody>
      </p:sp>
      <p:sp>
        <p:nvSpPr>
          <p:cNvPr id="7" name="Connector line-1792371224814-375731751"/>
          <p:cNvSpPr/>
          <p:nvPr/>
        </p:nvSpPr>
        <p:spPr>
          <a:xfrm>
            <a:off x="5772150" y="4381500"/>
            <a:ext cx="895350" cy="0"/>
          </a:xfrm>
          <a:prstGeom prst="line">
            <a:avLst/>
          </a:prstGeom>
          <a:noFill/>
          <a:ln w="47625">
            <a:solidFill>
              <a:srgbClr val="FF6A4D"/>
            </a:solidFill>
            <a:prstDash val="solid"/>
            <a:headEnd type="none"/>
            <a:tailEnd type="triangle"/>
          </a:ln>
        </p:spPr>
      </p:sp>
      <p:sp>
        <p:nvSpPr>
          <p:cNvPr id="8" name="Connector line-1792371224815-674173944"/>
          <p:cNvSpPr/>
          <p:nvPr/>
        </p:nvSpPr>
        <p:spPr>
          <a:xfrm>
            <a:off x="11620500" y="4381500"/>
            <a:ext cx="895350" cy="0"/>
          </a:xfrm>
          <a:prstGeom prst="line">
            <a:avLst/>
          </a:prstGeom>
          <a:noFill/>
          <a:ln w="47625">
            <a:solidFill>
              <a:srgbClr val="FF6A4D"/>
            </a:solidFill>
            <a:prstDash val="solid"/>
            <a:headEnd type="none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914400" y="647700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7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Kiểm</a:t>
            </a:r>
            <a:r>
              <a:rPr lang="en-US" sz="3300" dirty="0" spc="-12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tra</a:t>
            </a:r>
            <a:r>
              <a:rPr lang="en-US" sz="3300" dirty="0" spc="13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trước</a:t>
            </a:r>
            <a:r>
              <a:rPr lang="en-US" sz="3300" dirty="0" spc="-2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khi</a:t>
            </a:r>
            <a:r>
              <a:rPr lang="en-US" sz="3300" dirty="0" spc="-3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đọc</a:t>
            </a:r>
            <a:r>
              <a:rPr lang="en-US" sz="3300" dirty="0" spc="-7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plan.</a:t>
            </a:r>
            <a:endParaRPr lang="en-US" sz="3300" dirty="0"/>
          </a:p>
        </p:txBody>
      </p:sp>
      <p:sp>
        <p:nvSpPr>
          <p:cNvPr id="10" name="Shape 8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1" name="Shape 9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2" name="Shape 10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3" name="Shape 11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4" name="Shape 12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9" name="Shape 17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0" name="Text 18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2298a9af-4bc4-493b-ae9f-608fbd4b792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950" b="1" spc="29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LỆCH</a:t>
            </a: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Giá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trị tự</a:t>
            </a:r>
            <a:r>
              <a:rPr lang="en-US" sz="6900" dirty="0" spc="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điền,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thứ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tự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8001000" cy="4476750"/>
          </a:xfrm>
          <a:prstGeom prst="roundRect">
            <a:avLst>
              <a:gd name="adj" fmla="val 5957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429000"/>
            <a:ext cx="7239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3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Thuộc</a:t>
            </a:r>
            <a:r>
              <a:rPr lang="en-US" sz="2850" dirty="0" spc="0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tính</a:t>
            </a:r>
            <a:r>
              <a:rPr lang="en-US" sz="2850" dirty="0" spc="-3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do</a:t>
            </a:r>
            <a:r>
              <a:rPr lang="en-US" sz="2850" dirty="0" spc="-9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hệ</a:t>
            </a:r>
            <a:r>
              <a:rPr lang="en-US" sz="2850" dirty="0" spc="-11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thống</a:t>
            </a:r>
            <a:r>
              <a:rPr lang="en-US" sz="2850" dirty="0" spc="-5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ngoài</a:t>
            </a:r>
            <a:r>
              <a:rPr lang="en-US" sz="2850" dirty="0" spc="9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điền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1333500" y="4762500"/>
            <a:ext cx="7239000" cy="2476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ignore_changes</a:t>
            </a:r>
            <a:r>
              <a:rPr lang="en-US" sz="31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khi</a:t>
            </a:r>
            <a:r>
              <a:rPr lang="en-US" sz="315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thay</a:t>
            </a:r>
            <a:r>
              <a:rPr lang="en-US" sz="3150" dirty="0" spc="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đổi</a:t>
            </a:r>
            <a:r>
              <a:rPr lang="en-US" sz="3150" dirty="0" spc="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đó</a:t>
            </a:r>
            <a:r>
              <a:rPr lang="en-US" sz="3150" dirty="0" spc="-2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vô</a:t>
            </a:r>
            <a:r>
              <a:rPr lang="en-US" sz="31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hại.</a:t>
            </a:r>
            <a:endParaRPr lang="en-US" sz="3150" dirty="0"/>
          </a:p>
        </p:txBody>
      </p:sp>
      <p:sp>
        <p:nvSpPr>
          <p:cNvPr id="7" name="Shape 5"/>
          <p:cNvSpPr/>
          <p:nvPr/>
        </p:nvSpPr>
        <p:spPr>
          <a:xfrm>
            <a:off x="9372600" y="3143250"/>
            <a:ext cx="8001000" cy="4476750"/>
          </a:xfrm>
          <a:prstGeom prst="roundRect">
            <a:avLst>
              <a:gd name="adj" fmla="val 5957"/>
            </a:avLst>
          </a:prstGeom>
          <a:solidFill>
            <a:srgbClr val="FBF8F2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91700" y="3429000"/>
            <a:ext cx="7239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3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Danh</a:t>
            </a:r>
            <a:r>
              <a:rPr lang="en-US" sz="2850" dirty="0" spc="5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sách</a:t>
            </a:r>
            <a:r>
              <a:rPr lang="en-US" sz="2850" dirty="0" spc="4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đổi</a:t>
            </a:r>
            <a:r>
              <a:rPr lang="en-US" sz="2850" dirty="0" spc="-1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thứ tự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9791700" y="4762500"/>
            <a:ext cx="7239000" cy="2476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dirty="0" spc="2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Đưa</a:t>
            </a:r>
            <a:r>
              <a:rPr lang="en-US" sz="31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các</a:t>
            </a:r>
            <a:r>
              <a:rPr lang="en-US" sz="31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phần</a:t>
            </a:r>
            <a:r>
              <a:rPr lang="en-US" sz="31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tử</a:t>
            </a:r>
            <a:r>
              <a:rPr lang="en-US" sz="3150" dirty="0" spc="-1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trong</a:t>
            </a:r>
            <a:r>
              <a:rPr lang="en-US" sz="31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mã</a:t>
            </a:r>
            <a:r>
              <a:rPr lang="en-US" sz="3150" dirty="0" spc="-2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về</a:t>
            </a:r>
            <a:r>
              <a:rPr lang="en-US" sz="31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đúng</a:t>
            </a:r>
            <a:r>
              <a:rPr lang="en-US" sz="31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thứ</a:t>
            </a:r>
            <a:r>
              <a:rPr lang="en-US" sz="31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tự</a:t>
            </a:r>
            <a:r>
              <a:rPr lang="en-US" sz="3150" dirty="0" spc="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đó.</a:t>
            </a:r>
            <a:endParaRPr lang="en-US" sz="3150" dirty="0"/>
          </a:p>
        </p:txBody>
      </p:sp>
      <p:sp>
        <p:nvSpPr>
          <p:cNvPr id="10" name="Shape 8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1" name="Shape 9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2" name="Shape 10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3" name="Shape 11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5" name="Shape 13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Text 18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19c75eb3-5eb3-4619-99b7-935ec24e183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950" b="1" spc="29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LỆCH</a:t>
            </a:r>
            <a:r>
              <a:rPr lang="en-US" sz="1950" b="1" spc="30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2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State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 dùng chung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95275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terraform</a:t>
            </a:r>
            <a:r>
              <a:rPr lang="en-US" sz="30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plan,</a:t>
            </a:r>
            <a:r>
              <a:rPr lang="en-US" sz="30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apply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38150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9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Khóa state:</a:t>
            </a:r>
            <a:r>
              <a:rPr lang="en-US" sz="300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hai</a:t>
            </a:r>
            <a:r>
              <a:rPr lang="en-US" sz="3000" dirty="0" spc="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thao</a:t>
            </a:r>
            <a:r>
              <a:rPr lang="en-US" sz="3000" dirty="0" spc="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tác</a:t>
            </a:r>
            <a:r>
              <a:rPr lang="en-US" sz="3000" dirty="0" spc="-1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không</a:t>
            </a:r>
            <a:r>
              <a:rPr lang="en-US" sz="300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ghi</a:t>
            </a:r>
            <a:r>
              <a:rPr lang="en-US" sz="3000" dirty="0" spc="-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cùng</a:t>
            </a:r>
            <a:r>
              <a:rPr lang="en-US" sz="300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lúc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914400" y="581025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2A2E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Backend</a:t>
            </a:r>
            <a:r>
              <a:rPr lang="en-US" sz="30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3000" b="1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xa:</a:t>
            </a:r>
            <a:r>
              <a:rPr lang="en-US" sz="30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state</a:t>
            </a:r>
            <a:r>
              <a:rPr lang="en-US" sz="30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914400" y="752475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15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Thay</a:t>
            </a:r>
            <a:r>
              <a:rPr lang="en-US" sz="2700" dirty="0" spc="-6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cho</a:t>
            </a:r>
            <a:r>
              <a:rPr lang="en-US" sz="2700" dirty="0" spc="-23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state</a:t>
            </a:r>
            <a:r>
              <a:rPr lang="en-US" sz="2700" dirty="0" spc="-5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ở</a:t>
            </a:r>
            <a:r>
              <a:rPr lang="en-US" sz="2700" dirty="0" spc="-13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máy</a:t>
            </a:r>
            <a:r>
              <a:rPr lang="en-US" sz="2700" dirty="0" spc="-5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mỗi</a:t>
            </a:r>
            <a:r>
              <a:rPr lang="en-US" sz="2700" dirty="0" spc="7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người,</a:t>
            </a:r>
            <a:r>
              <a:rPr lang="en-US" sz="2700" dirty="0" spc="-5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apply</a:t>
            </a:r>
            <a:r>
              <a:rPr lang="en-US" sz="2700" dirty="0" spc="-6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chồng</a:t>
            </a:r>
            <a:r>
              <a:rPr lang="en-US" sz="2700" dirty="0" spc="-1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nhau.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9" name="Shape 7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0" name="Shape 8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1" name="Shape 9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2" name="Shape 10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3" name="Shape 11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4" name="Shape 12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Text 16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db539da8-4136-47d0-91c6-c8b70ab02d3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1950" b="1" spc="2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Giới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257300"/>
          </a:xfrm>
          <a:prstGeom prst="roundRect">
            <a:avLst>
              <a:gd name="adj" fmla="val 18182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38250" y="308610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914400" y="4362450"/>
            <a:ext cx="16459200" cy="1257300"/>
          </a:xfrm>
          <a:prstGeom prst="roundRect">
            <a:avLst>
              <a:gd name="adj" fmla="val 18182"/>
            </a:avLst>
          </a:prstGeom>
          <a:solidFill>
            <a:srgbClr val="E8E0CF"/>
          </a:solidFill>
          <a:ln/>
        </p:spPr>
      </p:sp>
      <p:sp>
        <p:nvSpPr>
          <p:cNvPr id="7" name="Text 5"/>
          <p:cNvSpPr/>
          <p:nvPr/>
        </p:nvSpPr>
        <p:spPr>
          <a:xfrm>
            <a:off x="1238250" y="459105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14400" y="5867400"/>
            <a:ext cx="16459200" cy="1257300"/>
          </a:xfrm>
          <a:prstGeom prst="roundRect">
            <a:avLst>
              <a:gd name="adj" fmla="val 18182"/>
            </a:avLst>
          </a:prstGeom>
          <a:solidFill>
            <a:srgbClr val="E8E0CF"/>
          </a:solidFill>
          <a:ln/>
        </p:spPr>
      </p:sp>
      <p:sp>
        <p:nvSpPr>
          <p:cNvPr id="9" name="Text 7"/>
          <p:cNvSpPr/>
          <p:nvPr/>
        </p:nvSpPr>
        <p:spPr>
          <a:xfrm>
            <a:off x="1238250" y="609600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7372350"/>
            <a:ext cx="16459200" cy="1257300"/>
          </a:xfrm>
          <a:prstGeom prst="roundRect">
            <a:avLst>
              <a:gd name="adj" fmla="val 18182"/>
            </a:avLst>
          </a:prstGeom>
          <a:solidFill>
            <a:srgbClr val="E8E0CF"/>
          </a:solidFill>
          <a:ln/>
        </p:spPr>
      </p:sp>
      <p:sp>
        <p:nvSpPr>
          <p:cNvPr id="11" name="Text 9"/>
          <p:cNvSpPr/>
          <p:nvPr/>
        </p:nvSpPr>
        <p:spPr>
          <a:xfrm>
            <a:off x="1238250" y="760095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2381250" y="2857500"/>
            <a:ext cx="1457325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Plan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chỉ</a:t>
            </a:r>
            <a:r>
              <a:rPr lang="en-US" sz="28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biết</a:t>
            </a:r>
            <a:r>
              <a:rPr lang="en-US" sz="2850" dirty="0" spc="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những</a:t>
            </a:r>
            <a:r>
              <a:rPr lang="en-US" sz="28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gì</a:t>
            </a:r>
            <a:r>
              <a:rPr lang="en-US" sz="2850" dirty="0" spc="-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provider</a:t>
            </a:r>
            <a:r>
              <a:rPr lang="en-US" sz="28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báo</a:t>
            </a:r>
            <a:r>
              <a:rPr lang="en-US" sz="2850" dirty="0" spc="-1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về.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2381250" y="4362450"/>
            <a:ext cx="1457325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Plan</a:t>
            </a:r>
            <a:r>
              <a:rPr lang="en-US" sz="28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85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thay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cho</a:t>
            </a:r>
            <a:r>
              <a:rPr lang="en-US" sz="2850" dirty="0" spc="-2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review</a:t>
            </a:r>
            <a:r>
              <a:rPr lang="en-US" sz="28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mã.</a:t>
            </a:r>
            <a:endParaRPr lang="en-US" sz="2850" dirty="0"/>
          </a:p>
        </p:txBody>
      </p:sp>
      <p:sp>
        <p:nvSpPr>
          <p:cNvPr id="14" name="Text 12"/>
          <p:cNvSpPr/>
          <p:nvPr/>
        </p:nvSpPr>
        <p:spPr>
          <a:xfrm>
            <a:off x="2381250" y="5867400"/>
            <a:ext cx="1457325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2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State</a:t>
            </a:r>
            <a:r>
              <a:rPr lang="en-US" sz="2850" dirty="0" spc="-1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85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tệp</a:t>
            </a:r>
            <a:r>
              <a:rPr lang="en-US" sz="28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plan</a:t>
            </a:r>
            <a:r>
              <a:rPr lang="en-US" sz="28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thể</a:t>
            </a:r>
            <a:r>
              <a:rPr lang="en-US" sz="2850" dirty="0" spc="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chứa</a:t>
            </a:r>
            <a:r>
              <a:rPr lang="en-US" sz="28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dữ liệu</a:t>
            </a:r>
            <a:r>
              <a:rPr lang="en-US" sz="285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nhạy</a:t>
            </a:r>
            <a:r>
              <a:rPr lang="en-US" sz="28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cảm.</a:t>
            </a:r>
            <a:endParaRPr lang="en-US" sz="2850" dirty="0"/>
          </a:p>
        </p:txBody>
      </p:sp>
      <p:sp>
        <p:nvSpPr>
          <p:cNvPr id="15" name="Text 13"/>
          <p:cNvSpPr/>
          <p:nvPr/>
        </p:nvSpPr>
        <p:spPr>
          <a:xfrm>
            <a:off x="2381250" y="7372350"/>
            <a:ext cx="1457325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Bài</a:t>
            </a:r>
            <a:r>
              <a:rPr lang="en-US" sz="28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85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dạy</a:t>
            </a:r>
            <a:r>
              <a:rPr lang="en-US" sz="28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viết</a:t>
            </a:r>
            <a:r>
              <a:rPr lang="en-US" sz="2850" dirty="0" spc="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cấu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hình</a:t>
            </a:r>
            <a:r>
              <a:rPr lang="en-US" sz="285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hay</a:t>
            </a:r>
            <a:r>
              <a:rPr lang="en-US" sz="28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chia</a:t>
            </a:r>
            <a:r>
              <a:rPr lang="en-US" sz="28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module.</a:t>
            </a:r>
            <a:endParaRPr lang="en-US" sz="2850" dirty="0"/>
          </a:p>
        </p:txBody>
      </p:sp>
      <p:sp>
        <p:nvSpPr>
          <p:cNvPr id="16" name="Shape 14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Shape 18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Shape 19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2" name="Shape 20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3" name="Shape 21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4" name="Shape 22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5" name="Shape 23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6" name="Text 24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e1e6ff3d-9d31-4cfa-9f7a-937098aba19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7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Plan</a:t>
            </a:r>
            <a:r>
              <a:rPr lang="en-US" sz="4650" dirty="0" spc="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đòi</a:t>
            </a:r>
            <a:r>
              <a:rPr lang="en-US" sz="4650" dirty="0" spc="-3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sửa</a:t>
            </a:r>
            <a:r>
              <a:rPr lang="en-US" sz="465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46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ảo</a:t>
            </a:r>
            <a:r>
              <a:rPr lang="en-US" sz="4650" dirty="0" spc="-4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về</a:t>
            </a:r>
            <a:r>
              <a:rPr lang="en-US" sz="46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giá</a:t>
            </a:r>
            <a:r>
              <a:rPr lang="en-US" sz="465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trị</a:t>
            </a:r>
            <a:r>
              <a:rPr lang="en-US" sz="465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cũ.</a:t>
            </a:r>
            <a:r>
              <a:rPr lang="en-US" sz="46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Apply</a:t>
            </a:r>
            <a:r>
              <a:rPr lang="en-US" sz="465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ngay?</a:t>
            </a:r>
            <a:endParaRPr lang="en-US" sz="4650" dirty="0"/>
          </a:p>
        </p:txBody>
      </p:sp>
      <p:sp>
        <p:nvSpPr>
          <p:cNvPr id="4" name="Text 2"/>
          <p:cNvSpPr/>
          <p:nvPr/>
        </p:nvSpPr>
        <p:spPr>
          <a:xfrm>
            <a:off x="914400" y="228600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Đêm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70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nghiệp</a:t>
            </a:r>
            <a:r>
              <a:rPr lang="en-US" sz="27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kích</a:t>
            </a:r>
            <a:r>
              <a:rPr lang="en-US" sz="27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thước</a:t>
            </a:r>
            <a:r>
              <a:rPr lang="en-US" sz="2700" dirty="0" spc="-2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 diện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cloud.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3619500"/>
            <a:ext cx="133350" cy="2190750"/>
          </a:xfrm>
          <a:prstGeom prst="rect">
            <a:avLst/>
          </a:prstGeom>
          <a:solidFill>
            <a:srgbClr val="3DD6A0"/>
          </a:solidFill>
          <a:ln/>
        </p:spPr>
      </p:sp>
      <p:sp>
        <p:nvSpPr>
          <p:cNvPr id="6" name="Text 4"/>
          <p:cNvSpPr/>
          <p:nvPr/>
        </p:nvSpPr>
        <p:spPr>
          <a:xfrm>
            <a:off x="1428750" y="3429000"/>
            <a:ext cx="15716250" cy="2571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0" dirty="0" spc="-9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Chưa.</a:t>
            </a:r>
            <a:endParaRPr lang="en-US" sz="15000" dirty="0"/>
          </a:p>
        </p:txBody>
      </p:sp>
      <p:sp>
        <p:nvSpPr>
          <p:cNvPr id="7" name="Text 5"/>
          <p:cNvSpPr/>
          <p:nvPr/>
        </p:nvSpPr>
        <p:spPr>
          <a:xfrm>
            <a:off x="914400" y="666750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Apply</a:t>
            </a:r>
            <a:r>
              <a:rPr lang="en-US" sz="30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sẽ</a:t>
            </a:r>
            <a:r>
              <a:rPr lang="en-US" sz="30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hoàn</a:t>
            </a:r>
            <a:r>
              <a:rPr lang="en-US" sz="30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tác</a:t>
            </a:r>
            <a:r>
              <a:rPr lang="en-US" sz="30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bản</a:t>
            </a:r>
            <a:r>
              <a:rPr lang="en-US" sz="3000" dirty="0" spc="-2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vá</a:t>
            </a:r>
            <a:r>
              <a:rPr lang="en-US" sz="30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3000" dirty="0" spc="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đồng</a:t>
            </a:r>
            <a:r>
              <a:rPr lang="en-US" sz="30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nghiệp.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914400" y="742950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Hỏi</a:t>
            </a:r>
            <a:r>
              <a:rPr lang="en-US" sz="300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3000" dirty="0" spc="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300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sửa,</a:t>
            </a:r>
            <a:r>
              <a:rPr lang="en-US" sz="3000" dirty="0" spc="-2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chọn:</a:t>
            </a:r>
            <a:r>
              <a:rPr lang="en-US" sz="300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30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apply.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0" name="Shape 8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1" name="Shape 9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2" name="Shape 10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3" name="Shape 11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4" name="Shape 12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7" name="Shape 15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9" name="Text 17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11cbf2e4-c208-4fc6-b32a-8b25ea905a6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</a:t>
            </a:r>
            <a:r>
              <a:rPr lang="en-US" sz="1950" b="1" spc="28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Sáu</a:t>
            </a:r>
            <a:r>
              <a:rPr lang="en-US" sz="6600" dirty="0" spc="2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66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6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14400" y="2667000"/>
            <a:ext cx="16459200" cy="914400"/>
          </a:xfrm>
          <a:prstGeom prst="roundRect">
            <a:avLst>
              <a:gd name="adj" fmla="val 208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3695700"/>
            <a:ext cx="16459200" cy="914400"/>
          </a:xfrm>
          <a:prstGeom prst="roundRect">
            <a:avLst>
              <a:gd name="adj" fmla="val 208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4724400"/>
            <a:ext cx="16459200" cy="914400"/>
          </a:xfrm>
          <a:prstGeom prst="roundRect">
            <a:avLst>
              <a:gd name="adj" fmla="val 208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5753100"/>
            <a:ext cx="16459200" cy="914400"/>
          </a:xfrm>
          <a:prstGeom prst="roundRect">
            <a:avLst>
              <a:gd name="adj" fmla="val 208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6781800"/>
            <a:ext cx="16459200" cy="914400"/>
          </a:xfrm>
          <a:prstGeom prst="roundRect">
            <a:avLst>
              <a:gd name="adj" fmla="val 208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7810500"/>
            <a:ext cx="16459200" cy="914400"/>
          </a:xfrm>
          <a:prstGeom prst="roundRect">
            <a:avLst>
              <a:gd name="adj" fmla="val 208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2667000"/>
            <a:ext cx="133350" cy="914400"/>
          </a:xfrm>
          <a:prstGeom prst="rect">
            <a:avLst/>
          </a:prstGeom>
          <a:solidFill>
            <a:srgbClr val="6B6A66"/>
          </a:solidFill>
          <a:ln/>
        </p:spPr>
      </p:sp>
      <p:sp>
        <p:nvSpPr>
          <p:cNvPr id="11" name="Shape 9"/>
          <p:cNvSpPr/>
          <p:nvPr/>
        </p:nvSpPr>
        <p:spPr>
          <a:xfrm>
            <a:off x="914400" y="3695700"/>
            <a:ext cx="133350" cy="91440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2" name="Shape 10"/>
          <p:cNvSpPr/>
          <p:nvPr/>
        </p:nvSpPr>
        <p:spPr>
          <a:xfrm>
            <a:off x="914400" y="4724400"/>
            <a:ext cx="133350" cy="91440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3" name="Shape 11"/>
          <p:cNvSpPr/>
          <p:nvPr/>
        </p:nvSpPr>
        <p:spPr>
          <a:xfrm>
            <a:off x="914400" y="5753100"/>
            <a:ext cx="133350" cy="91440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14" name="Shape 12"/>
          <p:cNvSpPr/>
          <p:nvPr/>
        </p:nvSpPr>
        <p:spPr>
          <a:xfrm>
            <a:off x="914400" y="6781800"/>
            <a:ext cx="133350" cy="914400"/>
          </a:xfrm>
          <a:prstGeom prst="rect">
            <a:avLst/>
          </a:prstGeom>
          <a:solidFill>
            <a:srgbClr val="1F3FD1"/>
          </a:solidFill>
          <a:ln/>
        </p:spPr>
      </p:sp>
      <p:sp>
        <p:nvSpPr>
          <p:cNvPr id="15" name="Shape 13"/>
          <p:cNvSpPr/>
          <p:nvPr/>
        </p:nvSpPr>
        <p:spPr>
          <a:xfrm>
            <a:off x="914400" y="7810500"/>
            <a:ext cx="133350" cy="91440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16" name="Text 14"/>
          <p:cNvSpPr/>
          <p:nvPr/>
        </p:nvSpPr>
        <p:spPr>
          <a:xfrm>
            <a:off x="1333500" y="266700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4" kern="0">
                <a:solidFill>
                  <a:srgbClr val="6B6A66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Đọc</a:t>
            </a:r>
            <a:r>
              <a:rPr lang="en-US" sz="2250" dirty="0" spc="4" kern="0">
                <a:solidFill>
                  <a:srgbClr val="6B6A66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ký</a:t>
            </a:r>
            <a:r>
              <a:rPr lang="en-US" sz="2250" dirty="0" spc="2" kern="0">
                <a:solidFill>
                  <a:srgbClr val="6B6A66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hiệu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6096000" y="2667000"/>
            <a:ext cx="11049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+</a:t>
            </a:r>
            <a:r>
              <a:rPr lang="en-US" sz="22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mới,</a:t>
            </a:r>
            <a:r>
              <a:rPr lang="en-US" sz="22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</a:t>
            </a:r>
            <a:r>
              <a:rPr lang="en-US" sz="22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xóa,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~</a:t>
            </a:r>
            <a:r>
              <a:rPr lang="en-US" sz="22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sửa,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-/+</a:t>
            </a:r>
            <a:r>
              <a:rPr lang="en-US" sz="22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</a:t>
            </a:r>
            <a:r>
              <a:rPr lang="en-US" sz="22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2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lại.</a:t>
            </a:r>
            <a:endParaRPr lang="en-US" sz="2250" dirty="0"/>
          </a:p>
        </p:txBody>
      </p:sp>
      <p:sp>
        <p:nvSpPr>
          <p:cNvPr id="18" name="Text 16"/>
          <p:cNvSpPr/>
          <p:nvPr/>
        </p:nvSpPr>
        <p:spPr>
          <a:xfrm>
            <a:off x="1333500" y="369570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7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Drift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6096000" y="3695700"/>
            <a:ext cx="11049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Plan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25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state</a:t>
            </a:r>
            <a:r>
              <a:rPr lang="en-US" sz="22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nhớ; apply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 ghi.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1333500" y="472440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3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Phiên</a:t>
            </a:r>
            <a:r>
              <a:rPr lang="en-US" sz="2250" dirty="0" spc="3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bản</a:t>
            </a:r>
            <a:endParaRPr lang="en-US" sz="2250" dirty="0"/>
          </a:p>
        </p:txBody>
      </p:sp>
      <p:sp>
        <p:nvSpPr>
          <p:cNvPr id="21" name="Text 19"/>
          <p:cNvSpPr/>
          <p:nvPr/>
        </p:nvSpPr>
        <p:spPr>
          <a:xfrm>
            <a:off x="6096000" y="4724400"/>
            <a:ext cx="11049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init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25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khóa;</a:t>
            </a:r>
            <a:r>
              <a:rPr lang="en-US" sz="22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-upgrade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2250" dirty="0"/>
          </a:p>
        </p:txBody>
      </p:sp>
      <p:sp>
        <p:nvSpPr>
          <p:cNvPr id="22" name="Text 20"/>
          <p:cNvSpPr/>
          <p:nvPr/>
        </p:nvSpPr>
        <p:spPr>
          <a:xfrm>
            <a:off x="1333500" y="575310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20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Workspace,</a:t>
            </a:r>
            <a:r>
              <a:rPr lang="en-US" sz="2250" dirty="0" spc="7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đầu</a:t>
            </a:r>
            <a:r>
              <a:rPr lang="en-US" sz="2250" dirty="0" spc="-9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vào</a:t>
            </a:r>
            <a:endParaRPr lang="en-US" sz="2250" dirty="0"/>
          </a:p>
        </p:txBody>
      </p:sp>
      <p:sp>
        <p:nvSpPr>
          <p:cNvPr id="23" name="Text 21"/>
          <p:cNvSpPr/>
          <p:nvPr/>
        </p:nvSpPr>
        <p:spPr>
          <a:xfrm>
            <a:off x="6096000" y="5753100"/>
            <a:ext cx="11049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2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workspace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state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riêng;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</a:t>
            </a:r>
            <a:r>
              <a:rPr lang="en-US" sz="22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2250" dirty="0"/>
          </a:p>
        </p:txBody>
      </p:sp>
      <p:sp>
        <p:nvSpPr>
          <p:cNvPr id="24" name="Text 22"/>
          <p:cNvSpPr/>
          <p:nvPr/>
        </p:nvSpPr>
        <p:spPr>
          <a:xfrm>
            <a:off x="1333500" y="678180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70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Tự</a:t>
            </a:r>
            <a:r>
              <a:rPr lang="en-US" sz="2250" dirty="0" spc="6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điền,</a:t>
            </a:r>
            <a:r>
              <a:rPr lang="en-US" sz="2250" dirty="0" spc="2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thứ</a:t>
            </a:r>
            <a:r>
              <a:rPr lang="en-US" sz="2250" dirty="0" spc="3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tự</a:t>
            </a:r>
            <a:endParaRPr lang="en-US" sz="2250" dirty="0"/>
          </a:p>
        </p:txBody>
      </p:sp>
      <p:sp>
        <p:nvSpPr>
          <p:cNvPr id="25" name="Text 23"/>
          <p:cNvSpPr/>
          <p:nvPr/>
        </p:nvSpPr>
        <p:spPr>
          <a:xfrm>
            <a:off x="6096000" y="6781800"/>
            <a:ext cx="11049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ignore_changes: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hẹp</a:t>
            </a:r>
            <a:r>
              <a:rPr lang="en-US" sz="22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thể.</a:t>
            </a:r>
            <a:endParaRPr lang="en-US" sz="2250" dirty="0"/>
          </a:p>
        </p:txBody>
      </p:sp>
      <p:sp>
        <p:nvSpPr>
          <p:cNvPr id="26" name="Text 24"/>
          <p:cNvSpPr/>
          <p:nvPr/>
        </p:nvSpPr>
        <p:spPr>
          <a:xfrm>
            <a:off x="1333500" y="781050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State</a:t>
            </a:r>
            <a:r>
              <a:rPr lang="en-US" sz="2250" dirty="0" spc="-3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dùng</a:t>
            </a:r>
            <a:r>
              <a:rPr lang="en-US" sz="2250" dirty="0" spc="-1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chung</a:t>
            </a:r>
            <a:endParaRPr lang="en-US" sz="2250" dirty="0"/>
          </a:p>
        </p:txBody>
      </p:sp>
      <p:sp>
        <p:nvSpPr>
          <p:cNvPr id="27" name="Text 25"/>
          <p:cNvSpPr/>
          <p:nvPr/>
        </p:nvSpPr>
        <p:spPr>
          <a:xfrm>
            <a:off x="6096000" y="7810500"/>
            <a:ext cx="11049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-lock=false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chắc không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chạy.</a:t>
            </a:r>
            <a:endParaRPr lang="en-US" sz="2250" dirty="0"/>
          </a:p>
        </p:txBody>
      </p:sp>
      <p:sp>
        <p:nvSpPr>
          <p:cNvPr id="28" name="Shape 26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9" name="Shape 27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0" name="Shape 28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1" name="Shape 29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2" name="Shape 30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3" name="Shape 31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4" name="Shape 32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5" name="Shape 33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6" name="Shape 34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7" name="Shape 35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8" name="Text 36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80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b74d0895-d21d-4838-a57f-a6919c1ac1f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950" b="1" spc="2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428750"/>
            <a:ext cx="164592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295400" y="1428750"/>
            <a:ext cx="1571625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CI</a:t>
            </a:r>
            <a:r>
              <a:rPr lang="en-US" sz="33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33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33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33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33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38100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30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914400" y="4476750"/>
            <a:ext cx="525780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ByteByteGo</a:t>
            </a:r>
            <a:r>
              <a:rPr lang="en-US" sz="210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(bản chụp</a:t>
            </a: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cố</a:t>
            </a:r>
            <a:r>
              <a:rPr lang="en-US" sz="2100" dirty="0" spc="1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định)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6515100" y="4476750"/>
            <a:ext cx="525780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18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Lệnh</a:t>
            </a: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plan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2115800" y="4476750"/>
            <a:ext cx="525780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18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Refresh-only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914400" y="5715000"/>
            <a:ext cx="525780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68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Tệp</a:t>
            </a:r>
            <a:r>
              <a:rPr lang="en-US" sz="2100" dirty="0" spc="-6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khóa</a:t>
            </a:r>
            <a:r>
              <a:rPr lang="en-US" sz="2100" dirty="0" spc="-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phụ</a:t>
            </a:r>
            <a:r>
              <a:rPr lang="en-US" sz="2100" dirty="0" spc="-4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thuộc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6515100" y="5715000"/>
            <a:ext cx="525780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2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Lifecycle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2115800" y="5715000"/>
            <a:ext cx="525780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6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Khóa</a:t>
            </a:r>
            <a:r>
              <a:rPr lang="en-US" sz="2100" dirty="0" spc="-2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state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914400" y="6953250"/>
            <a:ext cx="525780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Import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4" name="Shape 12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9" name="Shape 17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0" name="Shape 18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1" name="Shape 19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2" name="Shape 20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3" name="Text 21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6dca9a0a-8b8d-422f-bdc0-ac727caf546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2026-10-19T12:34:08Z</dcterms:created>
  <dcterms:modified xsi:type="dcterms:W3CDTF">2026-10-19T12:34:08Z</dcterms:modified>
</cp:coreProperties>
</file>