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 SemiBold"/>
      <p:regular r:id="rId17"/>
    </p:embeddedFont>
    <p:embeddedFont>
      <p:font typeface="Bricolage Grotesque ExtraBold"/>
      <p:regular r:id="rId18"/>
    </p:embeddedFont>
    <p:embeddedFont>
      <p:font typeface="Be Vietnam Pro Medium"/>
      <p:regular r:id="rId19"/>
    </p:embeddedFont>
    <p:embeddedFont>
      <p:font typeface="Be Vietnam Pro"/>
      <p:regular r:id="rId20"/>
      <p:bold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02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22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21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000250"/>
            <a:ext cx="9715500" cy="32766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9144000" cy="1524000"/>
          </a:xfrm>
          <a:prstGeom prst="rect">
            <a:avLst/>
          </a:prstGeom>
          <a:noFill/>
          <a:ln/>
        </p:spPr>
        <p:txBody>
          <a:bodyPr wrap="square" lIns="0" tIns="10859" rIns="0" bIns="-10859" rtlCol="0" anchor="t"/>
          <a:lstStyle/>
          <a:p>
            <a:pPr algn="l" indent="0" marL="0">
              <a:lnSpc>
                <a:spcPts val="3846"/>
              </a:lnSpc>
              <a:buNone/>
            </a:pPr>
            <a:r>
              <a:rPr lang="en-US" sz="2849" dirty="0" spc="-2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REST</a:t>
            </a:r>
            <a:r>
              <a:rPr lang="en-US" sz="2849" dirty="0" spc="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coi</a:t>
            </a:r>
            <a:r>
              <a:rPr lang="en-US" sz="2849" dirty="0" spc="-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mọi</a:t>
            </a:r>
            <a:r>
              <a:rPr lang="en-US" sz="2849" dirty="0" spc="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</a:t>
            </a:r>
            <a:r>
              <a:rPr lang="en-US" sz="2849" dirty="0" spc="-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849" dirty="0" spc="-1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tài</a:t>
            </a:r>
            <a:r>
              <a:rPr lang="en-US" sz="2849" dirty="0" spc="-1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nguyên</a:t>
            </a:r>
            <a:r>
              <a:rPr lang="en-US" sz="2849" dirty="0" spc="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849" dirty="0" spc="3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địa</a:t>
            </a:r>
            <a:r>
              <a:rPr lang="en-US" sz="2849" dirty="0" spc="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chỉ.</a:t>
            </a:r>
            <a:endParaRPr lang="en-US" sz="2849" dirty="0"/>
          </a:p>
          <a:p>
            <a:pPr algn="l" indent="0" marL="0">
              <a:lnSpc>
                <a:spcPts val="3846"/>
              </a:lnSpc>
              <a:buNone/>
            </a:pPr>
            <a:r>
              <a:rPr lang="en-US" sz="2849" dirty="0" spc="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Hai</a:t>
            </a:r>
            <a:r>
              <a:rPr lang="en-US" sz="2849" dirty="0" spc="-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 chỉ</a:t>
            </a:r>
            <a:r>
              <a:rPr lang="en-US" sz="2849" dirty="0" spc="-1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trao</a:t>
            </a:r>
            <a:r>
              <a:rPr lang="en-US" sz="2849" dirty="0" spc="1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849" dirty="0" spc="-3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bản</a:t>
            </a:r>
            <a:r>
              <a:rPr lang="en-US" sz="2849" dirty="0" spc="1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</a:t>
            </a:r>
            <a:r>
              <a:rPr lang="en-US" sz="2849" dirty="0" spc="-1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bày</a:t>
            </a:r>
            <a:r>
              <a:rPr lang="en-US" sz="2849" dirty="0" spc="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849" dirty="0" spc="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nó.</a:t>
            </a:r>
            <a:endParaRPr lang="en-US" sz="2849" dirty="0"/>
          </a:p>
        </p:txBody>
      </p:sp>
      <p:sp>
        <p:nvSpPr>
          <p:cNvPr id="5" name="Shape 3"/>
          <p:cNvSpPr/>
          <p:nvPr/>
        </p:nvSpPr>
        <p:spPr>
          <a:xfrm>
            <a:off x="914400" y="7524750"/>
            <a:ext cx="1143000" cy="76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6" name="Shape 4"/>
          <p:cNvSpPr/>
          <p:nvPr/>
        </p:nvSpPr>
        <p:spPr>
          <a:xfrm>
            <a:off x="10858500" y="1619250"/>
            <a:ext cx="65151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858500" y="1619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1277600" y="179070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7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34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277600" y="2381250"/>
            <a:ext cx="6000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 riêng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858500" y="3276600"/>
            <a:ext cx="65151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858500" y="3276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1277600" y="344805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6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450" dirty="0" spc="-3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4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277600" y="4038600"/>
            <a:ext cx="6000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 thức,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 thái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858500" y="4933950"/>
            <a:ext cx="65151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58500" y="49339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510540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phiên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277600" y="5695950"/>
            <a:ext cx="6000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 tin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858500" y="6591300"/>
            <a:ext cx="65151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58500" y="65913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277600" y="6762750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Ràng</a:t>
            </a:r>
            <a:r>
              <a:rPr lang="en-US" sz="345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11277600" y="7353300"/>
            <a:ext cx="6000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Khiến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dễ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 rộng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d6454aa1-32d5-4e57-b2f4-4767b9ea24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48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REST</a:t>
            </a:r>
            <a:r>
              <a:rPr lang="en-US" sz="27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coi mọi</a:t>
            </a:r>
            <a:r>
              <a:rPr lang="en-US" sz="27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</a:t>
            </a:r>
            <a:r>
              <a:rPr lang="en-US" sz="27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70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tài</a:t>
            </a:r>
            <a:r>
              <a:rPr lang="en-US" sz="270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nguyên</a:t>
            </a:r>
            <a:r>
              <a:rPr lang="en-US" sz="27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70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địa chỉ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762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762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953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Hai</a:t>
            </a:r>
            <a:r>
              <a:rPr lang="en-US" sz="27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</a:t>
            </a:r>
            <a:r>
              <a:rPr lang="en-US" sz="27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700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trao</a:t>
            </a:r>
            <a:r>
              <a:rPr lang="en-US" sz="270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7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bản</a:t>
            </a:r>
            <a:r>
              <a:rPr lang="en-US" sz="270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</a:t>
            </a:r>
            <a:r>
              <a:rPr lang="en-US" sz="2700" dirty="0" spc="-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bày</a:t>
            </a:r>
            <a:r>
              <a:rPr lang="en-US" sz="27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 nó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E8E0CF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667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58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Mục</a:t>
            </a:r>
            <a:r>
              <a:rPr lang="en-US" sz="27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tiêu:</a:t>
            </a:r>
            <a:r>
              <a:rPr lang="en-US" sz="27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hiểu</a:t>
            </a:r>
            <a:r>
              <a:rPr lang="en-US" sz="27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70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ràng</a:t>
            </a:r>
            <a:r>
              <a:rPr lang="en-US" sz="27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buộc</a:t>
            </a:r>
            <a:r>
              <a:rPr lang="en-US" sz="27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khiến API</a:t>
            </a:r>
            <a:r>
              <a:rPr lang="en-US" sz="27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dễ</a:t>
            </a:r>
            <a:r>
              <a:rPr lang="en-US" sz="270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mở rộng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7620000" y="2857500"/>
            <a:ext cx="9753600" cy="5905500"/>
          </a:xfrm>
          <a:prstGeom prst="roundRect">
            <a:avLst>
              <a:gd name="adj" fmla="val 38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31813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1950" dirty="0" spc="-1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cầu,</a:t>
            </a:r>
            <a:r>
              <a:rPr lang="en-US" sz="1950" dirty="0" spc="-9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95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195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8001000" y="4000500"/>
            <a:ext cx="20955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8001000" y="4000500"/>
            <a:ext cx="2095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4897100" y="4000500"/>
            <a:ext cx="20955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14897100" y="4000500"/>
            <a:ext cx="2095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210800" y="4000500"/>
            <a:ext cx="4572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cầu:</a:t>
            </a:r>
            <a:r>
              <a:rPr lang="en-US" sz="21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10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/orders/42</a:t>
            </a:r>
            <a:endParaRPr lang="en-US" sz="2100" dirty="0"/>
          </a:p>
        </p:txBody>
      </p:sp>
      <p:sp>
        <p:nvSpPr>
          <p:cNvPr id="20" name="Connector line-1792323826571-719210574"/>
          <p:cNvSpPr/>
          <p:nvPr/>
        </p:nvSpPr>
        <p:spPr>
          <a:xfrm>
            <a:off x="10210800" y="4629150"/>
            <a:ext cx="4572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23826571-36971917"/>
          <p:cNvSpPr/>
          <p:nvPr/>
        </p:nvSpPr>
        <p:spPr>
          <a:xfrm flipH="1">
            <a:off x="10210800" y="5524500"/>
            <a:ext cx="4572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0210800" y="5638800"/>
            <a:ext cx="4572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hồi:</a:t>
            </a:r>
            <a:r>
              <a:rPr lang="en-US" sz="21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bày</a:t>
            </a:r>
            <a:r>
              <a:rPr lang="en-US" sz="210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8001000" y="6762750"/>
            <a:ext cx="89916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8001000" y="6762750"/>
            <a:ext cx="9525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8362950" y="6762750"/>
            <a:ext cx="847725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Địa</a:t>
            </a:r>
            <a:r>
              <a:rPr lang="en-US" sz="27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7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 cái</a:t>
            </a:r>
            <a:r>
              <a:rPr lang="en-US" sz="27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gì,</a:t>
            </a:r>
            <a:r>
              <a:rPr lang="en-US" sz="270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phương</a:t>
            </a:r>
            <a:r>
              <a:rPr lang="en-US" sz="270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</a:t>
            </a:r>
            <a:r>
              <a:rPr lang="en-US" sz="270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 gì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5" name="Shape 3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6" name="Text 34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d12d1649-2261-45b6-ae92-7cbbb3ed13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KHÁI</a:t>
            </a:r>
            <a:r>
              <a:rPr lang="en-US" sz="1950" spc="223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</a:t>
            </a:r>
            <a:r>
              <a:rPr lang="en-US" sz="1950" spc="222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950" spc="224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180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1950" spc="230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1950" spc="174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3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ĐỊA</a:t>
            </a:r>
            <a:r>
              <a:rPr lang="en-US" sz="1950" spc="224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48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Đơn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hàng,</a:t>
            </a:r>
            <a:r>
              <a:rPr lang="en-US" sz="2700" dirty="0" spc="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7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dùng,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danh</a:t>
            </a:r>
            <a:r>
              <a:rPr lang="en-US" sz="27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sách</a:t>
            </a:r>
            <a:r>
              <a:rPr lang="en-US" sz="270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đều</a:t>
            </a:r>
            <a:r>
              <a:rPr lang="en-US" sz="27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700" dirty="0" spc="-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tài nguyên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762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762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953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</a:t>
            </a:r>
            <a:r>
              <a:rPr lang="en-US" sz="27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tài</a:t>
            </a:r>
            <a:r>
              <a:rPr lang="en-US" sz="2700" dirty="0" spc="-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nguyên</a:t>
            </a: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700" dirty="0" spc="-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7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URL riêng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667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58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Địa</a:t>
            </a:r>
            <a:r>
              <a:rPr lang="en-US" sz="27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 cái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gì,</a:t>
            </a:r>
            <a:r>
              <a:rPr lang="en-US" sz="270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phương</a:t>
            </a:r>
            <a:r>
              <a:rPr lang="en-US" sz="270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</a:t>
            </a:r>
            <a:r>
              <a:rPr lang="en-US" sz="27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</a:t>
            </a:r>
            <a:r>
              <a:rPr lang="en-US" sz="27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 gì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7620000" y="2857500"/>
            <a:ext cx="975360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2F34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31813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Mọi</a:t>
            </a:r>
            <a:r>
              <a:rPr lang="en-US" sz="195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1950" dirty="0" spc="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đều</a:t>
            </a:r>
            <a:r>
              <a:rPr lang="en-US" sz="195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195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8001000" y="3810000"/>
            <a:ext cx="2762250" cy="1809750"/>
          </a:xfrm>
          <a:prstGeom prst="roundRect">
            <a:avLst>
              <a:gd name="adj" fmla="val 8421"/>
            </a:avLst>
          </a:prstGeom>
          <a:solidFill>
            <a:srgbClr val="2A2F42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1000" y="4191000"/>
            <a:ext cx="276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2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001000" y="4953000"/>
            <a:ext cx="276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1950" dirty="0" spc="-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URL</a:t>
            </a:r>
            <a:r>
              <a:rPr lang="en-US" sz="1950" dirty="0" spc="5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953750" y="3810000"/>
            <a:ext cx="2762250" cy="1809750"/>
          </a:xfrm>
          <a:prstGeom prst="roundRect">
            <a:avLst>
              <a:gd name="adj" fmla="val 8421"/>
            </a:avLst>
          </a:prstGeom>
          <a:solidFill>
            <a:srgbClr val="2A2F42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53750" y="4191000"/>
            <a:ext cx="276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27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953750" y="4953000"/>
            <a:ext cx="276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1950" dirty="0" spc="-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URL</a:t>
            </a:r>
            <a:r>
              <a:rPr lang="en-US" sz="1950" dirty="0" spc="5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3906500" y="3810000"/>
            <a:ext cx="3086100" cy="1809750"/>
          </a:xfrm>
          <a:prstGeom prst="roundRect">
            <a:avLst>
              <a:gd name="adj" fmla="val 8421"/>
            </a:avLst>
          </a:prstGeom>
          <a:solidFill>
            <a:srgbClr val="2A2F42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906500" y="4191000"/>
            <a:ext cx="308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3906500" y="4953000"/>
            <a:ext cx="308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1950" dirty="0" spc="-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URL</a:t>
            </a:r>
            <a:r>
              <a:rPr lang="en-US" sz="1950" dirty="0" spc="5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</a:t>
            </a:r>
            <a:endParaRPr lang="en-US" sz="1950" dirty="0"/>
          </a:p>
        </p:txBody>
      </p:sp>
      <p:sp>
        <p:nvSpPr>
          <p:cNvPr id="24" name="Connector line-1792323844815-535039284"/>
          <p:cNvSpPr/>
          <p:nvPr/>
        </p:nvSpPr>
        <p:spPr>
          <a:xfrm>
            <a:off x="9382125" y="5695950"/>
            <a:ext cx="0" cy="6286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01000" y="6400800"/>
            <a:ext cx="8991600" cy="1619250"/>
          </a:xfrm>
          <a:prstGeom prst="roundRect">
            <a:avLst>
              <a:gd name="adj" fmla="val 10588"/>
            </a:avLst>
          </a:prstGeom>
          <a:solidFill>
            <a:srgbClr val="7C93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67700" y="65722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ví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URL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001000" y="6858000"/>
            <a:ext cx="8991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7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/orders/42</a:t>
            </a:r>
            <a:endParaRPr lang="en-US" sz="570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8" name="Text 36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788d0f75-38a2-487e-ab0e-bde655c3b2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KHÁI</a:t>
            </a: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27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1950" spc="208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1950" spc="17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 HỒI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đi,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8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810500" cy="5715000"/>
          </a:xfrm>
          <a:prstGeom prst="roundRect">
            <a:avLst>
              <a:gd name="adj" fmla="val 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8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1295400" y="4286250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286250"/>
            <a:ext cx="180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295650" y="4191000"/>
            <a:ext cx="5143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GET</a:t>
            </a:r>
            <a:r>
              <a:rPr lang="en-US" sz="22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/orders/42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295400" y="5619750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5619750"/>
            <a:ext cx="180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3295650" y="5524500"/>
            <a:ext cx="5143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Accept,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Authorization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95400" y="6953250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953250"/>
            <a:ext cx="180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295650" y="6858000"/>
            <a:ext cx="5143500" cy="8001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nếu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có,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POST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 PUT</a:t>
            </a:r>
            <a:endParaRPr lang="en-US" sz="2250" dirty="0"/>
          </a:p>
        </p:txBody>
      </p:sp>
      <p:sp>
        <p:nvSpPr>
          <p:cNvPr id="15" name="Connector line-1792323863318-278593290"/>
          <p:cNvSpPr/>
          <p:nvPr/>
        </p:nvSpPr>
        <p:spPr>
          <a:xfrm>
            <a:off x="8820150" y="4476750"/>
            <a:ext cx="6477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23863319-561414490"/>
          <p:cNvSpPr/>
          <p:nvPr/>
        </p:nvSpPr>
        <p:spPr>
          <a:xfrm flipH="1">
            <a:off x="8820150" y="5334000"/>
            <a:ext cx="6477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563100" y="2857500"/>
            <a:ext cx="7810500" cy="5715000"/>
          </a:xfrm>
          <a:prstGeom prst="roundRect">
            <a:avLst>
              <a:gd name="adj" fmla="val 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44100" y="310515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endParaRPr lang="en-US" sz="3900" dirty="0"/>
          </a:p>
        </p:txBody>
      </p:sp>
      <p:sp>
        <p:nvSpPr>
          <p:cNvPr id="19" name="Shape 17"/>
          <p:cNvSpPr/>
          <p:nvPr/>
        </p:nvSpPr>
        <p:spPr>
          <a:xfrm>
            <a:off x="9944100" y="4286250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44100" y="4286250"/>
            <a:ext cx="180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1944350" y="4191000"/>
            <a:ext cx="5143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200,</a:t>
            </a:r>
            <a:r>
              <a:rPr lang="en-US" sz="22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404...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44100" y="5619750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4100" y="5619750"/>
            <a:ext cx="180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44350" y="5524500"/>
            <a:ext cx="5143500" cy="8001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Content-Type,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Cache-Control, ETag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944100" y="6953250"/>
            <a:ext cx="1809750" cy="6096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44100" y="6953250"/>
            <a:ext cx="180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Thân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944350" y="6858000"/>
            <a:ext cx="5143500" cy="8001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ctr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2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2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bày,</a:t>
            </a: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 JSON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8" name="Text 36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dbac8f6-4f3c-4166-bc53-277b4f4eac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KHÁI</a:t>
            </a:r>
            <a:r>
              <a:rPr lang="en-US" sz="1950" spc="223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</a:t>
            </a:r>
            <a:r>
              <a:rPr lang="en-US" sz="1950" spc="225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</a:t>
            </a:r>
            <a:r>
              <a:rPr lang="en-US" sz="1950" spc="224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 KHÔNG</a:t>
            </a:r>
            <a:r>
              <a:rPr lang="en-US" sz="1950" spc="225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1950" spc="224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48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</a:t>
            </a:r>
            <a:r>
              <a:rPr lang="en-US" sz="2700" dirty="0" spc="-2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yêu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cầu</a:t>
            </a:r>
            <a:r>
              <a:rPr lang="en-US" sz="27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mang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đủ</a:t>
            </a:r>
            <a:r>
              <a:rPr lang="en-US" sz="27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thông</a:t>
            </a:r>
            <a:r>
              <a:rPr lang="en-US" sz="270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tin</a:t>
            </a:r>
            <a:r>
              <a:rPr lang="en-US" sz="2700" dirty="0" spc="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để</a:t>
            </a: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xử lý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762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762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953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Bản</a:t>
            </a:r>
            <a:r>
              <a:rPr lang="en-US" sz="270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sao</a:t>
            </a:r>
            <a:r>
              <a:rPr lang="en-US" sz="270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7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chủ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nào</a:t>
            </a:r>
            <a:r>
              <a:rPr lang="en-US" sz="27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nhận</a:t>
            </a: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cũng</a:t>
            </a:r>
            <a:r>
              <a:rPr lang="en-US" sz="27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 được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609600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667500"/>
            <a:ext cx="9525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58000"/>
            <a:ext cx="5429250" cy="1238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Nên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API</a:t>
            </a: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kiểu</a:t>
            </a:r>
            <a:r>
              <a:rPr lang="en-US" sz="270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REST</a:t>
            </a:r>
            <a:r>
              <a:rPr lang="en-US" sz="27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dễ</a:t>
            </a:r>
            <a:r>
              <a:rPr lang="en-US" sz="27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đặt</a:t>
            </a:r>
            <a:r>
              <a:rPr lang="en-US" sz="270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sau</a:t>
            </a:r>
            <a:r>
              <a:rPr lang="en-US" sz="27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bộ</a:t>
            </a: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cân</a:t>
            </a:r>
            <a:r>
              <a:rPr lang="en-US" sz="270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bằng tải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7620000" y="2857500"/>
            <a:ext cx="975360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2F34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31813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195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19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195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19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xử</a:t>
            </a:r>
            <a:r>
              <a:rPr lang="en-US" sz="195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1950" dirty="0" spc="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8001000" y="3810000"/>
            <a:ext cx="2190750" cy="857250"/>
          </a:xfrm>
          <a:prstGeom prst="roundRect">
            <a:avLst>
              <a:gd name="adj" fmla="val 15556"/>
            </a:avLst>
          </a:prstGeom>
          <a:solidFill>
            <a:srgbClr val="21443D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1000" y="3810000"/>
            <a:ext cx="2190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7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Yêu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001000" y="4953000"/>
            <a:ext cx="2190750" cy="857250"/>
          </a:xfrm>
          <a:prstGeom prst="roundRect">
            <a:avLst>
              <a:gd name="adj" fmla="val 15556"/>
            </a:avLst>
          </a:prstGeom>
          <a:solidFill>
            <a:srgbClr val="21443D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4953000"/>
            <a:ext cx="2190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7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Yêu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8001000" y="6096000"/>
            <a:ext cx="2190750" cy="857250"/>
          </a:xfrm>
          <a:prstGeom prst="roundRect">
            <a:avLst>
              <a:gd name="adj" fmla="val 15556"/>
            </a:avLst>
          </a:prstGeom>
          <a:solidFill>
            <a:srgbClr val="21443D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6096000"/>
            <a:ext cx="2190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7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Yêu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</a:t>
            </a:r>
            <a:endParaRPr lang="en-US" sz="2100" dirty="0"/>
          </a:p>
        </p:txBody>
      </p:sp>
      <p:sp>
        <p:nvSpPr>
          <p:cNvPr id="21" name="Connector line-1792323884276-736121754"/>
          <p:cNvSpPr/>
          <p:nvPr/>
        </p:nvSpPr>
        <p:spPr>
          <a:xfrm>
            <a:off x="10248900" y="4238625"/>
            <a:ext cx="990600" cy="714375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23884276-47581084"/>
          <p:cNvSpPr/>
          <p:nvPr/>
        </p:nvSpPr>
        <p:spPr>
          <a:xfrm>
            <a:off x="10248900" y="5381625"/>
            <a:ext cx="9906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3" name="Connector line-1792323884276-126023717"/>
          <p:cNvSpPr/>
          <p:nvPr/>
        </p:nvSpPr>
        <p:spPr>
          <a:xfrm flipV="1">
            <a:off x="10248900" y="5810250"/>
            <a:ext cx="990600" cy="714375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1334750" y="4095750"/>
            <a:ext cx="1809750" cy="2571750"/>
          </a:xfrm>
          <a:prstGeom prst="roundRect">
            <a:avLst>
              <a:gd name="adj" fmla="val 8421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1334750" y="4095750"/>
            <a:ext cx="1809750" cy="257175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ctr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Load</a:t>
            </a:r>
            <a:r>
              <a:rPr lang="en-US" sz="2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balancer</a:t>
            </a:r>
            <a:endParaRPr lang="en-US" sz="2700" dirty="0"/>
          </a:p>
        </p:txBody>
      </p:sp>
      <p:sp>
        <p:nvSpPr>
          <p:cNvPr id="26" name="Connector line-1792323884278-21600871"/>
          <p:cNvSpPr/>
          <p:nvPr/>
        </p:nvSpPr>
        <p:spPr>
          <a:xfrm flipV="1">
            <a:off x="13220700" y="4238625"/>
            <a:ext cx="990600" cy="714375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7" name="Connector line-1792323884279-575719590"/>
          <p:cNvSpPr/>
          <p:nvPr/>
        </p:nvSpPr>
        <p:spPr>
          <a:xfrm>
            <a:off x="13220700" y="5381625"/>
            <a:ext cx="9906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8" name="Connector line-1792323884279-736877103"/>
          <p:cNvSpPr/>
          <p:nvPr/>
        </p:nvSpPr>
        <p:spPr>
          <a:xfrm>
            <a:off x="13220700" y="5810250"/>
            <a:ext cx="990600" cy="714375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4287500" y="3810000"/>
            <a:ext cx="2705100" cy="857250"/>
          </a:xfrm>
          <a:prstGeom prst="roundRect">
            <a:avLst>
              <a:gd name="adj" fmla="val 15556"/>
            </a:avLst>
          </a:prstGeom>
          <a:solidFill>
            <a:srgbClr val="2A2F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4287500" y="3810000"/>
            <a:ext cx="2705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14287500" y="4953000"/>
            <a:ext cx="2705100" cy="857250"/>
          </a:xfrm>
          <a:prstGeom prst="roundRect">
            <a:avLst>
              <a:gd name="adj" fmla="val 15556"/>
            </a:avLst>
          </a:prstGeom>
          <a:solidFill>
            <a:srgbClr val="2A2F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287500" y="4953000"/>
            <a:ext cx="2705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4287500" y="6096000"/>
            <a:ext cx="2705100" cy="857250"/>
          </a:xfrm>
          <a:prstGeom prst="roundRect">
            <a:avLst>
              <a:gd name="adj" fmla="val 15556"/>
            </a:avLst>
          </a:prstGeom>
          <a:solidFill>
            <a:srgbClr val="2A2F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287500" y="6096000"/>
            <a:ext cx="2705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8001000" y="7429500"/>
            <a:ext cx="89916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</a:t>
            </a:r>
            <a:r>
              <a:rPr lang="en-US" sz="2400" dirty="0" spc="-2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yêu</a:t>
            </a:r>
            <a:r>
              <a:rPr lang="en-US" sz="2400" dirty="0" spc="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cầu</a:t>
            </a:r>
            <a:r>
              <a:rPr lang="en-US" sz="2400" dirty="0" spc="-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</a:t>
            </a:r>
            <a:r>
              <a:rPr lang="en-US" sz="2400" dirty="0" spc="3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đủ</a:t>
            </a:r>
            <a:r>
              <a:rPr lang="en-US" sz="2400" dirty="0" spc="-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thông</a:t>
            </a:r>
            <a:r>
              <a:rPr lang="en-US" sz="2400" dirty="0" spc="-3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tin,</a:t>
            </a:r>
            <a:r>
              <a:rPr lang="en-US" sz="2400" dirty="0" spc="-6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nên</a:t>
            </a:r>
            <a:r>
              <a:rPr lang="en-US" sz="2400" dirty="0" spc="-3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bản</a:t>
            </a:r>
            <a:r>
              <a:rPr lang="en-US" sz="2400" dirty="0" spc="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sao</a:t>
            </a:r>
            <a:r>
              <a:rPr lang="en-US" sz="2400" dirty="0" spc="-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nào cũng</a:t>
            </a:r>
            <a:r>
              <a:rPr lang="en-US" sz="2400" dirty="0" spc="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xử</a:t>
            </a:r>
            <a:r>
              <a:rPr lang="en-US" sz="2400" dirty="0" spc="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lý được.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8" name="Shape 3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9" name="Shape 3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3" name="Shape 4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4" name="Shape 4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5" name="Shape 4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6" name="Text 44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9d289590-7a94-4e93-9960-39cfd78af0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KHÁI</a:t>
            </a:r>
            <a:r>
              <a:rPr lang="en-US" sz="1950" spc="223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</a:t>
            </a:r>
            <a:r>
              <a:rPr lang="en-US" sz="1950" spc="222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</a:t>
            </a: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191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RÀNG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ràng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162300" cy="5524500"/>
          </a:xfrm>
          <a:prstGeom prst="roundRect">
            <a:avLst>
              <a:gd name="adj" fmla="val 6024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4238625" y="2857500"/>
            <a:ext cx="3162300" cy="5524500"/>
          </a:xfrm>
          <a:prstGeom prst="roundRect">
            <a:avLst>
              <a:gd name="adj" fmla="val 6024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7562850" y="2857500"/>
            <a:ext cx="3162300" cy="5524500"/>
          </a:xfrm>
          <a:prstGeom prst="roundRect">
            <a:avLst>
              <a:gd name="adj" fmla="val 6024"/>
            </a:avLst>
          </a:prstGeom>
          <a:solidFill>
            <a:srgbClr val="E8E0CF"/>
          </a:solidFill>
          <a:ln/>
        </p:spPr>
      </p:sp>
      <p:sp>
        <p:nvSpPr>
          <p:cNvPr id="7" name="Shape 5"/>
          <p:cNvSpPr/>
          <p:nvPr/>
        </p:nvSpPr>
        <p:spPr>
          <a:xfrm>
            <a:off x="10887075" y="2857500"/>
            <a:ext cx="3162300" cy="5524500"/>
          </a:xfrm>
          <a:prstGeom prst="roundRect">
            <a:avLst>
              <a:gd name="adj" fmla="val 602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14211300" y="2857500"/>
            <a:ext cx="3162300" cy="5524500"/>
          </a:xfrm>
          <a:prstGeom prst="roundRect">
            <a:avLst>
              <a:gd name="adj" fmla="val 602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57500"/>
            <a:ext cx="95250" cy="5524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4238625" y="2857500"/>
            <a:ext cx="95250" cy="5524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7562850" y="2857500"/>
            <a:ext cx="95250" cy="5524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0887075" y="2857500"/>
            <a:ext cx="95250" cy="5524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211300" y="2857500"/>
            <a:ext cx="95250" cy="5524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2952750"/>
            <a:ext cx="152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250" dirty="0"/>
          </a:p>
        </p:txBody>
      </p:sp>
      <p:sp>
        <p:nvSpPr>
          <p:cNvPr id="15" name="Text 13"/>
          <p:cNvSpPr/>
          <p:nvPr/>
        </p:nvSpPr>
        <p:spPr>
          <a:xfrm>
            <a:off x="4619625" y="2952750"/>
            <a:ext cx="152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250" dirty="0"/>
          </a:p>
        </p:txBody>
      </p:sp>
      <p:sp>
        <p:nvSpPr>
          <p:cNvPr id="16" name="Text 14"/>
          <p:cNvSpPr/>
          <p:nvPr/>
        </p:nvSpPr>
        <p:spPr>
          <a:xfrm>
            <a:off x="7943850" y="2952750"/>
            <a:ext cx="152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250" dirty="0"/>
          </a:p>
        </p:txBody>
      </p:sp>
      <p:sp>
        <p:nvSpPr>
          <p:cNvPr id="17" name="Text 15"/>
          <p:cNvSpPr/>
          <p:nvPr/>
        </p:nvSpPr>
        <p:spPr>
          <a:xfrm>
            <a:off x="11268075" y="2952750"/>
            <a:ext cx="152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250" dirty="0"/>
          </a:p>
        </p:txBody>
      </p:sp>
      <p:sp>
        <p:nvSpPr>
          <p:cNvPr id="18" name="Text 16"/>
          <p:cNvSpPr/>
          <p:nvPr/>
        </p:nvSpPr>
        <p:spPr>
          <a:xfrm>
            <a:off x="14592300" y="2952750"/>
            <a:ext cx="152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8250" dirty="0"/>
          </a:p>
        </p:txBody>
      </p:sp>
      <p:sp>
        <p:nvSpPr>
          <p:cNvPr id="19" name="Text 17"/>
          <p:cNvSpPr/>
          <p:nvPr/>
        </p:nvSpPr>
        <p:spPr>
          <a:xfrm>
            <a:off x="1295400" y="4400550"/>
            <a:ext cx="2667000" cy="1047750"/>
          </a:xfrm>
          <a:prstGeom prst="rect">
            <a:avLst/>
          </a:prstGeom>
          <a:noFill/>
          <a:ln/>
        </p:spPr>
        <p:txBody>
          <a:bodyPr wrap="square" lIns="0" tIns="18098" rIns="0" bIns="-18098" rtlCol="0" anchor="t"/>
          <a:lstStyle/>
          <a:p>
            <a:pPr algn="l" indent="0" marL="0">
              <a:lnSpc>
                <a:spcPts val="3135"/>
              </a:lnSpc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285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 chủ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295400" y="5619750"/>
            <a:ext cx="2667000" cy="2571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Giao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diện</a:t>
            </a: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tách</a:t>
            </a:r>
            <a:r>
              <a:rPr lang="en-US" sz="22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khỏi</a:t>
            </a:r>
            <a:r>
              <a:rPr lang="en-US" sz="2250" dirty="0" spc="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lưu trữ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4619625" y="4400550"/>
            <a:ext cx="2667000" cy="1047750"/>
          </a:xfrm>
          <a:prstGeom prst="rect">
            <a:avLst/>
          </a:prstGeom>
          <a:noFill/>
          <a:ln/>
        </p:spPr>
        <p:txBody>
          <a:bodyPr wrap="square" lIns="0" tIns="18098" rIns="0" bIns="-18098" rtlCol="0" anchor="t"/>
          <a:lstStyle/>
          <a:p>
            <a:pPr algn="l" indent="0" marL="0">
              <a:lnSpc>
                <a:spcPts val="3135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</a:t>
            </a:r>
            <a:r>
              <a:rPr lang="en-US" sz="28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4619625" y="5619750"/>
            <a:ext cx="2667000" cy="2571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2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</a:t>
            </a:r>
            <a:r>
              <a:rPr lang="en-US" sz="22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trạng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thái phiên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7943850" y="4400550"/>
            <a:ext cx="2667000" cy="1047750"/>
          </a:xfrm>
          <a:prstGeom prst="rect">
            <a:avLst/>
          </a:prstGeom>
          <a:noFill/>
          <a:ln/>
        </p:spPr>
        <p:txBody>
          <a:bodyPr wrap="square" lIns="0" tIns="18098" rIns="0" bIns="-18098" rtlCol="0" anchor="t"/>
          <a:lstStyle/>
          <a:p>
            <a:pPr algn="l" indent="0" marL="0">
              <a:lnSpc>
                <a:spcPts val="3135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</a:t>
            </a:r>
            <a:r>
              <a:rPr lang="en-US" sz="285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7943850" y="5619750"/>
            <a:ext cx="2667000" cy="2571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Phản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hồi</a:t>
            </a: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</a:t>
            </a:r>
            <a:r>
              <a:rPr lang="en-US" sz="2250" dirty="0" spc="-2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rõ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2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cache</a:t>
            </a: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 không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1268075" y="4400550"/>
            <a:ext cx="2667000" cy="1047750"/>
          </a:xfrm>
          <a:prstGeom prst="rect">
            <a:avLst/>
          </a:prstGeom>
          <a:noFill/>
          <a:ln/>
        </p:spPr>
        <p:txBody>
          <a:bodyPr wrap="square" lIns="0" tIns="18098" rIns="0" bIns="-18098" rtlCol="0" anchor="t"/>
          <a:lstStyle/>
          <a:p>
            <a:pPr algn="l" indent="0" marL="0">
              <a:lnSpc>
                <a:spcPts val="3135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28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r>
              <a:rPr lang="en-US" sz="28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 nhất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1268075" y="5619750"/>
            <a:ext cx="2667000" cy="2571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Mọi</a:t>
            </a:r>
            <a:r>
              <a:rPr lang="en-US" sz="22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tài</a:t>
            </a:r>
            <a:r>
              <a:rPr lang="en-US" sz="22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nguyên</a:t>
            </a:r>
            <a:r>
              <a:rPr lang="en-US" sz="22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chung</a:t>
            </a:r>
            <a:r>
              <a:rPr lang="en-US" sz="225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giao diện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592300" y="4400550"/>
            <a:ext cx="2667000" cy="1047750"/>
          </a:xfrm>
          <a:prstGeom prst="rect">
            <a:avLst/>
          </a:prstGeom>
          <a:noFill/>
          <a:ln/>
        </p:spPr>
        <p:txBody>
          <a:bodyPr wrap="square" lIns="0" tIns="18098" rIns="0" bIns="-18098" rtlCol="0" anchor="t"/>
          <a:lstStyle/>
          <a:p>
            <a:pPr algn="l" indent="0" marL="0">
              <a:lnSpc>
                <a:spcPts val="3135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tầng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14592300" y="5619750"/>
            <a:ext cx="2667000" cy="2571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2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proxy,</a:t>
            </a:r>
            <a:r>
              <a:rPr lang="en-US" sz="2250" dirty="0" spc="-2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gateway,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CDN</a:t>
            </a:r>
            <a:r>
              <a:rPr lang="en-US" sz="22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 giữa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1" name="Shape 2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2" name="Shape 3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4" name="Shape 3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6" name="Shape 3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7" name="Shape 3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8" name="Shape 3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9" name="Text 37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06e0cfbf-93e0-4277-aa8e-eac8b037f5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phong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289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8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28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endParaRPr lang="en-US" sz="2850" dirty="0"/>
          </a:p>
        </p:txBody>
      </p:sp>
      <p:sp>
        <p:nvSpPr>
          <p:cNvPr id="7" name="Text richtext-1792323952173-670380078"/>
          <p:cNvSpPr/>
          <p:nvPr/>
        </p:nvSpPr>
        <p:spPr>
          <a:xfrm>
            <a:off x="1295400" y="3733800"/>
            <a:ext cx="4762500" cy="1809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Phong</a:t>
            </a:r>
            <a:r>
              <a:rPr lang="en-US" sz="22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cách</a:t>
            </a:r>
            <a:r>
              <a:rPr lang="en-US" sz="22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kiến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trúc</a:t>
            </a:r>
            <a:r>
              <a:rPr lang="en-US" sz="2250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</a:t>
            </a:r>
            <a:r>
              <a:rPr lang="en-US" sz="2250" dirty="0" spc="-4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Roy</a:t>
            </a: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Fielding</a:t>
            </a:r>
            <a:r>
              <a:rPr lang="en-US" sz="2250" dirty="0" spc="-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 tả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giao</a:t>
            </a:r>
            <a:r>
              <a:rPr lang="en-US" sz="22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hay chuẩn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477000" y="2857500"/>
            <a:ext cx="533400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477000" y="285750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30289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</a:t>
            </a:r>
            <a:r>
              <a:rPr lang="en-US" sz="285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285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2850" dirty="0" spc="-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endParaRPr lang="en-US" sz="2850" dirty="0"/>
          </a:p>
        </p:txBody>
      </p:sp>
      <p:sp>
        <p:nvSpPr>
          <p:cNvPr id="11" name="Text richtext-1792323952187-433735309"/>
          <p:cNvSpPr/>
          <p:nvPr/>
        </p:nvSpPr>
        <p:spPr>
          <a:xfrm>
            <a:off x="6858000" y="3733800"/>
            <a:ext cx="4762500" cy="1809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Nhiều</a:t>
            </a:r>
            <a:r>
              <a:rPr lang="en-US" sz="22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API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 nhận</a:t>
            </a:r>
            <a:r>
              <a:rPr lang="en-US" sz="22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 REST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Nhưng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bỏ</a:t>
            </a:r>
            <a:r>
              <a:rPr lang="en-US" sz="22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bớt</a:t>
            </a:r>
            <a:r>
              <a:rPr lang="en-US" sz="22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ràng buộc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Như</a:t>
            </a: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</a:t>
            </a:r>
            <a:r>
              <a:rPr lang="en-US" sz="22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siêu liên kết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039600" y="2857500"/>
            <a:ext cx="533400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39600" y="285750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30289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</a:t>
            </a:r>
            <a:r>
              <a:rPr lang="en-US" sz="285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285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endParaRPr lang="en-US" sz="2850" dirty="0"/>
          </a:p>
        </p:txBody>
      </p:sp>
      <p:sp>
        <p:nvSpPr>
          <p:cNvPr id="15" name="Text richtext-1792323952195-838958977"/>
          <p:cNvSpPr/>
          <p:nvPr/>
        </p:nvSpPr>
        <p:spPr>
          <a:xfrm>
            <a:off x="12420600" y="3733800"/>
            <a:ext cx="4762500" cy="1809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nghĩa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</a:t>
            </a: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250" dirty="0" spc="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lưu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 liệu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Dữ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2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vẫn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nằm</a:t>
            </a:r>
            <a:r>
              <a:rPr lang="en-US" sz="2250" dirty="0" spc="-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cơ</a:t>
            </a: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sở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 liệu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5848350"/>
            <a:ext cx="811530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84835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60198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Tốn</a:t>
            </a:r>
            <a:r>
              <a:rPr lang="en-US" sz="285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285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2850" dirty="0"/>
          </a:p>
        </p:txBody>
      </p:sp>
      <p:sp>
        <p:nvSpPr>
          <p:cNvPr id="19" name="Text richtext-1792323952203-878930188"/>
          <p:cNvSpPr/>
          <p:nvPr/>
        </p:nvSpPr>
        <p:spPr>
          <a:xfrm>
            <a:off x="1295400" y="6724650"/>
            <a:ext cx="742950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</a:t>
            </a:r>
            <a:r>
              <a:rPr lang="en-US" sz="240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yêu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cầu phải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mang</a:t>
            </a: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thêm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thông tin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Ví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dụ:</a:t>
            </a:r>
            <a:r>
              <a:rPr lang="en-US" sz="2400" dirty="0" spc="-2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token</a:t>
            </a: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xác thực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258300" y="5848350"/>
            <a:ext cx="811530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9258300" y="584835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639300" y="60198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 còn</a:t>
            </a:r>
            <a:r>
              <a:rPr lang="en-US" sz="28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28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28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2850" dirty="0"/>
          </a:p>
        </p:txBody>
      </p:sp>
      <p:sp>
        <p:nvSpPr>
          <p:cNvPr id="23" name="Text richtext-1792323952209-520627805"/>
          <p:cNvSpPr/>
          <p:nvPr/>
        </p:nvSpPr>
        <p:spPr>
          <a:xfrm>
            <a:off x="9639300" y="6724650"/>
            <a:ext cx="742950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quy</a:t>
            </a:r>
            <a:r>
              <a:rPr lang="en-US" sz="2400" dirty="0" spc="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cách</a:t>
            </a: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xác thực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quy</a:t>
            </a:r>
            <a:r>
              <a:rPr lang="en-US" sz="2400" dirty="0" spc="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</a:t>
            </a:r>
            <a:r>
              <a:rPr lang="en-US" sz="240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cách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chia</a:t>
            </a:r>
            <a:r>
              <a:rPr lang="en-US" sz="240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tài nguyên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4" name="Text 32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457665a-aabd-458f-a81e-b20eef92ab4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03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CÂU</a:t>
            </a:r>
            <a:r>
              <a:rPr lang="en-US" sz="1950" spc="224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1950" spc="223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1950" spc="224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9150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95250" cy="5905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051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03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CÂU</a:t>
            </a:r>
            <a:r>
              <a:rPr lang="en-US" sz="1950" spc="224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1295400" y="3714750"/>
            <a:ext cx="2571750" cy="723900"/>
          </a:xfrm>
          <a:prstGeom prst="roundRect">
            <a:avLst>
              <a:gd name="adj" fmla="val 18421"/>
            </a:avLst>
          </a:prstGeom>
          <a:solidFill>
            <a:srgbClr val="2A2F4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714750"/>
            <a:ext cx="2571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/products/9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095750" y="3619500"/>
            <a:ext cx="4762500" cy="914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Trình</a:t>
            </a:r>
            <a:r>
              <a:rPr lang="en-US" sz="22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duyệt và</a:t>
            </a:r>
            <a:r>
              <a:rPr lang="en-US" sz="22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CDN</a:t>
            </a:r>
            <a:r>
              <a:rPr lang="en-US" sz="2250" dirty="0" spc="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lưu</a:t>
            </a:r>
            <a:r>
              <a:rPr lang="en-US" sz="22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trong</a:t>
            </a:r>
            <a:r>
              <a:rPr lang="en-US" sz="22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 giờ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95400" y="4762500"/>
            <a:ext cx="2571750" cy="723900"/>
          </a:xfrm>
          <a:prstGeom prst="roundRect">
            <a:avLst>
              <a:gd name="adj" fmla="val 18421"/>
            </a:avLst>
          </a:prstGeom>
          <a:solidFill>
            <a:srgbClr val="2A2F42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62500"/>
            <a:ext cx="2571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10:05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095750" y="4667250"/>
            <a:ext cx="4762500" cy="914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Chủ shop</a:t>
            </a:r>
            <a:r>
              <a:rPr lang="en-US" sz="22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 giá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295400" y="5810250"/>
            <a:ext cx="2571750" cy="723900"/>
          </a:xfrm>
          <a:prstGeom prst="roundRect">
            <a:avLst>
              <a:gd name="adj" fmla="val 18421"/>
            </a:avLst>
          </a:prstGeom>
          <a:solidFill>
            <a:srgbClr val="2A2F42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810250"/>
            <a:ext cx="2571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10:30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095750" y="5715000"/>
            <a:ext cx="4762500" cy="914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Khách</a:t>
            </a:r>
            <a:r>
              <a:rPr lang="en-US" sz="2250" dirty="0" spc="-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vẫn</a:t>
            </a:r>
            <a:r>
              <a:rPr lang="en-US" sz="22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thấy</a:t>
            </a:r>
            <a:r>
              <a:rPr lang="en-US" sz="22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giá cũ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295400" y="6953250"/>
            <a:ext cx="7524750" cy="1619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Ràng</a:t>
            </a:r>
            <a:r>
              <a:rPr lang="en-US" sz="27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buộc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nào</a:t>
            </a:r>
            <a:r>
              <a:rPr lang="en-US" sz="27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70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REST</a:t>
            </a:r>
            <a:r>
              <a:rPr lang="en-US" sz="270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700" dirty="0" spc="-3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ra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tình</a:t>
            </a:r>
            <a:r>
              <a:rPr lang="en-US" sz="27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huống</a:t>
            </a:r>
            <a:r>
              <a:rPr lang="en-US" sz="270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này,</a:t>
            </a:r>
            <a:r>
              <a:rPr lang="en-US" sz="2700" dirty="0" spc="-2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7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giảm</a:t>
            </a:r>
            <a:r>
              <a:rPr lang="en-US" sz="270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7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hại</a:t>
            </a:r>
            <a:r>
              <a:rPr lang="en-US" sz="27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thế nào?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334500" y="2857500"/>
            <a:ext cx="803910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31051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99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ĐÁP</a:t>
            </a:r>
            <a:r>
              <a:rPr lang="en-US" sz="1950" spc="225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15500" y="3600450"/>
            <a:ext cx="7429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Ràng</a:t>
            </a: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buộc:</a:t>
            </a: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r>
              <a:rPr lang="en-US" sz="3300" dirty="0" spc="-4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9715500" y="4572000"/>
            <a:ext cx="3143250" cy="819150"/>
          </a:xfrm>
          <a:prstGeom prst="roundRect">
            <a:avLst>
              <a:gd name="adj" fmla="val 16279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15500" y="4572000"/>
            <a:ext cx="31432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hạn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3087350" y="4476750"/>
            <a:ext cx="4095750" cy="10096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Cho</a:t>
            </a:r>
            <a:r>
              <a:rPr lang="en-US" sz="21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 liệu</a:t>
            </a:r>
            <a:r>
              <a:rPr lang="en-US" sz="21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hay</a:t>
            </a:r>
            <a:r>
              <a:rPr lang="en-US" sz="21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đổi, như giá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715500" y="5715000"/>
            <a:ext cx="3143250" cy="819150"/>
          </a:xfrm>
          <a:prstGeom prst="roundRect">
            <a:avLst>
              <a:gd name="adj" fmla="val 16279"/>
            </a:avLst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5715000"/>
            <a:ext cx="31432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no-cache,</a:t>
            </a:r>
            <a:r>
              <a:rPr lang="en-US" sz="19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no-store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087350" y="5619750"/>
            <a:ext cx="4095750" cy="10096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Hỏi</a:t>
            </a:r>
            <a:r>
              <a:rPr lang="en-US" sz="21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10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1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chủ,</a:t>
            </a:r>
            <a:r>
              <a:rPr lang="en-US" sz="21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hoặc</a:t>
            </a:r>
            <a:r>
              <a:rPr lang="en-US" sz="21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 lưu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715500" y="6858000"/>
            <a:ext cx="3143250" cy="819150"/>
          </a:xfrm>
          <a:prstGeom prst="roundRect">
            <a:avLst>
              <a:gd name="adj" fmla="val 16279"/>
            </a:avLst>
          </a:prstGeom>
          <a:solidFill>
            <a:srgbClr val="FF6A4D"/>
          </a:solidFill>
          <a:ln/>
        </p:spPr>
      </p:sp>
      <p:sp>
        <p:nvSpPr>
          <p:cNvPr id="27" name="Text 25"/>
          <p:cNvSpPr/>
          <p:nvPr/>
        </p:nvSpPr>
        <p:spPr>
          <a:xfrm>
            <a:off x="9715500" y="6858000"/>
            <a:ext cx="31432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3087350" y="6762750"/>
            <a:ext cx="4095750" cy="10096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Khi</a:t>
            </a:r>
            <a:r>
              <a:rPr lang="en-US" sz="2100" dirty="0" spc="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 giá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715500" y="7867650"/>
            <a:ext cx="74295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ETag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1800" dirty="0" spc="-1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 giá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1800" dirty="0" spc="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-8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 hơn.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1" name="Shape 2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2" name="Shape 3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3" name="Shape 3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4" name="Shape 3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6" name="Shape 3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7" name="Shape 3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9" name="Shape 3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0" name="Text 38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da6f0aa-37c0-4404-850e-215bea4704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5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 thêm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5815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0289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30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ràng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Fielding</a:t>
            </a:r>
            <a:endParaRPr lang="en-US" sz="3000" dirty="0"/>
          </a:p>
        </p:txBody>
      </p:sp>
      <p:sp>
        <p:nvSpPr>
          <p:cNvPr id="7" name="Text richtext-1792323998034-852898454"/>
          <p:cNvSpPr/>
          <p:nvPr/>
        </p:nvSpPr>
        <p:spPr>
          <a:xfrm>
            <a:off x="1295400" y="3752850"/>
            <a:ext cx="7429500" cy="17716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Thêm mã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theo</a:t>
            </a:r>
            <a:r>
              <a:rPr lang="en-US" sz="240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yêu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cầu,</a:t>
            </a:r>
            <a:r>
              <a:rPr lang="en-US" sz="240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tùy chọn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Ví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dụ:</a:t>
            </a:r>
            <a:r>
              <a:rPr lang="en-US" sz="2400" dirty="0" spc="-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chủ</a:t>
            </a:r>
            <a:r>
              <a:rPr lang="en-US" sz="2400" dirty="0" spc="4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gửi</a:t>
            </a:r>
            <a:r>
              <a:rPr lang="en-US" sz="240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script</a:t>
            </a:r>
            <a:r>
              <a:rPr lang="en-US" sz="240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240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client chạy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15450" y="2857500"/>
            <a:ext cx="805815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9315450" y="285750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696450" y="30289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 diện</a:t>
            </a:r>
            <a:r>
              <a:rPr lang="en-US" sz="30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30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000" dirty="0"/>
          </a:p>
        </p:txBody>
      </p:sp>
      <p:sp>
        <p:nvSpPr>
          <p:cNvPr id="11" name="Text richtext-1792323998047-742670747"/>
          <p:cNvSpPr/>
          <p:nvPr/>
        </p:nvSpPr>
        <p:spPr>
          <a:xfrm>
            <a:off x="9696450" y="3752850"/>
            <a:ext cx="7429500" cy="17716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Định</a:t>
            </a: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danh</a:t>
            </a:r>
            <a:r>
              <a:rPr lang="en-US" sz="22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tài</a:t>
            </a:r>
            <a:r>
              <a:rPr lang="en-US" sz="22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nguyên,</a:t>
            </a:r>
            <a:r>
              <a:rPr lang="en-US" sz="22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thao</a:t>
            </a:r>
            <a:r>
              <a:rPr lang="en-US" sz="22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2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bản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trình bày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Thông</a:t>
            </a:r>
            <a:r>
              <a:rPr lang="en-US" sz="2250" dirty="0" spc="1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điệp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</a:t>
            </a:r>
            <a:r>
              <a:rPr lang="en-US" sz="22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 tả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Siêu</a:t>
            </a:r>
            <a:r>
              <a:rPr lang="en-US" sz="22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phương</a:t>
            </a:r>
            <a:r>
              <a:rPr lang="en-US" sz="22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tiện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</a:t>
            </a:r>
            <a:r>
              <a:rPr lang="en-US" sz="22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dắt</a:t>
            </a:r>
            <a:r>
              <a:rPr lang="en-US" sz="2250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trạng</a:t>
            </a:r>
            <a:r>
              <a:rPr lang="en-US" sz="2250" dirty="0" spc="-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thái (HATEOAS)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848350"/>
            <a:ext cx="805815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84835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0198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3000" dirty="0" spc="-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0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Richardson</a:t>
            </a:r>
            <a:endParaRPr lang="en-US" sz="3000" dirty="0"/>
          </a:p>
        </p:txBody>
      </p:sp>
      <p:sp>
        <p:nvSpPr>
          <p:cNvPr id="15" name="Text richtext-1792323998057-55307154"/>
          <p:cNvSpPr/>
          <p:nvPr/>
        </p:nvSpPr>
        <p:spPr>
          <a:xfrm>
            <a:off x="1295400" y="6743700"/>
            <a:ext cx="7429500" cy="17716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Xếp</a:t>
            </a:r>
            <a:r>
              <a:rPr lang="en-US" sz="22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API</a:t>
            </a:r>
            <a:r>
              <a:rPr lang="en-US" sz="22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HTTP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theo</a:t>
            </a:r>
            <a:r>
              <a:rPr lang="en-US" sz="22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mức,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250" dirty="0" spc="-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25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điểm vào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Đến</a:t>
            </a:r>
            <a:r>
              <a:rPr lang="en-US" sz="22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</a:t>
            </a:r>
            <a:r>
              <a:rPr lang="en-US" sz="22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siêu liên kết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Nhiều</a:t>
            </a:r>
            <a:r>
              <a:rPr lang="en-US" sz="2250" dirty="0" spc="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API</a:t>
            </a:r>
            <a:r>
              <a:rPr lang="en-US" sz="2250" dirty="0" spc="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dừng</a:t>
            </a:r>
            <a:r>
              <a:rPr lang="en-US" sz="22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250" dirty="0" spc="1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2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giữa</a:t>
            </a:r>
            <a:r>
              <a:rPr lang="en-US" sz="22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</a:t>
            </a:r>
            <a:r>
              <a:rPr lang="en-US" sz="22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vẫn</a:t>
            </a:r>
            <a:r>
              <a:rPr lang="en-US" sz="22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hữu ích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15450" y="5848350"/>
            <a:ext cx="8058150" cy="2762250"/>
          </a:xfrm>
          <a:prstGeom prst="roundRect">
            <a:avLst>
              <a:gd name="adj" fmla="val 6897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15450" y="5848350"/>
            <a:ext cx="95250" cy="2762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696450" y="60198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0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endParaRPr lang="en-US" sz="3000" dirty="0"/>
          </a:p>
        </p:txBody>
      </p:sp>
      <p:sp>
        <p:nvSpPr>
          <p:cNvPr id="19" name="Text richtext-1792323998067-823538717"/>
          <p:cNvSpPr/>
          <p:nvPr/>
        </p:nvSpPr>
        <p:spPr>
          <a:xfrm>
            <a:off x="9696450" y="6743700"/>
            <a:ext cx="7429500" cy="1771650"/>
          </a:xfrm>
          <a:prstGeom prst="rect">
            <a:avLst/>
          </a:prstGeom>
          <a:noFill/>
          <a:ln/>
        </p:spPr>
        <p:txBody>
          <a:bodyPr wrap="square" lIns="0" tIns="12023" rIns="0" bIns="-12023" rtlCol="0" anchor="t"/>
          <a:lstStyle/>
          <a:p>
            <a:pPr algn="l" marL="285750" indent="-202042">
              <a:lnSpc>
                <a:spcPts val="2895"/>
              </a:lnSpc>
              <a:buSzPct val="100000"/>
              <a:buFont typeface="Arial"/>
              <a:buChar char="•"/>
            </a:pPr>
            <a:r>
              <a:rPr lang="en-US" sz="2227" dirty="0" spc="-18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REST</a:t>
            </a:r>
            <a:r>
              <a:rPr lang="en-US" sz="2227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227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quy</a:t>
            </a:r>
            <a:r>
              <a:rPr lang="en-US" sz="2227" dirty="0" spc="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</a:t>
            </a:r>
            <a:r>
              <a:rPr lang="en-US" sz="2227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cách</a:t>
            </a:r>
            <a:r>
              <a:rPr lang="en-US" sz="2227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xác thực</a:t>
            </a:r>
            <a:endParaRPr lang="en-US" sz="2227" dirty="0"/>
          </a:p>
          <a:p>
            <a:pPr algn="l" marL="285750" indent="-202042">
              <a:lnSpc>
                <a:spcPts val="2895"/>
              </a:lnSpc>
              <a:buSzPct val="100000"/>
              <a:buFont typeface="Arial"/>
              <a:buChar char="•"/>
            </a:pPr>
            <a:r>
              <a:rPr lang="en-US" sz="2227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Khóa</a:t>
            </a:r>
            <a:r>
              <a:rPr lang="en-US" sz="2227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API,</a:t>
            </a:r>
            <a:r>
              <a:rPr lang="en-US" sz="2227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HTTP</a:t>
            </a:r>
            <a:r>
              <a:rPr lang="en-US" sz="2227" dirty="0" spc="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Basic,</a:t>
            </a:r>
            <a:r>
              <a:rPr lang="en-US" sz="2227" dirty="0" spc="-2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token</a:t>
            </a:r>
            <a:r>
              <a:rPr lang="en-US" sz="2227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Bearer</a:t>
            </a:r>
            <a:r>
              <a:rPr lang="en-US" sz="2227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theo</a:t>
            </a:r>
            <a:r>
              <a:rPr lang="en-US" sz="2227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OAuth 2.0</a:t>
            </a:r>
            <a:endParaRPr lang="en-US" sz="2227" dirty="0"/>
          </a:p>
          <a:p>
            <a:pPr algn="l" marL="285750" indent="-202042">
              <a:lnSpc>
                <a:spcPts val="2895"/>
              </a:lnSpc>
              <a:buSzPct val="100000"/>
              <a:buFont typeface="Arial"/>
              <a:buChar char="•"/>
            </a:pPr>
            <a:r>
              <a:rPr lang="en-US" sz="2227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JWT</a:t>
            </a:r>
            <a:r>
              <a:rPr lang="en-US" sz="2227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 là</a:t>
            </a:r>
            <a:r>
              <a:rPr lang="en-US" sz="2227" dirty="0" spc="1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</a:t>
            </a:r>
            <a:r>
              <a:rPr lang="en-US" sz="2227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dạng</a:t>
            </a:r>
            <a:r>
              <a:rPr lang="en-US" sz="2227" dirty="0" spc="-2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token;</a:t>
            </a:r>
            <a:r>
              <a:rPr lang="en-US" sz="2227" dirty="0" spc="-1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xác</a:t>
            </a:r>
            <a:r>
              <a:rPr lang="en-US" sz="2227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thực</a:t>
            </a:r>
            <a:r>
              <a:rPr lang="en-US" sz="2227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</a:t>
            </a:r>
            <a:r>
              <a:rPr lang="en-US" sz="2227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phân quyền</a:t>
            </a:r>
            <a:endParaRPr lang="en-US" sz="2227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30" name="Text 28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c1ca398-9d7f-452f-a2c4-5e61214285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763250" cy="6000750"/>
          </a:xfrm>
          <a:prstGeom prst="roundRect">
            <a:avLst>
              <a:gd name="adj" fmla="val 381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95250" cy="6000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2952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344805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3905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REpresentational</a:t>
            </a:r>
            <a:r>
              <a:rPr lang="en-US" sz="1950" dirty="0" spc="-16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State</a:t>
            </a:r>
            <a:r>
              <a:rPr lang="en-US" sz="1950" dirty="0" spc="-26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Transfer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430530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295400" y="4762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Application</a:t>
            </a:r>
            <a:r>
              <a:rPr lang="en-US" sz="1950" dirty="0" spc="-1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Programming</a:t>
            </a:r>
            <a:r>
              <a:rPr lang="en-US" sz="1950" dirty="0" spc="-9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516255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95400" y="5619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Uniform</a:t>
            </a:r>
            <a:r>
              <a:rPr lang="en-US" sz="1950" dirty="0" spc="-19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Resource</a:t>
            </a:r>
            <a:r>
              <a:rPr lang="en-US" sz="1950" dirty="0" spc="-18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Locator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95400" y="601980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295400" y="6477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5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HyperText</a:t>
            </a:r>
            <a:r>
              <a:rPr lang="en-US" sz="1950" dirty="0" spc="-26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Transfer</a:t>
            </a:r>
            <a:r>
              <a:rPr lang="en-US" sz="1950" dirty="0" spc="-1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" y="687705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ETag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295400" y="7334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Entity</a:t>
            </a:r>
            <a:r>
              <a:rPr lang="en-US" sz="1950" dirty="0" spc="-4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Tag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73430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295400" y="8191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JavaScript</a:t>
            </a:r>
            <a:r>
              <a:rPr lang="en-US" sz="1950" dirty="0" spc="-8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Object</a:t>
            </a:r>
            <a:r>
              <a:rPr lang="en-US" sz="1950" dirty="0" spc="-1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Notation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6572250" y="344805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6572250" y="3905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Content</a:t>
            </a:r>
            <a:r>
              <a:rPr lang="en-US" sz="1950" dirty="0" spc="-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Delivery</a:t>
            </a:r>
            <a:r>
              <a:rPr lang="en-US" sz="1950" dirty="0" spc="-9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Network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6572250" y="430530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6572250" y="4762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Transport</a:t>
            </a:r>
            <a:r>
              <a:rPr lang="en-US" sz="1950" dirty="0" spc="-27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Layer</a:t>
            </a:r>
            <a:r>
              <a:rPr lang="en-US" sz="1950" dirty="0" spc="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Security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6572250" y="516255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6572250" y="5619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Open AUTHorization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6572250" y="601980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6572250" y="6477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6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JSON</a:t>
            </a:r>
            <a:r>
              <a:rPr lang="en-US" sz="1950" dirty="0" spc="-2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Web</a:t>
            </a:r>
            <a:r>
              <a:rPr lang="en-US" sz="1950" dirty="0" spc="-46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Token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6572250" y="6877050"/>
            <a:ext cx="4953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HATEOAS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6572250" y="73342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Hypermedia</a:t>
            </a:r>
            <a:r>
              <a:rPr lang="en-US" sz="1950" dirty="0" spc="-4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As</a:t>
            </a:r>
            <a:r>
              <a:rPr lang="en-US" sz="1950" dirty="0" spc="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</a:t>
            </a:r>
            <a:r>
              <a:rPr lang="en-US" sz="1950" dirty="0" spc="-2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Engine</a:t>
            </a:r>
            <a:r>
              <a:rPr lang="en-US" sz="1950" dirty="0" spc="1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Of</a:t>
            </a:r>
            <a:r>
              <a:rPr lang="en-US" sz="1950" dirty="0" spc="-7" kern="0">
                <a:solidFill>
                  <a:srgbClr val="C9C6B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Application State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1906250" y="2762250"/>
            <a:ext cx="5467350" cy="6000750"/>
          </a:xfrm>
          <a:prstGeom prst="roundRect">
            <a:avLst>
              <a:gd name="adj" fmla="val 4181"/>
            </a:avLst>
          </a:prstGeom>
          <a:solidFill>
            <a:srgbClr val="1E212B"/>
          </a:solidFill>
          <a:ln/>
        </p:spPr>
      </p:sp>
      <p:sp>
        <p:nvSpPr>
          <p:cNvPr id="30" name="Text 28"/>
          <p:cNvSpPr/>
          <p:nvPr/>
        </p:nvSpPr>
        <p:spPr>
          <a:xfrm>
            <a:off x="12287250" y="29527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C9C6B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31" name="Text richtext-1792324022110-299130505"/>
          <p:cNvSpPr/>
          <p:nvPr/>
        </p:nvSpPr>
        <p:spPr>
          <a:xfrm>
            <a:off x="12287250" y="3467100"/>
            <a:ext cx="4762500" cy="3810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 hỏi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Fielding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 HTTP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9110,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7617,</a:t>
            </a:r>
            <a:r>
              <a:rPr lang="en-US" sz="21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6749,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6750, 7519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Fowler: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Richardson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Maturity Model</a:t>
            </a:r>
            <a:endParaRPr lang="en-US" sz="2100" dirty="0"/>
          </a:p>
        </p:txBody>
      </p:sp>
      <p:sp>
        <p:nvSpPr>
          <p:cNvPr id="32" name="Connector line-1792324022121-180411251"/>
          <p:cNvSpPr/>
          <p:nvPr/>
        </p:nvSpPr>
        <p:spPr>
          <a:xfrm>
            <a:off x="12287250" y="7353300"/>
            <a:ext cx="4705350" cy="0"/>
          </a:xfrm>
          <a:prstGeom prst="line">
            <a:avLst/>
          </a:prstGeom>
          <a:noFill/>
          <a:ln w="19050">
            <a:solidFill>
              <a:srgbClr val="3C4050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2287250" y="7505700"/>
            <a:ext cx="4762500" cy="1143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nguồn</a:t>
            </a:r>
            <a:r>
              <a:rPr lang="en-US" sz="1800" dirty="0" spc="-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1800" dirty="0" spc="-15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2026-10-13.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1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dirty="0" spc="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7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1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 chiếu trực tiếp.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5" name="Shape 3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6" name="Shape 3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7" name="Shape 3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39" name="Shape 3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0" name="Shape 3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1" name="Shape 3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2" name="Shape 4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C4050"/>
          </a:solidFill>
          <a:ln/>
        </p:spPr>
      </p:sp>
      <p:sp>
        <p:nvSpPr>
          <p:cNvPr id="43" name="Shape 4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Text 42"/>
          <p:cNvSpPr/>
          <p:nvPr/>
        </p:nvSpPr>
        <p:spPr>
          <a:xfrm>
            <a:off x="3676650" y="94678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B9B6A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da507635-661a-43ad-8693-5d9f47af8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2026-10-18T11:57:12Z</dcterms:created>
  <dcterms:modified xsi:type="dcterms:W3CDTF">2026-10-18T11:57:12Z</dcterms:modified>
</cp:coreProperties>
</file>