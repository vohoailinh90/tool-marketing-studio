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096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1104900"/>
            <a:ext cx="16383000" cy="22860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1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Tối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hiệu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diện:</a:t>
            </a:r>
            <a:r>
              <a:rPr lang="en-US" sz="7500" dirty="0" spc="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5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ít,</a:t>
            </a:r>
            <a:r>
              <a:rPr lang="en-US" sz="7500" dirty="0" spc="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sau,</a:t>
            </a:r>
            <a:r>
              <a:rPr lang="en-US" sz="7500" dirty="0" spc="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5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52500" y="3429000"/>
            <a:ext cx="1638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tám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52500" y="4476750"/>
            <a:ext cx="2286000" cy="22860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Giao</a:t>
            </a:r>
            <a:r>
              <a:rPr lang="en-US" sz="24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diện</a:t>
            </a:r>
            <a:r>
              <a:rPr lang="en-US" sz="2400" dirty="0" spc="-2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web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953000" y="4286250"/>
            <a:ext cx="12382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ít: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nén,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953000" y="5334000"/>
            <a:ext cx="12382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sau: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953000" y="6381750"/>
            <a:ext cx="12382500" cy="7620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250" b="1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tiên,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250" dirty="0"/>
          </a:p>
        </p:txBody>
      </p:sp>
      <p:sp>
        <p:nvSpPr>
          <p:cNvPr id="9" name="Connector line-1792458987116-939311419"/>
          <p:cNvSpPr/>
          <p:nvPr/>
        </p:nvSpPr>
        <p:spPr>
          <a:xfrm flipV="1">
            <a:off x="3238500" y="4667250"/>
            <a:ext cx="1714500" cy="952500"/>
          </a:xfrm>
          <a:prstGeom prst="curvedConnector3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0" name="Connector line-1792458987117-301532779"/>
          <p:cNvSpPr/>
          <p:nvPr/>
        </p:nvSpPr>
        <p:spPr>
          <a:xfrm>
            <a:off x="3238500" y="5619750"/>
            <a:ext cx="1714500" cy="95250"/>
          </a:xfrm>
          <a:prstGeom prst="curvedConnector3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1" name="Connector line-1792458987117-382261498"/>
          <p:cNvSpPr/>
          <p:nvPr/>
        </p:nvSpPr>
        <p:spPr>
          <a:xfrm>
            <a:off x="3238500" y="5619750"/>
            <a:ext cx="1714500" cy="1143000"/>
          </a:xfrm>
          <a:prstGeom prst="curvedConnector3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952500" y="8096250"/>
            <a:ext cx="3714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172075" y="8096250"/>
            <a:ext cx="3714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 mã</a:t>
            </a:r>
            <a:r>
              <a:rPr lang="en-US" sz="22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391650" y="8096250"/>
            <a:ext cx="3714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3611225" y="8096250"/>
            <a:ext cx="3714750" cy="857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250" b="1" dirty="0" spc="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1ed343f4-3f1b-49c3-9dfd-2217e3f87e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mẹo,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2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52500" y="247650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572250" y="247650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esbuild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2192000" y="247650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Chromium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5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7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Text 14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99c43d2-7815-4ac9-9cbc-3719827a29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Nén:</a:t>
            </a:r>
            <a:r>
              <a:rPr lang="en-US" sz="7500" dirty="0" spc="-4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500" dirty="0" spc="-4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JavaScript</a:t>
            </a:r>
            <a:r>
              <a:rPr lang="en-US" sz="75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7500" dirty="0" spc="4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952500" y="2476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30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dựng: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498</a:t>
            </a:r>
            <a:r>
              <a:rPr lang="en-US" sz="30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691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2750" y="2476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gzip</a:t>
            </a:r>
            <a:r>
              <a:rPr lang="en-US" sz="300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9: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155 855</a:t>
            </a:r>
            <a:r>
              <a:rPr lang="en-US" sz="30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573000" y="2476500"/>
            <a:ext cx="4762500" cy="3048000"/>
          </a:xfrm>
          <a:prstGeom prst="roundRect">
            <a:avLst>
              <a:gd name="adj" fmla="val 75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brotli</a:t>
            </a:r>
            <a:r>
              <a:rPr lang="en-US" sz="3000" b="1" dirty="0" spc="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00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11:</a:t>
            </a:r>
            <a:r>
              <a:rPr lang="en-US" sz="300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133</a:t>
            </a:r>
            <a:r>
              <a:rPr lang="en-US" sz="30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404</a:t>
            </a:r>
            <a:r>
              <a:rPr lang="en-US" sz="300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3000" dirty="0"/>
          </a:p>
        </p:txBody>
      </p:sp>
      <p:sp>
        <p:nvSpPr>
          <p:cNvPr id="6" name="Connector line-1792458991319-565834418"/>
          <p:cNvSpPr/>
          <p:nvPr/>
        </p:nvSpPr>
        <p:spPr>
          <a:xfrm>
            <a:off x="5715000" y="40005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7" name="Connector line-1792458991320-560040927"/>
          <p:cNvSpPr/>
          <p:nvPr/>
        </p:nvSpPr>
        <p:spPr>
          <a:xfrm>
            <a:off x="11525250" y="4000500"/>
            <a:ext cx="1047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952500" y="64770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9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700" b="1" dirty="0" spc="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CSS</a:t>
            </a:r>
            <a:r>
              <a:rPr lang="en-US" sz="27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</a:t>
            </a: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954</a:t>
            </a:r>
            <a:r>
              <a:rPr lang="en-US" sz="2700" b="1" dirty="0" spc="-1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7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7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343</a:t>
            </a: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(gzip)</a:t>
            </a:r>
            <a:r>
              <a:rPr lang="en-US" sz="2700" b="1" dirty="0" spc="-2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414</a:t>
            </a:r>
            <a:r>
              <a:rPr lang="en-US" sz="27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(brotli)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Text 17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1dd6b932-312d-4061-b717-25b407c49d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75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7500" dirty="0" spc="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chết:</a:t>
            </a:r>
            <a:r>
              <a:rPr lang="en-US" sz="7500" dirty="0" spc="-1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tree</a:t>
            </a:r>
            <a:r>
              <a:rPr lang="en-US" sz="75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shaking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9AA0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762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-6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189 400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333500" y="4762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byte:</a:t>
            </a:r>
            <a:r>
              <a:rPr lang="en-US" sz="25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shaking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(esbuild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0.25.10)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10750" y="27622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0" dirty="0" spc="-1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59</a:t>
            </a:r>
            <a:r>
              <a:rPr lang="en-US" sz="9000" dirty="0" spc="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822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9906000" y="47625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byte: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5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shaking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" y="7620000"/>
            <a:ext cx="16383000" cy="1238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Chỉ</a:t>
            </a: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dùng</a:t>
            </a:r>
            <a:r>
              <a:rPr lang="en-US" sz="25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55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ba hàm;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hai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hàm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kia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mang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bảng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f641adff-6275-4c16-bff7-99296e09d98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66675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13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75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mã:</a:t>
            </a:r>
            <a:r>
              <a:rPr lang="en-US" sz="75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nạp</a:t>
            </a:r>
            <a:r>
              <a:rPr lang="en-US" sz="75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5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bấm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476500"/>
            <a:ext cx="7810500" cy="4762500"/>
          </a:xfrm>
          <a:prstGeom prst="roundRect">
            <a:avLst>
              <a:gd name="adj" fmla="val 48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300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tách</a:t>
            </a:r>
            <a:endParaRPr lang="en-US" sz="3000" dirty="0"/>
          </a:p>
        </p:txBody>
      </p:sp>
      <p:sp>
        <p:nvSpPr>
          <p:cNvPr id="5" name="Text richtext-1792458992977-961568019"/>
          <p:cNvSpPr/>
          <p:nvPr/>
        </p:nvSpPr>
        <p:spPr>
          <a:xfrm>
            <a:off x="1333500" y="3714750"/>
            <a:ext cx="70485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59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822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0" y="2476500"/>
            <a:ext cx="7810500" cy="4762500"/>
          </a:xfrm>
          <a:prstGeom prst="roundRect">
            <a:avLst>
              <a:gd name="adj" fmla="val 48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2857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Tách</a:t>
            </a:r>
            <a:r>
              <a:rPr lang="en-US" sz="30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(--splitting)</a:t>
            </a:r>
            <a:endParaRPr lang="en-US" sz="3000" dirty="0"/>
          </a:p>
        </p:txBody>
      </p:sp>
      <p:sp>
        <p:nvSpPr>
          <p:cNvPr id="8" name="Text richtext-1792458992995-50903602"/>
          <p:cNvSpPr/>
          <p:nvPr/>
        </p:nvSpPr>
        <p:spPr>
          <a:xfrm>
            <a:off x="9906000" y="3714750"/>
            <a:ext cx="70485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đầu: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313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850" dirty="0"/>
          </a:p>
          <a:p>
            <a:pPr algn="l" marL="361950" indent="-258592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riêng: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58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995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850" dirty="0"/>
          </a:p>
          <a:p>
            <a:pPr algn="l" marL="361950" indent="-258592"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52500" y="7810500"/>
            <a:ext cx="1638300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Phần</a:t>
            </a:r>
            <a:r>
              <a:rPr lang="en-US" sz="25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soạn thảo</a:t>
            </a:r>
            <a:r>
              <a:rPr lang="en-US" sz="2550" dirty="0" spc="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255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gọi</a:t>
            </a:r>
            <a:r>
              <a:rPr lang="en-US" sz="2550" dirty="0" spc="-5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r>
              <a:rPr lang="en-US" sz="255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import() khi</a:t>
            </a:r>
            <a:r>
              <a:rPr lang="en-US" sz="25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bấm nút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Text 18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ebe64e71-72ba-4e17-9caa-1c2966c824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6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7200" dirty="0" spc="-7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lười:</a:t>
            </a:r>
            <a:r>
              <a:rPr lang="en-US" sz="7200" dirty="0" spc="-2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40</a:t>
            </a:r>
            <a:r>
              <a:rPr lang="en-US" sz="7200" dirty="0" spc="-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endParaRPr lang="en-US" sz="7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000250"/>
          <a:ext cx="13716000" cy="914400"/>
        </p:xfrm>
        <a:graphic>
          <a:graphicData uri="http://schemas.openxmlformats.org/drawingml/2006/table">
            <a:tbl>
              <a:tblPr/>
              <a:tblGrid>
                <a:gridCol w="5570220"/>
                <a:gridCol w="1081278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4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Trường</a:t>
                      </a:r>
                      <a:r>
                        <a:rPr lang="en-US" sz="2550" dirty="0" spc="-6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hợp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Số</a:t>
                      </a:r>
                      <a:r>
                        <a:rPr lang="en-US" sz="2550" dirty="0" spc="2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ảnh</a:t>
                      </a:r>
                      <a:r>
                        <a:rPr lang="en-US" sz="2550" dirty="0" spc="4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đã</a:t>
                      </a:r>
                      <a:r>
                        <a:rPr lang="en-US" sz="2550" dirty="0" spc="1" kern="0">
                          <a:solidFill>
                            <a:srgbClr val="FFFFFF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tải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1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Không</a:t>
                      </a:r>
                      <a:r>
                        <a:rPr lang="en-US" sz="2550" dirty="0" spc="-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bật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Đủ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40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ảnh,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khoảng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2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017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loading=lazy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5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11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ảnh,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khoảng</a:t>
                      </a:r>
                      <a:r>
                        <a:rPr lang="en-US" sz="25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555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KB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7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Cuộn</a:t>
                      </a:r>
                      <a:r>
                        <a:rPr lang="en-US" sz="2550" dirty="0" spc="-1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nhảy</a:t>
                      </a:r>
                      <a:r>
                        <a:rPr lang="en-US" sz="2550" dirty="0" spc="-9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xuống</a:t>
                      </a: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cuối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9D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060"/>
                        </a:lnSpc>
                        <a:buNone/>
                      </a:pPr>
                      <a:r>
                        <a:rPr lang="en-US" sz="25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22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ảnh;</a:t>
                      </a:r>
                      <a:r>
                        <a:rPr lang="en-US" sz="25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18 ảnh</a:t>
                      </a:r>
                      <a:r>
                        <a:rPr lang="en-US" sz="25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5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giữa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bị</a:t>
                      </a:r>
                      <a:r>
                        <a:rPr lang="en-US" sz="2550" dirty="0" spc="-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nhảy</a:t>
                      </a:r>
                      <a:r>
                        <a:rPr lang="en-US" sz="25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9D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7239000"/>
            <a:ext cx="16383000" cy="1143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Màn</a:t>
            </a:r>
            <a:r>
              <a:rPr lang="en-US" sz="25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 375</a:t>
            </a:r>
            <a:r>
              <a:rPr lang="en-US" sz="2550" dirty="0" spc="-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×</a:t>
            </a:r>
            <a:r>
              <a:rPr lang="en-US" sz="25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800</a:t>
            </a:r>
            <a:r>
              <a:rPr lang="en-US" sz="2550" dirty="0" spc="-14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trong</a:t>
            </a:r>
            <a:r>
              <a:rPr lang="en-US" sz="2550" dirty="0" spc="-6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Chromium; mỗi</a:t>
            </a:r>
            <a:r>
              <a:rPr lang="en-US" sz="255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ảnh</a:t>
            </a:r>
            <a:r>
              <a:rPr lang="en-US" sz="2550" dirty="0" spc="-7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khoảng</a:t>
            </a:r>
            <a:r>
              <a:rPr lang="en-US" sz="2550" dirty="0" spc="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50</a:t>
            </a:r>
            <a:r>
              <a:rPr lang="en-US" sz="2550" dirty="0" spc="-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KB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9f70eaf-1c21-46d0-b81e-e4cf70a17c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952500" y="2190750"/>
            <a:ext cx="8001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90625" y="273367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143125" y="2286000"/>
            <a:ext cx="6572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334500" y="2190750"/>
            <a:ext cx="8001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72625" y="273367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0525125" y="2286000"/>
            <a:ext cx="6572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màn hình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chậm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4286250"/>
            <a:ext cx="8001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0625" y="482917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143125" y="4381500"/>
            <a:ext cx="6572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nhiều</a:t>
            </a: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0" y="4286250"/>
            <a:ext cx="8001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72625" y="482917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525125" y="4381500"/>
            <a:ext cx="6572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6381750"/>
            <a:ext cx="8001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0625" y="692467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2143125" y="6477000"/>
            <a:ext cx="6572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(ảnh,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video)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không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334500" y="6381750"/>
            <a:ext cx="8001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 w="19050">
            <a:solidFill>
              <a:srgbClr val="3A3E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72625" y="6924675"/>
            <a:ext cx="723900" cy="7239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6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0525125" y="6477000"/>
            <a:ext cx="6572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Chắc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31" name="Text 29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78c7f3a-fff9-4a82-a3ea-c428ab3daae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Cửa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hàng: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mẹo nào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phần?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52500" y="190500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8250" y="20955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Ảnh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lớn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2550" dirty="0" spc="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đầu</a:t>
            </a: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màn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hình</a:t>
            </a:r>
            <a:endParaRPr lang="en-US" sz="2550" dirty="0"/>
          </a:p>
        </p:txBody>
      </p:sp>
      <p:sp>
        <p:nvSpPr>
          <p:cNvPr id="5" name="Text richtext-1792458995875-340230956"/>
          <p:cNvSpPr/>
          <p:nvPr/>
        </p:nvSpPr>
        <p:spPr>
          <a:xfrm>
            <a:off x="1238250" y="2762250"/>
            <a:ext cx="7429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lười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-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fetchpriority="high"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334500" y="190500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20250" y="20955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Danh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sách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500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sản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phẩm</a:t>
            </a:r>
            <a:endParaRPr lang="en-US" sz="2550" dirty="0"/>
          </a:p>
        </p:txBody>
      </p:sp>
      <p:sp>
        <p:nvSpPr>
          <p:cNvPr id="8" name="Text richtext-1792458995883-149662294"/>
          <p:cNvSpPr/>
          <p:nvPr/>
        </p:nvSpPr>
        <p:spPr>
          <a:xfrm>
            <a:off x="9620250" y="2762250"/>
            <a:ext cx="7429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dòng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-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52500" y="533400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55245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Trình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chỉnh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ảnh</a:t>
            </a:r>
            <a:endParaRPr lang="en-US" sz="2550" dirty="0"/>
          </a:p>
        </p:txBody>
      </p:sp>
      <p:sp>
        <p:nvSpPr>
          <p:cNvPr id="11" name="Text richtext-1792458995890-972416465"/>
          <p:cNvSpPr/>
          <p:nvPr/>
        </p:nvSpPr>
        <p:spPr>
          <a:xfrm>
            <a:off x="1238250" y="6191250"/>
            <a:ext cx="7429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Nạp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import()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khách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bấm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0" y="5334000"/>
            <a:ext cx="8001000" cy="3048000"/>
          </a:xfrm>
          <a:prstGeom prst="roundRect">
            <a:avLst>
              <a:gd name="adj" fmla="val 7500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0" y="5524500"/>
            <a:ext cx="742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Cả</a:t>
            </a:r>
            <a:r>
              <a:rPr lang="en-US" sz="2550" dirty="0" spc="-9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trang</a:t>
            </a:r>
            <a:endParaRPr lang="en-US" sz="2550" dirty="0"/>
          </a:p>
        </p:txBody>
      </p:sp>
      <p:sp>
        <p:nvSpPr>
          <p:cNvPr id="14" name="Text richtext-1792458995896-813694300"/>
          <p:cNvSpPr/>
          <p:nvPr/>
        </p:nvSpPr>
        <p:spPr>
          <a:xfrm>
            <a:off x="9620250" y="6191250"/>
            <a:ext cx="7429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đóng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bed114d-2754-4332-8856-780860701ed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71500"/>
            <a:ext cx="1638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tiết</a:t>
            </a:r>
            <a:r>
              <a:rPr lang="en-US" sz="7200" dirty="0" spc="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kèm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mẹo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500" y="2000250"/>
          <a:ext cx="13716000" cy="914400"/>
        </p:xfrm>
        <a:graphic>
          <a:graphicData uri="http://schemas.openxmlformats.org/drawingml/2006/table">
            <a:tbl>
              <a:tblPr/>
              <a:tblGrid>
                <a:gridCol w="4587240"/>
                <a:gridCol w="11795760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9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Mẹo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Điều</a:t>
                      </a:r>
                      <a:r>
                        <a:rPr lang="en-US" sz="2250" dirty="0" spc="1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cần</a:t>
                      </a:r>
                      <a:r>
                        <a:rPr lang="en-US" sz="2250" dirty="0" spc="-2" kern="0">
                          <a:solidFill>
                            <a:srgbClr val="F3EEE3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biết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6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Tree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shaking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Cần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viết</a:t>
                      </a:r>
                      <a:r>
                        <a:rPr lang="en-US" sz="225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module</a:t>
                      </a:r>
                      <a:r>
                        <a:rPr lang="en-US" sz="225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import/export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9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rel=preload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Chỉ</a:t>
                      </a:r>
                      <a:r>
                        <a:rPr lang="en-US" sz="225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tải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</a:t>
                      </a:r>
                      <a:r>
                        <a:rPr lang="en-US" sz="2250" dirty="0" spc="-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bộ</a:t>
                      </a:r>
                      <a:r>
                        <a:rPr lang="en-US" sz="225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đệm,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250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chạy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script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3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rel=prefetch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250" dirty="0" spc="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đệm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HTTP</a:t>
                      </a: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trên</a:t>
                      </a:r>
                      <a:r>
                        <a:rPr lang="en-US" sz="225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đĩa,</a:t>
                      </a:r>
                      <a:r>
                        <a:rPr lang="en-US" sz="2250" dirty="0" spc="2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ưu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tiên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thấp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7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Tải</a:t>
                      </a:r>
                      <a:r>
                        <a:rPr lang="en-US" sz="2250" dirty="0" spc="15" kern="0">
                          <a:solidFill>
                            <a:srgbClr val="14161C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 lười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Ảnh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nên</a:t>
                      </a:r>
                      <a:r>
                        <a:rPr lang="en-US" sz="2250" dirty="0" spc="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sẵn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chiều</a:t>
                      </a:r>
                      <a:r>
                        <a:rPr lang="en-US" sz="225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rộng và</a:t>
                      </a: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chiều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52500" y="7905750"/>
            <a:ext cx="163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mẹo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"tách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mã"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"nạp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động";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1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C9C2AE"/>
          </a:solidFill>
          <a:ln/>
        </p:spPr>
      </p:sp>
      <p:sp>
        <p:nvSpPr>
          <p:cNvPr id="15" name="Text 12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0cc80b88-e53a-4f47-b957-03dcbd011a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76250"/>
            <a:ext cx="16383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857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857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857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857" dirty="0"/>
          </a:p>
        </p:txBody>
      </p:sp>
      <p:sp>
        <p:nvSpPr>
          <p:cNvPr id="3" name="Shape 1"/>
          <p:cNvSpPr/>
          <p:nvPr/>
        </p:nvSpPr>
        <p:spPr>
          <a:xfrm>
            <a:off x="952500" y="17145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90625" y="1857375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KB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kilobyte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476750" y="17145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14875" y="1857375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HTML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8001000" y="17145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39125" y="1857375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 web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11525250" y="1714500"/>
            <a:ext cx="314325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63375" y="1857375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CSS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5049500" y="1714500"/>
            <a:ext cx="2286000" cy="14287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40000" y="1857375"/>
            <a:ext cx="190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pPr algn="l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Mozilla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" y="3810000"/>
            <a:ext cx="163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2100" dirty="0"/>
          </a:p>
        </p:txBody>
      </p:sp>
      <p:sp>
        <p:nvSpPr>
          <p:cNvPr id="14" name="Text richtext-1792458997784-586716737"/>
          <p:cNvSpPr/>
          <p:nvPr/>
        </p:nvSpPr>
        <p:spPr>
          <a:xfrm>
            <a:off x="952500" y="4286250"/>
            <a:ext cx="16383000" cy="476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Compression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HTTP;</a:t>
            </a:r>
            <a:r>
              <a:rPr lang="en-US" sz="2250" dirty="0" spc="-5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Tree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shaking;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splitting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import();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Lazy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loading</a:t>
            </a:r>
            <a:endParaRPr lang="en-US" sz="2250" dirty="0"/>
          </a:p>
          <a:p>
            <a:pPr algn="l" marL="285750" indent="-204151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2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rel=preload;</a:t>
            </a:r>
            <a:r>
              <a:rPr lang="en-US" sz="225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rel=prefetch;</a:t>
            </a: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fetchpriority</a:t>
            </a:r>
            <a:endParaRPr lang="en-US" sz="2250" dirty="0"/>
          </a:p>
          <a:p>
            <a:pPr algn="l" marL="285750" indent="-204151"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525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001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7" name="Shape 15"/>
          <p:cNvSpPr/>
          <p:nvPr/>
        </p:nvSpPr>
        <p:spPr>
          <a:xfrm>
            <a:off x="14478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54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19" name="Shape 17"/>
          <p:cNvSpPr/>
          <p:nvPr/>
        </p:nvSpPr>
        <p:spPr>
          <a:xfrm>
            <a:off x="19431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907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84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2" name="Shape 20"/>
          <p:cNvSpPr/>
          <p:nvPr/>
        </p:nvSpPr>
        <p:spPr>
          <a:xfrm>
            <a:off x="268605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3" name="Shape 21"/>
          <p:cNvSpPr/>
          <p:nvPr/>
        </p:nvSpPr>
        <p:spPr>
          <a:xfrm>
            <a:off x="2933700" y="9658350"/>
            <a:ext cx="133350" cy="133350"/>
          </a:xfrm>
          <a:prstGeom prst="ellipse">
            <a:avLst/>
          </a:prstGeom>
          <a:solidFill>
            <a:srgbClr val="4A4E5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81350" y="9658350"/>
            <a:ext cx="133350" cy="1333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3581400" y="95631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fadd62b8-ab00-4459-9db1-971807e973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2026-10-20T01:17:25Z</dcterms:created>
  <dcterms:modified xsi:type="dcterms:W3CDTF">2026-10-20T01:17:25Z</dcterms:modified>
</cp:coreProperties>
</file>