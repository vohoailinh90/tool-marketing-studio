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952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9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334500" cy="38100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Airbnb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</a:t>
            </a:r>
            <a:r>
              <a:rPr lang="en-US" sz="81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giai</a:t>
            </a:r>
            <a:r>
              <a:rPr lang="en-US" sz="81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đoạn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71500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300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 gì,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sinh</a:t>
            </a:r>
            <a:r>
              <a:rPr lang="en-US" sz="3000" dirty="0" spc="-3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3000" dirty="0"/>
          </a:p>
        </p:txBody>
      </p:sp>
      <p:sp>
        <p:nvSpPr>
          <p:cNvPr id="5" name="Connector line-1792380198966-564207188"/>
          <p:cNvSpPr/>
          <p:nvPr/>
        </p:nvSpPr>
        <p:spPr>
          <a:xfrm>
            <a:off x="914400" y="723900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52475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Khối</a:t>
            </a: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nguyên,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microservice,</a:t>
            </a:r>
            <a:r>
              <a:rPr lang="en-US" sz="2100" dirty="0" spc="-2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1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+</a:t>
            </a:r>
            <a:r>
              <a:rPr lang="en-US" sz="21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macro.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Tình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6680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37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953750" y="27622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Khối</a:t>
            </a:r>
            <a:r>
              <a:rPr lang="en-US" sz="315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141351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4208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325600" y="2762250"/>
            <a:ext cx="2971800" cy="1619250"/>
          </a:xfrm>
          <a:prstGeom prst="rect">
            <a:avLst/>
          </a:prstGeom>
          <a:noFill/>
          <a:ln/>
        </p:spPr>
        <p:txBody>
          <a:bodyPr wrap="square" lIns="0" tIns="18491" rIns="0" bIns="-18491" rtlCol="0" anchor="t"/>
          <a:lstStyle/>
          <a:p>
            <a:pPr algn="l" indent="0" marL="0">
              <a:lnSpc>
                <a:spcPts val="3202"/>
              </a:lnSpc>
              <a:buNone/>
            </a:pPr>
            <a:r>
              <a:rPr lang="en-US" sz="2911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Microservice</a:t>
            </a:r>
            <a:endParaRPr lang="en-US" sz="2911" dirty="0"/>
          </a:p>
        </p:txBody>
      </p:sp>
      <p:sp>
        <p:nvSpPr>
          <p:cNvPr id="14" name="Shape 12"/>
          <p:cNvSpPr/>
          <p:nvPr/>
        </p:nvSpPr>
        <p:spPr>
          <a:xfrm>
            <a:off x="106680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537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953750" y="62293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7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Micro</a:t>
            </a:r>
            <a:r>
              <a:rPr lang="en-US" sz="3150" dirty="0" spc="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+</a:t>
            </a:r>
            <a:r>
              <a:rPr lang="en-US" sz="3150" dirty="0" spc="-7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macro</a:t>
            </a:r>
            <a:endParaRPr lang="en-US" sz="3150" dirty="0"/>
          </a:p>
        </p:txBody>
      </p:sp>
      <p:sp>
        <p:nvSpPr>
          <p:cNvPr id="17" name="Shape 15"/>
          <p:cNvSpPr/>
          <p:nvPr/>
        </p:nvSpPr>
        <p:spPr>
          <a:xfrm>
            <a:off x="141351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4208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420850" y="62293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6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Vấn</a:t>
            </a:r>
            <a:r>
              <a:rPr lang="en-US" sz="3150" dirty="0" spc="1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đề</a:t>
            </a:r>
            <a:r>
              <a:rPr lang="en-US" sz="3150" dirty="0" spc="-16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endParaRPr lang="en-US" sz="31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34e326ef-5ca7-40e6-a937-8676216b8c3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giai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đoạn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 Airbnb</a:t>
            </a:r>
            <a:endParaRPr lang="en-US" sz="6900" dirty="0"/>
          </a:p>
        </p:txBody>
      </p:sp>
      <p:sp>
        <p:nvSpPr>
          <p:cNvPr id="4" name="Connector line-1792380201716-718304892"/>
          <p:cNvSpPr/>
          <p:nvPr/>
        </p:nvSpPr>
        <p:spPr>
          <a:xfrm>
            <a:off x="914400" y="4000500"/>
            <a:ext cx="1645920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952500" y="3810000"/>
            <a:ext cx="381000" cy="3810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3143250"/>
            <a:ext cx="51054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17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2008–2017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914400" y="4572000"/>
            <a:ext cx="5105400" cy="123825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Khối nguyên</a:t>
            </a:r>
            <a:endParaRPr lang="en-US" sz="3450" dirty="0"/>
          </a:p>
        </p:txBody>
      </p:sp>
      <p:sp>
        <p:nvSpPr>
          <p:cNvPr id="8" name="Text 6"/>
          <p:cNvSpPr/>
          <p:nvPr/>
        </p:nvSpPr>
        <p:spPr>
          <a:xfrm>
            <a:off x="914400" y="5905500"/>
            <a:ext cx="5010150" cy="19050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8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250" dirty="0" spc="25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250" dirty="0" spc="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250" dirty="0" spc="-36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Ruby</a:t>
            </a:r>
            <a:r>
              <a:rPr lang="en-US" sz="2250" dirty="0" spc="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on</a:t>
            </a:r>
            <a:r>
              <a:rPr lang="en-US" sz="2250" dirty="0" spc="-15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Rails.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6438900" y="3810000"/>
            <a:ext cx="381000" cy="3810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0" y="3143250"/>
            <a:ext cx="51054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45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2017–2020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6400800" y="4572000"/>
            <a:ext cx="5105400" cy="123825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Microservice</a:t>
            </a:r>
            <a:endParaRPr lang="en-US" sz="3450" dirty="0"/>
          </a:p>
        </p:txBody>
      </p:sp>
      <p:sp>
        <p:nvSpPr>
          <p:cNvPr id="12" name="Text 10"/>
          <p:cNvSpPr/>
          <p:nvPr/>
        </p:nvSpPr>
        <p:spPr>
          <a:xfrm>
            <a:off x="6400800" y="5905500"/>
            <a:ext cx="5010150" cy="19050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250" dirty="0" spc="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250" dirty="0" spc="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250" dirty="0" spc="-4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1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đội</a:t>
            </a:r>
            <a:r>
              <a:rPr lang="en-US" sz="2250" dirty="0" spc="-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250" dirty="0" spc="16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hữu.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11925300" y="3810000"/>
            <a:ext cx="381000" cy="3810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4" name="Text 12"/>
          <p:cNvSpPr/>
          <p:nvPr/>
        </p:nvSpPr>
        <p:spPr>
          <a:xfrm>
            <a:off x="11887200" y="3143250"/>
            <a:ext cx="51054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28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3300" dirty="0" spc="-5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2020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11887200" y="4572000"/>
            <a:ext cx="5105400" cy="123825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Micro</a:t>
            </a:r>
            <a:r>
              <a:rPr lang="en-US" sz="345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+</a:t>
            </a:r>
            <a:r>
              <a:rPr lang="en-US" sz="345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macro</a:t>
            </a:r>
            <a:endParaRPr lang="en-US" sz="3450" dirty="0"/>
          </a:p>
        </p:txBody>
      </p:sp>
      <p:sp>
        <p:nvSpPr>
          <p:cNvPr id="16" name="Text 14"/>
          <p:cNvSpPr/>
          <p:nvPr/>
        </p:nvSpPr>
        <p:spPr>
          <a:xfrm>
            <a:off x="11887200" y="5905500"/>
            <a:ext cx="5010150" cy="19050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68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Tập</a:t>
            </a:r>
            <a:r>
              <a:rPr lang="en-US" sz="2250" dirty="0" spc="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2250" dirty="0" spc="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250" dirty="0" spc="-9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250" dirty="0" spc="4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API.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914400" y="81915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Jessica</a:t>
            </a:r>
            <a:r>
              <a:rPr lang="en-US" sz="2100" dirty="0" spc="-4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Tai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d29f9812-1bb7-493f-8b87-4a9467e13ee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GIAI</a:t>
            </a:r>
            <a:r>
              <a:rPr lang="en-US" sz="1950" b="1" spc="28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9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KHỐI</a:t>
            </a:r>
            <a:r>
              <a:rPr lang="en-US" sz="1950" b="1" spc="30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905000"/>
            <a:ext cx="16459200" cy="361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0" dirty="0" spc="-2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2008</a:t>
            </a:r>
            <a:endParaRPr lang="en-US" sz="22500" dirty="0"/>
          </a:p>
        </p:txBody>
      </p:sp>
      <p:sp>
        <p:nvSpPr>
          <p:cNvPr id="4" name="Text 2"/>
          <p:cNvSpPr/>
          <p:nvPr/>
        </p:nvSpPr>
        <p:spPr>
          <a:xfrm>
            <a:off x="914400" y="5715000"/>
            <a:ext cx="164592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đến</a:t>
            </a:r>
            <a:r>
              <a:rPr lang="en-US" sz="4800" dirty="0" spc="-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2017:</a:t>
            </a:r>
            <a:r>
              <a:rPr lang="en-US" sz="48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48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ứng</a:t>
            </a:r>
            <a:r>
              <a:rPr lang="en-US" sz="4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</a:t>
            </a:r>
            <a:r>
              <a:rPr lang="en-US" sz="4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Ruby</a:t>
            </a:r>
            <a:r>
              <a:rPr lang="en-US" sz="4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on</a:t>
            </a:r>
            <a:r>
              <a:rPr lang="en-US" sz="48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Rails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914400" y="6858000"/>
            <a:ext cx="14287500" cy="1143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3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Vấn</a:t>
            </a:r>
            <a:r>
              <a:rPr lang="en-US" sz="2550" dirty="0" spc="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đề:</a:t>
            </a:r>
            <a:r>
              <a:rPr lang="en-US" sz="25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550" dirty="0" spc="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hữu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2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rối,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550" dirty="0" spc="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hữu,</a:t>
            </a:r>
            <a:r>
              <a:rPr lang="en-US" sz="255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e57d4756-4d46-4b4f-9655-2ae4b5b1584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GIAI</a:t>
            </a:r>
            <a:r>
              <a:rPr lang="en-US" sz="1950" b="1" spc="28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1950" b="1" spc="2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MICROSERVICE,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2017–2020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 dịch vụ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sở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hữu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3810000" cy="4191000"/>
          </a:xfrm>
          <a:prstGeom prst="roundRect">
            <a:avLst>
              <a:gd name="adj" fmla="val 7000"/>
            </a:avLst>
          </a:prstGeom>
          <a:solidFill>
            <a:srgbClr val="E847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52800"/>
            <a:ext cx="30480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17" kern="0">
                <a:solidFill>
                  <a:srgbClr val="F8D9D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1295400" y="4286250"/>
            <a:ext cx="30480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Lấy</a:t>
            </a:r>
            <a:r>
              <a:rPr lang="en-US" sz="34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1295400" y="5715000"/>
            <a:ext cx="30480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0" kern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250" dirty="0" spc="2" kern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250" dirty="0" spc="-9" kern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250" dirty="0" spc="4" kern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0" kern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5124450" y="3048000"/>
            <a:ext cx="3810000" cy="4191000"/>
          </a:xfrm>
          <a:prstGeom prst="roundRect">
            <a:avLst>
              <a:gd name="adj" fmla="val 7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505450" y="3352800"/>
            <a:ext cx="30480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5505450" y="4286250"/>
            <a:ext cx="30480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Logic</a:t>
            </a:r>
            <a:r>
              <a:rPr lang="en-US" sz="34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nghiệp</a:t>
            </a:r>
            <a:r>
              <a:rPr lang="en-US" sz="34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endParaRPr lang="en-US" sz="3450" dirty="0"/>
          </a:p>
        </p:txBody>
      </p:sp>
      <p:sp>
        <p:nvSpPr>
          <p:cNvPr id="11" name="Text 9"/>
          <p:cNvSpPr/>
          <p:nvPr/>
        </p:nvSpPr>
        <p:spPr>
          <a:xfrm>
            <a:off x="5505450" y="5715000"/>
            <a:ext cx="30480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250" dirty="0" spc="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250" dirty="0" spc="5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334500" y="3048000"/>
            <a:ext cx="3810000" cy="4191000"/>
          </a:xfrm>
          <a:prstGeom prst="roundRect">
            <a:avLst>
              <a:gd name="adj" fmla="val 7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715500" y="3352800"/>
            <a:ext cx="30480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7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4500" dirty="0"/>
          </a:p>
        </p:txBody>
      </p:sp>
      <p:sp>
        <p:nvSpPr>
          <p:cNvPr id="14" name="Text 12"/>
          <p:cNvSpPr/>
          <p:nvPr/>
        </p:nvSpPr>
        <p:spPr>
          <a:xfrm>
            <a:off x="9715500" y="4286250"/>
            <a:ext cx="30480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Quy</a:t>
            </a:r>
            <a:r>
              <a:rPr lang="en-US" sz="345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r>
              <a:rPr lang="en-US" sz="345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ghi</a:t>
            </a:r>
            <a:endParaRPr lang="en-US" sz="3450" dirty="0"/>
          </a:p>
        </p:txBody>
      </p:sp>
      <p:sp>
        <p:nvSpPr>
          <p:cNvPr id="15" name="Text 13"/>
          <p:cNvSpPr/>
          <p:nvPr/>
        </p:nvSpPr>
        <p:spPr>
          <a:xfrm>
            <a:off x="9715500" y="5715000"/>
            <a:ext cx="30480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250" dirty="0" spc="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250" dirty="0" spc="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250" dirty="0" spc="-4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250" dirty="0" spc="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13544550" y="3048000"/>
            <a:ext cx="3810000" cy="4191000"/>
          </a:xfrm>
          <a:prstGeom prst="roundRect">
            <a:avLst>
              <a:gd name="adj" fmla="val 7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925550" y="3352800"/>
            <a:ext cx="30480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4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04</a:t>
            </a:r>
            <a:endParaRPr lang="en-US" sz="4500" dirty="0"/>
          </a:p>
        </p:txBody>
      </p:sp>
      <p:sp>
        <p:nvSpPr>
          <p:cNvPr id="18" name="Text 16"/>
          <p:cNvSpPr/>
          <p:nvPr/>
        </p:nvSpPr>
        <p:spPr>
          <a:xfrm>
            <a:off x="13925550" y="4286250"/>
            <a:ext cx="30480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Gộp</a:t>
            </a:r>
            <a:r>
              <a:rPr lang="en-US" sz="34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 UI</a:t>
            </a:r>
            <a:endParaRPr lang="en-US" sz="3450" dirty="0"/>
          </a:p>
        </p:txBody>
      </p:sp>
      <p:sp>
        <p:nvSpPr>
          <p:cNvPr id="19" name="Text 17"/>
          <p:cNvSpPr/>
          <p:nvPr/>
        </p:nvSpPr>
        <p:spPr>
          <a:xfrm>
            <a:off x="13925550" y="5715000"/>
            <a:ext cx="30480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250" dirty="0" spc="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250" dirty="0" spc="-9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gộp</a:t>
            </a:r>
            <a:r>
              <a:rPr lang="en-US" sz="2250" dirty="0" spc="5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914400" y="7715250"/>
            <a:ext cx="164592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Vấn</a:t>
            </a:r>
            <a:r>
              <a:rPr lang="en-US" sz="22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mới: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2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trăm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thuộc,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quản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lý.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12ccac23-7557-4aec-8702-db126d759ac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GIAI</a:t>
            </a:r>
            <a:r>
              <a:rPr lang="en-US" sz="1950" b="1" spc="28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8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</a:t>
            </a:r>
            <a:r>
              <a:rPr lang="en-US" sz="1950" b="1" spc="29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+</a:t>
            </a:r>
            <a:r>
              <a:rPr lang="en-US" sz="1950" b="1" spc="28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MACRO,</a:t>
            </a: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950" b="1" spc="29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2020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3528" rIns="0" bIns="-33528" rtlCol="0" anchor="t"/>
          <a:lstStyle/>
          <a:p>
            <a:pPr algn="l" indent="0" marL="0">
              <a:lnSpc>
                <a:spcPts val="7392"/>
              </a:lnSpc>
              <a:buNone/>
            </a:pPr>
            <a:r>
              <a:rPr lang="en-US" sz="66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Hướng</a:t>
            </a:r>
            <a:r>
              <a:rPr lang="en-US" sz="6600" dirty="0" spc="-2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mới: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thống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nhất</a:t>
            </a:r>
            <a:r>
              <a:rPr lang="en-US" sz="6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API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7C93FF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619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TRƯỚC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71600" y="4191000"/>
            <a:ext cx="7086600" cy="2762250"/>
          </a:xfrm>
          <a:prstGeom prst="rect">
            <a:avLst/>
          </a:prstGeom>
          <a:noFill/>
          <a:ln/>
        </p:spPr>
        <p:txBody>
          <a:bodyPr wrap="square" lIns="0" tIns="19812" rIns="0" bIns="-19812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Hàng</a:t>
            </a:r>
            <a:r>
              <a:rPr lang="en-US" sz="3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trăm</a:t>
            </a:r>
            <a:r>
              <a:rPr lang="en-US" sz="3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 vụ,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3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phụ</a:t>
            </a:r>
            <a:r>
              <a:rPr lang="en-US" sz="3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thuộc</a:t>
            </a:r>
            <a:endParaRPr lang="en-US" sz="3900" dirty="0"/>
          </a:p>
        </p:txBody>
      </p:sp>
      <p:sp>
        <p:nvSpPr>
          <p:cNvPr id="7" name="Shape 5"/>
          <p:cNvSpPr/>
          <p:nvPr/>
        </p:nvSpPr>
        <p:spPr>
          <a:xfrm>
            <a:off x="9372600" y="3238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29800" y="3619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829800" y="4191000"/>
            <a:ext cx="7086600" cy="2762250"/>
          </a:xfrm>
          <a:prstGeom prst="rect">
            <a:avLst/>
          </a:prstGeom>
          <a:noFill/>
          <a:ln/>
        </p:spPr>
        <p:txBody>
          <a:bodyPr wrap="square" lIns="0" tIns="19812" rIns="0" bIns="-19812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39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Micro</a:t>
            </a:r>
            <a:r>
              <a:rPr lang="en-US" sz="3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+</a:t>
            </a:r>
            <a:r>
              <a:rPr lang="en-US" sz="3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macroservice, API</a:t>
            </a:r>
            <a:r>
              <a:rPr lang="en-US" sz="3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thống</a:t>
            </a: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nhất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914400" y="78105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“Hiện</a:t>
            </a:r>
            <a:r>
              <a:rPr lang="en-US" sz="21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nay”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 diễn</a:t>
            </a:r>
            <a:r>
              <a:rPr lang="en-US" sz="2100" dirty="0" spc="-2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ra,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hôm</a:t>
            </a:r>
            <a:r>
              <a:rPr lang="en-US" sz="21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nay.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e57b2249-fcd4-475d-892a-1b5c4b3bd84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195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1950" b="1" spc="28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ĐẦU,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950" b="1" spc="26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195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3528" rIns="0" bIns="-33528" rtlCol="0" anchor="t"/>
          <a:lstStyle/>
          <a:p>
            <a:pPr algn="l" indent="0" marL="0">
              <a:lnSpc>
                <a:spcPts val="7392"/>
              </a:lnSpc>
              <a:buNone/>
            </a:pPr>
            <a:r>
              <a:rPr lang="en-US" sz="66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Giải</a:t>
            </a:r>
            <a:r>
              <a:rPr lang="en-US" sz="66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pháp</a:t>
            </a:r>
            <a:r>
              <a:rPr lang="en-US" sz="66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sinh</a:t>
            </a:r>
            <a:r>
              <a:rPr lang="en-US" sz="6600" dirty="0" spc="-5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vấn</a:t>
            </a:r>
            <a:r>
              <a:rPr lang="en-US" sz="6600" dirty="0" spc="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đề</a:t>
            </a:r>
            <a:r>
              <a:rPr lang="en-US" sz="66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5038725" cy="3048000"/>
          </a:xfrm>
          <a:prstGeom prst="roundRect">
            <a:avLst>
              <a:gd name="adj" fmla="val 875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57300" y="3448050"/>
            <a:ext cx="435292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KHỐI</a:t>
            </a:r>
            <a:r>
              <a:rPr lang="en-US" sz="1800" b="1" spc="22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57300" y="3924300"/>
            <a:ext cx="435292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Sở</a:t>
            </a:r>
            <a:r>
              <a:rPr lang="en-US" sz="3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hữu</a:t>
            </a:r>
            <a:r>
              <a:rPr lang="en-US" sz="33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rối,</a:t>
            </a:r>
            <a:r>
              <a:rPr lang="en-US" sz="3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triển khai</a:t>
            </a:r>
            <a:r>
              <a:rPr lang="en-US" sz="3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chậm</a:t>
            </a:r>
            <a:endParaRPr lang="en-US" sz="3300" dirty="0"/>
          </a:p>
        </p:txBody>
      </p:sp>
      <p:sp>
        <p:nvSpPr>
          <p:cNvPr id="7" name="Connector line-1792380252152-317677247"/>
          <p:cNvSpPr/>
          <p:nvPr/>
        </p:nvSpPr>
        <p:spPr>
          <a:xfrm>
            <a:off x="6029325" y="4667250"/>
            <a:ext cx="5143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6619875" y="3143250"/>
            <a:ext cx="5038725" cy="3048000"/>
          </a:xfrm>
          <a:prstGeom prst="roundRect">
            <a:avLst>
              <a:gd name="adj" fmla="val 875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62775" y="3448050"/>
            <a:ext cx="435292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MICROSERVICE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962775" y="3924300"/>
            <a:ext cx="435292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Hàng</a:t>
            </a:r>
            <a:r>
              <a:rPr lang="en-US" sz="33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trăm</a:t>
            </a:r>
            <a:r>
              <a:rPr lang="en-US" sz="3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33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r>
              <a:rPr lang="en-US" sz="3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 quản lý</a:t>
            </a:r>
            <a:endParaRPr lang="en-US" sz="3300" dirty="0"/>
          </a:p>
        </p:txBody>
      </p:sp>
      <p:sp>
        <p:nvSpPr>
          <p:cNvPr id="11" name="Connector line-1792380252157-209063377"/>
          <p:cNvSpPr/>
          <p:nvPr/>
        </p:nvSpPr>
        <p:spPr>
          <a:xfrm>
            <a:off x="11734800" y="4667250"/>
            <a:ext cx="5143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12325350" y="3143250"/>
            <a:ext cx="5038725" cy="3048000"/>
          </a:xfrm>
          <a:prstGeom prst="roundRect">
            <a:avLst>
              <a:gd name="adj" fmla="val 8750"/>
            </a:avLst>
          </a:prstGeom>
          <a:solidFill>
            <a:srgbClr val="B45309"/>
          </a:solidFill>
          <a:ln/>
        </p:spPr>
      </p:sp>
      <p:sp>
        <p:nvSpPr>
          <p:cNvPr id="13" name="Text 11"/>
          <p:cNvSpPr/>
          <p:nvPr/>
        </p:nvSpPr>
        <p:spPr>
          <a:xfrm>
            <a:off x="12668250" y="3448050"/>
            <a:ext cx="435292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3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MICRO</a:t>
            </a:r>
            <a:r>
              <a:rPr lang="en-US" sz="1800" b="1" spc="224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+</a:t>
            </a:r>
            <a:r>
              <a:rPr lang="en-US" sz="1800" b="1" spc="205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MACRO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668250" y="3924300"/>
            <a:ext cx="435292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Nguồn</a:t>
            </a:r>
            <a:r>
              <a:rPr lang="en-US" sz="330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3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nói</a:t>
            </a:r>
            <a:r>
              <a:rPr lang="en-US" sz="3300" dirty="0" spc="-2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vấn</a:t>
            </a:r>
            <a:r>
              <a:rPr lang="en-US" sz="33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đề</a:t>
            </a:r>
            <a:r>
              <a:rPr lang="en-US" sz="33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914400" y="68580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ba: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 nó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sinh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5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f86ac686-a406-4b23-8209-0e74ff43c2b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Nguồn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bỏ</a:t>
            </a:r>
            <a:r>
              <a:rPr lang="en-US" sz="6900" dirty="0" spc="-4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ngỏ</a:t>
            </a:r>
            <a:r>
              <a:rPr lang="en-US" sz="69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6900" dirty="0" spc="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5277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2438400" y="334327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27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macroservice.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4767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77202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2438400" y="496252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7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 là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60960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F6A4D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639127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2438400" y="658177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7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tốc</a:t>
            </a:r>
            <a:r>
              <a:rPr lang="en-US" sz="270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7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khai.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edf97aa4-f250-4c0a-b7eb-f283e029138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8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3528" rIns="0" bIns="-33528" rtlCol="0" anchor="t"/>
          <a:lstStyle/>
          <a:p>
            <a:pPr algn="l" indent="0" marL="0">
              <a:lnSpc>
                <a:spcPts val="7392"/>
              </a:lnSpc>
              <a:buNone/>
            </a:pPr>
            <a:r>
              <a:rPr lang="en-US" sz="66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Lỗi</a:t>
            </a:r>
            <a:r>
              <a:rPr lang="en-US" sz="6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thanh</a:t>
            </a:r>
            <a:r>
              <a:rPr lang="en-US" sz="66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r>
              <a:rPr lang="en-US" sz="6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chờ lâu:</a:t>
            </a:r>
            <a:r>
              <a:rPr lang="en-US" sz="6600" dirty="0" spc="-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vì</a:t>
            </a:r>
            <a:r>
              <a:rPr lang="en-US" sz="6600" dirty="0" spc="-3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sao?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0F766E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619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KHỐI</a:t>
            </a:r>
            <a:r>
              <a:rPr lang="en-US" sz="1950" b="1" spc="228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71600" y="4191000"/>
            <a:ext cx="7086600" cy="2762250"/>
          </a:xfrm>
          <a:prstGeom prst="rect">
            <a:avLst/>
          </a:prstGeom>
          <a:noFill/>
          <a:ln/>
        </p:spPr>
        <p:txBody>
          <a:bodyPr wrap="square" lIns="0" tIns="18288" rIns="0" bIns="-18288" rtlCol="0" anchor="t"/>
          <a:lstStyle/>
          <a:p>
            <a:pPr algn="l" indent="0" marL="0">
              <a:lnSpc>
                <a:spcPts val="4032"/>
              </a:lnSpc>
              <a:buNone/>
            </a:pP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36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rõ</a:t>
            </a:r>
            <a:r>
              <a:rPr lang="en-US" sz="36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đội</a:t>
            </a:r>
            <a:r>
              <a:rPr lang="en-US" sz="36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36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sửa;</a:t>
            </a: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chờ</a:t>
            </a:r>
            <a:r>
              <a:rPr lang="en-US" sz="36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đưa</a:t>
            </a:r>
            <a:r>
              <a:rPr lang="en-US" sz="36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cả</a:t>
            </a:r>
            <a:r>
              <a:rPr lang="en-US" sz="3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khối</a:t>
            </a:r>
            <a:r>
              <a:rPr lang="en-US" sz="3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9372600" y="3238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29800" y="3619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MICROSERVICE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829800" y="4191000"/>
            <a:ext cx="7086600" cy="2762250"/>
          </a:xfrm>
          <a:prstGeom prst="rect">
            <a:avLst/>
          </a:prstGeom>
          <a:noFill/>
          <a:ln/>
        </p:spPr>
        <p:txBody>
          <a:bodyPr wrap="square" lIns="0" tIns="18288" rIns="0" bIns="-18288" rtlCol="0" anchor="t"/>
          <a:lstStyle/>
          <a:p>
            <a:pPr algn="l" indent="0" marL="0">
              <a:lnSpc>
                <a:spcPts val="4032"/>
              </a:lnSpc>
              <a:buNone/>
            </a:pPr>
            <a:r>
              <a:rPr lang="en-US" sz="36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36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đội</a:t>
            </a:r>
            <a:r>
              <a:rPr lang="en-US" sz="3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sở</a:t>
            </a:r>
            <a:r>
              <a:rPr lang="en-US" sz="36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hữu;</a:t>
            </a:r>
            <a:r>
              <a:rPr lang="en-US" sz="3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triển</a:t>
            </a:r>
            <a:r>
              <a:rPr lang="en-US" sz="36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khai riêng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914400" y="78105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100" dirty="0" spc="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khối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nguyên:</a:t>
            </a:r>
            <a:r>
              <a:rPr lang="en-US" sz="21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100" dirty="0" spc="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hữu</a:t>
            </a:r>
            <a:r>
              <a:rPr lang="en-US" sz="2100" dirty="0" spc="-2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rối</a:t>
            </a:r>
            <a:r>
              <a:rPr lang="en-US" sz="21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4f8d77a0-3989-44d8-953f-b7d6565f4d8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Macroservice có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thể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6900" dirty="0" spc="-2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143000"/>
          </a:xfrm>
          <a:prstGeom prst="roundRect">
            <a:avLst>
              <a:gd name="adj" fmla="val 16667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2766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1950" b="1" spc="21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5676900" y="3181350"/>
            <a:ext cx="11315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chung, ít</a:t>
            </a:r>
            <a:r>
              <a:rPr lang="en-US" sz="2850" b="1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1295400" y="4152900"/>
            <a:ext cx="15697200" cy="1143000"/>
          </a:xfrm>
          <a:prstGeom prst="roundRect">
            <a:avLst>
              <a:gd name="adj" fmla="val 16667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76400" y="45720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1950" b="1" spc="21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057900" y="4476750"/>
            <a:ext cx="10553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microservice nhỏ</a:t>
            </a: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liên</a:t>
            </a:r>
            <a:r>
              <a:rPr lang="en-US" sz="28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1676400" y="5448300"/>
            <a:ext cx="14935200" cy="1143000"/>
          </a:xfrm>
          <a:prstGeom prst="roundRect">
            <a:avLst>
              <a:gd name="adj" fmla="val 16667"/>
            </a:avLst>
          </a:prstGeom>
          <a:solidFill>
            <a:srgbClr val="7C93FF"/>
          </a:solidFill>
          <a:ln/>
        </p:spPr>
      </p:sp>
      <p:sp>
        <p:nvSpPr>
          <p:cNvPr id="11" name="Text 9"/>
          <p:cNvSpPr/>
          <p:nvPr/>
        </p:nvSpPr>
        <p:spPr>
          <a:xfrm>
            <a:off x="2057400" y="58674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950" b="1" spc="22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6438900" y="5772150"/>
            <a:ext cx="9791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Giảm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 mỗi</a:t>
            </a:r>
            <a:r>
              <a:rPr lang="en-US" sz="285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đội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nắm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914400" y="69723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hiểu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1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100" dirty="0" spc="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4040462c-71db-462d-b41d-6d985939780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62050"/>
            <a:ext cx="16192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476500"/>
          <a:ext cx="13716000" cy="914400"/>
        </p:xfrm>
        <a:graphic>
          <a:graphicData uri="http://schemas.openxmlformats.org/drawingml/2006/table">
            <a:tbl>
              <a:tblPr/>
              <a:tblGrid>
                <a:gridCol w="2304288"/>
                <a:gridCol w="6254496"/>
                <a:gridCol w="7900416"/>
              </a:tblGrid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75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Từ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Dạng</a:t>
                      </a:r>
                      <a:r>
                        <a:rPr lang="en-US" sz="2250" b="1" dirty="0" spc="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đầy</a:t>
                      </a:r>
                      <a:r>
                        <a:rPr lang="en-US" sz="2250" b="1" dirty="0" spc="4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đủ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Nghĩa</a:t>
                      </a:r>
                      <a:r>
                        <a:rPr lang="en-US" sz="2250" b="1" dirty="0" spc="-1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250" b="1" dirty="0" spc="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bài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3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API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Application</a:t>
                      </a:r>
                      <a:r>
                        <a:rPr lang="en-US" sz="2250" dirty="0" spc="-1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Programming</a:t>
                      </a:r>
                      <a:r>
                        <a:rPr lang="en-US" sz="2250" dirty="0" spc="-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Interface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cách</a:t>
                      </a:r>
                      <a:r>
                        <a:rPr lang="en-US" sz="2250" dirty="0" spc="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chương</a:t>
                      </a:r>
                      <a:r>
                        <a:rPr lang="en-US" sz="2250" dirty="0" spc="7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trình</a:t>
                      </a:r>
                      <a:r>
                        <a:rPr lang="en-US" sz="2250" dirty="0" spc="-1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gọi</a:t>
                      </a: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nhau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kern="0">
                          <a:solidFill>
                            <a:srgbClr val="FF6A4D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UI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User</a:t>
                      </a:r>
                      <a:r>
                        <a:rPr lang="en-US" sz="2250" dirty="0" spc="-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Interface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giao</a:t>
                      </a: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diện</a:t>
                      </a:r>
                      <a:r>
                        <a:rPr lang="en-US" sz="2250" dirty="0" spc="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người</a:t>
                      </a:r>
                      <a:r>
                        <a:rPr lang="en-US" sz="2250" dirty="0" spc="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dùng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592455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6" name="Text 3"/>
          <p:cNvSpPr/>
          <p:nvPr/>
        </p:nvSpPr>
        <p:spPr>
          <a:xfrm>
            <a:off x="914400" y="6343650"/>
            <a:ext cx="164592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system-design-101,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7" name="Text 4"/>
          <p:cNvSpPr/>
          <p:nvPr/>
        </p:nvSpPr>
        <p:spPr>
          <a:xfrm>
            <a:off x="914400" y="6877050"/>
            <a:ext cx="164592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Jessica</a:t>
            </a:r>
            <a:r>
              <a:rPr lang="en-US" sz="1800" dirty="0" spc="-4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Tai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 được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19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361e3955-8ef2-4287-8658-5f8a7179ddd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2026-10-19T04:45:24Z</dcterms:created>
  <dcterms:modified xsi:type="dcterms:W3CDTF">2026-10-19T04:45:24Z</dcterms:modified>
</cp:coreProperties>
</file>