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  <p:embeddedFont>
      <p:font typeface="Be Vietnam Pro SemiBold"/>
      <p:regular r:id="rId2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Relationship Id="rId21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5240000" cy="2857500"/>
          </a:xfrm>
          <a:prstGeom prst="rect">
            <a:avLst/>
          </a:prstGeom>
          <a:noFill/>
          <a:ln/>
        </p:spPr>
        <p:txBody>
          <a:bodyPr wrap="square" lIns="0" tIns="47535" rIns="0" bIns="-47535" rtlCol="0" anchor="t"/>
          <a:lstStyle/>
          <a:p>
            <a:pPr algn="l" indent="0" marL="0">
              <a:lnSpc>
                <a:spcPts val="6737"/>
              </a:lnSpc>
              <a:buNone/>
            </a:pPr>
            <a:r>
              <a:rPr lang="en-US" sz="6238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Vì sao</a:t>
            </a:r>
            <a:r>
              <a:rPr lang="en-US" sz="6238" dirty="0" spc="-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Docker</a:t>
            </a:r>
            <a:r>
              <a:rPr lang="en-US" sz="6238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build</a:t>
            </a:r>
            <a:r>
              <a:rPr lang="en-US" sz="6238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r>
              <a:rPr lang="en-US" sz="6238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238" dirty="0" spc="-8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bước</a:t>
            </a:r>
            <a:r>
              <a:rPr lang="en-US" sz="6238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nặng:</a:t>
            </a:r>
            <a:r>
              <a:rPr lang="en-US" sz="6238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năm</a:t>
            </a:r>
            <a:r>
              <a:rPr lang="en-US" sz="6238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 nhân</a:t>
            </a:r>
            <a:r>
              <a:rPr lang="en-US" sz="6238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mất</a:t>
            </a:r>
            <a:r>
              <a:rPr lang="en-US" sz="6238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cache</a:t>
            </a:r>
            <a:endParaRPr lang="en-US" sz="6238" dirty="0"/>
          </a:p>
        </p:txBody>
      </p:sp>
      <p:sp>
        <p:nvSpPr>
          <p:cNvPr id="4" name="Text 2"/>
          <p:cNvSpPr/>
          <p:nvPr/>
        </p:nvSpPr>
        <p:spPr>
          <a:xfrm>
            <a:off x="914400" y="466725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r>
              <a:rPr lang="en-US" sz="30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mã,</a:t>
            </a:r>
            <a:r>
              <a:rPr lang="en-US" sz="30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build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 lại</a:t>
            </a:r>
            <a:r>
              <a:rPr lang="en-US" sz="30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5905500"/>
            <a:ext cx="30480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11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181100" y="6572250"/>
            <a:ext cx="2514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3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Thứ</a:t>
            </a:r>
            <a:r>
              <a:rPr lang="en-US" sz="2400" dirty="0" spc="0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tự</a:t>
            </a:r>
            <a:r>
              <a:rPr lang="en-US" sz="2400" dirty="0" spc="-6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lệnh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4267200" y="5905500"/>
            <a:ext cx="30480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339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4533900" y="6572250"/>
            <a:ext cx="2514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18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Copy</a:t>
            </a:r>
            <a:r>
              <a:rPr lang="en-US" sz="2400" dirty="0" spc="2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quá</a:t>
            </a:r>
            <a:r>
              <a:rPr lang="en-US" sz="2400" dirty="0" spc="-14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rộng,</a:t>
            </a:r>
            <a:r>
              <a:rPr lang="en-US" sz="2400" dirty="0" spc="2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quá</a:t>
            </a:r>
            <a:r>
              <a:rPr lang="en-US" sz="2400" dirty="0" spc="-1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sớm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7620000" y="5905500"/>
            <a:ext cx="30480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8867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7886700" y="6572250"/>
            <a:ext cx="2514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8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Ngữ</a:t>
            </a:r>
            <a:r>
              <a:rPr lang="en-US" sz="2400" dirty="0" spc="-2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cảnh</a:t>
            </a:r>
            <a:r>
              <a:rPr lang="en-US" sz="2400" dirty="0" spc="-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lẫn</a:t>
            </a:r>
            <a:r>
              <a:rPr lang="en-US" sz="2400" dirty="0" spc="-7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tệp hay</a:t>
            </a:r>
            <a:r>
              <a:rPr lang="en-US" sz="2400" dirty="0" spc="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đổi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10972800" y="5905500"/>
            <a:ext cx="30480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2395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1239500" y="6572250"/>
            <a:ext cx="2514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Cache</a:t>
            </a:r>
            <a:r>
              <a:rPr lang="en-US" sz="2400" dirty="0" spc="-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dùng</a:t>
            </a:r>
            <a:r>
              <a:rPr lang="en-US" sz="2400" dirty="0" spc="9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được</a:t>
            </a:r>
            <a:r>
              <a:rPr lang="en-US" sz="2400" dirty="0" spc="18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nhưng</a:t>
            </a:r>
            <a:r>
              <a:rPr lang="en-US" sz="2400" dirty="0" spc="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đã</a:t>
            </a:r>
            <a:r>
              <a:rPr lang="en-US" sz="2400" dirty="0" spc="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cũ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14325600" y="5905500"/>
            <a:ext cx="30480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5923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14592300" y="6572250"/>
            <a:ext cx="2514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14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Máy</a:t>
            </a:r>
            <a:r>
              <a:rPr lang="en-US" sz="2400" dirty="0" spc="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mới</a:t>
            </a:r>
            <a:r>
              <a:rPr lang="en-US" sz="2400" dirty="0" spc="-1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không</a:t>
            </a:r>
            <a:r>
              <a:rPr lang="en-US" sz="2400" dirty="0" spc="-8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có</a:t>
            </a:r>
            <a:r>
              <a:rPr lang="en-US" sz="2400" dirty="0" spc="-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cache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14400" y="9525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c86f0bb7-907c-458d-bc6a-df94552b32c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Mất</a:t>
            </a:r>
            <a:r>
              <a:rPr lang="en-US" sz="6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cache</a:t>
            </a:r>
            <a:r>
              <a:rPr lang="en-US" sz="6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6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cũng</a:t>
            </a:r>
            <a:r>
              <a:rPr lang="en-US" sz="63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truy</a:t>
            </a:r>
            <a:r>
              <a:rPr lang="en-US" sz="6300" dirty="0" spc="-3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ra</a:t>
            </a:r>
            <a:r>
              <a:rPr lang="en-US" sz="6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</a:t>
            </a:r>
            <a:r>
              <a:rPr lang="en-US" sz="6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nhân</a:t>
            </a:r>
            <a:endParaRPr lang="en-US" sz="63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8001000" cy="4476750"/>
          </a:xfrm>
          <a:prstGeom prst="roundRect">
            <a:avLst>
              <a:gd name="adj" fmla="val 5957"/>
            </a:avLst>
          </a:prstGeom>
          <a:solidFill>
            <a:srgbClr val="E8E0CF"/>
          </a:solidFill>
          <a:ln w="28575">
            <a:solidFill>
              <a:srgbClr val="6B6A6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4290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21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100" b="1" spc="22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333500" y="4191000"/>
            <a:ext cx="7239000" cy="304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54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</a:t>
            </a:r>
            <a:r>
              <a:rPr lang="en-US" sz="54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nhân</a:t>
            </a:r>
            <a:r>
              <a:rPr lang="en-US" sz="54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độc</a:t>
            </a:r>
            <a:r>
              <a:rPr lang="en-US" sz="54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lập</a:t>
            </a:r>
            <a:endParaRPr lang="en-US" sz="5400" dirty="0"/>
          </a:p>
        </p:txBody>
      </p:sp>
      <p:sp>
        <p:nvSpPr>
          <p:cNvPr id="7" name="Shape 5"/>
          <p:cNvSpPr/>
          <p:nvPr/>
        </p:nvSpPr>
        <p:spPr>
          <a:xfrm>
            <a:off x="9372600" y="3143250"/>
            <a:ext cx="8001000" cy="4476750"/>
          </a:xfrm>
          <a:prstGeom prst="roundRect">
            <a:avLst>
              <a:gd name="adj" fmla="val 5957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91700" y="34290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2100" b="1" spc="20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10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 KÈM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791700" y="4191000"/>
            <a:ext cx="7239000" cy="304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Cách</a:t>
            </a:r>
            <a:r>
              <a:rPr lang="en-US" sz="54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chữa</a:t>
            </a:r>
            <a:r>
              <a:rPr lang="en-US" sz="54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từng</a:t>
            </a:r>
            <a:r>
              <a:rPr lang="en-US" sz="54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cái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914400" y="80962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Cache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</a:t>
            </a:r>
            <a:r>
              <a:rPr lang="en-US" sz="27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 thể.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3" name="Shape 11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Shape 18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Text 19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46bf868f-579e-4637-b4aa-9c9cbe9df14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NGUYÊN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428750"/>
            <a:ext cx="133350" cy="2190750"/>
          </a:xfrm>
          <a:prstGeom prst="rect">
            <a:avLst/>
          </a:prstGeom>
          <a:solidFill>
            <a:srgbClr val="FF6A4D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1333500"/>
            <a:ext cx="15716250" cy="2476500"/>
          </a:xfrm>
          <a:prstGeom prst="rect">
            <a:avLst/>
          </a:prstGeom>
          <a:noFill/>
          <a:ln/>
        </p:spPr>
        <p:txBody>
          <a:bodyPr wrap="square" lIns="0" tIns="57150" rIns="0" bIns="-57150" rtlCol="0" anchor="t"/>
          <a:lstStyle/>
          <a:p>
            <a:pPr algn="l" indent="0" marL="0">
              <a:lnSpc>
                <a:spcPts val="8100"/>
              </a:lnSpc>
              <a:buNone/>
            </a:pPr>
            <a:r>
              <a:rPr lang="en-US" sz="7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Đổi</a:t>
            </a:r>
            <a:r>
              <a:rPr lang="en-US" sz="75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500" dirty="0" spc="-4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lớp</a:t>
            </a:r>
            <a:r>
              <a:rPr lang="en-US" sz="75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mọi</a:t>
            </a:r>
            <a:r>
              <a:rPr lang="en-US" sz="7500" dirty="0" spc="-4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lớp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sau</a:t>
            </a:r>
            <a:r>
              <a:rPr lang="en-US" sz="75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 build</a:t>
            </a:r>
            <a:r>
              <a:rPr lang="en-US" sz="75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lại.</a:t>
            </a:r>
            <a:endParaRPr lang="en-US" sz="7500" dirty="0"/>
          </a:p>
        </p:txBody>
      </p:sp>
      <p:sp>
        <p:nvSpPr>
          <p:cNvPr id="5" name="Shape 3"/>
          <p:cNvSpPr/>
          <p:nvPr/>
        </p:nvSpPr>
        <p:spPr>
          <a:xfrm>
            <a:off x="914400" y="4762500"/>
            <a:ext cx="80010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33500" y="504825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 TỰ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333500" y="5810250"/>
            <a:ext cx="7239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Đặt</a:t>
            </a:r>
            <a:r>
              <a:rPr lang="en-US" sz="30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phần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ít</a:t>
            </a:r>
            <a:r>
              <a:rPr lang="en-US" sz="3000" dirty="0" spc="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đổi</a:t>
            </a:r>
            <a:r>
              <a:rPr lang="en-US" sz="30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lên</a:t>
            </a:r>
            <a:r>
              <a:rPr lang="en-US" sz="3000" dirty="0" spc="-1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trên.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9372600" y="4762500"/>
            <a:ext cx="80010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791700" y="504825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COPY</a:t>
            </a:r>
            <a:r>
              <a:rPr lang="en-US" sz="1950" b="1" spc="21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</a:t>
            </a:r>
            <a:r>
              <a:rPr lang="en-US" sz="1950" b="1" spc="21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RỘNG,</a:t>
            </a:r>
            <a:r>
              <a:rPr lang="en-US" sz="1950" b="1" spc="21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</a:t>
            </a:r>
            <a:r>
              <a:rPr lang="en-US" sz="1950" b="1" spc="23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SỚM</a:t>
            </a:r>
            <a:endParaRPr lang="en-US" sz="1950" dirty="0"/>
          </a:p>
        </p:txBody>
      </p:sp>
      <p:sp>
        <p:nvSpPr>
          <p:cNvPr id="10" name="Text richtext-1792370839141-428729148"/>
          <p:cNvSpPr/>
          <p:nvPr/>
        </p:nvSpPr>
        <p:spPr>
          <a:xfrm>
            <a:off x="9791700" y="5810250"/>
            <a:ext cx="7239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85750" indent="-205921"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27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COPY</a:t>
            </a:r>
            <a:r>
              <a:rPr lang="en-US" sz="227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.</a:t>
            </a:r>
            <a:r>
              <a:rPr lang="en-US" sz="227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.</a:t>
            </a:r>
            <a:r>
              <a:rPr lang="en-US" sz="2270" dirty="0" spc="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đưa</a:t>
            </a:r>
            <a:r>
              <a:rPr lang="en-US" sz="227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cả</a:t>
            </a:r>
            <a:r>
              <a:rPr lang="en-US" sz="227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</a:t>
            </a:r>
            <a:r>
              <a:rPr lang="en-US" sz="2270" dirty="0" spc="-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vào</a:t>
            </a:r>
            <a:r>
              <a:rPr lang="en-US" sz="2270" dirty="0" spc="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</a:t>
            </a:r>
            <a:r>
              <a:rPr lang="en-US" sz="227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khi cài</a:t>
            </a:r>
            <a:r>
              <a:rPr lang="en-US" sz="227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phụ</a:t>
            </a:r>
            <a:r>
              <a:rPr lang="en-US" sz="227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thuộc</a:t>
            </a:r>
            <a:endParaRPr lang="en-US" sz="2270" dirty="0"/>
          </a:p>
          <a:p>
            <a:pPr algn="l" marL="285750" indent="-205921">
              <a:buSzPct val="100000"/>
              <a:buFont typeface="Arial"/>
              <a:buChar char="•"/>
            </a:pPr>
            <a:r>
              <a:rPr lang="en-US" sz="2270" dirty="0" spc="-1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Copy</a:t>
            </a:r>
            <a:r>
              <a:rPr lang="en-US" sz="227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tệp</a:t>
            </a:r>
            <a:r>
              <a:rPr lang="en-US" sz="227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khai</a:t>
            </a:r>
            <a:r>
              <a:rPr lang="en-US" sz="227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báo</a:t>
            </a:r>
            <a:r>
              <a:rPr lang="en-US" sz="227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phụ</a:t>
            </a:r>
            <a:r>
              <a:rPr lang="en-US" sz="227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thuộc,</a:t>
            </a:r>
            <a:r>
              <a:rPr lang="en-US" sz="227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cài,</a:t>
            </a:r>
            <a:r>
              <a:rPr lang="en-US" sz="2270" dirty="0" spc="-1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rồi</a:t>
            </a:r>
            <a:r>
              <a:rPr lang="en-US" sz="227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mới</a:t>
            </a:r>
            <a:r>
              <a:rPr lang="en-US" sz="2270" dirty="0" spc="-1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copy</a:t>
            </a:r>
            <a:r>
              <a:rPr lang="en-US" sz="227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</a:t>
            </a:r>
            <a:endParaRPr lang="en-US" sz="2270" dirty="0"/>
          </a:p>
        </p:txBody>
      </p:sp>
      <p:sp>
        <p:nvSpPr>
          <p:cNvPr id="11" name="Shape 9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4" name="Shape 12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Shape 17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1" name="Text 19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5fcea3ed-bc18-49f9-88b0-d5068297b39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NGUYÊN</a:t>
            </a: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 3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Ngữ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cảnh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lẫn</a:t>
            </a:r>
            <a:r>
              <a:rPr lang="en-US" sz="6900" dirty="0" spc="-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tệp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69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238500"/>
            <a:ext cx="4762500" cy="1905000"/>
          </a:xfrm>
          <a:prstGeom prst="roundRect">
            <a:avLst>
              <a:gd name="adj" fmla="val 14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COPY</a:t>
            </a:r>
            <a:r>
              <a:rPr lang="en-US" sz="2850" dirty="0" spc="-1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rộng</a:t>
            </a:r>
            <a:r>
              <a:rPr lang="en-US" sz="2850" dirty="0" spc="-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hoặc</a:t>
            </a:r>
            <a:r>
              <a:rPr lang="en-US" sz="285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bind</a:t>
            </a:r>
            <a:r>
              <a:rPr lang="en-US" sz="2850" dirty="0" spc="-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mount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6762750" y="3238500"/>
            <a:ext cx="4762500" cy="1905000"/>
          </a:xfrm>
          <a:prstGeom prst="roundRect">
            <a:avLst>
              <a:gd name="adj" fmla="val 14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-3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Lấy</a:t>
            </a:r>
            <a:r>
              <a:rPr lang="en-US" sz="2850" dirty="0" spc="-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cả log,</a:t>
            </a:r>
            <a:r>
              <a:rPr lang="en-US" sz="285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thư</a:t>
            </a:r>
            <a:r>
              <a:rPr lang="en-US" sz="285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mục</a:t>
            </a:r>
            <a:r>
              <a:rPr lang="en-US" sz="285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tạm,</a:t>
            </a:r>
            <a:r>
              <a:rPr lang="en-US" sz="285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.git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12611100" y="3238500"/>
            <a:ext cx="4762500" cy="1905000"/>
          </a:xfrm>
          <a:prstGeom prst="roundRect">
            <a:avLst>
              <a:gd name="adj" fmla="val 14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-18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Checksum</a:t>
            </a:r>
            <a:r>
              <a:rPr lang="en-US" sz="2850" dirty="0" spc="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đổi,</a:t>
            </a:r>
            <a:r>
              <a:rPr lang="en-US" sz="2850" dirty="0" spc="-10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mất</a:t>
            </a:r>
            <a:r>
              <a:rPr lang="en-US" sz="2850" dirty="0" spc="-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cache</a:t>
            </a:r>
            <a:endParaRPr lang="en-US" sz="2850" dirty="0"/>
          </a:p>
        </p:txBody>
      </p:sp>
      <p:sp>
        <p:nvSpPr>
          <p:cNvPr id="7" name="Connector line-1792370862493-639189814"/>
          <p:cNvSpPr/>
          <p:nvPr/>
        </p:nvSpPr>
        <p:spPr>
          <a:xfrm>
            <a:off x="5772150" y="4191000"/>
            <a:ext cx="89535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8" name="Connector line-1792370862494-284497658"/>
          <p:cNvSpPr/>
          <p:nvPr/>
        </p:nvSpPr>
        <p:spPr>
          <a:xfrm>
            <a:off x="11620500" y="4191000"/>
            <a:ext cx="89535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914400" y="609600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2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Loại</a:t>
            </a:r>
            <a:r>
              <a:rPr lang="en-US" sz="3300" dirty="0" spc="-7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chúng khỏi</a:t>
            </a:r>
            <a:r>
              <a:rPr lang="en-US" sz="3300" dirty="0" spc="-9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ngữ</a:t>
            </a:r>
            <a:r>
              <a:rPr lang="en-US" sz="3300" dirty="0" spc="-3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cảnh</a:t>
            </a:r>
            <a:r>
              <a:rPr lang="en-US" sz="3300" dirty="0" spc="-6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build.</a:t>
            </a:r>
            <a:endParaRPr lang="en-US" sz="3300" dirty="0"/>
          </a:p>
        </p:txBody>
      </p:sp>
      <p:sp>
        <p:nvSpPr>
          <p:cNvPr id="10" name="Text 8"/>
          <p:cNvSpPr/>
          <p:nvPr/>
        </p:nvSpPr>
        <p:spPr>
          <a:xfrm>
            <a:off x="914400" y="685800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7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Tệp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lệnh nào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 không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cache.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3" name="Shape 11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5" name="Shape 13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Shape 18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Text 19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41f3365a-36a3-4d01-b9a4-0fdf895b918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NGUYÊN</a:t>
            </a:r>
            <a:r>
              <a:rPr lang="en-US" sz="195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Cache dùng</a:t>
            </a:r>
            <a:r>
              <a:rPr lang="en-US" sz="6900" dirty="0" spc="-9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nhưng</a:t>
            </a:r>
            <a:r>
              <a:rPr lang="en-US" sz="69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cũ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57175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RUN</a:t>
            </a:r>
            <a:r>
              <a:rPr lang="en-US" sz="30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30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30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30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30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lệnh,</a:t>
            </a:r>
            <a:r>
              <a:rPr lang="en-US" sz="30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xét</a:t>
            </a:r>
            <a:r>
              <a:rPr lang="en-US" sz="30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30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30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30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3810000"/>
            <a:ext cx="666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BUILD</a:t>
            </a:r>
            <a:r>
              <a:rPr lang="en-US" sz="1950" b="1" spc="27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SẠCH</a:t>
            </a:r>
            <a:r>
              <a:rPr lang="en-US" sz="195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950" b="1" spc="29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KỲ</a:t>
            </a:r>
            <a:r>
              <a:rPr lang="en-US" sz="1950" b="1" spc="29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914400" y="4381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4381500"/>
            <a:ext cx="133350" cy="142875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8" name="Text 6"/>
          <p:cNvSpPr/>
          <p:nvPr/>
        </p:nvSpPr>
        <p:spPr>
          <a:xfrm>
            <a:off x="1333500" y="4381500"/>
            <a:ext cx="5334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 spc="-9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--no-cache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7239000" y="4381500"/>
            <a:ext cx="9906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Bỏ qua</a:t>
            </a:r>
            <a:r>
              <a:rPr lang="en-US" sz="30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cache.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914400" y="60960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6096000"/>
            <a:ext cx="133350" cy="142875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2" name="Text 10"/>
          <p:cNvSpPr/>
          <p:nvPr/>
        </p:nvSpPr>
        <p:spPr>
          <a:xfrm>
            <a:off x="1333500" y="6096000"/>
            <a:ext cx="5334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 spc="-3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--pull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7239000" y="6096000"/>
            <a:ext cx="9906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Luôn</a:t>
            </a:r>
            <a:r>
              <a:rPr lang="en-US" sz="300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30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image</a:t>
            </a:r>
            <a:r>
              <a:rPr lang="en-US" sz="30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30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30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9" name="Shape 17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Shape 18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2" name="Shape 20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3" name="Shape 21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4" name="Text 22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8a7cab76-96d2-47bf-8287-6eb1050ed35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NGUYÊN</a:t>
            </a:r>
            <a:r>
              <a:rPr lang="en-US" sz="195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6900" dirty="0" spc="-3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cache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429000"/>
            <a:ext cx="5715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Nơi</a:t>
            </a:r>
            <a:r>
              <a:rPr lang="en-US" sz="2850" dirty="0" spc="-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khác</a:t>
            </a:r>
            <a:r>
              <a:rPr lang="en-US" sz="2850" dirty="0" spc="-6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(registry,</a:t>
            </a:r>
            <a:r>
              <a:rPr lang="en-US" sz="2850" dirty="0" spc="0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thư</a:t>
            </a:r>
            <a:r>
              <a:rPr lang="en-US" sz="2850" dirty="0" spc="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mục)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11658600" y="3429000"/>
            <a:ext cx="5715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-3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Runner</a:t>
            </a:r>
            <a:r>
              <a:rPr lang="en-US" sz="2850" dirty="0" spc="0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CI</a:t>
            </a:r>
            <a:r>
              <a:rPr lang="en-US" sz="2850" dirty="0" spc="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mới</a:t>
            </a:r>
            <a:r>
              <a:rPr lang="en-US" sz="2850" dirty="0" spc="0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tinh:</a:t>
            </a:r>
            <a:r>
              <a:rPr lang="en-US" sz="2850" dirty="0" spc="-16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rỗng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6724650" y="3714750"/>
            <a:ext cx="48387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--cache-from</a:t>
            </a:r>
            <a:r>
              <a:rPr lang="en-US" sz="2100" b="1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(nhập)</a:t>
            </a:r>
            <a:endParaRPr lang="en-US" sz="2100" dirty="0"/>
          </a:p>
        </p:txBody>
      </p:sp>
      <p:sp>
        <p:nvSpPr>
          <p:cNvPr id="7" name="Connector line-1792370866553-119838011"/>
          <p:cNvSpPr/>
          <p:nvPr/>
        </p:nvSpPr>
        <p:spPr>
          <a:xfrm>
            <a:off x="6762750" y="4286250"/>
            <a:ext cx="476250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8" name="Connector line-1792370866553-828806210"/>
          <p:cNvSpPr/>
          <p:nvPr/>
        </p:nvSpPr>
        <p:spPr>
          <a:xfrm flipH="1">
            <a:off x="6762750" y="4953000"/>
            <a:ext cx="476250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6724650" y="5095875"/>
            <a:ext cx="48387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--cache-to</a:t>
            </a:r>
            <a:r>
              <a:rPr lang="en-US" sz="2100" b="1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(xuất)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14400" y="647700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7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Kể</a:t>
            </a:r>
            <a:r>
              <a:rPr lang="en-US" sz="30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cả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cache</a:t>
            </a:r>
            <a:r>
              <a:rPr lang="en-US" sz="30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mount</a:t>
            </a:r>
            <a:r>
              <a:rPr lang="en-US" sz="30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cũng</a:t>
            </a:r>
            <a:r>
              <a:rPr lang="en-US" sz="300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bắt</a:t>
            </a:r>
            <a:r>
              <a:rPr lang="en-US" sz="3000" dirty="0" spc="1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đầu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</a:t>
            </a:r>
            <a:r>
              <a:rPr lang="en-US" sz="3000" dirty="0" spc="-1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rỗng.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914400" y="71437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Cache</a:t>
            </a:r>
            <a:r>
              <a:rPr lang="en-US" sz="30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mount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giúp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 builder giữ</a:t>
            </a:r>
            <a:r>
              <a:rPr lang="en-US" sz="30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cache.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914400" y="79057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CI</a:t>
            </a: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2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2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tục.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9" name="Shape 17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1" name="Shape 19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2" name="Shape 20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3" name="Text 21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cec269f5-e847-4840-a0bf-9c695897775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308610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14400" y="436245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7" name="Text 5"/>
          <p:cNvSpPr/>
          <p:nvPr/>
        </p:nvSpPr>
        <p:spPr>
          <a:xfrm>
            <a:off x="1238250" y="459105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14400" y="586740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1238250" y="609600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737235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1238250" y="760095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2381250" y="285750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Cache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giúp</a:t>
            </a:r>
            <a:r>
              <a:rPr lang="en-US" sz="28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nhanh</a:t>
            </a:r>
            <a:r>
              <a:rPr lang="en-US" sz="2850" dirty="0" spc="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nhưng</a:t>
            </a: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bảo</a:t>
            </a:r>
            <a:r>
              <a:rPr lang="en-US" sz="2850" dirty="0" spc="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đảm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đúng.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2381250" y="436245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Cache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</a:t>
            </a:r>
            <a:r>
              <a:rPr lang="en-US" sz="2850" dirty="0" spc="-3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xa</a:t>
            </a:r>
            <a:r>
              <a:rPr lang="en-US" sz="28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tốn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dung</a:t>
            </a:r>
            <a:r>
              <a:rPr lang="en-US" sz="285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lượng</a:t>
            </a:r>
            <a:r>
              <a:rPr lang="en-US" sz="285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8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băng</a:t>
            </a:r>
            <a:r>
              <a:rPr lang="en-US" sz="28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thông.</a:t>
            </a:r>
            <a:endParaRPr lang="en-US" sz="2850" dirty="0"/>
          </a:p>
        </p:txBody>
      </p:sp>
      <p:sp>
        <p:nvSpPr>
          <p:cNvPr id="14" name="Text 12"/>
          <p:cNvSpPr/>
          <p:nvPr/>
        </p:nvSpPr>
        <p:spPr>
          <a:xfrm>
            <a:off x="2381250" y="586740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Cache</a:t>
            </a: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mount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cần BuildKit,</a:t>
            </a:r>
            <a:r>
              <a:rPr lang="en-US" sz="28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8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thay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cache</a:t>
            </a:r>
            <a:r>
              <a:rPr lang="en-US" sz="28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</a:t>
            </a:r>
            <a:r>
              <a:rPr lang="en-US" sz="2850" dirty="0" spc="-2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xa.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2381250" y="737235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Bài</a:t>
            </a:r>
            <a:r>
              <a:rPr lang="en-US" sz="28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bàn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kích</a:t>
            </a:r>
            <a:r>
              <a:rPr lang="en-US" sz="285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thước</a:t>
            </a:r>
            <a:r>
              <a:rPr lang="en-US" sz="28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image</a:t>
            </a:r>
            <a:r>
              <a:rPr lang="en-US" sz="28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hay</a:t>
            </a:r>
            <a:r>
              <a:rPr lang="en-US" sz="28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quét</a:t>
            </a:r>
            <a:r>
              <a:rPr lang="en-US" sz="28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lỗ</a:t>
            </a: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hổng.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Shape 18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2" name="Shape 20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3" name="Shape 21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4" name="Shape 22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5" name="Shape 23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6" name="Text 24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919487fb-c21c-497f-b1e2-7a9b8716fa0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1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Sửa</a:t>
            </a:r>
            <a:r>
              <a:rPr lang="en-US" sz="5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README:</a:t>
            </a:r>
            <a:r>
              <a:rPr lang="en-US" sz="5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51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5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cài</a:t>
            </a:r>
            <a:r>
              <a:rPr lang="en-US" sz="5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51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phụ</a:t>
            </a:r>
            <a:r>
              <a:rPr lang="en-US" sz="5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thuộc</a:t>
            </a:r>
            <a:r>
              <a:rPr lang="en-US" sz="5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không?</a:t>
            </a:r>
            <a:endParaRPr lang="en-US" sz="5100" dirty="0"/>
          </a:p>
        </p:txBody>
      </p:sp>
      <p:sp>
        <p:nvSpPr>
          <p:cNvPr id="4" name="Text 2"/>
          <p:cNvSpPr/>
          <p:nvPr/>
        </p:nvSpPr>
        <p:spPr>
          <a:xfrm>
            <a:off x="914400" y="249555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COPY</a:t>
            </a:r>
            <a:r>
              <a:rPr lang="en-US" sz="28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</a:t>
            </a:r>
            <a:r>
              <a:rPr lang="en-US" sz="28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</a:t>
            </a:r>
            <a:r>
              <a:rPr lang="en-US" sz="2850" dirty="0" spc="-2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8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</a:t>
            </a:r>
            <a:r>
              <a:rPr lang="en-US" sz="28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npm</a:t>
            </a:r>
            <a:r>
              <a:rPr lang="en-US" sz="28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ci.</a:t>
            </a:r>
            <a:r>
              <a:rPr lang="en-US" sz="28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2850" dirty="0" spc="-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8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lời:</a:t>
            </a:r>
            <a:r>
              <a:rPr lang="en-US" sz="28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3429000"/>
            <a:ext cx="8001000" cy="4286250"/>
          </a:xfrm>
          <a:prstGeom prst="roundRect">
            <a:avLst>
              <a:gd name="adj" fmla="val 6222"/>
            </a:avLst>
          </a:prstGeom>
          <a:solidFill>
            <a:srgbClr val="1E212B"/>
          </a:solidFill>
          <a:ln w="28575">
            <a:solidFill>
              <a:srgbClr val="9AA0B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33500" y="371475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DOCKERFILE</a:t>
            </a:r>
            <a:r>
              <a:rPr lang="en-US" sz="21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333500" y="4381500"/>
            <a:ext cx="72390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50"/>
              </a:spcAft>
              <a:buNone/>
            </a:pP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COPY</a:t>
            </a:r>
            <a:r>
              <a:rPr lang="en-US" sz="30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</a:t>
            </a:r>
            <a:r>
              <a:rPr lang="en-US" sz="30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</a:t>
            </a:r>
            <a:endParaRPr lang="en-US" sz="3000" dirty="0"/>
          </a:p>
          <a:p>
            <a:pPr algn="l" indent="0" marL="0">
              <a:buNone/>
            </a:pPr>
            <a:r>
              <a:rPr lang="en-US" sz="3000" b="1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RUN</a:t>
            </a: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npm</a:t>
            </a: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333500" y="6477000"/>
            <a:ext cx="723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5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đổi: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COPY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cache, npm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</a:t>
            </a:r>
            <a:r>
              <a:rPr lang="en-US" sz="25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372600" y="3429000"/>
            <a:ext cx="8001000" cy="4286250"/>
          </a:xfrm>
          <a:prstGeom prst="roundRect">
            <a:avLst>
              <a:gd name="adj" fmla="val 6222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91700" y="371475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1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CHỮA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9791700" y="4381500"/>
            <a:ext cx="72390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900"/>
              </a:spcAft>
              <a:buNone/>
            </a:pP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COPY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package.json</a:t>
            </a: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package-lock.json</a:t>
            </a: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./</a:t>
            </a:r>
            <a:endParaRPr lang="en-US" sz="255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255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RUN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npm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</a:t>
            </a:r>
            <a:endParaRPr lang="en-US" sz="2550" dirty="0"/>
          </a:p>
          <a:p>
            <a:pPr algn="l" indent="0" marL="0">
              <a:buNone/>
            </a:pP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COPY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9791700" y="6477000"/>
            <a:ext cx="723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đổi: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550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Shape 17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1" name="Shape 19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2" name="Shape 20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3" name="Text 21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b4ba335d-0aa2-4b22-b503-81582f1481f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</a:t>
            </a:r>
            <a:r>
              <a:rPr lang="en-US" sz="1950" b="1" spc="28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</a:t>
            </a:r>
            <a:r>
              <a:rPr lang="en-US" sz="69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tắc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238250"/>
          </a:xfrm>
          <a:prstGeom prst="roundRect">
            <a:avLst>
              <a:gd name="adj" fmla="val 1692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4286250"/>
            <a:ext cx="16459200" cy="1238250"/>
          </a:xfrm>
          <a:prstGeom prst="roundRect">
            <a:avLst>
              <a:gd name="adj" fmla="val 1692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5715000"/>
            <a:ext cx="16459200" cy="1238250"/>
          </a:xfrm>
          <a:prstGeom prst="roundRect">
            <a:avLst>
              <a:gd name="adj" fmla="val 1692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7143750"/>
            <a:ext cx="16459200" cy="1238250"/>
          </a:xfrm>
          <a:prstGeom prst="roundRect">
            <a:avLst>
              <a:gd name="adj" fmla="val 1692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2857500"/>
            <a:ext cx="133350" cy="123825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4286250"/>
            <a:ext cx="133350" cy="123825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0" name="Shape 8"/>
          <p:cNvSpPr/>
          <p:nvPr/>
        </p:nvSpPr>
        <p:spPr>
          <a:xfrm>
            <a:off x="914400" y="5715000"/>
            <a:ext cx="133350" cy="123825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7143750"/>
            <a:ext cx="133350" cy="123825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2" name="Text 10"/>
          <p:cNvSpPr/>
          <p:nvPr/>
        </p:nvSpPr>
        <p:spPr>
          <a:xfrm>
            <a:off x="1333500" y="2857500"/>
            <a:ext cx="476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4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Quy</a:t>
            </a:r>
            <a:r>
              <a:rPr lang="en-US" sz="2550" dirty="0" spc="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tắc</a:t>
            </a:r>
            <a:r>
              <a:rPr lang="en-US" sz="2550" dirty="0" spc="-24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vô</a:t>
            </a:r>
            <a:r>
              <a:rPr lang="en-US" sz="2550" dirty="0" spc="-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hiệu</a:t>
            </a:r>
            <a:r>
              <a:rPr lang="en-US" sz="2550" dirty="0" spc="-9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hóa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6286500" y="2857500"/>
            <a:ext cx="10858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lực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build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lại.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1333500" y="4286250"/>
            <a:ext cx="476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Cache</a:t>
            </a:r>
            <a:r>
              <a:rPr lang="en-US" sz="2550" dirty="0" spc="-1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cũ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6286500" y="4286250"/>
            <a:ext cx="10858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Gộp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apt-get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update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install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RUN.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1333500" y="5715000"/>
            <a:ext cx="476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Cache từ</a:t>
            </a:r>
            <a:r>
              <a:rPr lang="en-US" sz="2550" dirty="0" spc="-31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xa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6286500" y="5715000"/>
            <a:ext cx="10858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--cache-to,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--cache-from: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registry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 mục cục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bộ.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1333500" y="7143750"/>
            <a:ext cx="476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Cache</a:t>
            </a:r>
            <a:r>
              <a:rPr lang="en-US" sz="2550" dirty="0" spc="-6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mount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6286500" y="7143750"/>
            <a:ext cx="10858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RUN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--mount=type=cache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 cache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 build.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2" name="Shape 2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3" name="Shape 2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4" name="Shape 2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5" name="Shape 2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6" name="Shape 2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7" name="Shape 2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8" name="Shape 2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9" name="Shape 27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0" name="Text 28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d55d4965-0f46-433d-9702-ae442730b3a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b="1" spc="2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428750"/>
            <a:ext cx="164592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295400" y="1428750"/>
            <a:ext cx="1571625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CI</a:t>
            </a:r>
            <a:r>
              <a:rPr lang="en-US" sz="33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33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33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33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33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8100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914400" y="4476750"/>
            <a:ext cx="52578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ByteByteGo</a:t>
            </a:r>
            <a:r>
              <a:rPr lang="en-US" sz="21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(bản chụp</a:t>
            </a: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cố</a:t>
            </a:r>
            <a:r>
              <a:rPr lang="en-US" sz="2100" dirty="0" spc="1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định)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6515100" y="4476750"/>
            <a:ext cx="52578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5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Vô</a:t>
            </a:r>
            <a:r>
              <a:rPr lang="en-US" sz="2100" dirty="0" spc="-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hiệu</a:t>
            </a:r>
            <a:r>
              <a:rPr lang="en-US" sz="2100" dirty="0" spc="-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hóa</a:t>
            </a: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cache</a:t>
            </a:r>
            <a:r>
              <a:rPr lang="en-US" sz="2100" dirty="0" spc="-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build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2115800" y="4476750"/>
            <a:ext cx="52578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6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Tối</a:t>
            </a:r>
            <a:r>
              <a:rPr lang="en-US" sz="2100" dirty="0" spc="2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ưu</a:t>
            </a: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cache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14400" y="5810250"/>
            <a:ext cx="52578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Backend</a:t>
            </a: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cache</a:t>
            </a:r>
            <a:r>
              <a:rPr lang="en-US" sz="21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</a:t>
            </a:r>
            <a:r>
              <a:rPr lang="en-US" sz="2100" dirty="0" spc="-26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xa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515100" y="5810250"/>
            <a:ext cx="52578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9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docker</a:t>
            </a:r>
            <a:r>
              <a:rPr lang="en-US" sz="2100" dirty="0" spc="-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buildx</a:t>
            </a:r>
            <a:r>
              <a:rPr lang="en-US" sz="2100" dirty="0" spc="-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build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Shape 17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1" name="Text 19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f195f38d-11d7-495e-af0b-cc14fa4818f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2026-10-19T00:48:40Z</dcterms:created>
  <dcterms:modified xsi:type="dcterms:W3CDTF">2026-10-19T00:48:40Z</dcterms:modified>
</cp:coreProperties>
</file>