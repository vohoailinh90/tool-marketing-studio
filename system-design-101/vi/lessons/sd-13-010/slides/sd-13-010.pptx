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ExtraBold"/>
      <p:regular r:id="rId20"/>
    </p:embeddedFont>
    <p:embeddedFont>
      <p:font typeface="Be Vietnam Pro SemiBold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Relationship Id="rId21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7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95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950" b="1" spc="29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2476500"/>
          </a:xfrm>
          <a:prstGeom prst="rect">
            <a:avLst/>
          </a:prstGeom>
          <a:noFill/>
          <a:ln/>
        </p:spPr>
        <p:txBody>
          <a:bodyPr wrap="square" lIns="0" tIns="61722" rIns="0" bIns="-61722" rtlCol="0" anchor="t"/>
          <a:lstStyle/>
          <a:p>
            <a:pPr algn="l" indent="0" marL="0">
              <a:lnSpc>
                <a:spcPts val="8748"/>
              </a:lnSpc>
              <a:buNone/>
            </a:pP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Bảng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tuần</a:t>
            </a:r>
            <a:r>
              <a:rPr lang="en-US" sz="8100" dirty="0" spc="-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hoàn</a:t>
            </a:r>
            <a:r>
              <a:rPr lang="en-US" sz="8100" dirty="0" spc="-2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Kubernetes:</a:t>
            </a:r>
            <a:r>
              <a:rPr lang="en-US" sz="8100" dirty="0" spc="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đọc</a:t>
            </a:r>
            <a:r>
              <a:rPr lang="en-US" sz="8100" dirty="0" spc="2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8100" dirty="0" spc="-3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81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40005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Gom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300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300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vào</a:t>
            </a:r>
            <a:r>
              <a:rPr lang="en-US" sz="3000" dirty="0" spc="-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300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trang.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914400" y="533400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1100" y="5524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181100" y="609600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Thành</a:t>
            </a:r>
            <a:r>
              <a:rPr lang="en-US" sz="2700" dirty="0" spc="-5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2700" dirty="0" spc="-9" kern="0">
                <a:solidFill>
                  <a:srgbClr val="3DD6A0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lõi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4991100" y="533400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5524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-1" kern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02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5257800" y="609600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Thành</a:t>
            </a:r>
            <a:r>
              <a:rPr lang="en-US" sz="2700" dirty="0" spc="-5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2700" dirty="0" spc="-2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tùy</a:t>
            </a:r>
            <a:r>
              <a:rPr lang="en-US" sz="2700" dirty="0" spc="-9" kern="0">
                <a:solidFill>
                  <a:srgbClr val="FF6A4D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chọn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067800" y="533400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34500" y="5524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2" kern="0">
                <a:solidFill>
                  <a:srgbClr val="7C93FF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03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334500" y="609600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Đối</a:t>
            </a:r>
            <a:r>
              <a:rPr lang="en-US" sz="2700" dirty="0" spc="6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tượng</a:t>
            </a:r>
            <a:r>
              <a:rPr lang="en-US" sz="2700" dirty="0" spc="0" kern="0">
                <a:solidFill>
                  <a:srgbClr val="7C93FF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API</a:t>
            </a:r>
            <a:endParaRPr lang="en-US" sz="2700" dirty="0"/>
          </a:p>
        </p:txBody>
      </p:sp>
      <p:sp>
        <p:nvSpPr>
          <p:cNvPr id="14" name="Shape 12"/>
          <p:cNvSpPr/>
          <p:nvPr/>
        </p:nvSpPr>
        <p:spPr>
          <a:xfrm>
            <a:off x="13144500" y="5334000"/>
            <a:ext cx="3810000" cy="2476500"/>
          </a:xfrm>
          <a:prstGeom prst="roundRect">
            <a:avLst>
              <a:gd name="adj" fmla="val 7692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3411200" y="5524500"/>
            <a:ext cx="1905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dirty="0" spc="3" kern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04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3411200" y="6096000"/>
            <a:ext cx="32766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Dự</a:t>
            </a:r>
            <a:r>
              <a:rPr lang="en-US" sz="2700" dirty="0" spc="3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án</a:t>
            </a:r>
            <a:r>
              <a:rPr lang="en-US" sz="2700" dirty="0" spc="-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2700" dirty="0" spc="0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sinh</a:t>
            </a:r>
            <a:r>
              <a:rPr lang="en-US" sz="2700" dirty="0" spc="-1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endParaRPr lang="en-US" sz="2700" dirty="0"/>
          </a:p>
        </p:txBody>
      </p:sp>
      <p:sp>
        <p:nvSpPr>
          <p:cNvPr id="17" name="Shape 1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Moda image moda-export-watermark-aad55b8a-b44d-41c5-95b2-b6340648a70a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TÌNH</a:t>
            </a:r>
            <a:r>
              <a:rPr lang="en-US" sz="195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HUỐNG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MỤC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TIÊU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Đọc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3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69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cứu,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1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học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thuộc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CFE8E2"/>
          </a:solidFill>
          <a:ln w="28575">
            <a:solidFill>
              <a:srgbClr val="0F76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NÊN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333500" y="41910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Bản</a:t>
            </a:r>
            <a:r>
              <a:rPr lang="en-US" sz="5400" dirty="0" spc="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đồ</a:t>
            </a:r>
            <a:r>
              <a:rPr lang="en-US" sz="5400" dirty="0" spc="-2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tra</a:t>
            </a:r>
            <a:r>
              <a:rPr lang="en-US" sz="54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cứu</a:t>
            </a:r>
            <a:endParaRPr lang="en-US" sz="5400" dirty="0"/>
          </a:p>
        </p:txBody>
      </p:sp>
      <p:sp>
        <p:nvSpPr>
          <p:cNvPr id="7" name="Shape 5"/>
          <p:cNvSpPr/>
          <p:nvPr/>
        </p:nvSpPr>
        <p:spPr>
          <a:xfrm>
            <a:off x="9372600" y="3143250"/>
            <a:ext cx="8001000" cy="4476750"/>
          </a:xfrm>
          <a:prstGeom prst="roundRect">
            <a:avLst>
              <a:gd name="adj" fmla="val 5957"/>
            </a:avLst>
          </a:prstGeom>
          <a:solidFill>
            <a:srgbClr val="E8E0CF"/>
          </a:solidFill>
          <a:ln w="28575">
            <a:solidFill>
              <a:srgbClr val="6B6A6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spc="22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9791700" y="4191000"/>
            <a:ext cx="7239000" cy="3048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Danh</a:t>
            </a:r>
            <a:r>
              <a:rPr lang="en-US" sz="54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 học thuộc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14400" y="8096250"/>
            <a:ext cx="164592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Tách</a:t>
            </a: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r>
              <a:rPr lang="en-US" sz="2700" dirty="0" spc="-3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ra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biết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cái</a:t>
            </a:r>
            <a:r>
              <a:rPr lang="en-US" sz="2700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3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</a:t>
            </a:r>
            <a:r>
              <a:rPr lang="en-US" sz="2700" dirty="0" spc="-3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kèm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cụm, cái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tự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cài.</a:t>
            </a:r>
            <a:endParaRPr lang="en-US" sz="270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cc6c4f5-5dfd-44c4-b9a0-8c67d91ec65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2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01</a:t>
            </a:r>
            <a:r>
              <a:rPr lang="en-US" sz="1950" b="1" spc="29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1950" b="1" spc="279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LÕI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33350" cy="1238250"/>
          </a:xfrm>
          <a:prstGeom prst="rect">
            <a:avLst/>
          </a:prstGeom>
          <a:solidFill>
            <a:srgbClr val="3DD6A0"/>
          </a:solidFill>
          <a:ln/>
        </p:spPr>
      </p:sp>
      <p:sp>
        <p:nvSpPr>
          <p:cNvPr id="4" name="Text 2"/>
          <p:cNvSpPr/>
          <p:nvPr/>
        </p:nvSpPr>
        <p:spPr>
          <a:xfrm>
            <a:off x="1428750" y="1524000"/>
            <a:ext cx="15716250" cy="3143250"/>
          </a:xfrm>
          <a:prstGeom prst="rect">
            <a:avLst/>
          </a:prstGeom>
          <a:noFill/>
          <a:ln/>
        </p:spPr>
        <p:txBody>
          <a:bodyPr wrap="square" lIns="0" tIns="49530" rIns="0" bIns="-49530" rtlCol="0" anchor="t"/>
          <a:lstStyle/>
          <a:p>
            <a:pPr algn="l" indent="0" marL="0">
              <a:lnSpc>
                <a:spcPts val="8580"/>
              </a:lnSpc>
              <a:buNone/>
            </a:pPr>
            <a:r>
              <a:rPr lang="en-US" sz="78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78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cụm cần</a:t>
            </a:r>
            <a:r>
              <a:rPr lang="en-US" sz="7800" dirty="0" spc="2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để</a:t>
            </a:r>
            <a:r>
              <a:rPr lang="en-US" sz="7800" dirty="0" spc="-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chạy.</a:t>
            </a:r>
            <a:endParaRPr lang="en-US" sz="7800" dirty="0"/>
          </a:p>
        </p:txBody>
      </p:sp>
      <p:sp>
        <p:nvSpPr>
          <p:cNvPr id="5" name="Text 3"/>
          <p:cNvSpPr/>
          <p:nvPr/>
        </p:nvSpPr>
        <p:spPr>
          <a:xfrm>
            <a:off x="914400" y="5524500"/>
            <a:ext cx="5143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kube-apiserver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6343650" y="5524500"/>
            <a:ext cx="5143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2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etcd</a:t>
            </a:r>
            <a:endParaRPr lang="en-US" sz="2550" dirty="0"/>
          </a:p>
        </p:txBody>
      </p:sp>
      <p:sp>
        <p:nvSpPr>
          <p:cNvPr id="7" name="Text 5"/>
          <p:cNvSpPr/>
          <p:nvPr/>
        </p:nvSpPr>
        <p:spPr>
          <a:xfrm>
            <a:off x="11772900" y="5524500"/>
            <a:ext cx="5143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scheduler</a:t>
            </a:r>
            <a:endParaRPr lang="en-US" sz="2550" dirty="0"/>
          </a:p>
        </p:txBody>
      </p:sp>
      <p:sp>
        <p:nvSpPr>
          <p:cNvPr id="8" name="Text 6"/>
          <p:cNvSpPr/>
          <p:nvPr/>
        </p:nvSpPr>
        <p:spPr>
          <a:xfrm>
            <a:off x="914400" y="6762750"/>
            <a:ext cx="5143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14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controller</a:t>
            </a:r>
            <a:r>
              <a:rPr lang="en-US" sz="2550" b="1" dirty="0" spc="-3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manager</a:t>
            </a:r>
            <a:endParaRPr lang="en-US" sz="2550" dirty="0"/>
          </a:p>
        </p:txBody>
      </p:sp>
      <p:sp>
        <p:nvSpPr>
          <p:cNvPr id="9" name="Text 7"/>
          <p:cNvSpPr/>
          <p:nvPr/>
        </p:nvSpPr>
        <p:spPr>
          <a:xfrm>
            <a:off x="6343650" y="6762750"/>
            <a:ext cx="5143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9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kubelet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11772900" y="6762750"/>
            <a:ext cx="5143500" cy="95250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50" b="1" dirty="0" spc="-7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container</a:t>
            </a:r>
            <a:r>
              <a:rPr lang="en-US" sz="2550" b="1" dirty="0" spc="-5" kern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runtime</a:t>
            </a:r>
            <a:endParaRPr lang="en-US" sz="255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361851f1-2b38-4d16-a24c-411e82a77c5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</a:t>
            </a:r>
            <a:r>
              <a:rPr lang="en-US" sz="1950" b="1" spc="296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0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THÀNH PHẦN</a:t>
            </a:r>
            <a:r>
              <a:rPr lang="en-US" sz="1950" b="1" spc="307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TÙY</a:t>
            </a:r>
            <a:r>
              <a:rPr lang="en-US" sz="1950" b="1" spc="299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Mặc</a:t>
            </a:r>
            <a:r>
              <a:rPr lang="en-US" sz="6900" dirty="0" spc="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định</a:t>
            </a:r>
            <a:r>
              <a:rPr lang="en-US" sz="6900" dirty="0" spc="-2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có,</a:t>
            </a:r>
            <a:r>
              <a:rPr lang="en-US" sz="6900" dirty="0" spc="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thay</a:t>
            </a:r>
            <a:r>
              <a:rPr lang="en-US" sz="6900" dirty="0" spc="-9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được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4953000" cy="1428750"/>
          </a:xfrm>
          <a:prstGeom prst="roundRect">
            <a:avLst>
              <a:gd name="adj" fmla="val 18667"/>
            </a:avLst>
          </a:prstGeom>
          <a:solidFill>
            <a:srgbClr val="F8D9D0"/>
          </a:solidFill>
          <a:ln w="28575">
            <a:solidFill>
              <a:srgbClr val="E8472B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kube-proxy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5810250"/>
            <a:ext cx="4953000" cy="1428750"/>
          </a:xfrm>
          <a:prstGeom prst="roundRect">
            <a:avLst>
              <a:gd name="adj" fmla="val 18667"/>
            </a:avLst>
          </a:prstGeom>
          <a:solidFill>
            <a:srgbClr val="FBF8F2"/>
          </a:solidFill>
          <a:ln w="28575">
            <a:solidFill>
              <a:srgbClr val="E8472B"/>
            </a:solidFill>
            <a:prstDash val="lgDash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dirty="0" spc="0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Plugin</a:t>
            </a:r>
            <a:r>
              <a:rPr lang="en-US" sz="3300" dirty="0" spc="-9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mạng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12420600" y="4381500"/>
            <a:ext cx="4953000" cy="1905000"/>
          </a:xfrm>
          <a:prstGeom prst="roundRect">
            <a:avLst>
              <a:gd name="adj" fmla="val 50000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Service</a:t>
            </a:r>
            <a:endParaRPr lang="en-US" sz="3900" dirty="0"/>
          </a:p>
        </p:txBody>
      </p:sp>
      <p:sp>
        <p:nvSpPr>
          <p:cNvPr id="7" name="Connector line-1792370698345-334275484"/>
          <p:cNvSpPr/>
          <p:nvPr/>
        </p:nvSpPr>
        <p:spPr>
          <a:xfrm>
            <a:off x="5962650" y="4143375"/>
            <a:ext cx="6362700" cy="90487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8" name="Connector line-1792370698345-394759139"/>
          <p:cNvSpPr/>
          <p:nvPr/>
        </p:nvSpPr>
        <p:spPr>
          <a:xfrm flipV="1">
            <a:off x="5962650" y="5715000"/>
            <a:ext cx="6362700" cy="809625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914400" y="295275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Cách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100" dirty="0" spc="1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</a:t>
            </a:r>
            <a:r>
              <a:rPr lang="en-US" sz="210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hiện</a:t>
            </a:r>
            <a:r>
              <a:rPr lang="en-US" sz="2100" dirty="0" spc="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thực</a:t>
            </a: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Service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14400" y="7429500"/>
            <a:ext cx="495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10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dirty="0" spc="-8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2100" dirty="0" spc="-1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kube-proxy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2" name="Shape 10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3" name="Shape 11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15" name="Shape 13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Text 19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4cd5fa14-421a-4080-a2c6-2e8a245cd897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4287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03</a:t>
            </a:r>
            <a:r>
              <a:rPr lang="en-US" sz="1950" b="1" spc="29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2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ĐỐI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TƯỢNG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950" b="1" spc="289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(GIAO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 LẬP</a:t>
            </a:r>
            <a:r>
              <a:rPr lang="en-US" sz="1950" b="1" spc="301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1950" b="1" spc="327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1950" b="1" spc="300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DỤNG)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khai</a:t>
            </a:r>
            <a:r>
              <a:rPr lang="en-US" sz="6900" dirty="0" spc="-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báo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143250"/>
            <a:ext cx="52578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15100" y="3143250"/>
            <a:ext cx="52578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115800" y="3143250"/>
            <a:ext cx="52578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5429250"/>
            <a:ext cx="52578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15100" y="5429250"/>
            <a:ext cx="52578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115800" y="5429250"/>
            <a:ext cx="5257800" cy="1905000"/>
          </a:xfrm>
          <a:prstGeom prst="roundRect">
            <a:avLst>
              <a:gd name="adj" fmla="val 14000"/>
            </a:avLst>
          </a:prstGeom>
          <a:solidFill>
            <a:srgbClr val="DDE3FA"/>
          </a:solidFill>
          <a:ln w="28575">
            <a:solidFill>
              <a:srgbClr val="1F3F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143250"/>
            <a:ext cx="5257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37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Pod</a:t>
            </a:r>
            <a:endParaRPr lang="en-US" sz="3450" dirty="0"/>
          </a:p>
        </p:txBody>
      </p:sp>
      <p:sp>
        <p:nvSpPr>
          <p:cNvPr id="11" name="Text 9"/>
          <p:cNvSpPr/>
          <p:nvPr/>
        </p:nvSpPr>
        <p:spPr>
          <a:xfrm>
            <a:off x="6515100" y="3143250"/>
            <a:ext cx="5257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26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Deployment</a:t>
            </a:r>
            <a:endParaRPr lang="en-US" sz="3450" dirty="0"/>
          </a:p>
        </p:txBody>
      </p:sp>
      <p:sp>
        <p:nvSpPr>
          <p:cNvPr id="12" name="Text 10"/>
          <p:cNvSpPr/>
          <p:nvPr/>
        </p:nvSpPr>
        <p:spPr>
          <a:xfrm>
            <a:off x="12115800" y="3143250"/>
            <a:ext cx="5257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1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Service</a:t>
            </a:r>
            <a:endParaRPr lang="en-US" sz="3450" dirty="0"/>
          </a:p>
        </p:txBody>
      </p:sp>
      <p:sp>
        <p:nvSpPr>
          <p:cNvPr id="13" name="Text 11"/>
          <p:cNvSpPr/>
          <p:nvPr/>
        </p:nvSpPr>
        <p:spPr>
          <a:xfrm>
            <a:off x="914400" y="5429250"/>
            <a:ext cx="5257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4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ConfigMap</a:t>
            </a:r>
            <a:endParaRPr lang="en-US" sz="3450" dirty="0"/>
          </a:p>
        </p:txBody>
      </p:sp>
      <p:sp>
        <p:nvSpPr>
          <p:cNvPr id="14" name="Text 12"/>
          <p:cNvSpPr/>
          <p:nvPr/>
        </p:nvSpPr>
        <p:spPr>
          <a:xfrm>
            <a:off x="6515100" y="5429250"/>
            <a:ext cx="5257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Secret</a:t>
            </a:r>
            <a:endParaRPr lang="en-US" sz="3450" dirty="0"/>
          </a:p>
        </p:txBody>
      </p:sp>
      <p:sp>
        <p:nvSpPr>
          <p:cNvPr id="15" name="Text 13"/>
          <p:cNvSpPr/>
          <p:nvPr/>
        </p:nvSpPr>
        <p:spPr>
          <a:xfrm>
            <a:off x="12115800" y="5429250"/>
            <a:ext cx="5257800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50" dirty="0" spc="-18" kern="0">
                <a:solidFill>
                  <a:srgbClr val="14161C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Ingress</a:t>
            </a:r>
            <a:endParaRPr lang="en-US" sz="3450" dirty="0"/>
          </a:p>
        </p:txBody>
      </p:sp>
      <p:sp>
        <p:nvSpPr>
          <p:cNvPr id="16" name="Text 14"/>
          <p:cNvSpPr/>
          <p:nvPr/>
        </p:nvSpPr>
        <p:spPr>
          <a:xfrm>
            <a:off x="914400" y="781050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22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22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2250" dirty="0" spc="7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2250" dirty="0" spc="2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225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0" name="Shape 18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2" name="Shape 20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Text 25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a7a498aa-1610-4e39-961a-1ca99389bf0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26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LOẠI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</a:t>
            </a:r>
            <a:r>
              <a:rPr lang="en-US" sz="1950" b="1" spc="297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</a:t>
            </a:r>
            <a:r>
              <a:rPr lang="en-US" sz="1950" b="1" spc="29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 HỆ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SINH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THÁI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Thứ</a:t>
            </a:r>
            <a:r>
              <a:rPr lang="en-US" sz="69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bạn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thêm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2571750"/>
          </a:xfrm>
          <a:prstGeom prst="roundRect">
            <a:avLst>
              <a:gd name="adj" fmla="val 10370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lgDash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spc="225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100" b="1" spc="224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NẰM</a:t>
            </a:r>
            <a:r>
              <a:rPr lang="en-US" sz="2100" b="1" spc="21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TRONG</a:t>
            </a:r>
            <a:r>
              <a:rPr lang="en-US" sz="2100" b="1" spc="223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KUBERNETES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295400" y="3810000"/>
            <a:ext cx="47625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4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Helm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762750" y="3810000"/>
            <a:ext cx="47625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16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Prometheus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2230100" y="3810000"/>
            <a:ext cx="4762500" cy="1143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 w="28575">
            <a:solidFill>
              <a:srgbClr val="FFB454"/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 spc="-27" kern="0">
                <a:solidFill>
                  <a:srgbClr val="FFB454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Istio...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5905500"/>
            <a:ext cx="16459200" cy="1905000"/>
          </a:xfrm>
          <a:prstGeom prst="roundRect">
            <a:avLst>
              <a:gd name="adj" fmla="val 14000"/>
            </a:avLst>
          </a:prstGeom>
          <a:solidFill>
            <a:srgbClr val="2A2E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dirty="0" spc="-1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Kubernetes</a:t>
            </a:r>
            <a:endParaRPr lang="en-US" sz="4800" dirty="0"/>
          </a:p>
        </p:txBody>
      </p:sp>
      <p:sp>
        <p:nvSpPr>
          <p:cNvPr id="10" name="Shape 8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9" name="Shape 17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20" name="Text 18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2" name="Moda image moda-export-watermark-c30c0116-2c19-41e6-b083-6a41fb634fa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CHỌN</a:t>
            </a:r>
            <a:r>
              <a:rPr lang="en-US" sz="1950" b="1" spc="2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GIỚI</a:t>
            </a:r>
            <a:r>
              <a:rPr lang="en-US" sz="195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-3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Giới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nhớ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9527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3147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914400" y="476250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7" name="Text 5"/>
          <p:cNvSpPr/>
          <p:nvPr/>
        </p:nvSpPr>
        <p:spPr>
          <a:xfrm>
            <a:off x="1295400" y="512445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2700" dirty="0"/>
          </a:p>
        </p:txBody>
      </p:sp>
      <p:sp>
        <p:nvSpPr>
          <p:cNvPr id="8" name="Shape 6"/>
          <p:cNvSpPr/>
          <p:nvPr/>
        </p:nvSpPr>
        <p:spPr>
          <a:xfrm>
            <a:off x="914400" y="6572250"/>
            <a:ext cx="16459200" cy="1524000"/>
          </a:xfrm>
          <a:prstGeom prst="roundRect">
            <a:avLst>
              <a:gd name="adj" fmla="val 15000"/>
            </a:avLst>
          </a:prstGeom>
          <a:solidFill>
            <a:srgbClr val="E8E0CF"/>
          </a:solidFill>
          <a:ln/>
        </p:spPr>
      </p:sp>
      <p:sp>
        <p:nvSpPr>
          <p:cNvPr id="9" name="Text 7"/>
          <p:cNvSpPr/>
          <p:nvPr/>
        </p:nvSpPr>
        <p:spPr>
          <a:xfrm>
            <a:off x="1295400" y="6934200"/>
            <a:ext cx="800100" cy="800100"/>
          </a:xfrm>
          <a:prstGeom prst="ellipse">
            <a:avLst/>
          </a:prstGeom>
          <a:solidFill>
            <a:srgbClr val="1F3FD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2700" dirty="0"/>
          </a:p>
        </p:txBody>
      </p:sp>
      <p:sp>
        <p:nvSpPr>
          <p:cNvPr id="10" name="Text 8"/>
          <p:cNvSpPr/>
          <p:nvPr/>
        </p:nvSpPr>
        <p:spPr>
          <a:xfrm>
            <a:off x="2476500" y="29527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15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được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duy</a:t>
            </a:r>
            <a:r>
              <a:rPr lang="en-US" sz="3150" dirty="0" spc="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trì</a:t>
            </a:r>
            <a:r>
              <a:rPr lang="en-US" sz="3150" dirty="0" spc="-1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tốt.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2476500" y="476250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Không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cho</a:t>
            </a:r>
            <a:r>
              <a:rPr lang="en-US" sz="315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biết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thành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315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nào</a:t>
            </a: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3150" dirty="0" spc="-1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với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bạn.</a:t>
            </a:r>
            <a:endParaRPr lang="en-US" sz="3150" dirty="0"/>
          </a:p>
        </p:txBody>
      </p:sp>
      <p:sp>
        <p:nvSpPr>
          <p:cNvPr id="12" name="Text 10"/>
          <p:cNvSpPr/>
          <p:nvPr/>
        </p:nvSpPr>
        <p:spPr>
          <a:xfrm>
            <a:off x="2476500" y="6572250"/>
            <a:ext cx="1447800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15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Bảng</a:t>
            </a:r>
            <a:r>
              <a:rPr lang="en-US" sz="315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nhanh</a:t>
            </a:r>
            <a:r>
              <a:rPr lang="en-US" sz="3150" dirty="0" spc="-4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lỗi</a:t>
            </a:r>
            <a:r>
              <a:rPr lang="en-US" sz="315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thời.</a:t>
            </a:r>
            <a:endParaRPr lang="en-US" sz="3150" dirty="0"/>
          </a:p>
        </p:txBody>
      </p:sp>
      <p:sp>
        <p:nvSpPr>
          <p:cNvPr id="13" name="Shape 11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4" name="Shape 12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5" name="Shape 13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6" name="Shape 14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7" name="Shape 15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8" name="Shape 16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19" name="Shape 17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20" name="Shape 18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1" name="Shape 19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2" name="Shape 20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Text 21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5" name="Moda image moda-export-watermark-3df669d9-bee1-4de0-8218-656011766b6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950" b="1" spc="302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b="1" spc="30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THỬ</a:t>
            </a:r>
            <a:r>
              <a:rPr lang="en-US" sz="1950" b="1" spc="300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950" b="1" spc="27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333500"/>
            <a:ext cx="16459200" cy="1143000"/>
          </a:xfrm>
          <a:prstGeom prst="rect">
            <a:avLst/>
          </a:prstGeom>
          <a:noFill/>
          <a:ln/>
        </p:spPr>
        <p:txBody>
          <a:bodyPr wrap="square" lIns="0" tIns="43815" rIns="0" bIns="-43815" rtlCol="0" anchor="t"/>
          <a:lstStyle/>
          <a:p>
            <a:pPr algn="l" indent="0" marL="0">
              <a:lnSpc>
                <a:spcPts val="7590"/>
              </a:lnSpc>
              <a:buNone/>
            </a:pP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Helm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6900" dirty="0" spc="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phải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thành</a:t>
            </a:r>
            <a:r>
              <a:rPr lang="en-US" sz="69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lõi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4000500"/>
            <a:ext cx="133350" cy="2190750"/>
          </a:xfrm>
          <a:prstGeom prst="rect">
            <a:avLst/>
          </a:prstGeom>
          <a:solidFill>
            <a:srgbClr val="FFB454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810000"/>
            <a:ext cx="15716250" cy="2571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0" dirty="0" spc="2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Không.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914400" y="6858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Helm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là</a:t>
            </a:r>
            <a:r>
              <a:rPr lang="en-US" sz="30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công</a:t>
            </a:r>
            <a:r>
              <a:rPr lang="en-US" sz="30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</a:t>
            </a:r>
            <a:r>
              <a:rPr lang="en-US" sz="3000" dirty="0" spc="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đóng</a:t>
            </a:r>
            <a:r>
              <a:rPr lang="en-US" sz="30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gói,</a:t>
            </a:r>
            <a:r>
              <a:rPr lang="en-US" sz="30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thuộc</a:t>
            </a:r>
            <a:r>
              <a:rPr lang="en-US" sz="30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30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30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914400" y="7620000"/>
            <a:ext cx="16459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Cụm</a:t>
            </a:r>
            <a:r>
              <a:rPr lang="en-US" sz="300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</a:t>
            </a:r>
            <a:r>
              <a:rPr lang="en-US" sz="3000" dirty="0" spc="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mà không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Helm.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9" name="Shape 7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Text 16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0" name="Moda image moda-export-watermark-562fd19e-78ef-4266-bea2-87d52f7ea235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3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</a:t>
            </a:r>
            <a:r>
              <a:rPr lang="en-US" sz="1950" b="1" spc="287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SÂU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914400" y="1238250"/>
            <a:ext cx="164592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Phân biệt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loại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6459200" cy="1009650"/>
          </a:xfrm>
          <a:prstGeom prst="roundRect">
            <a:avLst>
              <a:gd name="adj" fmla="val 207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3924300"/>
            <a:ext cx="16459200" cy="1009650"/>
          </a:xfrm>
          <a:prstGeom prst="roundRect">
            <a:avLst>
              <a:gd name="adj" fmla="val 207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5086350"/>
            <a:ext cx="16459200" cy="1009650"/>
          </a:xfrm>
          <a:prstGeom prst="roundRect">
            <a:avLst>
              <a:gd name="adj" fmla="val 207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6248400"/>
            <a:ext cx="16459200" cy="1009650"/>
          </a:xfrm>
          <a:prstGeom prst="roundRect">
            <a:avLst>
              <a:gd name="adj" fmla="val 20755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2762250"/>
            <a:ext cx="133350" cy="100965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3924300"/>
            <a:ext cx="133350" cy="1009650"/>
          </a:xfrm>
          <a:prstGeom prst="rect">
            <a:avLst/>
          </a:prstGeom>
          <a:solidFill>
            <a:srgbClr val="E8472B"/>
          </a:solidFill>
          <a:ln/>
        </p:spPr>
      </p:sp>
      <p:sp>
        <p:nvSpPr>
          <p:cNvPr id="10" name="Shape 8"/>
          <p:cNvSpPr/>
          <p:nvPr/>
        </p:nvSpPr>
        <p:spPr>
          <a:xfrm>
            <a:off x="914400" y="5086350"/>
            <a:ext cx="133350" cy="1009650"/>
          </a:xfrm>
          <a:prstGeom prst="rect">
            <a:avLst/>
          </a:prstGeom>
          <a:solidFill>
            <a:srgbClr val="1F3FD1"/>
          </a:solidFill>
          <a:ln/>
        </p:spPr>
      </p:sp>
      <p:sp>
        <p:nvSpPr>
          <p:cNvPr id="11" name="Shape 9"/>
          <p:cNvSpPr/>
          <p:nvPr/>
        </p:nvSpPr>
        <p:spPr>
          <a:xfrm>
            <a:off x="914400" y="6248400"/>
            <a:ext cx="133350" cy="1009650"/>
          </a:xfrm>
          <a:prstGeom prst="rect">
            <a:avLst/>
          </a:prstGeom>
          <a:solidFill>
            <a:srgbClr val="B45309"/>
          </a:solidFill>
          <a:ln/>
        </p:spPr>
      </p:sp>
      <p:sp>
        <p:nvSpPr>
          <p:cNvPr id="12" name="Text 10"/>
          <p:cNvSpPr/>
          <p:nvPr/>
        </p:nvSpPr>
        <p:spPr>
          <a:xfrm>
            <a:off x="1333500" y="2762250"/>
            <a:ext cx="49530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Thành</a:t>
            </a:r>
            <a:r>
              <a:rPr lang="en-US" sz="2700" dirty="0" spc="-5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2700" dirty="0" spc="-9" kern="0">
                <a:solidFill>
                  <a:srgbClr val="0F766E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lõi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667500" y="2762250"/>
            <a:ext cx="104775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cụm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700" dirty="0" spc="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2700" dirty="0" spc="-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chạy.</a:t>
            </a:r>
            <a:endParaRPr lang="en-US" sz="2700" dirty="0"/>
          </a:p>
        </p:txBody>
      </p:sp>
      <p:sp>
        <p:nvSpPr>
          <p:cNvPr id="14" name="Text 12"/>
          <p:cNvSpPr/>
          <p:nvPr/>
        </p:nvSpPr>
        <p:spPr>
          <a:xfrm>
            <a:off x="1333500" y="3924300"/>
            <a:ext cx="49530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Thành</a:t>
            </a:r>
            <a:r>
              <a:rPr lang="en-US" sz="2700" dirty="0" spc="-5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phần</a:t>
            </a:r>
            <a:r>
              <a:rPr lang="en-US" sz="2700" dirty="0" spc="-2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tùy</a:t>
            </a:r>
            <a:r>
              <a:rPr lang="en-US" sz="2700" dirty="0" spc="-9" kern="0">
                <a:solidFill>
                  <a:srgbClr val="E8472B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chọn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667500" y="3924300"/>
            <a:ext cx="104775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mặc</a:t>
            </a:r>
            <a:r>
              <a:rPr lang="en-US" sz="2700" dirty="0" spc="1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định,</a:t>
            </a:r>
            <a:r>
              <a:rPr lang="en-US" sz="2700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700" dirty="0" spc="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bằng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giải pháp khác.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1333500" y="5086350"/>
            <a:ext cx="49530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Đối</a:t>
            </a:r>
            <a:r>
              <a:rPr lang="en-US" sz="2700" dirty="0" spc="6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tượng</a:t>
            </a:r>
            <a:r>
              <a:rPr lang="en-US" sz="2700" dirty="0" spc="0" kern="0">
                <a:solidFill>
                  <a:srgbClr val="1F3FD1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API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6667500" y="5086350"/>
            <a:ext cx="104775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khai</a:t>
            </a:r>
            <a:r>
              <a:rPr lang="en-US" sz="2700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báo.</a:t>
            </a:r>
            <a:endParaRPr lang="en-US" sz="2700" dirty="0"/>
          </a:p>
        </p:txBody>
      </p:sp>
      <p:sp>
        <p:nvSpPr>
          <p:cNvPr id="18" name="Text 16"/>
          <p:cNvSpPr/>
          <p:nvPr/>
        </p:nvSpPr>
        <p:spPr>
          <a:xfrm>
            <a:off x="1333500" y="6248400"/>
            <a:ext cx="49530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-4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Dự</a:t>
            </a:r>
            <a:r>
              <a:rPr lang="en-US" sz="2700" dirty="0" spc="3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án</a:t>
            </a:r>
            <a:r>
              <a:rPr lang="en-US" sz="2700" dirty="0" spc="-7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hệ</a:t>
            </a:r>
            <a:r>
              <a:rPr lang="en-US" sz="2700" dirty="0" spc="0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sinh</a:t>
            </a:r>
            <a:r>
              <a:rPr lang="en-US" sz="2700" dirty="0" spc="-1" kern="0">
                <a:solidFill>
                  <a:srgbClr val="B45309"/>
                </a:solidFill>
                <a:latin typeface="Be Vietnam Pro ExtraBold" pitchFamily="34" charset="0"/>
                <a:ea typeface="Be Vietnam Pro ExtraBold" pitchFamily="34" charset="-122"/>
                <a:cs typeface="Be Vietnam Pro ExtraBold" pitchFamily="34" charset="-120"/>
              </a:rPr>
              <a:t> thái</a:t>
            </a:r>
            <a:endParaRPr lang="en-US" sz="2700" dirty="0"/>
          </a:p>
        </p:txBody>
      </p:sp>
      <p:sp>
        <p:nvSpPr>
          <p:cNvPr id="19" name="Text 17"/>
          <p:cNvSpPr/>
          <p:nvPr/>
        </p:nvSpPr>
        <p:spPr>
          <a:xfrm>
            <a:off x="6667500" y="6248400"/>
            <a:ext cx="10477500" cy="1009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Thứ</a:t>
            </a:r>
            <a:r>
              <a:rPr lang="en-US" sz="2700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bạn</a:t>
            </a:r>
            <a:r>
              <a:rPr lang="en-US" sz="270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 thêm.</a:t>
            </a:r>
            <a:endParaRPr lang="en-US" sz="2700" dirty="0"/>
          </a:p>
        </p:txBody>
      </p:sp>
      <p:sp>
        <p:nvSpPr>
          <p:cNvPr id="20" name="Text 18"/>
          <p:cNvSpPr/>
          <p:nvPr/>
        </p:nvSpPr>
        <p:spPr>
          <a:xfrm>
            <a:off x="914400" y="7715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6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Tra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bài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toán,</a:t>
            </a:r>
            <a:r>
              <a:rPr lang="en-US" sz="2400" dirty="0" spc="-1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rồi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mở</a:t>
            </a: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tài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 dự</a:t>
            </a:r>
            <a:r>
              <a:rPr lang="en-US" sz="2400" dirty="0" spc="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án.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4400" y="82867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Học</a:t>
            </a:r>
            <a:r>
              <a:rPr lang="en-US" sz="2400" dirty="0" spc="-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lõi,</a:t>
            </a:r>
            <a:r>
              <a:rPr lang="en-US" sz="2400" dirty="0" spc="7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đối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tượng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API</a:t>
            </a:r>
            <a:r>
              <a:rPr lang="en-US" sz="2400" dirty="0" spc="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trước;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hệ</a:t>
            </a:r>
            <a:r>
              <a:rPr lang="en-US" sz="2400" dirty="0" spc="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sinh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thái</a:t>
            </a:r>
            <a:r>
              <a:rPr lang="en-US" sz="2400" dirty="0" spc="0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sau.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3" name="Shape 21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4" name="Shape 22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5" name="Shape 23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6" name="Shape 24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7" name="Shape 25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8" name="Shape 26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29" name="Shape 27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0" name="Shape 28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E8472B"/>
          </a:solidFill>
          <a:ln/>
        </p:spPr>
      </p:sp>
      <p:sp>
        <p:nvSpPr>
          <p:cNvPr id="31" name="Shape 29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C9C1AD"/>
          </a:solidFill>
          <a:ln/>
        </p:spPr>
      </p:sp>
      <p:sp>
        <p:nvSpPr>
          <p:cNvPr id="32" name="Text 30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4" name="Moda image moda-export-watermark-76673ef5-8bbd-4768-b58f-d50dbe160304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95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VIẾT</a:t>
            </a:r>
            <a:r>
              <a:rPr lang="en-US" sz="1950" b="1" spc="202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TẮT</a:t>
            </a:r>
            <a:r>
              <a:rPr lang="en-US" sz="1950" b="1" spc="24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950" dirty="0"/>
          </a:p>
        </p:txBody>
      </p:sp>
      <p:sp>
        <p:nvSpPr>
          <p:cNvPr id="3" name="Shape 1"/>
          <p:cNvSpPr/>
          <p:nvPr/>
        </p:nvSpPr>
        <p:spPr>
          <a:xfrm>
            <a:off x="914400" y="14287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95400" y="1428750"/>
            <a:ext cx="15716250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30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API</a:t>
            </a:r>
            <a:r>
              <a:rPr lang="en-US" sz="3300" b="1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=</a:t>
            </a:r>
            <a:r>
              <a:rPr lang="en-US" sz="3300" b="1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300" b="1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3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lập</a:t>
            </a:r>
            <a:r>
              <a:rPr lang="en-US" sz="330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trình</a:t>
            </a:r>
            <a:r>
              <a:rPr lang="en-US" sz="3300" b="1" dirty="0" spc="3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ứng</a:t>
            </a:r>
            <a:r>
              <a:rPr lang="en-US" sz="3300" b="1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dụng</a:t>
            </a:r>
            <a:endParaRPr lang="en-US" sz="3300" dirty="0"/>
          </a:p>
        </p:txBody>
      </p:sp>
      <p:sp>
        <p:nvSpPr>
          <p:cNvPr id="5" name="Text 3"/>
          <p:cNvSpPr/>
          <p:nvPr/>
        </p:nvSpPr>
        <p:spPr>
          <a:xfrm>
            <a:off x="914400" y="3810000"/>
            <a:ext cx="11430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30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950" b="1" spc="30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14400" y="4476750"/>
            <a:ext cx="5257800" cy="1238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ByteByteGo</a:t>
            </a:r>
            <a:r>
              <a:rPr lang="en-US" sz="2100" dirty="0" spc="0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(bản chụp</a:t>
            </a:r>
            <a:r>
              <a:rPr lang="en-US" sz="2100" dirty="0" spc="-5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cố</a:t>
            </a:r>
            <a:r>
              <a:rPr lang="en-US" sz="2100" dirty="0" spc="12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định)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6515100" y="4476750"/>
            <a:ext cx="5257800" cy="1238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Thành</a:t>
            </a:r>
            <a:r>
              <a:rPr lang="en-US" sz="2100" dirty="0" spc="-4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phần</a:t>
            </a:r>
            <a:r>
              <a:rPr lang="en-US" sz="2100" dirty="0" spc="1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cụm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2115800" y="4476750"/>
            <a:ext cx="5257800" cy="1238250"/>
          </a:xfrm>
          <a:prstGeom prst="roundRect">
            <a:avLst>
              <a:gd name="adj" fmla="val 50000"/>
            </a:avLst>
          </a:prstGeom>
          <a:solidFill>
            <a:srgbClr val="1E21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67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100" dirty="0" spc="-3" kern="0">
                <a:solidFill>
                  <a:srgbClr val="E4E1D8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liệu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9525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0" name="Shape 8"/>
          <p:cNvSpPr/>
          <p:nvPr/>
        </p:nvSpPr>
        <p:spPr>
          <a:xfrm>
            <a:off x="12001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1" name="Shape 9"/>
          <p:cNvSpPr/>
          <p:nvPr/>
        </p:nvSpPr>
        <p:spPr>
          <a:xfrm>
            <a:off x="14478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2" name="Shape 10"/>
          <p:cNvSpPr/>
          <p:nvPr/>
        </p:nvSpPr>
        <p:spPr>
          <a:xfrm>
            <a:off x="16954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3" name="Shape 11"/>
          <p:cNvSpPr/>
          <p:nvPr/>
        </p:nvSpPr>
        <p:spPr>
          <a:xfrm>
            <a:off x="19431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4" name="Shape 12"/>
          <p:cNvSpPr/>
          <p:nvPr/>
        </p:nvSpPr>
        <p:spPr>
          <a:xfrm>
            <a:off x="21907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84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6" name="Shape 14"/>
          <p:cNvSpPr/>
          <p:nvPr/>
        </p:nvSpPr>
        <p:spPr>
          <a:xfrm>
            <a:off x="268605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7" name="Shape 15"/>
          <p:cNvSpPr/>
          <p:nvPr/>
        </p:nvSpPr>
        <p:spPr>
          <a:xfrm>
            <a:off x="2933700" y="9563100"/>
            <a:ext cx="152400" cy="152400"/>
          </a:xfrm>
          <a:prstGeom prst="ellipse">
            <a:avLst/>
          </a:prstGeom>
          <a:solidFill>
            <a:srgbClr val="4A4E5A"/>
          </a:solidFill>
          <a:ln/>
        </p:spPr>
      </p:sp>
      <p:sp>
        <p:nvSpPr>
          <p:cNvPr id="18" name="Shape 16"/>
          <p:cNvSpPr/>
          <p:nvPr/>
        </p:nvSpPr>
        <p:spPr>
          <a:xfrm>
            <a:off x="3181350" y="9563100"/>
            <a:ext cx="152400" cy="152400"/>
          </a:xfrm>
          <a:prstGeom prst="ellipse">
            <a:avLst/>
          </a:prstGeom>
          <a:solidFill>
            <a:srgbClr val="FF6A4D"/>
          </a:solidFill>
          <a:ln/>
        </p:spPr>
      </p:sp>
      <p:sp>
        <p:nvSpPr>
          <p:cNvPr id="19" name="Text 17"/>
          <p:cNvSpPr/>
          <p:nvPr/>
        </p:nvSpPr>
        <p:spPr>
          <a:xfrm>
            <a:off x="3695700" y="9467850"/>
            <a:ext cx="66675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</a:t>
            </a:r>
            <a:r>
              <a:rPr lang="en-US" sz="18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dirty="0" spc="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0ba3c2d1-a75c-46ff-a627-db5e907c45c0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2026-10-19T16:37:56Z</dcterms:created>
  <dcterms:modified xsi:type="dcterms:W3CDTF">2026-10-19T16:37:56Z</dcterms:modified>
</cp:coreProperties>
</file>