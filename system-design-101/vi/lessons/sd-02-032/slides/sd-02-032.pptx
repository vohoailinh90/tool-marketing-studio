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952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334500" cy="381000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Ngăn</a:t>
            </a:r>
            <a:r>
              <a:rPr lang="en-US" sz="7500" dirty="0" spc="-8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xếp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 nghệ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 Netflix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5715000"/>
            <a:ext cx="8572500" cy="11430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bấm</a:t>
            </a:r>
            <a:r>
              <a:rPr lang="en-US" sz="3000" dirty="0" spc="-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3000" dirty="0" spc="4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300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đâu?</a:t>
            </a:r>
            <a:endParaRPr lang="en-US" sz="3000" dirty="0"/>
          </a:p>
        </p:txBody>
      </p:sp>
      <p:sp>
        <p:nvSpPr>
          <p:cNvPr id="5" name="Connector line-1792383460972-589019397"/>
          <p:cNvSpPr/>
          <p:nvPr/>
        </p:nvSpPr>
        <p:spPr>
          <a:xfrm>
            <a:off x="914400" y="723900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524750"/>
            <a:ext cx="857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6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Tám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mảng, từ</a:t>
            </a:r>
            <a:r>
              <a:rPr lang="en-US" sz="2100" dirty="0" spc="2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1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 phát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62025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Tình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0668000" y="14287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3750" y="17145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953750" y="27622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6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Di</a:t>
            </a:r>
            <a:r>
              <a:rPr lang="en-US" sz="3150" dirty="0" spc="1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động,</a:t>
            </a:r>
            <a:r>
              <a:rPr lang="en-US" sz="3150" dirty="0" spc="-1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web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14135100" y="14287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420850" y="17145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420850" y="27622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9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Dữ</a:t>
            </a:r>
            <a:r>
              <a:rPr lang="en-US" sz="315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liệu, video</a:t>
            </a:r>
            <a:endParaRPr lang="en-US" sz="3150" dirty="0"/>
          </a:p>
        </p:txBody>
      </p:sp>
      <p:sp>
        <p:nvSpPr>
          <p:cNvPr id="14" name="Shape 12"/>
          <p:cNvSpPr/>
          <p:nvPr/>
        </p:nvSpPr>
        <p:spPr>
          <a:xfrm>
            <a:off x="10668000" y="48958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53750" y="5181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953750" y="62293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6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Truyền</a:t>
            </a:r>
            <a:r>
              <a:rPr lang="en-US" sz="3150" dirty="0" spc="-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tin,</a:t>
            </a:r>
            <a:r>
              <a:rPr lang="en-US" sz="3150" dirty="0" spc="-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xử</a:t>
            </a:r>
            <a:r>
              <a:rPr lang="en-US" sz="3150" dirty="0" spc="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</a:t>
            </a:r>
            <a:endParaRPr lang="en-US" sz="3150" dirty="0"/>
          </a:p>
        </p:txBody>
      </p:sp>
      <p:sp>
        <p:nvSpPr>
          <p:cNvPr id="17" name="Shape 15"/>
          <p:cNvSpPr/>
          <p:nvPr/>
        </p:nvSpPr>
        <p:spPr>
          <a:xfrm>
            <a:off x="14135100" y="48958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4420850" y="5181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04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420850" y="62293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Phát</a:t>
            </a:r>
            <a:r>
              <a:rPr lang="en-US" sz="3150" dirty="0" spc="-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hành</a:t>
            </a:r>
            <a:endParaRPr lang="en-US" sz="31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f48b06a0-f290-4037-aa96-25858780a3a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905000"/>
            <a:ext cx="16459200" cy="361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0" dirty="0" spc="5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8</a:t>
            </a:r>
            <a:endParaRPr lang="en-US" sz="22500" dirty="0"/>
          </a:p>
        </p:txBody>
      </p:sp>
      <p:sp>
        <p:nvSpPr>
          <p:cNvPr id="4" name="Text 2"/>
          <p:cNvSpPr/>
          <p:nvPr/>
        </p:nvSpPr>
        <p:spPr>
          <a:xfrm>
            <a:off x="914400" y="5715000"/>
            <a:ext cx="164592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mảng</a:t>
            </a:r>
            <a:r>
              <a:rPr lang="en-US" sz="48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 ngăn</a:t>
            </a:r>
            <a:r>
              <a:rPr lang="en-US" sz="4800" dirty="0" spc="-5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xếp</a:t>
            </a:r>
            <a:r>
              <a:rPr lang="en-US" sz="4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4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Netflix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914400" y="6858000"/>
            <a:ext cx="14287500" cy="1143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5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 từ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blog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Netflix.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e7e83add-9fe2-453a-a924-0828263766e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ĐƯỜNG</a:t>
            </a:r>
            <a:r>
              <a:rPr lang="en-US" sz="1950" b="1" spc="29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 PHIM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9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ứng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</a:t>
            </a:r>
            <a:r>
              <a:rPr lang="en-US" sz="6900" dirty="0" spc="-6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 vụ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143000"/>
          </a:xfrm>
          <a:prstGeom prst="roundRect">
            <a:avLst>
              <a:gd name="adj" fmla="val 16667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2766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DI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1950" b="1" spc="17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5676900" y="3181350"/>
            <a:ext cx="113157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Swift,</a:t>
            </a:r>
            <a:r>
              <a:rPr lang="en-US" sz="285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Kotlin;</a:t>
            </a:r>
            <a:r>
              <a:rPr lang="en-US" sz="285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React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1295400" y="4152900"/>
            <a:ext cx="15697200" cy="1143000"/>
          </a:xfrm>
          <a:prstGeom prst="roundRect">
            <a:avLst>
              <a:gd name="adj" fmla="val 16667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676400" y="45720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195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6057900" y="4476750"/>
            <a:ext cx="105537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GraphQL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1676400" y="5448300"/>
            <a:ext cx="14935200" cy="1143000"/>
          </a:xfrm>
          <a:prstGeom prst="roundRect">
            <a:avLst>
              <a:gd name="adj" fmla="val 16667"/>
            </a:avLst>
          </a:prstGeom>
          <a:solidFill>
            <a:srgbClr val="7C93FF"/>
          </a:solidFill>
          <a:ln/>
        </p:spPr>
      </p:sp>
      <p:sp>
        <p:nvSpPr>
          <p:cNvPr id="11" name="Text 9"/>
          <p:cNvSpPr/>
          <p:nvPr/>
        </p:nvSpPr>
        <p:spPr>
          <a:xfrm>
            <a:off x="2057400" y="58674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1950" b="1" spc="22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PHÍA</a:t>
            </a:r>
            <a:r>
              <a:rPr lang="en-US" sz="1950" b="1" spc="21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6438900" y="5772150"/>
            <a:ext cx="97917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Zuul,</a:t>
            </a:r>
            <a:r>
              <a:rPr lang="en-US" sz="2850" b="1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Eureka,</a:t>
            </a:r>
            <a:r>
              <a:rPr lang="en-US" sz="28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Spring</a:t>
            </a:r>
            <a:r>
              <a:rPr lang="en-US" sz="28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Boot</a:t>
            </a:r>
            <a:endParaRPr lang="en-US" sz="2850" dirty="0"/>
          </a:p>
        </p:txBody>
      </p:sp>
      <p:sp>
        <p:nvSpPr>
          <p:cNvPr id="13" name="Shape 11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cd19bb5c-d69d-4b0b-9cf1-1f95ac874e4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PHÍA</a:t>
            </a: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 LIỆU</a:t>
            </a:r>
            <a:r>
              <a:rPr lang="en-US" sz="1950" b="1" spc="28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28750"/>
          </a:xfrm>
          <a:prstGeom prst="rect">
            <a:avLst/>
          </a:prstGeom>
          <a:noFill/>
          <a:ln/>
        </p:spPr>
        <p:txBody>
          <a:bodyPr wrap="square" lIns="0" tIns="33528" rIns="0" bIns="-33528" rtlCol="0" anchor="t"/>
          <a:lstStyle/>
          <a:p>
            <a:pPr algn="l" indent="0" marL="0">
              <a:lnSpc>
                <a:spcPts val="7392"/>
              </a:lnSpc>
              <a:buNone/>
            </a:pPr>
            <a:r>
              <a:rPr lang="en-US" sz="66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Dữ</a:t>
            </a:r>
            <a:r>
              <a:rPr lang="en-US" sz="6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6600" dirty="0" spc="-7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6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video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B45309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6195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CƠ</a:t>
            </a:r>
            <a:r>
              <a:rPr lang="en-US" sz="1950" b="1" spc="233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1950" b="1" spc="226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 LIỆU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71600" y="4191000"/>
            <a:ext cx="7086600" cy="2762250"/>
          </a:xfrm>
          <a:prstGeom prst="rect">
            <a:avLst/>
          </a:prstGeom>
          <a:noFill/>
          <a:ln/>
        </p:spPr>
        <p:txBody>
          <a:bodyPr wrap="square" lIns="0" tIns="19812" rIns="0" bIns="-19812" rtlCol="0" anchor="t"/>
          <a:lstStyle/>
          <a:p>
            <a:pPr algn="l" indent="0" marL="0">
              <a:lnSpc>
                <a:spcPts val="4368"/>
              </a:lnSpc>
              <a:buNone/>
            </a:pPr>
            <a:r>
              <a:rPr lang="en-US" sz="390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EVCache,</a:t>
            </a:r>
            <a:r>
              <a:rPr lang="en-US" sz="3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Cassandra,</a:t>
            </a:r>
            <a:r>
              <a:rPr lang="en-US" sz="3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CockroachDB</a:t>
            </a:r>
            <a:endParaRPr lang="en-US" sz="3900" dirty="0"/>
          </a:p>
        </p:txBody>
      </p:sp>
      <p:sp>
        <p:nvSpPr>
          <p:cNvPr id="7" name="Shape 5"/>
          <p:cNvSpPr/>
          <p:nvPr/>
        </p:nvSpPr>
        <p:spPr>
          <a:xfrm>
            <a:off x="9372600" y="323850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29800" y="36195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6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1950" b="1" spc="22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9829800" y="4191000"/>
            <a:ext cx="7086600" cy="2762250"/>
          </a:xfrm>
          <a:prstGeom prst="rect">
            <a:avLst/>
          </a:prstGeom>
          <a:noFill/>
          <a:ln/>
        </p:spPr>
        <p:txBody>
          <a:bodyPr wrap="square" lIns="0" tIns="19812" rIns="0" bIns="-19812" rtlCol="0" anchor="t"/>
          <a:lstStyle/>
          <a:p>
            <a:pPr algn="l" indent="0" marL="0">
              <a:lnSpc>
                <a:spcPts val="4368"/>
              </a:lnSpc>
              <a:buNone/>
            </a:pPr>
            <a:r>
              <a:rPr lang="en-US" sz="3900" dirty="0" spc="2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S3</a:t>
            </a:r>
            <a:r>
              <a:rPr lang="en-US" sz="3900" dirty="0" spc="-3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3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Open</a:t>
            </a:r>
            <a:r>
              <a:rPr lang="en-US" sz="3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Connect</a:t>
            </a:r>
            <a:endParaRPr lang="en-US" sz="3900" dirty="0"/>
          </a:p>
        </p:txBody>
      </p:sp>
      <p:sp>
        <p:nvSpPr>
          <p:cNvPr id="10" name="Text 8"/>
          <p:cNvSpPr/>
          <p:nvPr/>
        </p:nvSpPr>
        <p:spPr>
          <a:xfrm>
            <a:off x="914400" y="78105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1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1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phim.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0057b673-958c-4ece-b8a8-67a7e063c8a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 LIỆU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Đứng</a:t>
            </a:r>
            <a:r>
              <a:rPr lang="en-US" sz="6900" dirty="0" spc="-3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ngoài</a:t>
            </a:r>
            <a:r>
              <a:rPr lang="en-US" sz="6900" dirty="0" spc="-6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đường</a:t>
            </a:r>
            <a:r>
              <a:rPr lang="en-US" sz="6900" dirty="0" spc="-8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xem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3DD6A0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129540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Kafka,</a:t>
            </a:r>
            <a:r>
              <a:rPr lang="en-US" sz="345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Flink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129540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4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Truyền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653415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1515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4500" dirty="0"/>
          </a:p>
        </p:txBody>
      </p:sp>
      <p:sp>
        <p:nvSpPr>
          <p:cNvPr id="10" name="Text 8"/>
          <p:cNvSpPr/>
          <p:nvPr/>
        </p:nvSpPr>
        <p:spPr>
          <a:xfrm>
            <a:off x="691515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Flink,</a:t>
            </a:r>
            <a:r>
              <a:rPr lang="en-US" sz="345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Spark</a:t>
            </a:r>
            <a:endParaRPr lang="en-US" sz="3450" dirty="0"/>
          </a:p>
        </p:txBody>
      </p:sp>
      <p:sp>
        <p:nvSpPr>
          <p:cNvPr id="11" name="Text 9"/>
          <p:cNvSpPr/>
          <p:nvPr/>
        </p:nvSpPr>
        <p:spPr>
          <a:xfrm>
            <a:off x="691515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3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Xử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25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1215390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53490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7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4500" dirty="0"/>
          </a:p>
        </p:txBody>
      </p:sp>
      <p:sp>
        <p:nvSpPr>
          <p:cNvPr id="14" name="Text 12"/>
          <p:cNvSpPr/>
          <p:nvPr/>
        </p:nvSpPr>
        <p:spPr>
          <a:xfrm>
            <a:off x="1253490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3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Tableau,</a:t>
            </a:r>
            <a:r>
              <a:rPr lang="en-US" sz="345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Redshift</a:t>
            </a:r>
            <a:endParaRPr lang="en-US" sz="3450" dirty="0"/>
          </a:p>
        </p:txBody>
      </p:sp>
      <p:sp>
        <p:nvSpPr>
          <p:cNvPr id="15" name="Text 13"/>
          <p:cNvSpPr/>
          <p:nvPr/>
        </p:nvSpPr>
        <p:spPr>
          <a:xfrm>
            <a:off x="1253490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Hiển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thị; kho</a:t>
            </a:r>
            <a:r>
              <a:rPr lang="en-US" sz="225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2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96838fcc-577d-4512-a777-747a8583781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1950" b="1" spc="26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195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</a:t>
            </a:r>
            <a:r>
              <a:rPr lang="en-US" sz="1950" b="1" spc="25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CD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Nhiều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 cho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phát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hành</a:t>
            </a:r>
            <a:endParaRPr lang="en-US" sz="6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952750"/>
          <a:ext cx="13716000" cy="914400"/>
        </p:xfrm>
        <a:graphic>
          <a:graphicData uri="http://schemas.openxmlformats.org/drawingml/2006/table">
            <a:tbl>
              <a:tblPr/>
              <a:tblGrid>
                <a:gridCol w="5334000"/>
                <a:gridCol w="11125200"/>
              </a:tblGrid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7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Nhóm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E2D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9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Công</a:t>
                      </a:r>
                      <a:r>
                        <a:rPr lang="en-US" sz="2400" b="1" dirty="0" spc="1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cụ</a:t>
                      </a:r>
                      <a:r>
                        <a:rPr lang="en-US" sz="2400" b="1" dirty="0" spc="-5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theo</a:t>
                      </a:r>
                      <a:r>
                        <a:rPr lang="en-US" sz="2400" b="1" dirty="0" spc="-6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nguồn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E2D2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8" kern="0">
                          <a:solidFill>
                            <a:srgbClr val="E8472B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Theo</a:t>
                      </a:r>
                      <a:r>
                        <a:rPr lang="en-US" sz="2400" b="1" dirty="0" spc="-2" kern="0">
                          <a:solidFill>
                            <a:srgbClr val="E8472B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dõi</a:t>
                      </a:r>
                      <a:r>
                        <a:rPr lang="en-US" sz="2400" b="1" dirty="0" spc="-4" kern="0">
                          <a:solidFill>
                            <a:srgbClr val="E8472B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việc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EE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Jira,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Confluence,</a:t>
                      </a:r>
                      <a:r>
                        <a:rPr lang="en-US" sz="2400" dirty="0" spc="-1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PagerDuty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EEE3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27" kern="0">
                          <a:solidFill>
                            <a:srgbClr val="E8472B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Dựng</a:t>
                      </a:r>
                      <a:r>
                        <a:rPr lang="en-US" sz="2400" b="1" dirty="0" spc="-2" kern="0">
                          <a:solidFill>
                            <a:srgbClr val="E8472B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mã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Jenkins,</a:t>
                      </a:r>
                      <a:r>
                        <a:rPr lang="en-US" sz="2400" dirty="0" spc="-1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Gradle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7" kern="0">
                          <a:solidFill>
                            <a:srgbClr val="E8472B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Phát</a:t>
                      </a:r>
                      <a:r>
                        <a:rPr lang="en-US" sz="2400" b="1" dirty="0" spc="-1" kern="0">
                          <a:solidFill>
                            <a:srgbClr val="E8472B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hành,</a:t>
                      </a:r>
                      <a:r>
                        <a:rPr lang="en-US" sz="2400" b="1" dirty="0" spc="-3" kern="0">
                          <a:solidFill>
                            <a:srgbClr val="E8472B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kiểm</a:t>
                      </a:r>
                      <a:r>
                        <a:rPr lang="en-US" sz="2400" b="1" dirty="0" spc="-11" kern="0">
                          <a:solidFill>
                            <a:srgbClr val="E8472B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tra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EE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Spinnaker,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Chaos</a:t>
                      </a:r>
                      <a:r>
                        <a:rPr lang="en-US" sz="2400" dirty="0" spc="-2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Monkey,</a:t>
                      </a:r>
                      <a:r>
                        <a:rPr lang="en-US" sz="2400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Atlas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EEE3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729615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1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soạn.</a:t>
            </a:r>
            <a:endParaRPr lang="en-US" sz="2100" dirty="0"/>
          </a:p>
        </p:txBody>
      </p:sp>
      <p:sp>
        <p:nvSpPr>
          <p:cNvPr id="6" name="Shape 3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17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4c9d3498-afbb-41ec-a019-043c1eeff99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2476500"/>
            <a:ext cx="152400" cy="34290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2381250"/>
            <a:ext cx="15240000" cy="381000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r>
              <a:rPr lang="en-US" sz="72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nêu</a:t>
            </a:r>
            <a:r>
              <a:rPr lang="en-US" sz="720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tên,</a:t>
            </a: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72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nói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mỗi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</a:t>
            </a:r>
            <a:r>
              <a:rPr lang="en-US" sz="7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7200" dirty="0" spc="-2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gì.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1428750" y="6858000"/>
            <a:ext cx="14287500" cy="952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3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Vài</a:t>
            </a:r>
            <a:r>
              <a:rPr lang="en-US" sz="240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4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4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4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lại:</a:t>
            </a:r>
            <a:r>
              <a:rPr lang="en-US" sz="24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Zuul,</a:t>
            </a:r>
            <a:r>
              <a:rPr lang="en-US" sz="24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EVCache,</a:t>
            </a:r>
            <a:r>
              <a:rPr lang="en-US" sz="24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Flink,</a:t>
            </a:r>
            <a:r>
              <a:rPr lang="en-US" sz="24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Atlas.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c2c4b7b6-0ba9-45ca-a3cb-a81579efc47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8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Bấm</a:t>
            </a:r>
            <a:r>
              <a:rPr lang="en-US" sz="6900" dirty="0" spc="-7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xem</a:t>
            </a:r>
            <a:r>
              <a:rPr lang="en-US" sz="69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trên</a:t>
            </a:r>
            <a:r>
              <a:rPr lang="en-US" sz="6900" dirty="0" spc="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điện</a:t>
            </a:r>
            <a:r>
              <a:rPr lang="en-US" sz="69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thoại</a:t>
            </a:r>
            <a:endParaRPr lang="en-US" sz="6900" dirty="0"/>
          </a:p>
        </p:txBody>
      </p:sp>
      <p:sp>
        <p:nvSpPr>
          <p:cNvPr id="4" name="Connector line-1792383507014-795927753"/>
          <p:cNvSpPr/>
          <p:nvPr/>
        </p:nvSpPr>
        <p:spPr>
          <a:xfrm>
            <a:off x="914400" y="4000500"/>
            <a:ext cx="1645920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952500" y="3810000"/>
            <a:ext cx="381000" cy="3810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3143250"/>
            <a:ext cx="37338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300" dirty="0"/>
          </a:p>
        </p:txBody>
      </p:sp>
      <p:sp>
        <p:nvSpPr>
          <p:cNvPr id="7" name="Text 5"/>
          <p:cNvSpPr/>
          <p:nvPr/>
        </p:nvSpPr>
        <p:spPr>
          <a:xfrm>
            <a:off x="914400" y="4572000"/>
            <a:ext cx="3733800" cy="123825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Ứng</a:t>
            </a:r>
            <a:r>
              <a:rPr lang="en-US" sz="34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</a:t>
            </a:r>
            <a:endParaRPr lang="en-US" sz="3450" dirty="0"/>
          </a:p>
        </p:txBody>
      </p:sp>
      <p:sp>
        <p:nvSpPr>
          <p:cNvPr id="8" name="Text 6"/>
          <p:cNvSpPr/>
          <p:nvPr/>
        </p:nvSpPr>
        <p:spPr>
          <a:xfrm>
            <a:off x="914400" y="5905500"/>
            <a:ext cx="3638550" cy="19050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0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Swift</a:t>
            </a:r>
            <a:r>
              <a:rPr lang="en-US" sz="2250" dirty="0" spc="-3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250" dirty="0" spc="-16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Kotlin.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5067300" y="3810000"/>
            <a:ext cx="381000" cy="3810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0" y="3143250"/>
            <a:ext cx="37338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6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5029200" y="4572000"/>
            <a:ext cx="3733800" cy="123825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GraphQL</a:t>
            </a:r>
            <a:endParaRPr lang="en-US" sz="3450" dirty="0"/>
          </a:p>
        </p:txBody>
      </p:sp>
      <p:sp>
        <p:nvSpPr>
          <p:cNvPr id="12" name="Text 10"/>
          <p:cNvSpPr/>
          <p:nvPr/>
        </p:nvSpPr>
        <p:spPr>
          <a:xfrm>
            <a:off x="5029200" y="5905500"/>
            <a:ext cx="3638550" cy="19050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Hỏi</a:t>
            </a:r>
            <a:r>
              <a:rPr lang="en-US" sz="2250" dirty="0" spc="-10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4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chủ.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9182100" y="3810000"/>
            <a:ext cx="381000" cy="3810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0" y="3143250"/>
            <a:ext cx="37338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9144000" y="4572000"/>
            <a:ext cx="3733800" cy="123825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Dịch</a:t>
            </a:r>
            <a:r>
              <a:rPr lang="en-US" sz="34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vụ,</a:t>
            </a:r>
            <a:r>
              <a:rPr lang="en-US" sz="34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34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endParaRPr lang="en-US" sz="3450" dirty="0"/>
          </a:p>
        </p:txBody>
      </p:sp>
      <p:sp>
        <p:nvSpPr>
          <p:cNvPr id="16" name="Text 14"/>
          <p:cNvSpPr/>
          <p:nvPr/>
        </p:nvSpPr>
        <p:spPr>
          <a:xfrm>
            <a:off x="9144000" y="5905500"/>
            <a:ext cx="3638550" cy="19050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16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Zuul,</a:t>
            </a:r>
            <a:r>
              <a:rPr lang="en-US" sz="2250" dirty="0" spc="-27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Eureka;</a:t>
            </a:r>
            <a:r>
              <a:rPr lang="en-US" sz="2250" dirty="0" spc="-6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EVCache,</a:t>
            </a:r>
            <a:r>
              <a:rPr lang="en-US" sz="2250" dirty="0" spc="-1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Cassandra.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13296900" y="3810000"/>
            <a:ext cx="381000" cy="3810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8" name="Text 16"/>
          <p:cNvSpPr/>
          <p:nvPr/>
        </p:nvSpPr>
        <p:spPr>
          <a:xfrm>
            <a:off x="13258800" y="3143250"/>
            <a:ext cx="37338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3300" dirty="0"/>
          </a:p>
        </p:txBody>
      </p:sp>
      <p:sp>
        <p:nvSpPr>
          <p:cNvPr id="19" name="Text 17"/>
          <p:cNvSpPr/>
          <p:nvPr/>
        </p:nvSpPr>
        <p:spPr>
          <a:xfrm>
            <a:off x="13258800" y="4572000"/>
            <a:ext cx="3733800" cy="123825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Video</a:t>
            </a:r>
            <a:endParaRPr lang="en-US" sz="3450" dirty="0"/>
          </a:p>
        </p:txBody>
      </p:sp>
      <p:sp>
        <p:nvSpPr>
          <p:cNvPr id="20" name="Text 18"/>
          <p:cNvSpPr/>
          <p:nvPr/>
        </p:nvSpPr>
        <p:spPr>
          <a:xfrm>
            <a:off x="13258800" y="5905500"/>
            <a:ext cx="3638550" cy="19050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13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Phát</a:t>
            </a:r>
            <a:r>
              <a:rPr lang="en-US" sz="2250" dirty="0" spc="3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0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S3,</a:t>
            </a:r>
            <a:r>
              <a:rPr lang="en-US" sz="2250" dirty="0" spc="-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Open Connect.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914400" y="81915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100" dirty="0" spc="-2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1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ngay:</a:t>
            </a:r>
            <a:r>
              <a:rPr lang="en-US" sz="21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tin,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liệu,</a:t>
            </a:r>
            <a:r>
              <a:rPr lang="en-US" sz="21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hành.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803a203e-b81c-4b5c-ae28-df302916019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cái</a:t>
            </a:r>
            <a:r>
              <a:rPr lang="en-US" sz="6900" dirty="0" spc="-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</a:t>
            </a:r>
            <a:r>
              <a:rPr lang="en-US" sz="69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đáng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15277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2438400" y="334327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Connect:</a:t>
            </a:r>
            <a:r>
              <a:rPr lang="en-US" sz="27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7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7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nhà mạng.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4767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77202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5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2438400" y="496252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Chaos</a:t>
            </a:r>
            <a:r>
              <a:rPr lang="en-US" sz="2700" dirty="0" spc="-2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Monkey: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2700" dirty="0" spc="-2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27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7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60960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3DD6A0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639127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2438400" y="658177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Cả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hai: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700" dirty="0" spc="-4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7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hóc.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914400" y="80010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Kiến</a:t>
            </a:r>
            <a:r>
              <a:rPr lang="en-US" sz="210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1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soạn,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từ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8b1e843f-f860-4a20-abfe-9d8bfae3508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62050"/>
            <a:ext cx="16192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3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476500"/>
          <a:ext cx="13716000" cy="914400"/>
        </p:xfrm>
        <a:graphic>
          <a:graphicData uri="http://schemas.openxmlformats.org/drawingml/2006/table">
            <a:tbl>
              <a:tblPr/>
              <a:tblGrid>
                <a:gridCol w="2304288"/>
                <a:gridCol w="6254496"/>
                <a:gridCol w="7900416"/>
              </a:tblGrid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75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Từ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Dạng</a:t>
                      </a:r>
                      <a:r>
                        <a:rPr lang="en-US" sz="2250" b="1" dirty="0" spc="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đầy</a:t>
                      </a:r>
                      <a:r>
                        <a:rPr lang="en-US" sz="2250" b="1" dirty="0" spc="4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đủ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Nghĩa</a:t>
                      </a:r>
                      <a:r>
                        <a:rPr lang="en-US" sz="2250" b="1" dirty="0" spc="-1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250" b="1" dirty="0" spc="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bài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2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QL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Query</a:t>
                      </a:r>
                      <a:r>
                        <a:rPr lang="en-US" sz="2250" dirty="0" spc="-1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Language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ngôn</a:t>
                      </a:r>
                      <a:r>
                        <a:rPr lang="en-US" sz="225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ngữ</a:t>
                      </a:r>
                      <a:r>
                        <a:rPr lang="en-US" sz="22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truy</a:t>
                      </a:r>
                      <a:r>
                        <a:rPr lang="en-US" sz="2250" dirty="0" spc="-1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vấn,</a:t>
                      </a:r>
                      <a:r>
                        <a:rPr lang="en-US" sz="2250" dirty="0" spc="-1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250" dirty="0" spc="-1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tên GraphQL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kern="0">
                          <a:solidFill>
                            <a:srgbClr val="FF6A4D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Continuous</a:t>
                      </a:r>
                      <a:r>
                        <a:rPr lang="en-US" sz="2250" dirty="0" spc="-2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Integration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tích</a:t>
                      </a:r>
                      <a:r>
                        <a:rPr lang="en-US" sz="2250" dirty="0" spc="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hợp</a:t>
                      </a:r>
                      <a:r>
                        <a:rPr lang="en-US" sz="22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liên</a:t>
                      </a:r>
                      <a:r>
                        <a:rPr lang="en-US" sz="2250" dirty="0" spc="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tục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3" kern="0">
                          <a:solidFill>
                            <a:srgbClr val="FF6A4D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CD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Continuous</a:t>
                      </a:r>
                      <a:r>
                        <a:rPr lang="en-US" sz="2250" dirty="0" spc="-7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Delivery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chuyển</a:t>
                      </a:r>
                      <a:r>
                        <a:rPr lang="en-US" sz="2250" dirty="0" spc="-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giao</a:t>
                      </a:r>
                      <a:r>
                        <a:rPr lang="en-US" sz="22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liên</a:t>
                      </a:r>
                      <a:r>
                        <a:rPr lang="en-US" sz="2250" dirty="0" spc="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tục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691515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6" name="Text 3"/>
          <p:cNvSpPr/>
          <p:nvPr/>
        </p:nvSpPr>
        <p:spPr>
          <a:xfrm>
            <a:off x="914400" y="7334250"/>
            <a:ext cx="164592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system-design-101,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5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550" dirty="0"/>
          </a:p>
        </p:txBody>
      </p:sp>
      <p:sp>
        <p:nvSpPr>
          <p:cNvPr id="7" name="Text 4"/>
          <p:cNvSpPr/>
          <p:nvPr/>
        </p:nvSpPr>
        <p:spPr>
          <a:xfrm>
            <a:off x="914400" y="7867650"/>
            <a:ext cx="164592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Blog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18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Netflix</a:t>
            </a:r>
            <a:r>
              <a:rPr lang="en-US" sz="18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 được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19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7c1ca62e-7aa9-4d9a-8200-4b79392e35c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2026-10-19T04:19:05Z</dcterms:created>
  <dcterms:modified xsi:type="dcterms:W3CDTF">2026-10-19T04:19:05Z</dcterms:modified>
</cp:coreProperties>
</file>