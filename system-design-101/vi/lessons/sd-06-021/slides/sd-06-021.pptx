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7620000" cy="44767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2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nhanh,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 chậm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30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334500" y="219075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0" y="26289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85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b="1" dirty="0" spc="-1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34500" y="38100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15500" y="42481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85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34500" y="542925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15500" y="58674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Dạng</a:t>
            </a:r>
            <a:r>
              <a:rPr lang="en-US" sz="2850" b="1" dirty="0" spc="39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34500" y="7048500"/>
            <a:ext cx="8001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74866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1a220618-3066-4571-ad04-bcc8f77150d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71450" cy="3810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76225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84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thấy</a:t>
            </a:r>
            <a:r>
              <a:rPr lang="en-US" sz="8400" dirty="0" spc="-9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4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đổi,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4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84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tốc</a:t>
            </a:r>
            <a:r>
              <a:rPr lang="en-US" sz="84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</a:t>
            </a:r>
            <a:r>
              <a:rPr lang="en-US" sz="84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8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8001000" cy="7620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Máy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Linux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4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nhân,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7.0.15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839d679-ce9b-4fd7-bd20-cd298183da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 BỘ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5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ghi,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endParaRPr lang="en-US" sz="7500" dirty="0"/>
          </a:p>
        </p:txBody>
      </p:sp>
      <p:sp>
        <p:nvSpPr>
          <p:cNvPr id="4" name="Connector line-1792442291422-798357048"/>
          <p:cNvSpPr/>
          <p:nvPr/>
        </p:nvSpPr>
        <p:spPr>
          <a:xfrm>
            <a:off x="914400" y="4286250"/>
            <a:ext cx="164592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695450" y="4076700"/>
            <a:ext cx="419100" cy="4191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6" name="Shape 4"/>
          <p:cNvSpPr/>
          <p:nvPr/>
        </p:nvSpPr>
        <p:spPr>
          <a:xfrm>
            <a:off x="5886450" y="4076700"/>
            <a:ext cx="419100" cy="4191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7" name="Shape 5"/>
          <p:cNvSpPr/>
          <p:nvPr/>
        </p:nvSpPr>
        <p:spPr>
          <a:xfrm>
            <a:off x="10039350" y="4038600"/>
            <a:ext cx="495300" cy="4953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14268450" y="4076700"/>
            <a:ext cx="419100" cy="4191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28575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21" dirty="0" spc="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121" dirty="0"/>
          </a:p>
        </p:txBody>
      </p:sp>
      <p:sp>
        <p:nvSpPr>
          <p:cNvPr id="10" name="Text 8"/>
          <p:cNvSpPr/>
          <p:nvPr/>
        </p:nvSpPr>
        <p:spPr>
          <a:xfrm>
            <a:off x="1047750" y="3333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tới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238750" y="28575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21" dirty="0" spc="-5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121" dirty="0"/>
          </a:p>
        </p:txBody>
      </p:sp>
      <p:sp>
        <p:nvSpPr>
          <p:cNvPr id="12" name="Text 10"/>
          <p:cNvSpPr/>
          <p:nvPr/>
        </p:nvSpPr>
        <p:spPr>
          <a:xfrm>
            <a:off x="5238750" y="3333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6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</a:t>
            </a:r>
            <a:r>
              <a:rPr lang="en-US" sz="2496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96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96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96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96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endParaRPr lang="en-US" sz="2496" dirty="0"/>
          </a:p>
        </p:txBody>
      </p:sp>
      <p:sp>
        <p:nvSpPr>
          <p:cNvPr id="13" name="Text 11"/>
          <p:cNvSpPr/>
          <p:nvPr/>
        </p:nvSpPr>
        <p:spPr>
          <a:xfrm>
            <a:off x="9429750" y="28575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21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121" dirty="0"/>
          </a:p>
        </p:txBody>
      </p:sp>
      <p:sp>
        <p:nvSpPr>
          <p:cNvPr id="14" name="Text 12"/>
          <p:cNvSpPr/>
          <p:nvPr/>
        </p:nvSpPr>
        <p:spPr>
          <a:xfrm>
            <a:off x="9429750" y="3333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96" b="1" dirty="0" spc="-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always:</a:t>
            </a:r>
            <a:r>
              <a:rPr lang="en-US" sz="2496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496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496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496" b="1" dirty="0" spc="1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endParaRPr lang="en-US" sz="2496" dirty="0"/>
          </a:p>
        </p:txBody>
      </p:sp>
      <p:sp>
        <p:nvSpPr>
          <p:cNvPr id="15" name="Text 13"/>
          <p:cNvSpPr/>
          <p:nvPr/>
        </p:nvSpPr>
        <p:spPr>
          <a:xfrm>
            <a:off x="13620750" y="28575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21" dirty="0" spc="-6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121" dirty="0"/>
          </a:p>
        </p:txBody>
      </p:sp>
      <p:sp>
        <p:nvSpPr>
          <p:cNvPr id="16" name="Text 14"/>
          <p:cNvSpPr/>
          <p:nvPr/>
        </p:nvSpPr>
        <p:spPr>
          <a:xfrm>
            <a:off x="13620750" y="333375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5334000"/>
            <a:ext cx="52578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8250" y="56197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ALWAYS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250" y="6096000"/>
            <a:ext cx="4667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515100" y="5334000"/>
            <a:ext cx="52578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8950" y="56197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EVERYSEC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38950" y="6096000"/>
            <a:ext cx="4667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xuống</a:t>
            </a:r>
            <a:r>
              <a:rPr lang="en-US" sz="24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2115800" y="5334000"/>
            <a:ext cx="5257800" cy="2381250"/>
          </a:xfrm>
          <a:prstGeom prst="roundRect">
            <a:avLst>
              <a:gd name="adj" fmla="val 10400"/>
            </a:avLst>
          </a:prstGeom>
          <a:solidFill>
            <a:srgbClr val="F3DFB8"/>
          </a:solidFill>
          <a:ln/>
        </p:spPr>
      </p:sp>
      <p:sp>
        <p:nvSpPr>
          <p:cNvPr id="24" name="Text 22"/>
          <p:cNvSpPr/>
          <p:nvPr/>
        </p:nvSpPr>
        <p:spPr>
          <a:xfrm>
            <a:off x="12439650" y="56197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1800" b="1" spc="2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439650" y="6096000"/>
            <a:ext cx="466725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vừa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nhớ.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387b6e19-3690-4294-9f6f-0da99000ce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1950" b="1" spc="26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luồng,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r>
              <a:rPr lang="en-US" sz="75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953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67500" y="2857500"/>
            <a:ext cx="4953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20600" y="2857500"/>
            <a:ext cx="4953000" cy="3048000"/>
          </a:xfrm>
          <a:prstGeom prst="roundRect">
            <a:avLst>
              <a:gd name="adj" fmla="val 812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31813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3450" dirty="0" spc="-1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12954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048500" y="31813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5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34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lặp</a:t>
            </a:r>
            <a:r>
              <a:rPr lang="en-US" sz="34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70485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2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(epoll).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801600" y="3181350"/>
            <a:ext cx="4191000" cy="10477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 lệnh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2801600" y="43815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endParaRPr lang="en-US" sz="2250" dirty="0"/>
          </a:p>
        </p:txBody>
      </p:sp>
      <p:sp>
        <p:nvSpPr>
          <p:cNvPr id="13" name="Connector line-1792442320536-934126549"/>
          <p:cNvSpPr/>
          <p:nvPr/>
        </p:nvSpPr>
        <p:spPr>
          <a:xfrm>
            <a:off x="5962650" y="4381500"/>
            <a:ext cx="7620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442320536-980883750"/>
          <p:cNvSpPr/>
          <p:nvPr/>
        </p:nvSpPr>
        <p:spPr>
          <a:xfrm>
            <a:off x="11715750" y="4381500"/>
            <a:ext cx="762000" cy="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66675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3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300" b="1" dirty="0" spc="-1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3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30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chạy: không</a:t>
            </a:r>
            <a:r>
              <a:rPr lang="en-US" sz="33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300" b="1" dirty="0" spc="-8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khóa.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14400" y="7429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2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55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read,</a:t>
            </a:r>
            <a:r>
              <a:rPr lang="en-US" sz="25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2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bec4390-c6ec-48ae-953e-aed3cc01c3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/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1950" b="1" spc="3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Giá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trị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liền</a:t>
            </a:r>
            <a:r>
              <a:rPr lang="en-US" sz="75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4191000"/>
          </a:xfrm>
          <a:prstGeom prst="roundRect">
            <a:avLst>
              <a:gd name="adj" fmla="val 5909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LISTPACK</a:t>
            </a:r>
            <a:r>
              <a:rPr lang="en-US" sz="1950" b="1" spc="2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1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INTSET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528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ctr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Liền</a:t>
            </a: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khối</a:t>
            </a:r>
            <a:endParaRPr lang="en-US" sz="4200" dirty="0"/>
          </a:p>
        </p:txBody>
      </p:sp>
      <p:sp>
        <p:nvSpPr>
          <p:cNvPr id="7" name="Text richtext-1792442321458-212702345"/>
          <p:cNvSpPr/>
          <p:nvPr/>
        </p:nvSpPr>
        <p:spPr>
          <a:xfrm>
            <a:off x="1295400" y="476250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7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Tập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nguyên: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intset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4191000"/>
          </a:xfrm>
          <a:prstGeom prst="roundRect">
            <a:avLst>
              <a:gd name="adj" fmla="val 5909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1813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950" b="1" spc="21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b="1" spc="1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53600" y="3752850"/>
            <a:ext cx="7239000" cy="952500"/>
          </a:xfrm>
          <a:prstGeom prst="rect">
            <a:avLst/>
          </a:prstGeom>
          <a:noFill/>
          <a:ln/>
        </p:spPr>
        <p:txBody>
          <a:bodyPr wrap="square" lIns="0" tIns="26670" rIns="0" bIns="-26670" rtlCol="0" anchor="ctr"/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Dạng</a:t>
            </a:r>
            <a:r>
              <a:rPr lang="en-US" sz="4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thường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753600" y="4762500"/>
            <a:ext cx="7239000" cy="2095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con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tử.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7524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8D9D0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772400"/>
            <a:ext cx="1571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Quá</a:t>
            </a:r>
            <a:r>
              <a:rPr lang="en-US" sz="25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ngưỡng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(hash-max-listpack-entries,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mặc</a:t>
            </a:r>
            <a:r>
              <a:rPr lang="en-US" sz="255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512):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eda56e9-bf29-450e-bfb7-fa5ef984ef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 /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số</a:t>
            </a:r>
            <a:r>
              <a:rPr lang="en-US" sz="75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5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3400"/>
          </a:xfrm>
          <a:prstGeom prst="roundRect">
            <a:avLst>
              <a:gd name="adj" fmla="val 25000"/>
            </a:avLst>
          </a:prstGeom>
          <a:solidFill>
            <a:srgbClr val="7C93F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283845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572500" y="283845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spc="13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409950"/>
            <a:ext cx="16459200" cy="895350"/>
          </a:xfrm>
          <a:prstGeom prst="roundRect">
            <a:avLst>
              <a:gd name="adj" fmla="val 1489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4438650"/>
            <a:ext cx="16459200" cy="895350"/>
          </a:xfrm>
          <a:prstGeom prst="roundRect">
            <a:avLst>
              <a:gd name="adj" fmla="val 1489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467350"/>
            <a:ext cx="16459200" cy="895350"/>
          </a:xfrm>
          <a:prstGeom prst="roundRect">
            <a:avLst>
              <a:gd name="adj" fmla="val 14894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6496050"/>
            <a:ext cx="16459200" cy="895350"/>
          </a:xfrm>
          <a:prstGeom prst="roundRect">
            <a:avLst>
              <a:gd name="adj" fmla="val 14894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3638550"/>
            <a:ext cx="704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50</a:t>
            </a:r>
            <a:r>
              <a:rPr lang="en-US" sz="225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nối,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2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8572500" y="36385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4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66</a:t>
            </a:r>
            <a:r>
              <a:rPr lang="en-US" sz="24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8250" y="4667250"/>
            <a:ext cx="704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Gom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16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2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lượt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(pipelining)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572500" y="46672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khoảng</a:t>
            </a:r>
            <a:r>
              <a:rPr lang="en-US" sz="24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593</a:t>
            </a: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nghìn</a:t>
            </a: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8250" y="5695950"/>
            <a:ext cx="704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KEYS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*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2</a:t>
            </a:r>
            <a:r>
              <a:rPr lang="en-US" sz="22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triệu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572500" y="56959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1,57</a:t>
            </a:r>
            <a:r>
              <a:rPr lang="en-US" sz="24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giây;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PING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b="1" dirty="0" spc="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1,54</a:t>
            </a:r>
            <a:r>
              <a:rPr lang="en-US" sz="24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38250" y="6724650"/>
            <a:ext cx="7048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 512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(listpack)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572500" y="6724650"/>
            <a:ext cx="8572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6192</a:t>
            </a:r>
            <a:r>
              <a:rPr lang="en-US" sz="24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byte;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513:</a:t>
            </a:r>
            <a:r>
              <a:rPr lang="en-US" sz="24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28816</a:t>
            </a:r>
            <a:r>
              <a:rPr lang="en-US" sz="2400" b="1" dirty="0" spc="-1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7810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25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25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250" dirty="0" spc="-1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read(),</a:t>
            </a:r>
            <a:r>
              <a:rPr lang="en-US" sz="22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write().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da836483-087b-4427-866e-239a3aa30b7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671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972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769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1818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622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8671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9720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0769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1818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8194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33500" y="39243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33500" y="50292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333500" y="61341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333500" y="72390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2571750" y="30099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 nghĩa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 chặn</a:t>
            </a: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tất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571750" y="41148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gặp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nhất:</a:t>
            </a: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KEYS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2571750" y="52197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Kiểm</a:t>
            </a:r>
            <a:r>
              <a:rPr lang="en-US" sz="285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phức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tạp,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SCAN,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dõi bằng</a:t>
            </a:r>
            <a:r>
              <a:rPr lang="en-US" sz="2850" dirty="0" spc="-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SLOWLOG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571750" y="63246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8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2571750" y="7429500"/>
            <a:ext cx="14478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8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53134512-0115-4f3d-96d2-c088340574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Thỉnh</a:t>
            </a:r>
            <a:r>
              <a:rPr lang="en-US" sz="6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thoảng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 yêu</a:t>
            </a: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chậm: nghi</a:t>
            </a:r>
            <a:r>
              <a:rPr lang="en-US" sz="63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714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</a:t>
            </a:r>
            <a:r>
              <a:rPr lang="en-US" sz="27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143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53600" y="3714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SLOWLOG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GET:</a:t>
            </a:r>
            <a:r>
              <a:rPr lang="en-US" sz="2700" dirty="0" spc="-2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lâu.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524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810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381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KEYS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*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2700" dirty="0" spc="-3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rất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lớn.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524500"/>
            <a:ext cx="8001000" cy="2381250"/>
          </a:xfrm>
          <a:prstGeom prst="roundRect">
            <a:avLst>
              <a:gd name="adj" fmla="val 104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58102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753600" y="6381750"/>
            <a:ext cx="7239000" cy="14287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SCAN,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liệu,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vấn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nặng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 sao.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0515cb5-d5af-4972-b460-51090280a8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7500" dirty="0" spc="-4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75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luồng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5715000" y="3429000"/>
            <a:ext cx="3810000" cy="1714500"/>
          </a:xfrm>
          <a:custGeom>
            <a:avLst/>
            <a:gdLst/>
            <a:ahLst/>
            <a:cxnLst/>
            <a:rect l="l" t="t" r="r" b="b"/>
            <a:pathLst>
              <a:path w="3810000" h="1714500">
                <a:moveTo>
                  <a:pt x="0" y="1714500"/>
                </a:moveTo>
                <a:cubicBezTo>
                  <a:pt x="1524000" y="1714500"/>
                  <a:pt x="1714500" y="0"/>
                  <a:pt x="3810000" y="0"/>
                </a:cubicBezTo>
              </a:path>
            </a:pathLst>
          </a:custGeom>
          <a:ln w="38100">
            <a:solidFill>
              <a:srgbClr val="3DD6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5143500"/>
            <a:ext cx="3810000" cy="9144"/>
          </a:xfrm>
          <a:custGeom>
            <a:avLst/>
            <a:gdLst/>
            <a:ahLst/>
            <a:cxnLst/>
            <a:rect l="l" t="t" r="r" b="b"/>
            <a:pathLst>
              <a:path w="3810000" h="9144">
                <a:moveTo>
                  <a:pt x="0" y="0"/>
                </a:moveTo>
                <a:cubicBezTo>
                  <a:pt x="1905000" y="0"/>
                  <a:pt x="1905000" y="0"/>
                  <a:pt x="3810000" y="0"/>
                </a:cubicBezTo>
              </a:path>
            </a:pathLst>
          </a:custGeom>
          <a:ln w="38100">
            <a:solidFill>
              <a:srgbClr val="3D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5143500"/>
            <a:ext cx="3810000" cy="1714500"/>
          </a:xfrm>
          <a:custGeom>
            <a:avLst/>
            <a:gdLst/>
            <a:ahLst/>
            <a:cxnLst/>
            <a:rect l="l" t="t" r="r" b="b"/>
            <a:pathLst>
              <a:path w="3810000" h="1714500">
                <a:moveTo>
                  <a:pt x="0" y="0"/>
                </a:moveTo>
                <a:cubicBezTo>
                  <a:pt x="1524000" y="0"/>
                  <a:pt x="1714500" y="1714500"/>
                  <a:pt x="3810000" y="1714500"/>
                </a:cubicBezTo>
              </a:path>
            </a:pathLst>
          </a:custGeom>
          <a:ln w="38100">
            <a:solidFill>
              <a:srgbClr val="3DD6A0"/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1905000" y="3238500"/>
            <a:ext cx="3810000" cy="3810000"/>
          </a:xfrm>
          <a:prstGeom prst="ellipse">
            <a:avLst/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95500" y="4572000"/>
            <a:ext cx="34290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ctr" indent="0" marL="0">
              <a:lnSpc>
                <a:spcPts val="4140"/>
              </a:lnSpc>
              <a:buNone/>
            </a:pPr>
            <a:r>
              <a:rPr lang="en-US" sz="36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Luồng</a:t>
            </a:r>
            <a:endParaRPr lang="en-US" sz="3600" dirty="0"/>
          </a:p>
          <a:p>
            <a:pPr algn="ctr" indent="0" marL="0">
              <a:lnSpc>
                <a:spcPts val="4140"/>
              </a:lnSpc>
              <a:buNone/>
            </a:pPr>
            <a:r>
              <a:rPr lang="en-US" sz="360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525000" y="2857500"/>
            <a:ext cx="7848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810750" y="3028950"/>
            <a:ext cx="7334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2.4: luồng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đĩa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5000" y="4572000"/>
            <a:ext cx="7848600" cy="1143000"/>
          </a:xfrm>
          <a:prstGeom prst="roundRect">
            <a:avLst>
              <a:gd name="adj" fmla="val 18333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9810750" y="4743450"/>
            <a:ext cx="7334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4.0: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 (UNLINK).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5000" y="6286500"/>
            <a:ext cx="7848600" cy="1143000"/>
          </a:xfrm>
          <a:prstGeom prst="roundRect">
            <a:avLst>
              <a:gd name="adj" fmla="val 18333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lgDash"/>
          </a:ln>
        </p:spPr>
      </p:sp>
      <p:sp>
        <p:nvSpPr>
          <p:cNvPr id="14" name="Text 12"/>
          <p:cNvSpPr/>
          <p:nvPr/>
        </p:nvSpPr>
        <p:spPr>
          <a:xfrm>
            <a:off x="9810750" y="6457950"/>
            <a:ext cx="7334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6.0: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4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(io-threads),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96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io-threads: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1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CPU.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572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Dồn</a:t>
            </a:r>
            <a:r>
              <a:rPr lang="en-US" sz="2400" dirty="0" spc="-19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kênh:</a:t>
            </a:r>
            <a:r>
              <a:rPr lang="en-US" sz="2400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evport,</a:t>
            </a:r>
            <a:r>
              <a:rPr lang="en-US" sz="2400" dirty="0" spc="-24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epoll,</a:t>
            </a:r>
            <a:r>
              <a:rPr lang="en-US" sz="2400" dirty="0" spc="-1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kqueue,</a:t>
            </a:r>
            <a:r>
              <a:rPr lang="en-US" sz="2400" dirty="0" spc="-5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select.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0962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5e222f5-0e6d-4489-9dd4-e57fd51a5d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CPU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19500" y="32004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3048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9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077700" y="3200400"/>
            <a:ext cx="5048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42862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5105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487400" y="47625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5105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296400" y="5943600"/>
            <a:ext cx="3886200" cy="952500"/>
          </a:xfrm>
          <a:prstGeom prst="roundRect">
            <a:avLst>
              <a:gd name="adj" fmla="val 18000"/>
            </a:avLst>
          </a:prstGeom>
          <a:solidFill>
            <a:srgbClr val="1E212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19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5334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Diagnosing</a:t>
            </a:r>
            <a:r>
              <a:rPr lang="en-US" sz="19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525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716000" y="49149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Pipelining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43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optimization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5334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src/ae.c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525000" y="6096000"/>
            <a:ext cx="3429000" cy="66675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redis.conf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33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21</a:t>
            </a:r>
            <a:r>
              <a:rPr lang="en-US" sz="1650" dirty="0" spc="-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5e0c3142-a2fb-4920-9e3f-0dad7b8f6d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2026-10-19T20:39:55Z</dcterms:created>
  <dcterms:modified xsi:type="dcterms:W3CDTF">2026-10-19T20:39:55Z</dcterms:modified>
</cp:coreProperties>
</file>