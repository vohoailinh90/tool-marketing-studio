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 SemiBold"/>
      <p:regular r:id="rId17"/>
    </p:embeddedFont>
    <p:embeddedFont>
      <p:font typeface="Bricolage Grotesque ExtraBold"/>
      <p:regular r:id="rId18"/>
    </p:embeddedFont>
    <p:embeddedFont>
      <p:font typeface="Be Vietnam Pro"/>
      <p:regular r:id="rId20"/>
      <p:bold r:id="rId19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0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SYSTEM</a:t>
            </a:r>
            <a:r>
              <a:rPr lang="en-US" sz="1950" spc="223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DESIGN</a:t>
            </a:r>
            <a:r>
              <a:rPr lang="en-US" sz="1950" spc="222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101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1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03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953500" cy="2286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8100" dirty="0" spc="-4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UDP</a:t>
            </a:r>
            <a:endParaRPr lang="en-US" sz="8100" dirty="0"/>
          </a:p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8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thường</a:t>
            </a:r>
            <a:r>
              <a:rPr lang="en-US" sz="8100" dirty="0" spc="-10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endParaRPr lang="en-US" sz="8100" dirty="0"/>
          </a:p>
        </p:txBody>
      </p:sp>
      <p:sp>
        <p:nvSpPr>
          <p:cNvPr id="4" name="Shape 2"/>
          <p:cNvSpPr/>
          <p:nvPr/>
        </p:nvSpPr>
        <p:spPr>
          <a:xfrm>
            <a:off x="914400" y="4476750"/>
            <a:ext cx="1143000" cy="762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953000"/>
            <a:ext cx="8572500" cy="1905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UDP</a:t>
            </a:r>
            <a:r>
              <a:rPr lang="en-US" sz="3000" dirty="0" spc="5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3000" dirty="0" spc="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từng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30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độc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lập.</a:t>
            </a:r>
            <a:endParaRPr lang="en-US" sz="30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30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bắt</a:t>
            </a:r>
            <a:r>
              <a:rPr lang="en-US" sz="30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tay.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3000" dirty="0" spc="5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lại.</a:t>
            </a:r>
            <a:endParaRPr lang="en-US" sz="30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đảm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906000" y="1238250"/>
            <a:ext cx="3429000" cy="3048000"/>
          </a:xfrm>
          <a:prstGeom prst="roundRect">
            <a:avLst>
              <a:gd name="adj" fmla="val 7500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906000" y="1238250"/>
            <a:ext cx="342900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8" name="Text 6"/>
          <p:cNvSpPr/>
          <p:nvPr/>
        </p:nvSpPr>
        <p:spPr>
          <a:xfrm>
            <a:off x="10191750" y="1619250"/>
            <a:ext cx="285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500" dirty="0"/>
          </a:p>
        </p:txBody>
      </p:sp>
      <p:sp>
        <p:nvSpPr>
          <p:cNvPr id="9" name="Text 7"/>
          <p:cNvSpPr/>
          <p:nvPr/>
        </p:nvSpPr>
        <p:spPr>
          <a:xfrm>
            <a:off x="10191750" y="2952750"/>
            <a:ext cx="285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thoại,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video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3716000" y="1238250"/>
            <a:ext cx="3429000" cy="3048000"/>
          </a:xfrm>
          <a:prstGeom prst="roundRect">
            <a:avLst>
              <a:gd name="adj" fmla="val 7500"/>
            </a:avLst>
          </a:prstGeom>
          <a:solidFill>
            <a:srgbClr val="1E212B"/>
          </a:solidFill>
          <a:ln/>
        </p:spPr>
      </p:sp>
      <p:sp>
        <p:nvSpPr>
          <p:cNvPr id="11" name="Shape 9"/>
          <p:cNvSpPr/>
          <p:nvPr/>
        </p:nvSpPr>
        <p:spPr>
          <a:xfrm>
            <a:off x="13716000" y="1238250"/>
            <a:ext cx="342900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4001750" y="1619250"/>
            <a:ext cx="285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500" dirty="0"/>
          </a:p>
        </p:txBody>
      </p:sp>
      <p:sp>
        <p:nvSpPr>
          <p:cNvPr id="13" name="Text 11"/>
          <p:cNvSpPr/>
          <p:nvPr/>
        </p:nvSpPr>
        <p:spPr>
          <a:xfrm>
            <a:off x="14001750" y="2952750"/>
            <a:ext cx="285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DNS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906000" y="4667250"/>
            <a:ext cx="3429000" cy="3048000"/>
          </a:xfrm>
          <a:prstGeom prst="roundRect">
            <a:avLst>
              <a:gd name="adj" fmla="val 7500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9906000" y="4667250"/>
            <a:ext cx="342900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6" name="Text 14"/>
          <p:cNvSpPr/>
          <p:nvPr/>
        </p:nvSpPr>
        <p:spPr>
          <a:xfrm>
            <a:off x="10191750" y="5048250"/>
            <a:ext cx="285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500" dirty="0"/>
          </a:p>
        </p:txBody>
      </p:sp>
      <p:sp>
        <p:nvSpPr>
          <p:cNvPr id="17" name="Text 15"/>
          <p:cNvSpPr/>
          <p:nvPr/>
        </p:nvSpPr>
        <p:spPr>
          <a:xfrm>
            <a:off x="10191750" y="6381750"/>
            <a:ext cx="285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thị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716000" y="4667250"/>
            <a:ext cx="3429000" cy="3048000"/>
          </a:xfrm>
          <a:prstGeom prst="roundRect">
            <a:avLst>
              <a:gd name="adj" fmla="val 7500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00" y="4667250"/>
            <a:ext cx="342900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14001750" y="5048250"/>
            <a:ext cx="285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500" dirty="0"/>
          </a:p>
        </p:txBody>
      </p:sp>
      <p:sp>
        <p:nvSpPr>
          <p:cNvPr id="21" name="Text 19"/>
          <p:cNvSpPr/>
          <p:nvPr/>
        </p:nvSpPr>
        <p:spPr>
          <a:xfrm>
            <a:off x="14001750" y="6381750"/>
            <a:ext cx="2857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b="1" dirty="0" spc="-6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IoT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4b555ce1-b370-49b7-a416-5a97626b6e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r>
              <a:rPr lang="en-US" sz="1950" spc="17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MỤC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ít</a:t>
            </a:r>
            <a:r>
              <a:rPr lang="en-US" sz="7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 ích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6705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r>
              <a:rPr lang="en-US" sz="4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4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333500" y="4114800"/>
            <a:ext cx="71628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4114800"/>
            <a:ext cx="7162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Bắt</a:t>
            </a:r>
            <a:r>
              <a:rPr lang="en-US" sz="28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tay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1333500" y="5143500"/>
            <a:ext cx="71628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5143500"/>
            <a:ext cx="7162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1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Tự</a:t>
            </a:r>
            <a:r>
              <a:rPr lang="en-US" sz="2850" dirty="0" spc="5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333500" y="6172200"/>
            <a:ext cx="7162800" cy="8001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6172200"/>
            <a:ext cx="7162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Bảo</a:t>
            </a:r>
            <a:r>
              <a:rPr lang="en-US" sz="285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đảm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9372600" y="2762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E8E0CF"/>
          </a:solidFill>
          <a:ln/>
        </p:spPr>
      </p:sp>
      <p:sp>
        <p:nvSpPr>
          <p:cNvPr id="13" name="Text 11"/>
          <p:cNvSpPr/>
          <p:nvPr/>
        </p:nvSpPr>
        <p:spPr>
          <a:xfrm>
            <a:off x="9791700" y="3067050"/>
            <a:ext cx="723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Nhờ</a:t>
            </a:r>
            <a:r>
              <a:rPr lang="en-US" sz="45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vậy</a:t>
            </a:r>
            <a:endParaRPr lang="en-US" sz="4500" dirty="0"/>
          </a:p>
        </p:txBody>
      </p:sp>
      <p:sp>
        <p:nvSpPr>
          <p:cNvPr id="14" name="Shape 12"/>
          <p:cNvSpPr/>
          <p:nvPr/>
        </p:nvSpPr>
        <p:spPr>
          <a:xfrm>
            <a:off x="9791700" y="4114800"/>
            <a:ext cx="7162800" cy="800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</p:sp>
      <p:sp>
        <p:nvSpPr>
          <p:cNvPr id="15" name="Text 13"/>
          <p:cNvSpPr/>
          <p:nvPr/>
        </p:nvSpPr>
        <p:spPr>
          <a:xfrm>
            <a:off x="9791700" y="4114800"/>
            <a:ext cx="7162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Ít chờ</a:t>
            </a:r>
            <a:r>
              <a:rPr lang="en-US" sz="28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đợi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791700" y="5143500"/>
            <a:ext cx="7162800" cy="80010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/>
        </p:spPr>
      </p:sp>
      <p:sp>
        <p:nvSpPr>
          <p:cNvPr id="17" name="Text 15"/>
          <p:cNvSpPr/>
          <p:nvPr/>
        </p:nvSpPr>
        <p:spPr>
          <a:xfrm>
            <a:off x="9791700" y="5143500"/>
            <a:ext cx="7162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Ít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trạng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8801100" y="4629150"/>
            <a:ext cx="685800" cy="6858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9" name="Text 17"/>
          <p:cNvSpPr/>
          <p:nvPr/>
        </p:nvSpPr>
        <p:spPr>
          <a:xfrm>
            <a:off x="8801100" y="462915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→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914400" y="7620000"/>
            <a:ext cx="16459200" cy="914400"/>
          </a:xfrm>
          <a:prstGeom prst="roundRect">
            <a:avLst>
              <a:gd name="adj" fmla="val 20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95400" y="7620000"/>
            <a:ext cx="15716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Nghe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khuyết</a:t>
            </a:r>
            <a:r>
              <a:rPr lang="en-US" sz="27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điểm,</a:t>
            </a:r>
            <a:r>
              <a:rPr lang="en-US" sz="27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7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7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vậy.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Text 30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a417442f-d242-400e-95ba-9b880368cbc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5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TIÊU</a:t>
            </a:r>
            <a:r>
              <a:rPr lang="en-US" sz="1950" spc="222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ĐỀ</a:t>
            </a:r>
            <a:r>
              <a:rPr lang="en-US" sz="1950" spc="224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 GÓI</a:t>
            </a:r>
            <a:r>
              <a:rPr lang="en-US" sz="1950" spc="227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UDP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pPr algn="l" indent="0" marL="0">
              <a:buNone/>
            </a:pPr>
            <a:r>
              <a:rPr lang="en-US" sz="9750" dirty="0" spc="-23" kern="0">
                <a:solidFill>
                  <a:srgbClr val="A8A59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byte</a:t>
            </a:r>
            <a:endParaRPr lang="en-US" sz="28500" dirty="0"/>
          </a:p>
        </p:txBody>
      </p:sp>
      <p:sp>
        <p:nvSpPr>
          <p:cNvPr id="4" name="Text 2"/>
          <p:cNvSpPr/>
          <p:nvPr/>
        </p:nvSpPr>
        <p:spPr>
          <a:xfrm>
            <a:off x="914400" y="59055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5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GỒM</a:t>
            </a:r>
            <a:r>
              <a:rPr lang="en-US" sz="1950" spc="218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BỐN TRƯỜNG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6438900"/>
            <a:ext cx="3810000" cy="8763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6438900"/>
            <a:ext cx="3810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4953000" y="6438900"/>
            <a:ext cx="3619500" cy="8763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4953000" y="6438900"/>
            <a:ext cx="36195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7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8801100" y="6438900"/>
            <a:ext cx="3048000" cy="8763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8801100" y="6438900"/>
            <a:ext cx="3048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12077700" y="6438900"/>
            <a:ext cx="3429000" cy="8763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077700" y="6438900"/>
            <a:ext cx="3429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Checksum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781050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Mỗi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UDP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30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độc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lập.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Shape 19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Shape 20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3" name="Shape 21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4" name="Text 22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662a2d0b-4895-4a2f-ace2-ba56f84bb7b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2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1950" spc="224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 GỌI</a:t>
            </a:r>
            <a:r>
              <a:rPr lang="en-US" sz="1950" spc="214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THOẠI,</a:t>
            </a:r>
            <a:r>
              <a:rPr lang="en-US" sz="1950" spc="222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VIDEO</a:t>
            </a:r>
            <a:r>
              <a:rPr lang="en-US" sz="1950" spc="215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TRỰC</a:t>
            </a:r>
            <a:r>
              <a:rPr lang="en-US" sz="1950" spc="224" kern="0" dirty="0">
                <a:solidFill>
                  <a:srgbClr val="B8341A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Đến</a:t>
            </a:r>
            <a:r>
              <a:rPr lang="en-US" sz="78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trễ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800" dirty="0" spc="-8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vô</a:t>
            </a: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ích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Cuộc</a:t>
            </a:r>
            <a:r>
              <a:rPr lang="en-US" sz="30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3000" dirty="0" spc="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dirty="0" spc="4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tiếp,</a:t>
            </a:r>
            <a:r>
              <a:rPr lang="en-US" sz="30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30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30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0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0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95400" y="3219450"/>
            <a:ext cx="609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HUỐNG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382000" y="32194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1950" spc="21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3695700"/>
            <a:ext cx="16459200" cy="1238250"/>
          </a:xfrm>
          <a:prstGeom prst="roundRect">
            <a:avLst>
              <a:gd name="adj" fmla="val 1692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695700"/>
            <a:ext cx="114300" cy="1238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3695700"/>
            <a:ext cx="666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30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30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382000" y="369570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ích: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14400" y="5143500"/>
            <a:ext cx="16459200" cy="1238250"/>
          </a:xfrm>
          <a:prstGeom prst="roundRect">
            <a:avLst>
              <a:gd name="adj" fmla="val 1692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143500"/>
            <a:ext cx="114300" cy="1238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5143500"/>
            <a:ext cx="666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382000" y="514350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2850" dirty="0"/>
          </a:p>
        </p:txBody>
      </p:sp>
      <p:sp>
        <p:nvSpPr>
          <p:cNvPr id="15" name="Shape 13"/>
          <p:cNvSpPr/>
          <p:nvPr/>
        </p:nvSpPr>
        <p:spPr>
          <a:xfrm>
            <a:off x="914400" y="6591300"/>
            <a:ext cx="16459200" cy="1238250"/>
          </a:xfrm>
          <a:prstGeom prst="roundRect">
            <a:avLst>
              <a:gd name="adj" fmla="val 1692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6591300"/>
            <a:ext cx="114300" cy="1238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6591300"/>
            <a:ext cx="666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30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382000" y="659130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 nhận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endParaRPr lang="en-US" sz="2850" dirty="0"/>
          </a:p>
        </p:txBody>
      </p:sp>
      <p:sp>
        <p:nvSpPr>
          <p:cNvPr id="19" name="Shape 1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Text 27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9ce1c614-e0d2-47e1-b372-137f9116a6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4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 ·</a:t>
            </a:r>
            <a:r>
              <a:rPr lang="en-US" sz="1950" spc="225" kern="0" dirty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78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hỏi,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78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đáp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24003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</a:t>
            </a:r>
            <a:r>
              <a:rPr lang="en-US" sz="30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30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30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3000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30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dirty="0" spc="-5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30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thừa.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476500" y="3200400"/>
            <a:ext cx="3810000" cy="800100"/>
          </a:xfrm>
          <a:prstGeom prst="roundRect">
            <a:avLst>
              <a:gd name="adj" fmla="val 23810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2476500" y="3200400"/>
            <a:ext cx="3810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Client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2001500" y="3200400"/>
            <a:ext cx="3810000" cy="800100"/>
          </a:xfrm>
          <a:prstGeom prst="roundRect">
            <a:avLst>
              <a:gd name="adj" fmla="val 23810"/>
            </a:avLst>
          </a:prstGeom>
          <a:solidFill>
            <a:srgbClr val="DDE3FA"/>
          </a:solidFill>
          <a:ln/>
        </p:spPr>
      </p:sp>
      <p:sp>
        <p:nvSpPr>
          <p:cNvPr id="8" name="Text 6"/>
          <p:cNvSpPr/>
          <p:nvPr/>
        </p:nvSpPr>
        <p:spPr>
          <a:xfrm>
            <a:off x="12001500" y="3200400"/>
            <a:ext cx="3810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7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endParaRPr lang="en-US" sz="2700" dirty="0"/>
          </a:p>
        </p:txBody>
      </p:sp>
      <p:sp>
        <p:nvSpPr>
          <p:cNvPr id="9" name="Connector line-1792292490458-443984004"/>
          <p:cNvSpPr/>
          <p:nvPr/>
        </p:nvSpPr>
        <p:spPr>
          <a:xfrm>
            <a:off x="4381500" y="4038600"/>
            <a:ext cx="0" cy="4152900"/>
          </a:xfrm>
          <a:prstGeom prst="line">
            <a:avLst/>
          </a:prstGeom>
          <a:noFill/>
          <a:ln w="38100">
            <a:solidFill>
              <a:srgbClr val="CFC7B3"/>
            </a:solidFill>
            <a:prstDash val="solid"/>
            <a:headEnd type="none"/>
            <a:tailEnd type="none"/>
          </a:ln>
        </p:spPr>
      </p:sp>
      <p:sp>
        <p:nvSpPr>
          <p:cNvPr id="10" name="Connector line-1792292490459-620303983"/>
          <p:cNvSpPr/>
          <p:nvPr/>
        </p:nvSpPr>
        <p:spPr>
          <a:xfrm>
            <a:off x="13906500" y="4038600"/>
            <a:ext cx="0" cy="4152900"/>
          </a:xfrm>
          <a:prstGeom prst="line">
            <a:avLst/>
          </a:prstGeom>
          <a:noFill/>
          <a:ln w="38100">
            <a:solidFill>
              <a:srgbClr val="CFC7B3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4572000" y="4305300"/>
            <a:ext cx="914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</a:t>
            </a:r>
            <a:r>
              <a:rPr lang="en-US" sz="2400" dirty="0" spc="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40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2400" dirty="0" spc="-2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hỏi,</a:t>
            </a:r>
            <a:r>
              <a:rPr lang="en-US" sz="240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 UDP</a:t>
            </a:r>
            <a:endParaRPr lang="en-US" sz="2400" dirty="0"/>
          </a:p>
        </p:txBody>
      </p:sp>
      <p:sp>
        <p:nvSpPr>
          <p:cNvPr id="12" name="Connector line-1792292490461-800842840"/>
          <p:cNvSpPr/>
          <p:nvPr/>
        </p:nvSpPr>
        <p:spPr>
          <a:xfrm>
            <a:off x="4419600" y="4876800"/>
            <a:ext cx="94107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572000" y="5334000"/>
            <a:ext cx="914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-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</a:t>
            </a:r>
            <a:r>
              <a:rPr lang="en-US" sz="2400" dirty="0" spc="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40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2400" dirty="0" spc="6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đáp,</a:t>
            </a:r>
            <a:r>
              <a:rPr lang="en-US" sz="240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r>
              <a:rPr lang="en-US" sz="2400" dirty="0" spc="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UDP</a:t>
            </a:r>
            <a:endParaRPr lang="en-US" sz="2400" dirty="0"/>
          </a:p>
        </p:txBody>
      </p:sp>
      <p:sp>
        <p:nvSpPr>
          <p:cNvPr id="14" name="Connector line-1792292490463-705082545"/>
          <p:cNvSpPr/>
          <p:nvPr/>
        </p:nvSpPr>
        <p:spPr>
          <a:xfrm flipH="1">
            <a:off x="4457700" y="5905500"/>
            <a:ext cx="94107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0" y="6400800"/>
            <a:ext cx="9144000" cy="6096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 w="28575">
            <a:solidFill>
              <a:srgbClr val="CFC7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6400800"/>
            <a:ext cx="914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Nếu</a:t>
            </a:r>
            <a:r>
              <a:rPr lang="en-US" sz="2250" dirty="0" spc="8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đáp</a:t>
            </a:r>
            <a:r>
              <a:rPr lang="en-US" sz="2250" dirty="0" spc="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UDP</a:t>
            </a:r>
            <a:r>
              <a:rPr lang="en-US" sz="2250" dirty="0" spc="1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250" dirty="0" spc="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đánh</a:t>
            </a:r>
            <a:r>
              <a:rPr lang="en-US" sz="2250" dirty="0" spc="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dấu</a:t>
            </a:r>
            <a:r>
              <a:rPr lang="en-US" sz="2250" dirty="0" spc="-3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250" dirty="0" spc="10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đã</a:t>
            </a:r>
            <a:r>
              <a:rPr lang="en-US" sz="2250" dirty="0" spc="2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250" dirty="0" spc="-7" kern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cắt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4572000" y="7162800"/>
            <a:ext cx="914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 lại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400" dirty="0" spc="-2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TCP</a:t>
            </a:r>
            <a:endParaRPr lang="en-US" sz="2400" dirty="0"/>
          </a:p>
        </p:txBody>
      </p:sp>
      <p:sp>
        <p:nvSpPr>
          <p:cNvPr id="18" name="Connector line-1792292490467-684091702"/>
          <p:cNvSpPr/>
          <p:nvPr/>
        </p:nvSpPr>
        <p:spPr>
          <a:xfrm>
            <a:off x="4419600" y="7734300"/>
            <a:ext cx="94107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14400" y="84772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EDNS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10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Text 28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20a2cc89-f6de-49f6-bb0b-c5cdb817c4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r>
              <a:rPr lang="en-US" sz="1950" spc="224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r>
              <a:rPr lang="en-US" sz="1950" spc="218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Gửi</a:t>
            </a:r>
            <a:r>
              <a:rPr lang="en-US" sz="78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lần,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 nhân</a:t>
            </a: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4000500"/>
            <a:ext cx="28575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000500"/>
            <a:ext cx="285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tin</a:t>
            </a:r>
            <a:endParaRPr lang="en-US" sz="2850" dirty="0"/>
          </a:p>
        </p:txBody>
      </p:sp>
      <p:sp>
        <p:nvSpPr>
          <p:cNvPr id="6" name="Connector line-1792292491297-987550717"/>
          <p:cNvSpPr/>
          <p:nvPr/>
        </p:nvSpPr>
        <p:spPr>
          <a:xfrm>
            <a:off x="3848100" y="4714875"/>
            <a:ext cx="18288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810000" y="41910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5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Gửi</a:t>
            </a:r>
            <a:r>
              <a:rPr lang="en-US" sz="2100" dirty="0" spc="-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 lần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753100" y="3810000"/>
            <a:ext cx="3238500" cy="1809750"/>
          </a:xfrm>
          <a:prstGeom prst="roundRect">
            <a:avLst>
              <a:gd name="adj" fmla="val 14737"/>
            </a:avLst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5753100" y="3810000"/>
            <a:ext cx="3238500" cy="180975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300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Mạng</a:t>
            </a:r>
            <a:r>
              <a:rPr lang="en-US" sz="300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nhân bản</a:t>
            </a:r>
            <a:endParaRPr lang="en-US" sz="3000" dirty="0"/>
          </a:p>
        </p:txBody>
      </p:sp>
      <p:sp>
        <p:nvSpPr>
          <p:cNvPr id="10" name="Connector line-1792292491303-434912695"/>
          <p:cNvSpPr/>
          <p:nvPr/>
        </p:nvSpPr>
        <p:spPr>
          <a:xfrm flipV="1">
            <a:off x="9067800" y="3238500"/>
            <a:ext cx="4229100" cy="123825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292491304-919579291"/>
          <p:cNvSpPr/>
          <p:nvPr/>
        </p:nvSpPr>
        <p:spPr>
          <a:xfrm>
            <a:off x="9067800" y="4714875"/>
            <a:ext cx="42291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292491304-868256730"/>
          <p:cNvSpPr/>
          <p:nvPr/>
        </p:nvSpPr>
        <p:spPr>
          <a:xfrm>
            <a:off x="9067800" y="4953000"/>
            <a:ext cx="4229100" cy="123825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3373100" y="2705100"/>
            <a:ext cx="4000500" cy="1066800"/>
          </a:xfrm>
          <a:prstGeom prst="roundRect">
            <a:avLst>
              <a:gd name="adj" fmla="val 19643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3373100" y="2705100"/>
            <a:ext cx="95250" cy="1066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0" y="2705100"/>
            <a:ext cx="3429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3373100" y="4181475"/>
            <a:ext cx="4000500" cy="1066800"/>
          </a:xfrm>
          <a:prstGeom prst="roundRect">
            <a:avLst>
              <a:gd name="adj" fmla="val 19643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13373100" y="4181475"/>
            <a:ext cx="95250" cy="1066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0" y="4181475"/>
            <a:ext cx="3429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2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13373100" y="5657850"/>
            <a:ext cx="4000500" cy="1066800"/>
          </a:xfrm>
          <a:prstGeom prst="roundRect">
            <a:avLst>
              <a:gd name="adj" fmla="val 19643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3373100" y="5657850"/>
            <a:ext cx="95250" cy="10668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0" y="5657850"/>
            <a:ext cx="3429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914400" y="7429500"/>
            <a:ext cx="80010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/>
        </p:spPr>
      </p:sp>
      <p:sp>
        <p:nvSpPr>
          <p:cNvPr id="23" name="Text 21"/>
          <p:cNvSpPr/>
          <p:nvPr/>
        </p:nvSpPr>
        <p:spPr>
          <a:xfrm>
            <a:off x="1295400" y="74295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TCP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5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</a:t>
            </a:r>
            <a:r>
              <a:rPr lang="en-US" sz="25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5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đầu.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9372600" y="7429500"/>
            <a:ext cx="8001000" cy="1143000"/>
          </a:xfrm>
          <a:prstGeom prst="roundRect">
            <a:avLst>
              <a:gd name="adj" fmla="val 16667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9753600" y="7429500"/>
            <a:ext cx="7239000" cy="1143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Bên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5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phát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25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mất,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ví dụ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5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 tự.</a:t>
            </a:r>
            <a:endParaRPr lang="en-US" sz="2550" dirty="0"/>
          </a:p>
        </p:txBody>
      </p:sp>
      <p:sp>
        <p:nvSpPr>
          <p:cNvPr id="26" name="Shape 24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7" name="Shape 25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8" name="Shape 26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9" name="Shape 27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0" name="Shape 28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1" name="Shape 29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2" name="Shape 30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3" name="Shape 31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4" name="Shape 32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5" name="Shape 33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6" name="Text 34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0a4265db-3182-4acc-9972-d352c3437b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1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</a:t>
            </a:r>
            <a:r>
              <a:rPr lang="en-US" sz="1950" spc="224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·</a:t>
            </a:r>
            <a:r>
              <a:rPr lang="en-US" sz="1950" spc="225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THIẾT</a:t>
            </a:r>
            <a:r>
              <a:rPr lang="en-US" sz="1950" spc="221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1950" spc="198" kern="0" dirty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IOT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Gói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r>
              <a:rPr lang="en-US" sz="7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7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7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4953000"/>
          </a:xfrm>
          <a:prstGeom prst="roundRect">
            <a:avLst>
              <a:gd name="adj" fmla="val 5385"/>
            </a:avLst>
          </a:prstGeom>
          <a:solidFill>
            <a:srgbClr val="CFE8E2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67050"/>
            <a:ext cx="45720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42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4200" dirty="0" spc="-7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IoT</a:t>
            </a:r>
            <a:endParaRPr lang="en-US" sz="4200" dirty="0"/>
          </a:p>
        </p:txBody>
      </p:sp>
      <p:sp>
        <p:nvSpPr>
          <p:cNvPr id="6" name="Text richtext-1792292555550-558849418"/>
          <p:cNvSpPr/>
          <p:nvPr/>
        </p:nvSpPr>
        <p:spPr>
          <a:xfrm>
            <a:off x="1295400" y="4057650"/>
            <a:ext cx="4572000" cy="32385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marL="361950" indent="-258592">
              <a:lnSpc>
                <a:spcPts val="3563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Bộ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ít</a:t>
            </a:r>
            <a:endParaRPr lang="en-US" sz="2850" dirty="0"/>
          </a:p>
          <a:p>
            <a:pPr algn="l" marL="361950" indent="-258592">
              <a:lnSpc>
                <a:spcPts val="3563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Gói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ngắn</a:t>
            </a:r>
            <a:endParaRPr lang="en-US" sz="2850" dirty="0"/>
          </a:p>
          <a:p>
            <a:pPr algn="l" marL="361950" indent="-258592">
              <a:lnSpc>
                <a:spcPts val="3563"/>
              </a:lnSpc>
              <a:buSzPct val="100000"/>
              <a:buFont typeface="Arial"/>
              <a:buChar char="•"/>
            </a:pP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Ví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dụ: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biến,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minh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6858000" y="2762250"/>
            <a:ext cx="10515600" cy="1333500"/>
          </a:xfrm>
          <a:prstGeom prst="roundRect">
            <a:avLst>
              <a:gd name="adj" fmla="val 17143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7277100" y="2933700"/>
            <a:ext cx="952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CoAP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277100" y="358140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33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550" dirty="0" spc="2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19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0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1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1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6858000" y="4171950"/>
            <a:ext cx="1051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858000" y="4572000"/>
            <a:ext cx="10515600" cy="1333500"/>
          </a:xfrm>
          <a:prstGeom prst="roundRect">
            <a:avLst>
              <a:gd name="adj" fmla="val 17143"/>
            </a:avLst>
          </a:prstGeom>
          <a:solidFill>
            <a:srgbClr val="CFE8E2"/>
          </a:solidFill>
          <a:ln/>
        </p:spPr>
      </p:sp>
      <p:sp>
        <p:nvSpPr>
          <p:cNvPr id="12" name="Text 10"/>
          <p:cNvSpPr/>
          <p:nvPr/>
        </p:nvSpPr>
        <p:spPr>
          <a:xfrm>
            <a:off x="7277100" y="4743450"/>
            <a:ext cx="952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7277100" y="539115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6858000" y="5981700"/>
            <a:ext cx="1051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19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858000" y="6381750"/>
            <a:ext cx="10515600" cy="1333500"/>
          </a:xfrm>
          <a:prstGeom prst="roundRect">
            <a:avLst>
              <a:gd name="adj" fmla="val 17143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7277100" y="6553200"/>
            <a:ext cx="952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7277100" y="7200900"/>
            <a:ext cx="9525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19" name="Shape 1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0" name="Shape 1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1" name="Shape 1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2" name="Shape 2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Text 26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8d3d7777-6df8-406f-9fe1-350437b24b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GIỚI</a:t>
            </a:r>
            <a:r>
              <a:rPr lang="en-US" sz="1950" spc="22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1950" spc="20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1950" spc="22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2857500"/>
          </a:xfrm>
          <a:prstGeom prst="rect">
            <a:avLst/>
          </a:prstGeom>
          <a:noFill/>
          <a:ln/>
        </p:spPr>
        <p:txBody>
          <a:bodyPr wrap="square" lIns="0" tIns="53340" rIns="0" bIns="-53340" rtlCol="0" anchor="t"/>
          <a:lstStyle/>
          <a:p>
            <a:pPr algn="l" indent="0" marL="0">
              <a:lnSpc>
                <a:spcPts val="9240"/>
              </a:lnSpc>
              <a:buNone/>
            </a:pPr>
            <a:r>
              <a:rPr lang="en-US" sz="8400" dirty="0" spc="2" kern="0">
                <a:solidFill>
                  <a:srgbClr val="A8A59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r>
              <a:rPr lang="en-US" sz="8400" dirty="0" spc="-2" kern="0">
                <a:solidFill>
                  <a:srgbClr val="A8A59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8400" dirty="0" spc="0" kern="0">
                <a:solidFill>
                  <a:srgbClr val="A8A59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 minh</a:t>
            </a:r>
            <a:r>
              <a:rPr lang="en-US" sz="8400" dirty="0" spc="-43" kern="0">
                <a:solidFill>
                  <a:srgbClr val="A8A59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hơn.</a:t>
            </a:r>
            <a:endParaRPr lang="en-US" sz="8400" dirty="0"/>
          </a:p>
          <a:p>
            <a:pPr algn="l" indent="0" marL="0">
              <a:lnSpc>
                <a:spcPts val="9240"/>
              </a:lnSpc>
              <a:buNone/>
            </a:pPr>
            <a:r>
              <a:rPr lang="en-US" sz="84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Nó chỉ</a:t>
            </a:r>
            <a:r>
              <a:rPr lang="en-US" sz="84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84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ít</a:t>
            </a:r>
            <a:r>
              <a:rPr lang="en-US" sz="84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8400" dirty="0" spc="-4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hơn.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914400" y="4381500"/>
            <a:ext cx="1143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5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ỨNG</a:t>
            </a:r>
            <a:r>
              <a:rPr lang="en-US" sz="1950" spc="225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r>
              <a:rPr lang="en-US" sz="1950" spc="226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1950" spc="191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</a:t>
            </a:r>
            <a:r>
              <a:rPr lang="en-US" sz="1950" spc="198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1950" spc="225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1950" spc="217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BỎ</a:t>
            </a:r>
            <a:r>
              <a:rPr lang="en-US" sz="1950" spc="215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914400" y="4914900"/>
            <a:ext cx="30480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91490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4191000" y="4914900"/>
            <a:ext cx="30480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4191000" y="4914900"/>
            <a:ext cx="304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7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467600" y="4914900"/>
            <a:ext cx="5334000" cy="9144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7467600" y="4914900"/>
            <a:ext cx="533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Chống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 mạng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14400" y="6477000"/>
            <a:ext cx="8001000" cy="1238250"/>
          </a:xfrm>
          <a:prstGeom prst="roundRect">
            <a:avLst>
              <a:gd name="adj" fmla="val 16923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6477000"/>
            <a:ext cx="95250" cy="1238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647700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 phải</a:t>
            </a:r>
            <a:r>
              <a:rPr lang="en-US" sz="2700" dirty="0" spc="-6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IoT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7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UDP.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372600" y="6477000"/>
            <a:ext cx="8001000" cy="1238250"/>
          </a:xfrm>
          <a:prstGeom prst="roundRect">
            <a:avLst>
              <a:gd name="adj" fmla="val 16923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9372600" y="6477000"/>
            <a:ext cx="95250" cy="1238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16" name="Text 14"/>
          <p:cNvSpPr/>
          <p:nvPr/>
        </p:nvSpPr>
        <p:spPr>
          <a:xfrm>
            <a:off x="9791700" y="647700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chặn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hoặc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UDP.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Shape 1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2" name="Shape 2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3" name="Shape 2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4" name="Shape 2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6" name="Shape 2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7" name="Text 25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fa12e50b-24ec-4c58-969e-16cde460800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spc="199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181100"/>
            <a:ext cx="1645920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14478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spc="1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800" spc="15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1885950"/>
            <a:ext cx="15621000" cy="102870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Chuyển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tiền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31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31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31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đủ,</a:t>
            </a: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 tự.</a:t>
            </a:r>
            <a:endParaRPr lang="en-US" sz="3150" dirty="0"/>
          </a:p>
          <a:p>
            <a:pPr algn="l" indent="0" marL="0">
              <a:lnSpc>
                <a:spcPts val="3938"/>
              </a:lnSpc>
              <a:buNone/>
            </a:pPr>
            <a:r>
              <a:rPr lang="en-US" sz="31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Chọn</a:t>
            </a:r>
            <a:r>
              <a:rPr lang="en-US" sz="31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UDP thuần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 hợp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lý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không?</a:t>
            </a:r>
            <a:r>
              <a:rPr lang="en-US" sz="3150" dirty="0" spc="4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sao?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3581400" y="3352800"/>
            <a:ext cx="266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spc="222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ĐẾN</a:t>
            </a: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438900" y="3352800"/>
            <a:ext cx="266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spc="224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ĐÚNG</a:t>
            </a: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 TỰ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400" y="4286250"/>
            <a:ext cx="247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thuần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3581400" y="3848100"/>
            <a:ext cx="2667000" cy="1428750"/>
          </a:xfrm>
          <a:prstGeom prst="roundRect">
            <a:avLst>
              <a:gd name="adj" fmla="val 14667"/>
            </a:avLst>
          </a:prstGeom>
          <a:solidFill>
            <a:srgbClr val="E8E0CF"/>
          </a:solidFill>
          <a:ln/>
        </p:spPr>
      </p:sp>
      <p:sp>
        <p:nvSpPr>
          <p:cNvPr id="10" name="Text 8"/>
          <p:cNvSpPr/>
          <p:nvPr/>
        </p:nvSpPr>
        <p:spPr>
          <a:xfrm>
            <a:off x="3581400" y="3848100"/>
            <a:ext cx="2667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6438900" y="3848100"/>
            <a:ext cx="2667000" cy="1428750"/>
          </a:xfrm>
          <a:prstGeom prst="roundRect">
            <a:avLst>
              <a:gd name="adj" fmla="val 14667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6438900" y="3848100"/>
            <a:ext cx="2667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6096000"/>
            <a:ext cx="247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3581400" y="5467350"/>
            <a:ext cx="2667000" cy="1428750"/>
          </a:xfrm>
          <a:prstGeom prst="roundRect">
            <a:avLst>
              <a:gd name="adj" fmla="val 14667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3581400" y="5467350"/>
            <a:ext cx="2667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6438900" y="5467350"/>
            <a:ext cx="2667000" cy="1428750"/>
          </a:xfrm>
          <a:prstGeom prst="roundRect">
            <a:avLst>
              <a:gd name="adj" fmla="val 14667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6438900" y="5467350"/>
            <a:ext cx="2667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525000" y="3276600"/>
            <a:ext cx="7848600" cy="4572000"/>
          </a:xfrm>
          <a:prstGeom prst="roundRect">
            <a:avLst>
              <a:gd name="adj" fmla="val 5833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9944100" y="358140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199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1950" spc="225" kern="0" dirty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944100" y="4038600"/>
            <a:ext cx="7048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57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lý.</a:t>
            </a:r>
            <a:endParaRPr lang="en-US" sz="5700" dirty="0"/>
          </a:p>
        </p:txBody>
      </p:sp>
      <p:sp>
        <p:nvSpPr>
          <p:cNvPr id="21" name="Text richtext-1792292557328-502485665"/>
          <p:cNvSpPr/>
          <p:nvPr/>
        </p:nvSpPr>
        <p:spPr>
          <a:xfrm>
            <a:off x="9944100" y="5219700"/>
            <a:ext cx="7048500" cy="2381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marL="304800" indent="-217761">
              <a:lnSpc>
                <a:spcPts val="312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UDP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thuần không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tự.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TCP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sẵn.</a:t>
            </a:r>
            <a:endParaRPr lang="en-US" sz="2400" dirty="0"/>
          </a:p>
          <a:p>
            <a:pPr algn="l" marL="304800" indent="-217761">
              <a:lnSpc>
                <a:spcPts val="3120"/>
              </a:lnSpc>
              <a:buSzPct val="100000"/>
              <a:buFont typeface="Arial"/>
              <a:buChar char="•"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UDP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xây.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FC7B3"/>
          </a:solidFill>
          <a:ln/>
        </p:spPr>
      </p:sp>
      <p:sp>
        <p:nvSpPr>
          <p:cNvPr id="32" name="Text 30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8b7d6c51-a874-4862-a404-bd1f25bb27f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7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TỪ</a:t>
            </a:r>
            <a:r>
              <a:rPr lang="en-US" sz="1950" spc="224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VIẾT</a:t>
            </a:r>
            <a:r>
              <a:rPr lang="en-US" sz="1950" spc="134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TẮT</a:t>
            </a:r>
            <a:r>
              <a:rPr lang="en-US" sz="1950" spc="173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1950" spc="225" kern="0" dirty="0">
                <a:solidFill>
                  <a:srgbClr val="A8A59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04900"/>
            <a:ext cx="16459200" cy="1181100"/>
          </a:xfrm>
          <a:prstGeom prst="rect">
            <a:avLst/>
          </a:prstGeom>
          <a:noFill/>
          <a:ln/>
        </p:spPr>
        <p:txBody>
          <a:bodyPr wrap="square" lIns="0" tIns="66865" rIns="0" bIns="-66865" rtlCol="0" anchor="t"/>
          <a:lstStyle/>
          <a:p>
            <a:pPr algn="l" indent="0" marL="0">
              <a:lnSpc>
                <a:spcPts val="8190"/>
              </a:lnSpc>
              <a:buNone/>
            </a:pPr>
            <a:r>
              <a:rPr lang="en-US" sz="78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 nhớ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914400" y="2495550"/>
            <a:ext cx="10325100" cy="762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2495550"/>
            <a:ext cx="1809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UDP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3143250" y="2552700"/>
            <a:ext cx="790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</a:t>
            </a:r>
            <a:r>
              <a:rPr lang="en-US" sz="1800" dirty="0" spc="-15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Datagram</a:t>
            </a: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43250" y="2857500"/>
            <a:ext cx="7905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Gói nhanh,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22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đảm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 tự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3352800"/>
            <a:ext cx="10325100" cy="762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181100" y="3352800"/>
            <a:ext cx="1809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TCP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3143250" y="3409950"/>
            <a:ext cx="790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6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800" dirty="0" spc="-1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43250" y="3714750"/>
            <a:ext cx="7905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Dữ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đến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đủ</a:t>
            </a:r>
            <a:r>
              <a:rPr lang="en-US" sz="22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4210050"/>
            <a:ext cx="10325100" cy="762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81100" y="4210050"/>
            <a:ext cx="1809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DNS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3143250" y="4267200"/>
            <a:ext cx="790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Domain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</a:t>
            </a:r>
            <a:r>
              <a:rPr lang="en-US" sz="180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3250" y="4572000"/>
            <a:ext cx="7905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Danh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Internet:</a:t>
            </a:r>
            <a:r>
              <a:rPr lang="en-US" sz="22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đổi</a:t>
            </a:r>
            <a:r>
              <a:rPr lang="en-US" sz="22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miền thành</a:t>
            </a:r>
            <a:r>
              <a:rPr lang="en-US" sz="225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2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IP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5067300"/>
            <a:ext cx="10325100" cy="762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181100" y="5067300"/>
            <a:ext cx="1809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3143250" y="5124450"/>
            <a:ext cx="790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143250" y="5429250"/>
            <a:ext cx="7905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Quy</a:t>
            </a:r>
            <a:r>
              <a:rPr lang="en-US" sz="225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ước</a:t>
            </a:r>
            <a:r>
              <a:rPr lang="en-US" sz="22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đánh</a:t>
            </a:r>
            <a:r>
              <a:rPr lang="en-US" sz="225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địa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2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chuyển</a:t>
            </a:r>
            <a:r>
              <a:rPr lang="en-US" sz="22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</a:t>
            </a:r>
            <a:r>
              <a:rPr lang="en-US" sz="22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14400" y="5924550"/>
            <a:ext cx="10325100" cy="762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181100" y="5924550"/>
            <a:ext cx="1809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EDNS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3143250" y="5981700"/>
            <a:ext cx="790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Extension</a:t>
            </a: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Mechanisms</a:t>
            </a:r>
            <a:r>
              <a:rPr lang="en-US" sz="180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800" dirty="0" spc="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143250" y="6286500"/>
            <a:ext cx="7905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Cho</a:t>
            </a:r>
            <a:r>
              <a:rPr lang="en-US" sz="22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câu</a:t>
            </a:r>
            <a:r>
              <a:rPr lang="en-US" sz="225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đáp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DNS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 UDP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 hơn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14400" y="6781800"/>
            <a:ext cx="10325100" cy="762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181100" y="6781800"/>
            <a:ext cx="1809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6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IoT</a:t>
            </a:r>
            <a:endParaRPr lang="en-US" sz="2850" dirty="0"/>
          </a:p>
        </p:txBody>
      </p:sp>
      <p:sp>
        <p:nvSpPr>
          <p:cNvPr id="26" name="Text 24"/>
          <p:cNvSpPr/>
          <p:nvPr/>
        </p:nvSpPr>
        <p:spPr>
          <a:xfrm>
            <a:off x="3143250" y="6838950"/>
            <a:ext cx="790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Internet</a:t>
            </a:r>
            <a:r>
              <a:rPr lang="en-US" sz="1800" dirty="0" spc="0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Things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143250" y="7143750"/>
            <a:ext cx="7905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Thiết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 nối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r>
              <a:rPr lang="en-US" sz="2250" dirty="0" spc="-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250" dirty="0" spc="4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914400" y="7639050"/>
            <a:ext cx="10325100" cy="762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29" name="Text 27"/>
          <p:cNvSpPr/>
          <p:nvPr/>
        </p:nvSpPr>
        <p:spPr>
          <a:xfrm>
            <a:off x="1181100" y="7639050"/>
            <a:ext cx="18097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CoAP</a:t>
            </a:r>
            <a:endParaRPr lang="en-US" sz="2850" dirty="0"/>
          </a:p>
        </p:txBody>
      </p:sp>
      <p:sp>
        <p:nvSpPr>
          <p:cNvPr id="30" name="Text 28"/>
          <p:cNvSpPr/>
          <p:nvPr/>
        </p:nvSpPr>
        <p:spPr>
          <a:xfrm>
            <a:off x="3143250" y="7696200"/>
            <a:ext cx="7905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9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Constrained</a:t>
            </a:r>
            <a:r>
              <a:rPr lang="en-US" sz="1800" dirty="0" spc="-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143250" y="8001000"/>
            <a:ext cx="7905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22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thức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nhẹ</a:t>
            </a:r>
            <a:r>
              <a:rPr lang="en-US" sz="22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2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UDP, cho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thiết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</a:t>
            </a:r>
            <a:r>
              <a:rPr lang="en-US" sz="2250" dirty="0" spc="-4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IoT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1620500" y="2495550"/>
            <a:ext cx="5753100" cy="3143250"/>
          </a:xfrm>
          <a:prstGeom prst="roundRect">
            <a:avLst>
              <a:gd name="adj" fmla="val 6061"/>
            </a:avLst>
          </a:prstGeom>
          <a:solidFill>
            <a:srgbClr val="F3EEE3"/>
          </a:solidFill>
          <a:ln/>
        </p:spPr>
      </p:sp>
      <p:sp>
        <p:nvSpPr>
          <p:cNvPr id="33" name="Text 31"/>
          <p:cNvSpPr/>
          <p:nvPr/>
        </p:nvSpPr>
        <p:spPr>
          <a:xfrm>
            <a:off x="11963400" y="2762250"/>
            <a:ext cx="514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spc="226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NGUỒN</a:t>
            </a:r>
            <a:r>
              <a:rPr lang="en-US" sz="1950" spc="223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1950" spc="225" kern="0" dirty="0">
                <a:solidFill>
                  <a:srgbClr val="6B6A6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CHIẾU</a:t>
            </a:r>
            <a:endParaRPr lang="en-US" sz="1950" dirty="0"/>
          </a:p>
        </p:txBody>
      </p:sp>
      <p:sp>
        <p:nvSpPr>
          <p:cNvPr id="34" name="Text richtext-1792292558476-801128475"/>
          <p:cNvSpPr/>
          <p:nvPr/>
        </p:nvSpPr>
        <p:spPr>
          <a:xfrm>
            <a:off x="11963400" y="3276600"/>
            <a:ext cx="5143500" cy="2286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ByteByteGo,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snapshot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2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RFC</a:t>
            </a:r>
            <a:r>
              <a:rPr lang="en-US" sz="22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768,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8085, 3550,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1112: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UDP,</a:t>
            </a:r>
            <a:r>
              <a:rPr lang="en-US" sz="22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RTP,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multicast</a:t>
            </a:r>
            <a:endParaRPr lang="en-US" sz="2250" dirty="0"/>
          </a:p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RFC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1035,</a:t>
            </a:r>
            <a:r>
              <a:rPr lang="en-US" sz="22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7766,</a:t>
            </a:r>
            <a:r>
              <a:rPr lang="en-US" sz="22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6891,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7252:</a:t>
            </a:r>
            <a:r>
              <a:rPr lang="en-US" sz="22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DNS, EDNS,</a:t>
            </a:r>
            <a:r>
              <a:rPr lang="en-US" sz="22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CoAP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11620500" y="5829300"/>
            <a:ext cx="5753100" cy="2571750"/>
          </a:xfrm>
          <a:prstGeom prst="roundRect">
            <a:avLst>
              <a:gd name="adj" fmla="val 7407"/>
            </a:avLst>
          </a:prstGeom>
          <a:solidFill>
            <a:srgbClr val="1E212B"/>
          </a:solidFill>
          <a:ln/>
        </p:spPr>
      </p:sp>
      <p:sp>
        <p:nvSpPr>
          <p:cNvPr id="36" name="Shape 34"/>
          <p:cNvSpPr/>
          <p:nvPr/>
        </p:nvSpPr>
        <p:spPr>
          <a:xfrm>
            <a:off x="11620500" y="5829300"/>
            <a:ext cx="95250" cy="2571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37" name="Text 35"/>
          <p:cNvSpPr/>
          <p:nvPr/>
        </p:nvSpPr>
        <p:spPr>
          <a:xfrm>
            <a:off x="11963400" y="6057900"/>
            <a:ext cx="5143500" cy="21526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nháp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1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thuật.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endParaRPr lang="en-US" sz="2100" dirty="0"/>
          </a:p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6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1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1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2100" dirty="0"/>
          </a:p>
        </p:txBody>
      </p:sp>
      <p:sp>
        <p:nvSpPr>
          <p:cNvPr id="38" name="Shape 3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39" name="Shape 3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0" name="Shape 3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1" name="Shape 3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2" name="Shape 4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3" name="Shape 4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4" name="Shape 4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5" name="Shape 4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6" name="Shape 4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47" name="Shape 4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8" name="Text 46"/>
          <p:cNvSpPr/>
          <p:nvPr/>
        </p:nvSpPr>
        <p:spPr>
          <a:xfrm>
            <a:off x="367665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800" dirty="0" spc="-1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A8A59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0" name="Moda image moda-export-watermark-7e81922e-5965-4833-b24c-aa8ba7be1e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2026-10-19T00:43:16Z</dcterms:created>
  <dcterms:modified xsi:type="dcterms:W3CDTF">2026-10-19T00:43:16Z</dcterms:modified>
</cp:coreProperties>
</file>