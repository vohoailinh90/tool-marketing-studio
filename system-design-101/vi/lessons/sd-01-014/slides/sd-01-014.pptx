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9525000" cy="32766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JavaScript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hoạt</a:t>
            </a: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810250"/>
            <a:ext cx="8953500" cy="123825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-1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JavaScript</a:t>
            </a:r>
            <a:r>
              <a:rPr lang="en-US" sz="3150" dirty="0" spc="-1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3150" dirty="0" spc="2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31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3150" dirty="0" spc="-9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một,</a:t>
            </a:r>
            <a:r>
              <a:rPr lang="en-US" sz="3150" dirty="0" spc="2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nhưng</a:t>
            </a:r>
            <a:r>
              <a:rPr lang="en-US" sz="3150" dirty="0" spc="-1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31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</a:t>
            </a:r>
            <a:r>
              <a:rPr lang="en-US" sz="3150" dirty="0" spc="1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31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31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3150" dirty="0" spc="1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đang</a:t>
            </a:r>
            <a:r>
              <a:rPr lang="en-US" sz="31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chờ.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75247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16192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858500" y="1619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1277600" y="179070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Engine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1277600" y="2381250"/>
            <a:ext cx="590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thành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bytecode,</a:t>
            </a:r>
            <a:r>
              <a:rPr lang="en-US" sz="25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858500" y="32766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0" y="3276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1277600" y="344805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Call stack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1277600" y="40386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858500" y="49339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49339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510540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Môi</a:t>
            </a:r>
            <a:r>
              <a:rPr lang="en-US" sz="3450" dirty="0" spc="-2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1277600" y="56959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timer,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858500" y="65913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58500" y="65913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7600" y="676275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Event</a:t>
            </a:r>
            <a:r>
              <a:rPr lang="en-US" sz="345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loop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1277600" y="7353300"/>
            <a:ext cx="590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stack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rỗng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57f9f1e5-f423-45dc-a306-4c4e7ff065a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8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luồng,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Chờ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mạng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mà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trang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700" dirty="0" spc="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đứng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Vòng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lặp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dài làm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trang</a:t>
            </a:r>
            <a:r>
              <a:rPr lang="en-US" sz="2700" dirty="0" spc="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đứng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Mục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tiêu: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hiểu engine,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stack,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đợi,</a:t>
            </a:r>
            <a:r>
              <a:rPr lang="en-US" sz="2700" dirty="0" spc="-2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event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loop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2004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Chờ</a:t>
            </a:r>
            <a:r>
              <a:rPr lang="en-US" sz="195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733800"/>
            <a:ext cx="2190750" cy="952500"/>
          </a:xfrm>
          <a:prstGeom prst="roundRect">
            <a:avLst>
              <a:gd name="adj" fmla="val 1200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733800"/>
            <a:ext cx="2190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2100" dirty="0" spc="-8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306050" y="3733800"/>
            <a:ext cx="4381500" cy="952500"/>
          </a:xfrm>
          <a:prstGeom prst="roundRect">
            <a:avLst>
              <a:gd name="adj" fmla="val 12000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06050" y="373380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môi</a:t>
            </a:r>
            <a:r>
              <a:rPr lang="en-US" sz="2100" dirty="0" spc="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2100" dirty="0" spc="-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</a:t>
            </a:r>
            <a:r>
              <a:rPr lang="en-US" sz="2100" dirty="0" spc="-5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4801850" y="3733800"/>
            <a:ext cx="2190750" cy="952500"/>
          </a:xfrm>
          <a:prstGeom prst="roundRect">
            <a:avLst>
              <a:gd name="adj" fmla="val 1200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801850" y="3733800"/>
            <a:ext cx="2190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2100" dirty="0" spc="-8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100" dirty="0" spc="-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001000" y="48768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Trang</a:t>
            </a:r>
            <a:r>
              <a:rPr lang="en-US" sz="2400" dirty="0" spc="-14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400" dirty="0" spc="-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2400" dirty="0" spc="-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endParaRPr lang="en-US" sz="2400" dirty="0"/>
          </a:p>
        </p:txBody>
      </p:sp>
      <p:sp>
        <p:nvSpPr>
          <p:cNvPr id="22" name="Connector line-1792322498497-489759894"/>
          <p:cNvSpPr/>
          <p:nvPr/>
        </p:nvSpPr>
        <p:spPr>
          <a:xfrm>
            <a:off x="8001000" y="5810250"/>
            <a:ext cx="8991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8001000" y="60960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Vòng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195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8001000" y="6591300"/>
            <a:ext cx="8991600" cy="95250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6591300"/>
            <a:ext cx="899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8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100" dirty="0" spc="-3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100" dirty="0" spc="-8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100" dirty="0" spc="-5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lâu</a:t>
            </a:r>
            <a:r>
              <a:rPr lang="en-US" sz="2100" dirty="0" spc="0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100" dirty="0" spc="-9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stack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001000" y="77343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Trang</a:t>
            </a:r>
            <a:r>
              <a:rPr lang="en-US" sz="2400" dirty="0" spc="-5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2400" dirty="0" spc="-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Text 35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2d2f790d-b551-4e53-939f-41611faab2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2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3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ENGINE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Engine</a:t>
            </a:r>
            <a:r>
              <a:rPr lang="en-US" sz="78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78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Trình</a:t>
            </a:r>
            <a:r>
              <a:rPr lang="en-US" sz="270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duyệt</a:t>
            </a:r>
            <a:r>
              <a:rPr lang="en-US" sz="2700" dirty="0" spc="-2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Node</a:t>
            </a:r>
            <a:r>
              <a:rPr lang="en-US" sz="270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đều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engine,</a:t>
            </a: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V8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Engine</a:t>
            </a:r>
            <a:r>
              <a:rPr lang="en-US" sz="270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270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bytecode</a:t>
            </a:r>
            <a:r>
              <a:rPr lang="en-US" sz="270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rồi</a:t>
            </a:r>
            <a:r>
              <a:rPr lang="en-US" sz="27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Đoạn</a:t>
            </a:r>
            <a:r>
              <a:rPr lang="en-US" sz="27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70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JIT</a:t>
            </a:r>
            <a:r>
              <a:rPr lang="en-US" sz="27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tối</a:t>
            </a:r>
            <a:r>
              <a:rPr lang="en-US" sz="2700" dirty="0" spc="3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ưu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20040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Engine,</a:t>
            </a:r>
            <a:r>
              <a:rPr lang="en-US" sz="1950" dirty="0" spc="-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1950" dirty="0" spc="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V8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810000"/>
            <a:ext cx="2381250" cy="1238250"/>
          </a:xfrm>
          <a:prstGeom prst="roundRect">
            <a:avLst>
              <a:gd name="adj" fmla="val 10769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810000"/>
            <a:ext cx="2381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JavaScript</a:t>
            </a:r>
            <a:endParaRPr lang="en-US" sz="2250" dirty="0"/>
          </a:p>
        </p:txBody>
      </p:sp>
      <p:sp>
        <p:nvSpPr>
          <p:cNvPr id="17" name="Connector line-1792322529944-751472494"/>
          <p:cNvSpPr/>
          <p:nvPr/>
        </p:nvSpPr>
        <p:spPr>
          <a:xfrm>
            <a:off x="10477500" y="4429125"/>
            <a:ext cx="733425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306175" y="3810000"/>
            <a:ext cx="2381250" cy="1238250"/>
          </a:xfrm>
          <a:prstGeom prst="roundRect">
            <a:avLst>
              <a:gd name="adj" fmla="val 10769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06175" y="3810000"/>
            <a:ext cx="2381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Bytecode</a:t>
            </a:r>
            <a:endParaRPr lang="en-US" sz="2250" dirty="0"/>
          </a:p>
          <a:p>
            <a:pPr algn="ctr" indent="0" marL="0">
              <a:buNone/>
            </a:pPr>
            <a:r>
              <a:rPr lang="en-US" sz="180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dạng trung</a:t>
            </a:r>
            <a:r>
              <a:rPr lang="en-US" sz="180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250" dirty="0"/>
          </a:p>
        </p:txBody>
      </p:sp>
      <p:sp>
        <p:nvSpPr>
          <p:cNvPr id="20" name="Connector line-1792322529954-627672632"/>
          <p:cNvSpPr/>
          <p:nvPr/>
        </p:nvSpPr>
        <p:spPr>
          <a:xfrm>
            <a:off x="13782675" y="4429125"/>
            <a:ext cx="733425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4611350" y="3810000"/>
            <a:ext cx="2381250" cy="1238250"/>
          </a:xfrm>
          <a:prstGeom prst="roundRect">
            <a:avLst>
              <a:gd name="adj" fmla="val 10769"/>
            </a:avLst>
          </a:prstGeom>
          <a:solidFill>
            <a:srgbClr val="7C93FF"/>
          </a:solidFill>
          <a:ln/>
        </p:spPr>
      </p:sp>
      <p:sp>
        <p:nvSpPr>
          <p:cNvPr id="22" name="Text 20"/>
          <p:cNvSpPr/>
          <p:nvPr/>
        </p:nvSpPr>
        <p:spPr>
          <a:xfrm>
            <a:off x="14611350" y="3810000"/>
            <a:ext cx="2381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endParaRPr lang="en-US" sz="2550" dirty="0"/>
          </a:p>
        </p:txBody>
      </p:sp>
      <p:sp>
        <p:nvSpPr>
          <p:cNvPr id="23" name="Connector line-1792322529959-682221364"/>
          <p:cNvSpPr/>
          <p:nvPr/>
        </p:nvSpPr>
        <p:spPr>
          <a:xfrm>
            <a:off x="15801975" y="5143500"/>
            <a:ext cx="0" cy="12382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2668250" y="5524500"/>
            <a:ext cx="2952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dirty="0" spc="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đoạn</a:t>
            </a:r>
            <a:r>
              <a:rPr lang="en-US" sz="2100" dirty="0" spc="-7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10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3182600" y="6477000"/>
            <a:ext cx="3810000" cy="1238250"/>
          </a:xfrm>
          <a:prstGeom prst="roundRect">
            <a:avLst>
              <a:gd name="adj" fmla="val 10769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182600" y="6477000"/>
            <a:ext cx="381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JIT</a:t>
            </a:r>
            <a:endParaRPr lang="en-US" sz="3300" dirty="0"/>
          </a:p>
          <a:p>
            <a:pPr algn="ctr" indent="0" marL="0">
              <a:buNone/>
            </a:pP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</a:t>
            </a:r>
            <a:r>
              <a:rPr lang="en-US" sz="19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3300" dirty="0"/>
          </a:p>
        </p:txBody>
      </p:sp>
      <p:sp>
        <p:nvSpPr>
          <p:cNvPr id="27" name="Shape 25"/>
          <p:cNvSpPr/>
          <p:nvPr/>
        </p:nvSpPr>
        <p:spPr>
          <a:xfrm>
            <a:off x="8001000" y="6477000"/>
            <a:ext cx="4762500" cy="1238250"/>
          </a:xfrm>
          <a:prstGeom prst="roundRect">
            <a:avLst>
              <a:gd name="adj" fmla="val 10769"/>
            </a:avLst>
          </a:prstGeom>
          <a:noFill/>
          <a:ln w="19050">
            <a:solidFill>
              <a:srgbClr val="3C4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91500" y="6477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“Thông</a:t>
            </a:r>
            <a:r>
              <a:rPr lang="en-US" sz="2250" dirty="0" spc="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dịch”</a:t>
            </a:r>
            <a:r>
              <a:rPr lang="en-US" sz="2250" dirty="0" spc="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2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đúng một phần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1" name="Shape 2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Text 37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b2192fe9-b485-4df7-a92c-9745936afb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1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CALL</a:t>
            </a:r>
            <a:r>
              <a:rPr lang="en-US" sz="1950" spc="178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STACK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Call</a:t>
            </a:r>
            <a:r>
              <a:rPr lang="en-US" sz="78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stack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7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Call</a:t>
            </a:r>
            <a:r>
              <a:rPr lang="en-US" sz="1950" dirty="0" spc="-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stack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733800"/>
            <a:ext cx="53340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22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stack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428750" y="5219700"/>
            <a:ext cx="2667000" cy="95250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5219700"/>
            <a:ext cx="266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9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gọi</a:t>
            </a:r>
            <a:r>
              <a:rPr lang="en-US" sz="2250" dirty="0" spc="0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</a:t>
            </a:r>
            <a:r>
              <a:rPr lang="en-US" sz="2250" dirty="0" spc="5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428750" y="6286500"/>
            <a:ext cx="2667000" cy="952500"/>
          </a:xfrm>
          <a:prstGeom prst="roundRect">
            <a:avLst>
              <a:gd name="adj" fmla="val 1200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8750" y="6286500"/>
            <a:ext cx="266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9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gọi</a:t>
            </a:r>
            <a:r>
              <a:rPr lang="en-US" sz="2250" dirty="0" spc="0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</a:t>
            </a:r>
            <a:r>
              <a:rPr lang="en-US" sz="2250" dirty="0" spc="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428750" y="7353300"/>
            <a:ext cx="2667000" cy="952500"/>
          </a:xfrm>
          <a:prstGeom prst="roundRect">
            <a:avLst>
              <a:gd name="adj" fmla="val 1200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8750" y="7353300"/>
            <a:ext cx="266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9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gọi</a:t>
            </a:r>
            <a:r>
              <a:rPr lang="en-US" sz="2250" dirty="0" spc="0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</a:t>
            </a:r>
            <a:r>
              <a:rPr lang="en-US" sz="2250" dirty="0" spc="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2250" dirty="0"/>
          </a:p>
        </p:txBody>
      </p:sp>
      <p:sp>
        <p:nvSpPr>
          <p:cNvPr id="13" name="Connector line-1792322577756-55326809"/>
          <p:cNvSpPr/>
          <p:nvPr/>
        </p:nvSpPr>
        <p:spPr>
          <a:xfrm>
            <a:off x="1181100" y="8458200"/>
            <a:ext cx="31623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4" name="Connector line-1792322577756-855616679"/>
          <p:cNvSpPr/>
          <p:nvPr/>
        </p:nvSpPr>
        <p:spPr>
          <a:xfrm flipV="1">
            <a:off x="4533900" y="5429250"/>
            <a:ext cx="0" cy="6667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800600" y="5334000"/>
            <a:ext cx="2000250" cy="857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đẩy</a:t>
            </a:r>
            <a:r>
              <a:rPr lang="en-US" sz="19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</a:t>
            </a:r>
            <a:r>
              <a:rPr lang="en-US" sz="19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19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 hàm</a:t>
            </a:r>
            <a:endParaRPr lang="en-US" sz="1950" dirty="0"/>
          </a:p>
        </p:txBody>
      </p:sp>
      <p:sp>
        <p:nvSpPr>
          <p:cNvPr id="16" name="Connector line-1792322577759-789226688"/>
          <p:cNvSpPr/>
          <p:nvPr/>
        </p:nvSpPr>
        <p:spPr>
          <a:xfrm>
            <a:off x="4533900" y="7429500"/>
            <a:ext cx="0" cy="6667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800600" y="7334250"/>
            <a:ext cx="2000250" cy="857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bỏ</a:t>
            </a:r>
            <a:r>
              <a:rPr lang="en-US" sz="195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r>
              <a:rPr lang="en-US" sz="19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19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 xong</a:t>
            </a:r>
            <a:endParaRPr lang="en-US" sz="1950" dirty="0"/>
          </a:p>
        </p:txBody>
      </p:sp>
      <p:sp>
        <p:nvSpPr>
          <p:cNvPr id="18" name="Connector line-1792322577761-444238538"/>
          <p:cNvSpPr/>
          <p:nvPr/>
        </p:nvSpPr>
        <p:spPr>
          <a:xfrm>
            <a:off x="6991350" y="3200400"/>
            <a:ext cx="0" cy="521970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7277100" y="320040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Việc</a:t>
            </a:r>
            <a:r>
              <a:rPr lang="en-US" sz="1950" dirty="0" spc="-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lâu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7620000" y="4000500"/>
            <a:ext cx="2324100" cy="3238500"/>
          </a:xfrm>
          <a:prstGeom prst="roundRect">
            <a:avLst>
              <a:gd name="adj" fmla="val 5738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7715250" y="4000500"/>
            <a:ext cx="2133600" cy="3238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dirty="0" spc="-11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400" dirty="0" spc="-3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400" dirty="0" spc="-9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400" dirty="0" spc="-2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lâu</a:t>
            </a:r>
            <a:r>
              <a:rPr lang="en-US" sz="2400" dirty="0" spc="-4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 stack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77100" y="7524750"/>
            <a:ext cx="32385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8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Trang</a:t>
            </a:r>
            <a:r>
              <a:rPr lang="en-US" sz="2250" dirty="0" spc="-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0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 hồi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1049000" y="2857500"/>
            <a:ext cx="63246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490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0" y="3048000"/>
            <a:ext cx="56578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Mã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bạn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7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luồng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11049000" y="4762500"/>
            <a:ext cx="63246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27" name="Shape 25"/>
          <p:cNvSpPr/>
          <p:nvPr/>
        </p:nvSpPr>
        <p:spPr>
          <a:xfrm>
            <a:off x="110490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0" y="4953000"/>
            <a:ext cx="56578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Gọi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đẩy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stack,</a:t>
            </a:r>
            <a:r>
              <a:rPr lang="en-US" sz="270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xong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</a:t>
            </a:r>
            <a:r>
              <a:rPr lang="en-US" sz="27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bỏ ra</a:t>
            </a:r>
            <a:endParaRPr lang="en-US" sz="2700" dirty="0"/>
          </a:p>
        </p:txBody>
      </p:sp>
      <p:sp>
        <p:nvSpPr>
          <p:cNvPr id="29" name="Shape 27"/>
          <p:cNvSpPr/>
          <p:nvPr/>
        </p:nvSpPr>
        <p:spPr>
          <a:xfrm>
            <a:off x="11049000" y="6667500"/>
            <a:ext cx="63246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0490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0" y="6858000"/>
            <a:ext cx="56578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Việc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lâu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stack,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trang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phản hồi</a:t>
            </a:r>
            <a:endParaRPr lang="en-US" sz="2700" dirty="0"/>
          </a:p>
        </p:txBody>
      </p:sp>
      <p:sp>
        <p:nvSpPr>
          <p:cNvPr id="32" name="Shape 3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Text 40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2a6b83ab-5bfe-4f91-9fc7-8329109f92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333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MÔI</a:t>
            </a:r>
            <a:r>
              <a:rPr lang="en-US" sz="1950" spc="218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1950" spc="226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Môi</a:t>
            </a:r>
            <a:r>
              <a:rPr lang="en-US" sz="78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hộ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engine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Chờ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timer,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mạng, sự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kiện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70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môi trường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Môi</a:t>
            </a:r>
            <a:r>
              <a:rPr lang="en-US" sz="270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trường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70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70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duyệt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 Node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Xong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việc,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</a:t>
            </a:r>
            <a:r>
              <a:rPr lang="en-US" sz="27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70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70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đưa</a:t>
            </a:r>
            <a:r>
              <a:rPr lang="en-US" sz="270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70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 đợi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3238500"/>
            <a:ext cx="4953000" cy="5143500"/>
          </a:xfrm>
          <a:prstGeom prst="roundRect">
            <a:avLst>
              <a:gd name="adj" fmla="val 3462"/>
            </a:avLst>
          </a:prstGeom>
          <a:solidFill>
            <a:srgbClr val="1A2B28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3409950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Môi</a:t>
            </a:r>
            <a:r>
              <a:rPr lang="en-US" sz="1950" dirty="0" spc="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trường:</a:t>
            </a:r>
            <a:r>
              <a:rPr lang="en-US" sz="1950" dirty="0" spc="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1950" dirty="0" spc="-1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duyệt,</a:t>
            </a:r>
            <a:r>
              <a:rPr lang="en-US" sz="1950" dirty="0" spc="-5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Node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8229600" y="4095750"/>
            <a:ext cx="4495800" cy="1047750"/>
          </a:xfrm>
          <a:prstGeom prst="roundRect">
            <a:avLst>
              <a:gd name="adj" fmla="val 10909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4095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Timer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8229600" y="5410200"/>
            <a:ext cx="4495800" cy="1047750"/>
          </a:xfrm>
          <a:prstGeom prst="roundRect">
            <a:avLst>
              <a:gd name="adj" fmla="val 10909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541020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Mạng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8229600" y="6724650"/>
            <a:ext cx="4495800" cy="1047750"/>
          </a:xfrm>
          <a:prstGeom prst="roundRect">
            <a:avLst>
              <a:gd name="adj" fmla="val 10909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67246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Sự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endParaRPr lang="en-US" sz="2550" dirty="0"/>
          </a:p>
        </p:txBody>
      </p:sp>
      <p:sp>
        <p:nvSpPr>
          <p:cNvPr id="22" name="Connector line-1792322609455-997053614"/>
          <p:cNvSpPr/>
          <p:nvPr/>
        </p:nvSpPr>
        <p:spPr>
          <a:xfrm>
            <a:off x="13068300" y="5810250"/>
            <a:ext cx="12001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3011150" y="5295900"/>
            <a:ext cx="1314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xong</a:t>
            </a:r>
            <a:r>
              <a:rPr lang="en-US" sz="180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382750" y="4191000"/>
            <a:ext cx="2609850" cy="3238500"/>
          </a:xfrm>
          <a:prstGeom prst="roundRect">
            <a:avLst>
              <a:gd name="adj" fmla="val 6569"/>
            </a:avLst>
          </a:prstGeom>
          <a:solidFill>
            <a:srgbClr val="2C2124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382750" y="4400550"/>
            <a:ext cx="26098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2850" dirty="0" spc="-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endParaRPr lang="en-US" sz="2850" dirty="0"/>
          </a:p>
        </p:txBody>
      </p:sp>
      <p:sp>
        <p:nvSpPr>
          <p:cNvPr id="26" name="Shape 24"/>
          <p:cNvSpPr/>
          <p:nvPr/>
        </p:nvSpPr>
        <p:spPr>
          <a:xfrm>
            <a:off x="14725650" y="5181600"/>
            <a:ext cx="1924050" cy="571500"/>
          </a:xfrm>
          <a:prstGeom prst="roundRect">
            <a:avLst>
              <a:gd name="adj" fmla="val 16667"/>
            </a:avLst>
          </a:prstGeom>
          <a:solidFill>
            <a:srgbClr val="3D2A2C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725650" y="5181600"/>
            <a:ext cx="1924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hàm</a:t>
            </a:r>
            <a:r>
              <a:rPr lang="en-US" sz="19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19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4725650" y="5905500"/>
            <a:ext cx="1924050" cy="571500"/>
          </a:xfrm>
          <a:prstGeom prst="roundRect">
            <a:avLst>
              <a:gd name="adj" fmla="val 16667"/>
            </a:avLst>
          </a:prstGeom>
          <a:solidFill>
            <a:srgbClr val="3D2A2C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725650" y="5905500"/>
            <a:ext cx="1924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hàm</a:t>
            </a:r>
            <a:r>
              <a:rPr lang="en-US" sz="19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19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4725650" y="6629400"/>
            <a:ext cx="1924050" cy="571500"/>
          </a:xfrm>
          <a:prstGeom prst="roundRect">
            <a:avLst>
              <a:gd name="adj" fmla="val 16667"/>
            </a:avLst>
          </a:prstGeom>
          <a:solidFill>
            <a:srgbClr val="3D2A2C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725650" y="6629400"/>
            <a:ext cx="1924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hàm</a:t>
            </a:r>
            <a:r>
              <a:rPr lang="en-US" sz="19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19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1" name="Shape 3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2" name="Text 40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6eed2b72-5a0b-44c5-8a82-2eb5187551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333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2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EVENT</a:t>
            </a:r>
            <a:r>
              <a:rPr lang="en-US" sz="1950" spc="20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LOOP</a:t>
            </a:r>
            <a:r>
              <a:rPr lang="en-US" sz="1950" spc="17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ĐỢI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Event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loop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8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3905250"/>
          </a:xfrm>
          <a:prstGeom prst="roundRect">
            <a:avLst>
              <a:gd name="adj" fmla="val 585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3500" y="3143250"/>
            <a:ext cx="4762500" cy="1428750"/>
          </a:xfrm>
          <a:prstGeom prst="roundRect">
            <a:avLst>
              <a:gd name="adj" fmla="val 9333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276600"/>
            <a:ext cx="476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2850" dirty="0" spc="-7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2850" dirty="0" spc="-5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microtask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333500" y="3924300"/>
            <a:ext cx="476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9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promise:</a:t>
            </a:r>
            <a:r>
              <a:rPr lang="en-US" sz="1950" dirty="0" spc="0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.then,</a:t>
            </a:r>
            <a:r>
              <a:rPr lang="en-US" sz="1950" dirty="0" spc="-2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1950" dirty="0" spc="-15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await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333500" y="4857750"/>
            <a:ext cx="4762500" cy="1428750"/>
          </a:xfrm>
          <a:prstGeom prst="roundRect">
            <a:avLst>
              <a:gd name="adj" fmla="val 933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4991100"/>
            <a:ext cx="476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285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285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task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333500" y="5638800"/>
            <a:ext cx="476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setTimeout,</a:t>
            </a:r>
            <a:r>
              <a:rPr lang="en-US" sz="19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I/O,</a:t>
            </a:r>
            <a:r>
              <a:rPr lang="en-US" sz="19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sự</a:t>
            </a:r>
            <a:r>
              <a:rPr lang="en-US" sz="19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kiện</a:t>
            </a:r>
            <a:endParaRPr lang="en-US" sz="1950" dirty="0"/>
          </a:p>
        </p:txBody>
      </p:sp>
      <p:sp>
        <p:nvSpPr>
          <p:cNvPr id="11" name="Connector line-1792322646544-76079546"/>
          <p:cNvSpPr/>
          <p:nvPr/>
        </p:nvSpPr>
        <p:spPr>
          <a:xfrm>
            <a:off x="6229350" y="3857625"/>
            <a:ext cx="2228850" cy="6667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191250" y="3238500"/>
            <a:ext cx="238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1950" dirty="0" spc="-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dirty="0" spc="-7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lấy</a:t>
            </a:r>
            <a:r>
              <a:rPr lang="en-US" sz="1950" dirty="0" spc="-10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1950" dirty="0" spc="6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endParaRPr lang="en-US" sz="1950" dirty="0"/>
          </a:p>
        </p:txBody>
      </p:sp>
      <p:sp>
        <p:nvSpPr>
          <p:cNvPr id="13" name="Connector line-1792322646547-932722115"/>
          <p:cNvSpPr/>
          <p:nvPr/>
        </p:nvSpPr>
        <p:spPr>
          <a:xfrm flipV="1">
            <a:off x="6229350" y="4905375"/>
            <a:ext cx="2228850" cy="6667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191250" y="5715000"/>
            <a:ext cx="238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 ·</a:t>
            </a:r>
            <a:r>
              <a:rPr lang="en-US" sz="1950" dirty="0" spc="-1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1950" dirty="0" spc="-7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lấy</a:t>
            </a:r>
            <a:r>
              <a:rPr lang="en-US" sz="1950" dirty="0" spc="-8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572500" y="3143250"/>
            <a:ext cx="2857500" cy="314325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72500" y="419100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2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Event</a:t>
            </a:r>
            <a:r>
              <a:rPr lang="en-US" sz="36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loop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572500" y="49149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lấy</a:t>
            </a:r>
            <a:r>
              <a:rPr lang="en-US" sz="19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1950" dirty="0" spc="-2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</a:t>
            </a:r>
            <a:r>
              <a:rPr lang="en-US" sz="19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tiếp</a:t>
            </a:r>
            <a:endParaRPr lang="en-US" sz="1950" dirty="0"/>
          </a:p>
        </p:txBody>
      </p:sp>
      <p:sp>
        <p:nvSpPr>
          <p:cNvPr id="18" name="Connector line-1792322646555-606708064"/>
          <p:cNvSpPr/>
          <p:nvPr/>
        </p:nvSpPr>
        <p:spPr>
          <a:xfrm flipH="1">
            <a:off x="11544300" y="4714875"/>
            <a:ext cx="13335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1430000" y="419100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7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stack</a:t>
            </a:r>
            <a:r>
              <a:rPr lang="en-US" sz="1950" dirty="0" spc="-1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rỗng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954000" y="3143250"/>
            <a:ext cx="3810000" cy="3143250"/>
          </a:xfrm>
          <a:prstGeom prst="roundRect">
            <a:avLst>
              <a:gd name="adj" fmla="val 5455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54000" y="419100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Call</a:t>
            </a:r>
            <a:r>
              <a:rPr lang="en-US" sz="36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stack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2954000" y="49149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chạy</a:t>
            </a:r>
            <a:r>
              <a:rPr lang="en-US" sz="195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19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19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14400" y="6953250"/>
            <a:ext cx="5334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695325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5" name="Text 23"/>
          <p:cNvSpPr/>
          <p:nvPr/>
        </p:nvSpPr>
        <p:spPr>
          <a:xfrm>
            <a:off x="1238250" y="7096125"/>
            <a:ext cx="4857750" cy="1333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Khi</a:t>
            </a:r>
            <a:r>
              <a:rPr lang="en-US" sz="24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stack</a:t>
            </a:r>
            <a:r>
              <a:rPr lang="en-US" sz="24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rỗng,</a:t>
            </a:r>
            <a:r>
              <a:rPr lang="en-US" sz="2400" dirty="0" spc="-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event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loop</a:t>
            </a:r>
            <a:r>
              <a:rPr lang="en-US" sz="24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4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 tiếp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477000" y="6953250"/>
            <a:ext cx="5334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27" name="Shape 25"/>
          <p:cNvSpPr/>
          <p:nvPr/>
        </p:nvSpPr>
        <p:spPr>
          <a:xfrm>
            <a:off x="6477000" y="695325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8" name="Text 26"/>
          <p:cNvSpPr/>
          <p:nvPr/>
        </p:nvSpPr>
        <p:spPr>
          <a:xfrm>
            <a:off x="6800850" y="7096125"/>
            <a:ext cx="4857750" cy="1333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Chạy hết</a:t>
            </a:r>
            <a:r>
              <a:rPr lang="en-US" sz="24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microtask</a:t>
            </a:r>
            <a:r>
              <a:rPr lang="en-US" sz="24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trước,</a:t>
            </a:r>
            <a:r>
              <a:rPr lang="en-US" sz="24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rồi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24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</a:t>
            </a:r>
            <a:r>
              <a:rPr lang="en-US" sz="24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 task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2039600" y="6953250"/>
            <a:ext cx="5334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39600" y="695325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12363450" y="7096125"/>
            <a:ext cx="4857750" cy="1333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Microtask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4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promise;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task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setTimeout,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I/O,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sự kiện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Text 40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91f01136-f221-4b31-bc15-1ee0744a71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Bất</a:t>
            </a:r>
            <a:r>
              <a:rPr lang="en-US" sz="78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song song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58150" cy="1809750"/>
          </a:xfrm>
          <a:prstGeom prst="roundRect">
            <a:avLst>
              <a:gd name="adj" fmla="val 10526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289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Vẫn</a:t>
            </a:r>
            <a:r>
              <a:rPr lang="en-US" sz="30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30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30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95400" y="3657600"/>
            <a:ext cx="7429500" cy="9144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Mã</a:t>
            </a:r>
            <a:r>
              <a:rPr lang="en-US" sz="24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JavaScript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bạn</a:t>
            </a:r>
            <a:r>
              <a:rPr lang="en-US" sz="24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4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400" dirty="0" spc="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4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15450" y="2857500"/>
            <a:ext cx="8058150" cy="1809750"/>
          </a:xfrm>
          <a:prstGeom prst="roundRect">
            <a:avLst>
              <a:gd name="adj" fmla="val 10526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9315450" y="285750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9696450" y="30289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30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 chờ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696450" y="3657600"/>
            <a:ext cx="7429500" cy="9144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Chỉ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chờ</a:t>
            </a:r>
            <a:r>
              <a:rPr lang="en-US" sz="24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4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giao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môi</a:t>
            </a:r>
            <a:r>
              <a:rPr lang="en-US" sz="24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trường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4953000"/>
            <a:ext cx="8058150" cy="1809750"/>
          </a:xfrm>
          <a:prstGeom prst="roundRect">
            <a:avLst>
              <a:gd name="adj" fmla="val 10526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95300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1244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 nặng</a:t>
            </a:r>
            <a:endParaRPr lang="en-US" sz="3000" dirty="0"/>
          </a:p>
        </p:txBody>
      </p:sp>
      <p:sp>
        <p:nvSpPr>
          <p:cNvPr id="15" name="Text richtext-1792322672057-822911414"/>
          <p:cNvSpPr/>
          <p:nvPr/>
        </p:nvSpPr>
        <p:spPr>
          <a:xfrm>
            <a:off x="1295400" y="5753100"/>
            <a:ext cx="74295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Việc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nặng nên</a:t>
            </a:r>
            <a:r>
              <a:rPr lang="en-US" sz="225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đưa</a:t>
            </a:r>
            <a:r>
              <a:rPr lang="en-US" sz="225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khỏi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luồng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Ví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dụ:</a:t>
            </a:r>
            <a:r>
              <a:rPr lang="en-US" sz="2250" dirty="0" spc="-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Web Worker,</a:t>
            </a:r>
            <a:r>
              <a:rPr lang="en-US" sz="22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worker</a:t>
            </a:r>
            <a:r>
              <a:rPr lang="en-US" sz="22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thread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Node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15450" y="4953000"/>
            <a:ext cx="8058150" cy="1809750"/>
          </a:xfrm>
          <a:prstGeom prst="roundRect">
            <a:avLst>
              <a:gd name="adj" fmla="val 10526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9315450" y="495300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8" name="Text 16"/>
          <p:cNvSpPr/>
          <p:nvPr/>
        </p:nvSpPr>
        <p:spPr>
          <a:xfrm>
            <a:off x="9696450" y="51244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Thứ</a:t>
            </a:r>
            <a:r>
              <a:rPr lang="en-US" sz="30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 do</a:t>
            </a:r>
            <a:r>
              <a:rPr lang="en-US" sz="30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3000" dirty="0" spc="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3000" dirty="0"/>
          </a:p>
        </p:txBody>
      </p:sp>
      <p:sp>
        <p:nvSpPr>
          <p:cNvPr id="19" name="Text richtext-1792322672079-39729757"/>
          <p:cNvSpPr/>
          <p:nvPr/>
        </p:nvSpPr>
        <p:spPr>
          <a:xfrm>
            <a:off x="9696450" y="5753100"/>
            <a:ext cx="74295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2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Do</a:t>
            </a:r>
            <a:r>
              <a:rPr lang="en-US" sz="225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đặc</a:t>
            </a:r>
            <a:r>
              <a:rPr lang="en-US" sz="22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</a:t>
            </a:r>
            <a:r>
              <a:rPr lang="en-US" sz="22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2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môi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trường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</a:t>
            </a:r>
            <a:r>
              <a:rPr lang="en-US" sz="2250" dirty="0" spc="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Cách</a:t>
            </a:r>
            <a:r>
              <a:rPr lang="en-US" sz="22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tối</a:t>
            </a:r>
            <a:r>
              <a:rPr lang="en-US" sz="2250" dirty="0" spc="2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ưu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tùy</a:t>
            </a:r>
            <a:r>
              <a:rPr lang="en-US" sz="22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engine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704850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8D9D0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7048500"/>
            <a:ext cx="95250" cy="1524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2" name="Text 20"/>
          <p:cNvSpPr/>
          <p:nvPr/>
        </p:nvSpPr>
        <p:spPr>
          <a:xfrm>
            <a:off x="1295400" y="72199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Node</a:t>
            </a:r>
            <a:r>
              <a:rPr lang="en-US" sz="30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0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30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30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3000" dirty="0" spc="-1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nextTick</a:t>
            </a:r>
            <a:r>
              <a:rPr lang="en-US" sz="30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295400" y="7848600"/>
            <a:ext cx="15716250" cy="6096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6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Trộn</a:t>
            </a:r>
            <a:r>
              <a:rPr lang="en-US" sz="24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nextTick</a:t>
            </a:r>
            <a:r>
              <a:rPr lang="en-US" sz="24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4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promise:</a:t>
            </a:r>
            <a:r>
              <a:rPr lang="en-US" sz="240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4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Node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Text 32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9536debb-971b-4514-b171-ca0b639a60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2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610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905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623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95400" y="3714750"/>
            <a:ext cx="7962900" cy="2762250"/>
          </a:xfrm>
          <a:prstGeom prst="roundRect">
            <a:avLst>
              <a:gd name="adj" fmla="val 4828"/>
            </a:avLst>
          </a:prstGeom>
          <a:solidFill>
            <a:srgbClr val="14161C"/>
          </a:solidFill>
          <a:ln w="19050">
            <a:solidFill>
              <a:srgbClr val="3C4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3867150"/>
            <a:ext cx="7620000" cy="2476500"/>
          </a:xfrm>
          <a:prstGeom prst="rect">
            <a:avLst/>
          </a:prstGeom>
          <a:noFill/>
          <a:ln/>
        </p:spPr>
        <p:txBody>
          <a:bodyPr wrap="square" lIns="0" tIns="-9906" rIns="0" bIns="9906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console.log('</a:t>
            </a:r>
            <a:pPr algn="l" indent="0" marL="0">
              <a:lnSpc>
                <a:spcPts val="3840"/>
              </a:lnSpc>
              <a:buNone/>
            </a:pPr>
            <a:r>
              <a:rPr lang="en-US" sz="24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pPr algn="l" indent="0" marL="0">
              <a:lnSpc>
                <a:spcPts val="384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');</a:t>
            </a:r>
            <a:endParaRPr lang="en-US" sz="24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setTimeout(()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=&gt;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console.log('</a:t>
            </a:r>
            <a:pPr algn="l" indent="0" marL="0">
              <a:lnSpc>
                <a:spcPts val="3840"/>
              </a:lnSpc>
              <a:buNone/>
            </a:pPr>
            <a:r>
              <a:rPr lang="en-US" sz="2400" b="1" dirty="0" spc="2" kern="0">
                <a:solidFill>
                  <a:srgbClr val="FFA0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pPr algn="l" indent="0" marL="0">
              <a:lnSpc>
                <a:spcPts val="384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'),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0);</a:t>
            </a:r>
            <a:endParaRPr lang="en-US" sz="24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sz="24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Promise.resolve().then(()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=&gt;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console.log('</a:t>
            </a:r>
            <a:pPr algn="l" indent="0" marL="0">
              <a:lnSpc>
                <a:spcPts val="3840"/>
              </a:lnSpc>
              <a:buNone/>
            </a:pPr>
            <a:r>
              <a:rPr lang="en-US" sz="24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pPr algn="l" indent="0" marL="0">
              <a:lnSpc>
                <a:spcPts val="384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'));</a:t>
            </a:r>
            <a:endParaRPr lang="en-US" sz="24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console.log('</a:t>
            </a:r>
            <a:pPr algn="l" indent="0" marL="0">
              <a:lnSpc>
                <a:spcPts val="3840"/>
              </a:lnSpc>
              <a:buNone/>
            </a:pPr>
            <a:r>
              <a:rPr lang="en-US" sz="24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</a:t>
            </a:r>
            <a:pPr algn="l" indent="0" marL="0">
              <a:lnSpc>
                <a:spcPts val="384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');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95400" y="6858000"/>
            <a:ext cx="7962900" cy="1428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Chương</a:t>
            </a:r>
            <a:r>
              <a:rPr lang="en-US" sz="285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8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</a:t>
            </a:r>
            <a:r>
              <a:rPr lang="en-US" sz="2850" dirty="0" spc="-3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r>
              <a:rPr lang="en-US" sz="28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</a:t>
            </a:r>
            <a:r>
              <a:rPr lang="en-US" sz="28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 nào?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753600" y="2857500"/>
            <a:ext cx="76200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0134600" y="31623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225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134600" y="3619500"/>
            <a:ext cx="6858000" cy="14287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9900"/>
              </a:lnSpc>
              <a:buNone/>
            </a:pPr>
            <a:r>
              <a:rPr lang="en-US" sz="9000" dirty="0" spc="3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A,</a:t>
            </a:r>
            <a:r>
              <a:rPr lang="en-US" sz="9000" dirty="0" spc="-9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D,</a:t>
            </a:r>
            <a:r>
              <a:rPr lang="en-US" sz="90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9900"/>
              </a:lnSpc>
              <a:buNone/>
            </a:pPr>
            <a:r>
              <a:rPr lang="en-US" sz="90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pPr algn="l" indent="0" marL="0">
              <a:lnSpc>
                <a:spcPts val="9900"/>
              </a:lnSpc>
              <a:buNone/>
            </a:pPr>
            <a:r>
              <a:rPr lang="en-US" sz="90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90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9900"/>
              </a:lnSpc>
              <a:buNone/>
            </a:pPr>
            <a:r>
              <a:rPr lang="en-US" sz="9000" dirty="0" spc="-3" kern="0">
                <a:solidFill>
                  <a:srgbClr val="FFA08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9000" dirty="0"/>
          </a:p>
        </p:txBody>
      </p:sp>
      <p:sp>
        <p:nvSpPr>
          <p:cNvPr id="13" name="Shape 11"/>
          <p:cNvSpPr/>
          <p:nvPr/>
        </p:nvSpPr>
        <p:spPr>
          <a:xfrm>
            <a:off x="10134600" y="5429250"/>
            <a:ext cx="1619250" cy="723900"/>
          </a:xfrm>
          <a:prstGeom prst="roundRect">
            <a:avLst>
              <a:gd name="adj" fmla="val 18421"/>
            </a:avLst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10134600" y="5429250"/>
            <a:ext cx="1619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A,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1982450" y="5334000"/>
            <a:ext cx="5143500" cy="914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Lệnh</a:t>
            </a:r>
            <a:r>
              <a:rPr lang="en-US" sz="22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đồng</a:t>
            </a:r>
            <a:r>
              <a:rPr lang="en-US" sz="22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bộ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 trước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134600" y="6438900"/>
            <a:ext cx="1619250" cy="723900"/>
          </a:xfrm>
          <a:prstGeom prst="roundRect">
            <a:avLst>
              <a:gd name="adj" fmla="val 18421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10134600" y="6438900"/>
            <a:ext cx="1619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982450" y="6343650"/>
            <a:ext cx="5143500" cy="914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Microtask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2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promise</a:t>
            </a:r>
            <a:r>
              <a:rPr lang="en-US" sz="22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 kế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134600" y="7448550"/>
            <a:ext cx="1619250" cy="723900"/>
          </a:xfrm>
          <a:prstGeom prst="roundRect">
            <a:avLst>
              <a:gd name="adj" fmla="val 18421"/>
            </a:avLst>
          </a:prstGeom>
          <a:solidFill>
            <a:srgbClr val="3D2A2C"/>
          </a:solidFill>
          <a:ln w="28575">
            <a:solidFill>
              <a:srgbClr val="FFA0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34600" y="7448550"/>
            <a:ext cx="1619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FA0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982450" y="7353300"/>
            <a:ext cx="5143500" cy="914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Task</a:t>
            </a:r>
            <a:r>
              <a:rPr lang="en-US" sz="22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2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setTimeout,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</a:t>
            </a:r>
            <a:r>
              <a:rPr lang="en-US" sz="22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trễ 0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2" name="Text 30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64fd0f3b-42e5-4ca4-92b7-8652a9e401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8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 thêm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28950"/>
            <a:ext cx="476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Kiểu động</a:t>
            </a:r>
            <a:endParaRPr lang="en-US" sz="2850" dirty="0"/>
          </a:p>
        </p:txBody>
      </p:sp>
      <p:sp>
        <p:nvSpPr>
          <p:cNvPr id="7" name="Text richtext-1792322747983-161135428"/>
          <p:cNvSpPr/>
          <p:nvPr/>
        </p:nvSpPr>
        <p:spPr>
          <a:xfrm>
            <a:off x="1295400" y="3695700"/>
            <a:ext cx="4762500" cy="1809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Biến</a:t>
            </a:r>
            <a:r>
              <a:rPr lang="en-US" sz="21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1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khai báo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kiểu;</a:t>
            </a: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kiểu</a:t>
            </a:r>
            <a:r>
              <a:rPr lang="en-US" sz="21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1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1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TypeScript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kiểu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tĩnh,</a:t>
            </a:r>
            <a:r>
              <a:rPr lang="en-US" sz="21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biên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21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21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JavaScript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77000" y="2857500"/>
            <a:ext cx="533400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647700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3028950"/>
            <a:ext cx="476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Hàm là</a:t>
            </a: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 trị</a:t>
            </a:r>
            <a:endParaRPr lang="en-US" sz="2850" dirty="0"/>
          </a:p>
        </p:txBody>
      </p:sp>
      <p:sp>
        <p:nvSpPr>
          <p:cNvPr id="11" name="Text richtext-1792322748001-618183013"/>
          <p:cNvSpPr/>
          <p:nvPr/>
        </p:nvSpPr>
        <p:spPr>
          <a:xfrm>
            <a:off x="6858000" y="3695700"/>
            <a:ext cx="4762500" cy="1809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Gán</a:t>
            </a:r>
            <a:r>
              <a:rPr lang="en-US" sz="21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biến,</a:t>
            </a:r>
            <a:r>
              <a:rPr lang="en-US" sz="21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truyền</a:t>
            </a:r>
            <a:r>
              <a:rPr lang="en-US" sz="21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1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hàm,</a:t>
            </a:r>
            <a:r>
              <a:rPr lang="en-US" sz="21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</a:t>
            </a:r>
            <a:r>
              <a:rPr lang="en-US" sz="210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 hàm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Đó</a:t>
            </a:r>
            <a:r>
              <a:rPr lang="en-US" sz="21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1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nền</a:t>
            </a:r>
            <a:r>
              <a:rPr lang="en-US" sz="21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</a:t>
            </a:r>
            <a:r>
              <a:rPr lang="en-US" sz="21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1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39600" y="2857500"/>
            <a:ext cx="533400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3960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420600" y="3028950"/>
            <a:ext cx="476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</a:t>
            </a:r>
            <a:r>
              <a:rPr lang="en-US" sz="285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thừa</a:t>
            </a:r>
            <a:r>
              <a:rPr lang="en-US" sz="285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prototype</a:t>
            </a:r>
            <a:endParaRPr lang="en-US" sz="2850" dirty="0"/>
          </a:p>
        </p:txBody>
      </p:sp>
      <p:sp>
        <p:nvSpPr>
          <p:cNvPr id="15" name="Text richtext-1792322748008-380855709"/>
          <p:cNvSpPr/>
          <p:nvPr/>
        </p:nvSpPr>
        <p:spPr>
          <a:xfrm>
            <a:off x="12420600" y="3695700"/>
            <a:ext cx="4762500" cy="1809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Đối</a:t>
            </a:r>
            <a:r>
              <a:rPr lang="en-US" sz="21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tượng</a:t>
            </a:r>
            <a:r>
              <a:rPr lang="en-US" sz="2100" dirty="0" spc="-3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</a:t>
            </a:r>
            <a:r>
              <a:rPr lang="en-US" sz="210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thừa</a:t>
            </a: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1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đối tượng khác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class</a:t>
            </a:r>
            <a:r>
              <a:rPr lang="en-US" sz="21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 cú</a:t>
            </a:r>
            <a:r>
              <a:rPr lang="en-US" sz="21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pháp</a:t>
            </a:r>
            <a:r>
              <a:rPr lang="en-US" sz="21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viết</a:t>
            </a:r>
            <a:r>
              <a:rPr lang="en-US" sz="21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gọn</a:t>
            </a:r>
            <a:r>
              <a:rPr lang="en-US" sz="21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1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 chế đó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5848350"/>
            <a:ext cx="811530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58483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60198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</a:t>
            </a:r>
            <a:r>
              <a:rPr lang="en-US" sz="285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gom</a:t>
            </a:r>
            <a:r>
              <a:rPr lang="en-US" sz="285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rác</a:t>
            </a:r>
            <a:endParaRPr lang="en-US" sz="2850" dirty="0"/>
          </a:p>
        </p:txBody>
      </p:sp>
      <p:sp>
        <p:nvSpPr>
          <p:cNvPr id="19" name="Text richtext-1792322748017-258724761"/>
          <p:cNvSpPr/>
          <p:nvPr/>
        </p:nvSpPr>
        <p:spPr>
          <a:xfrm>
            <a:off x="1295400" y="6686550"/>
            <a:ext cx="7429500" cy="1809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Đối</a:t>
            </a:r>
            <a:r>
              <a:rPr lang="en-US" sz="21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tượng</a:t>
            </a:r>
            <a:r>
              <a:rPr lang="en-US" sz="21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hết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tham chiếu</a:t>
            </a:r>
            <a:r>
              <a:rPr lang="en-US" sz="21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</a:t>
            </a:r>
            <a:r>
              <a:rPr lang="en-US" sz="21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1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</a:t>
            </a:r>
            <a:r>
              <a:rPr lang="en-US" sz="21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hồi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Giữ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tham chiếu nhầm</a:t>
            </a:r>
            <a:r>
              <a:rPr lang="en-US" sz="21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1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gây</a:t>
            </a:r>
            <a:r>
              <a:rPr lang="en-US" sz="2100" dirty="0" spc="-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rò</a:t>
            </a:r>
            <a:r>
              <a:rPr lang="en-US" sz="21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rỉ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258300" y="5848350"/>
            <a:ext cx="8115300" cy="2762250"/>
          </a:xfrm>
          <a:prstGeom prst="roundRect">
            <a:avLst>
              <a:gd name="adj" fmla="val 6897"/>
            </a:avLst>
          </a:prstGeom>
          <a:solidFill>
            <a:srgbClr val="F8D9D0"/>
          </a:solidFill>
          <a:ln/>
        </p:spPr>
      </p:sp>
      <p:sp>
        <p:nvSpPr>
          <p:cNvPr id="21" name="Shape 19"/>
          <p:cNvSpPr/>
          <p:nvPr/>
        </p:nvSpPr>
        <p:spPr>
          <a:xfrm>
            <a:off x="9258300" y="58483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2" name="Text 20"/>
          <p:cNvSpPr/>
          <p:nvPr/>
        </p:nvSpPr>
        <p:spPr>
          <a:xfrm>
            <a:off x="9639300" y="60198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setTimeout(...,</a:t>
            </a:r>
            <a:r>
              <a:rPr lang="en-US" sz="2850" dirty="0" spc="-5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0)</a:t>
            </a:r>
            <a:endParaRPr lang="en-US" sz="2850" dirty="0"/>
          </a:p>
        </p:txBody>
      </p:sp>
      <p:sp>
        <p:nvSpPr>
          <p:cNvPr id="23" name="Text richtext-1792322748027-19604189"/>
          <p:cNvSpPr/>
          <p:nvPr/>
        </p:nvSpPr>
        <p:spPr>
          <a:xfrm>
            <a:off x="9639300" y="6686550"/>
            <a:ext cx="7429500" cy="1809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1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1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ngay:</a:t>
            </a:r>
            <a:r>
              <a:rPr lang="en-US" sz="21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chờ</a:t>
            </a:r>
            <a:r>
              <a:rPr lang="en-US" sz="21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stack</a:t>
            </a:r>
            <a:r>
              <a:rPr lang="en-US" sz="21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rỗng</a:t>
            </a:r>
            <a:r>
              <a:rPr lang="en-US" sz="21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1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microtask</a:t>
            </a:r>
            <a:r>
              <a:rPr lang="en-US" sz="21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 hết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Stack</a:t>
            </a:r>
            <a:r>
              <a:rPr lang="en-US" sz="21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bận</a:t>
            </a:r>
            <a:r>
              <a:rPr lang="en-US" sz="21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quá</a:t>
            </a: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lâu:</a:t>
            </a:r>
            <a:r>
              <a:rPr lang="en-US" sz="21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task</a:t>
            </a:r>
            <a:r>
              <a:rPr lang="en-US" sz="21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1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đợi</a:t>
            </a:r>
            <a:r>
              <a:rPr lang="en-US" sz="21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1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lượt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Text 32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b0ef6602-9344-4eaf-9e7f-fb12f00bab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9620250" cy="6000750"/>
          </a:xfrm>
          <a:prstGeom prst="roundRect">
            <a:avLst>
              <a:gd name="adj" fmla="val 381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95250" cy="6000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718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50520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ECMA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3200400" y="342900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European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Computer</a:t>
            </a:r>
            <a:r>
              <a:rPr lang="en-US" sz="21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Manufacturers</a:t>
            </a:r>
            <a:r>
              <a:rPr lang="en-US" sz="21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Association</a:t>
            </a:r>
            <a:endParaRPr lang="en-US" sz="2100" dirty="0"/>
          </a:p>
          <a:p>
            <a:pPr algn="l" indent="0" marL="0">
              <a:buNone/>
            </a:pP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hiệp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1950" dirty="0" spc="-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1950" dirty="0" spc="-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1950" dirty="0" spc="-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châu</a:t>
            </a:r>
            <a:r>
              <a:rPr lang="en-US" sz="1950" dirty="0" spc="-1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" y="453390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ESM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3200400" y="445770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ECMAScript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Modules</a:t>
            </a:r>
            <a:endParaRPr lang="en-US" sz="2100" dirty="0"/>
          </a:p>
          <a:p>
            <a:pPr algn="l" indent="0" marL="0">
              <a:buNone/>
            </a:pPr>
            <a:r>
              <a:rPr lang="en-US" sz="19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mô-đun</a:t>
            </a:r>
            <a:r>
              <a:rPr lang="en-US" sz="19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ECMAScript,</a:t>
            </a:r>
            <a:r>
              <a:rPr lang="en-US" sz="19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import</a:t>
            </a:r>
            <a:r>
              <a:rPr lang="en-US" sz="1950" dirty="0" spc="-1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9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export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95400" y="556260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HTML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3200400" y="548640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HyperText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Markup</a:t>
            </a:r>
            <a:r>
              <a:rPr lang="en-US" sz="21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Language</a:t>
            </a:r>
            <a:endParaRPr lang="en-US" sz="2100" dirty="0"/>
          </a:p>
          <a:p>
            <a:pPr algn="l" indent="0" marL="0">
              <a:buNone/>
            </a:pPr>
            <a:r>
              <a:rPr lang="en-US" sz="1950" dirty="0" spc="-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19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dirty="0" spc="9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19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195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9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95400" y="659130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3200400" y="651510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JavaScript</a:t>
            </a:r>
            <a:endParaRPr lang="en-US" sz="2100" dirty="0"/>
          </a:p>
          <a:p>
            <a:pPr algn="l" indent="0" marL="0">
              <a:buNone/>
            </a:pPr>
            <a:r>
              <a:rPr lang="en-US" sz="1950" dirty="0" spc="-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19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950" dirty="0" spc="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-1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95400" y="762000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JIT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3200400" y="754380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Just-In-Time</a:t>
            </a:r>
            <a:endParaRPr lang="en-US" sz="2100" dirty="0"/>
          </a:p>
          <a:p>
            <a:pPr algn="l" indent="0" marL="0">
              <a:buNone/>
            </a:pPr>
            <a:r>
              <a:rPr lang="en-US" sz="19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19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lúc,</a:t>
            </a:r>
            <a:r>
              <a:rPr lang="en-US" sz="1950" dirty="0" spc="-1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950" dirty="0" spc="-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763250" y="2762250"/>
            <a:ext cx="6610350" cy="6000750"/>
          </a:xfrm>
          <a:prstGeom prst="roundRect">
            <a:avLst>
              <a:gd name="adj" fmla="val 3810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1144250" y="29718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19" name="Text richtext-1792322826191-154910671"/>
          <p:cNvSpPr/>
          <p:nvPr/>
        </p:nvSpPr>
        <p:spPr>
          <a:xfrm>
            <a:off x="11144250" y="3505200"/>
            <a:ext cx="5905500" cy="3810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 cố 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HTML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ECMAScript: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 đợi, microtask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MDN,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Node.js: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loop,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nextTick, Web Workers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V8: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Ignition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TurboFan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21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prototype,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 liệu TypeScript</a:t>
            </a:r>
            <a:endParaRPr lang="en-US" sz="2100" dirty="0"/>
          </a:p>
        </p:txBody>
      </p:sp>
      <p:sp>
        <p:nvSpPr>
          <p:cNvPr id="20" name="Connector line-1792322826205-577076329"/>
          <p:cNvSpPr/>
          <p:nvPr/>
        </p:nvSpPr>
        <p:spPr>
          <a:xfrm>
            <a:off x="11144250" y="7524750"/>
            <a:ext cx="5848350" cy="0"/>
          </a:xfrm>
          <a:prstGeom prst="line">
            <a:avLst/>
          </a:prstGeom>
          <a:noFill/>
          <a:ln w="19050">
            <a:solidFill>
              <a:srgbClr val="3C405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1144250" y="7677150"/>
            <a:ext cx="5905500" cy="990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nguồn</a:t>
            </a:r>
            <a:r>
              <a:rPr lang="en-US" sz="1800" dirty="0" spc="-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1800" dirty="0" spc="-15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dirty="0" spc="-1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dirty="0" spc="7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 chiếu trực tiếp.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Text 30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348cb341-d1a5-404b-9055-22757e36a0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2026-10-18T11:28:12Z</dcterms:created>
  <dcterms:modified xsi:type="dcterms:W3CDTF">2026-10-18T11:28:12Z</dcterms:modified>
</cp:coreProperties>
</file>