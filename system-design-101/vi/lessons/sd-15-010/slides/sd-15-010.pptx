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 SemiBold"/>
      <p:regular r:id="rId15"/>
    </p:embeddedFont>
    <p:embeddedFont>
      <p:font typeface="Bricolage Grotesque ExtraBold"/>
      <p:regular r:id="rId16"/>
    </p:embeddedFont>
    <p:embeddedFont>
      <p:font typeface="Be Vietnam Pro"/>
      <p:regular r:id="rId17"/>
      <p:bold r:id="rId18"/>
    </p:embeddedFont>
    <p:embeddedFont>
      <p:font typeface="Be Vietnam Pro Medium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6667500" cy="24955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286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 viết</a:t>
            </a:r>
            <a:r>
              <a:rPr lang="en-US" sz="345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SELECT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tiên,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48577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nhưng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 dữ liệu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54292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4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 đó.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914400" y="691515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8008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75819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4676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logic: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5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82486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81343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thật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477500" y="1714500"/>
            <a:ext cx="6896100" cy="5715000"/>
          </a:xfrm>
          <a:prstGeom prst="roundRect">
            <a:avLst>
              <a:gd name="adj" fmla="val 5333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8500" y="20193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180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58500" y="2571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r>
              <a:rPr lang="en-US" sz="2550" dirty="0" spc="-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customer,</a:t>
            </a:r>
            <a:r>
              <a:rPr lang="en-US" sz="255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SUM(amount)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858500" y="31432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AS</a:t>
            </a: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total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858500" y="3714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FROM</a:t>
            </a:r>
            <a:r>
              <a:rPr lang="en-US" sz="2550" dirty="0" spc="-1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orders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858500" y="42862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WHERE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amount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858500" y="4857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255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customer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858500" y="54292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HAVING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SUM(amount)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858500" y="6000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ORDER</a:t>
            </a:r>
            <a:r>
              <a:rPr lang="en-US" sz="255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total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858500" y="65722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LIMIT 3;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b979224-e1c2-4376-b790-0a55340d35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spc="21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3000" dirty="0" spc="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ưu,</a:t>
            </a:r>
            <a:r>
              <a:rPr lang="en-US" sz="30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4762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35814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5814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57300" y="44767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57300" y="5334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</p:txBody>
      </p:sp>
      <p:sp>
        <p:nvSpPr>
          <p:cNvPr id="10" name="Connector line-1792294629175-219773804"/>
          <p:cNvSpPr/>
          <p:nvPr/>
        </p:nvSpPr>
        <p:spPr>
          <a:xfrm>
            <a:off x="5753100" y="5048250"/>
            <a:ext cx="952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2750" y="3238500"/>
            <a:ext cx="4762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05650" y="3581400"/>
            <a:ext cx="609600" cy="6096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7105650" y="35814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05650" y="44767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Tối</a:t>
            </a:r>
            <a:r>
              <a:rPr lang="en-US" sz="4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105650" y="5334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hoạch: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16" name="Connector line-1792294629184-604937256"/>
          <p:cNvSpPr/>
          <p:nvPr/>
        </p:nvSpPr>
        <p:spPr>
          <a:xfrm>
            <a:off x="11601450" y="5048250"/>
            <a:ext cx="952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611100" y="3238500"/>
            <a:ext cx="4762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54000" y="35814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0" y="35814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954000" y="44767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2954000" y="5334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 quả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73342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733425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85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miễn</a:t>
            </a:r>
            <a:r>
              <a:rPr lang="en-US" sz="28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đổi.</a:t>
            </a:r>
            <a:endParaRPr lang="en-US" sz="285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b9d66d4-9168-493c-abdb-35c4ee5b61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1500" y="1238250"/>
            <a:ext cx="5905500" cy="6858000"/>
          </a:xfrm>
          <a:prstGeom prst="rect">
            <a:avLst/>
          </a:prstGeom>
          <a:noFill/>
          <a:ln/>
        </p:spPr>
        <p:txBody>
          <a:bodyPr wrap="square" lIns="0" tIns="472440" rIns="0" bIns="-472440" rtlCol="0" anchor="ctr"/>
          <a:lstStyle/>
          <a:p>
            <a:pPr algn="ctr" indent="0" marL="0">
              <a:lnSpc>
                <a:spcPts val="46500"/>
              </a:lnSpc>
              <a:buNone/>
            </a:pPr>
            <a:r>
              <a:rPr lang="en-US" sz="46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6500" dirty="0"/>
          </a:p>
        </p:txBody>
      </p:sp>
      <p:sp>
        <p:nvSpPr>
          <p:cNvPr id="4" name="Text 2"/>
          <p:cNvSpPr/>
          <p:nvPr/>
        </p:nvSpPr>
        <p:spPr>
          <a:xfrm>
            <a:off x="7048500" y="1809750"/>
            <a:ext cx="10325100" cy="228600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mệnh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 tiên.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7048500" y="44767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8500" y="4953000"/>
            <a:ext cx="2190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4953000"/>
            <a:ext cx="2190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91650" y="4953000"/>
            <a:ext cx="161925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9391650" y="4953000"/>
            <a:ext cx="161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FROM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163300" y="49530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1163300" y="49530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WHERE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220700" y="495300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220700" y="4953000"/>
            <a:ext cx="238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2100" dirty="0" spc="-3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048500" y="57531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7048500" y="57531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HAVING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96400" y="57531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400" y="575310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ORDER</a:t>
            </a:r>
            <a:r>
              <a:rPr lang="en-US" sz="2100" dirty="0" spc="-3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925300" y="57531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9" name="Text 17"/>
          <p:cNvSpPr/>
          <p:nvPr/>
        </p:nvSpPr>
        <p:spPr>
          <a:xfrm>
            <a:off x="11925300" y="57531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LIMIT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048500" y="7048500"/>
            <a:ext cx="103251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gõ,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9b395ca-a53a-45a9-9a1f-c13de1ae6f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 câu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lệnh,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Trái: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Phải: thứ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24000" y="297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800" spc="22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800" spc="22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0" y="297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800" spc="227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800" spc="211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</a:t>
            </a:r>
            <a:endParaRPr lang="en-US" sz="1800" dirty="0"/>
          </a:p>
        </p:txBody>
      </p:sp>
      <p:sp>
        <p:nvSpPr>
          <p:cNvPr id="7" name="Connector line-1792294681915-828447372"/>
          <p:cNvSpPr/>
          <p:nvPr/>
        </p:nvSpPr>
        <p:spPr>
          <a:xfrm flipV="1">
            <a:off x="4953000" y="3600450"/>
            <a:ext cx="7429500" cy="74295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8" name="Connector line-1792294681916-485125366"/>
          <p:cNvSpPr/>
          <p:nvPr/>
        </p:nvSpPr>
        <p:spPr>
          <a:xfrm flipV="1">
            <a:off x="4953000" y="4343400"/>
            <a:ext cx="7429500" cy="74295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9" name="Connector line-1792294681916-455964191"/>
          <p:cNvSpPr/>
          <p:nvPr/>
        </p:nvSpPr>
        <p:spPr>
          <a:xfrm flipV="1">
            <a:off x="4953000" y="5086350"/>
            <a:ext cx="7429500" cy="74295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10" name="Connector line-1792294681916-499709065"/>
          <p:cNvSpPr/>
          <p:nvPr/>
        </p:nvSpPr>
        <p:spPr>
          <a:xfrm flipV="1">
            <a:off x="4953000" y="5829300"/>
            <a:ext cx="7429500" cy="74295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11" name="Connector line-1792294681916-899974933"/>
          <p:cNvSpPr/>
          <p:nvPr/>
        </p:nvSpPr>
        <p:spPr>
          <a:xfrm>
            <a:off x="4953000" y="7315200"/>
            <a:ext cx="7429500" cy="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12" name="Connector line-1792294681916-864221843"/>
          <p:cNvSpPr/>
          <p:nvPr/>
        </p:nvSpPr>
        <p:spPr>
          <a:xfrm>
            <a:off x="4953000" y="8058150"/>
            <a:ext cx="7429500" cy="0"/>
          </a:xfrm>
          <a:prstGeom prst="line">
            <a:avLst/>
          </a:prstGeom>
          <a:noFill/>
          <a:ln w="38100">
            <a:solidFill>
              <a:srgbClr val="6B6F7B"/>
            </a:solidFill>
            <a:prstDash val="solid"/>
            <a:headEnd type="none"/>
            <a:tailEnd type="none"/>
          </a:ln>
        </p:spPr>
      </p:sp>
      <p:sp>
        <p:nvSpPr>
          <p:cNvPr id="13" name="Connector line-1792294681917-205379612"/>
          <p:cNvSpPr/>
          <p:nvPr/>
        </p:nvSpPr>
        <p:spPr>
          <a:xfrm>
            <a:off x="4953000" y="3600450"/>
            <a:ext cx="7429500" cy="2971800"/>
          </a:xfrm>
          <a:prstGeom prst="line">
            <a:avLst/>
          </a:prstGeom>
          <a:noFill/>
          <a:ln w="857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24000" y="33337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24000" y="33337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24000" y="40767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4000" y="40767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FROM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524000" y="48196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4000" y="48196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WHERE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524000" y="55626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4000" y="5562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22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24000" y="63055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24000" y="63055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HAVING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524000" y="70485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4000" y="70485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ORDER</a:t>
            </a:r>
            <a:r>
              <a:rPr lang="en-US" sz="22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524000" y="77914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24000" y="77914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LIMIT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382500" y="33337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82500" y="33337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FROM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2382500" y="40767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82500" y="40767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WHERE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382500" y="48196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82500" y="48196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22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2382500" y="55626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82500" y="5562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HAVING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2382500" y="63055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12382500" y="63055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2382500" y="704850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82500" y="70485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ORDER</a:t>
            </a:r>
            <a:r>
              <a:rPr lang="en-US" sz="22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12382500" y="7791450"/>
            <a:ext cx="3429000" cy="53340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82500" y="779145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LIMIT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914400" y="85534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tiên,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năm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đọc. Câu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DISTINCT.</a:t>
            </a:r>
            <a:endParaRPr lang="en-US" sz="2700" dirty="0"/>
          </a:p>
        </p:txBody>
      </p:sp>
      <p:sp>
        <p:nvSpPr>
          <p:cNvPr id="43" name="Shape 4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8" name="Shape 4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9" name="Shape 4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0" name="Shape 4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1" name="Text 4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b23019e9-aab1-4bff-ba93-b94e2b4fbd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r>
              <a:rPr lang="en-US" sz="1950" spc="208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8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FROM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LIMIT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ý nghĩa,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30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16459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50" y="32194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2194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31432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FROM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105400" y="3143250"/>
            <a:ext cx="1190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95400" y="3981450"/>
            <a:ext cx="16078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8750" y="4057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40576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247900" y="39814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WHERE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5486400" y="3981450"/>
            <a:ext cx="1152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amount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676400" y="4819650"/>
            <a:ext cx="15697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09750" y="48958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809750" y="48958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628900" y="48196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GROUP</a:t>
            </a:r>
            <a:r>
              <a:rPr lang="en-US" sz="285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5867400" y="4819650"/>
            <a:ext cx="1114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customer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057400" y="5657850"/>
            <a:ext cx="15316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57340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2190750" y="57340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3009900" y="56578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HAVING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248400" y="5657850"/>
            <a:ext cx="1076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nhóm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2438400" y="6496050"/>
            <a:ext cx="14935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1750" y="6572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2571750" y="65722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3390900" y="64960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6629400" y="649605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2668250" y="6629400"/>
            <a:ext cx="4476750" cy="4953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31" name="Text 29"/>
          <p:cNvSpPr/>
          <p:nvPr/>
        </p:nvSpPr>
        <p:spPr>
          <a:xfrm>
            <a:off x="12668250" y="662940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total</a:t>
            </a:r>
            <a:r>
              <a:rPr lang="en-US" sz="19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dirty="0" spc="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1950" dirty="0" spc="-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2819400" y="7334250"/>
            <a:ext cx="14554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52750" y="74104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2952750" y="74104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850" dirty="0"/>
          </a:p>
        </p:txBody>
      </p:sp>
      <p:sp>
        <p:nvSpPr>
          <p:cNvPr id="35" name="Text 33"/>
          <p:cNvSpPr/>
          <p:nvPr/>
        </p:nvSpPr>
        <p:spPr>
          <a:xfrm>
            <a:off x="3771900" y="73342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ORDER</a:t>
            </a:r>
            <a:r>
              <a:rPr lang="en-US" sz="285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</a:t>
            </a:r>
            <a:endParaRPr lang="en-US" sz="2850" dirty="0"/>
          </a:p>
        </p:txBody>
      </p:sp>
      <p:sp>
        <p:nvSpPr>
          <p:cNvPr id="36" name="Text 34"/>
          <p:cNvSpPr/>
          <p:nvPr/>
        </p:nvSpPr>
        <p:spPr>
          <a:xfrm>
            <a:off x="7010400" y="7334250"/>
            <a:ext cx="1000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200400" y="8172450"/>
            <a:ext cx="14173200" cy="762000"/>
          </a:xfrm>
          <a:prstGeom prst="roundRect">
            <a:avLst>
              <a:gd name="adj" fmla="val 2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3750" y="8248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3333750" y="82486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4152900" y="81724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LIMIT</a:t>
            </a:r>
            <a:endParaRPr lang="en-US" sz="2850" dirty="0"/>
          </a:p>
        </p:txBody>
      </p:sp>
      <p:sp>
        <p:nvSpPr>
          <p:cNvPr id="41" name="Text 39"/>
          <p:cNvSpPr/>
          <p:nvPr/>
        </p:nvSpPr>
        <p:spPr>
          <a:xfrm>
            <a:off x="7391400" y="8172450"/>
            <a:ext cx="962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Shape 4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9" name="Shape 4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39680e19-aba3-44c6-8eab-2b2d5dd883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8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60045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34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45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logic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238250" y="48958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543050" y="46672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38250" y="6229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543050" y="60007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cách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15100" y="32385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38950" y="360045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450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34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6838950" y="48958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43750" y="46672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 trước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838950" y="62293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43750" y="60007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838950" y="75628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7143750" y="73342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Miễn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2115800" y="32385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158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2439650" y="360045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Alias</a:t>
            </a:r>
            <a:endParaRPr lang="en-US" sz="3450" dirty="0"/>
          </a:p>
        </p:txBody>
      </p:sp>
      <p:sp>
        <p:nvSpPr>
          <p:cNvPr id="24" name="Shape 22"/>
          <p:cNvSpPr/>
          <p:nvPr/>
        </p:nvSpPr>
        <p:spPr>
          <a:xfrm>
            <a:off x="12439650" y="48958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744450" y="46672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HAVING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439650" y="62293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12744450" y="60007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 quản trị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d33654d-54db-430d-a33c-ab9e0cdad5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9715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1239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95400" y="1504950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7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SELECT</a:t>
            </a:r>
            <a:r>
              <a:rPr lang="en-US" sz="2327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customer,</a:t>
            </a:r>
            <a:r>
              <a:rPr lang="en-US" sz="2327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SUM(amount)</a:t>
            </a:r>
            <a:r>
              <a:rPr lang="en-US" sz="2327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AS</a:t>
            </a:r>
            <a:r>
              <a:rPr lang="en-US" sz="2327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total</a:t>
            </a:r>
            <a:r>
              <a:rPr lang="en-US" sz="2327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FROM</a:t>
            </a:r>
            <a:r>
              <a:rPr lang="en-US" sz="2327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orders</a:t>
            </a:r>
            <a:r>
              <a:rPr lang="en-US" sz="2327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WHERE</a:t>
            </a:r>
            <a:r>
              <a:rPr lang="en-US" sz="2327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total</a:t>
            </a:r>
            <a:r>
              <a:rPr lang="en-US" sz="2327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&gt;</a:t>
            </a:r>
            <a:r>
              <a:rPr lang="en-US" sz="2327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100</a:t>
            </a:r>
            <a:r>
              <a:rPr lang="en-US" sz="2327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GROUP</a:t>
            </a:r>
            <a:r>
              <a:rPr lang="en-US" sz="2327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</a:t>
            </a:r>
            <a:r>
              <a:rPr lang="en-US" sz="2327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customer;</a:t>
            </a:r>
            <a:endParaRPr lang="en-US" sz="2327" dirty="0"/>
          </a:p>
        </p:txBody>
      </p:sp>
      <p:sp>
        <p:nvSpPr>
          <p:cNvPr id="6" name="Text 4"/>
          <p:cNvSpPr/>
          <p:nvPr/>
        </p:nvSpPr>
        <p:spPr>
          <a:xfrm>
            <a:off x="1295400" y="20383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báo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lỗi.</a:t>
            </a:r>
            <a:r>
              <a:rPr lang="en-US" sz="3150" dirty="0" spc="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sao,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31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3238500"/>
            <a:ext cx="28575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38500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FROM</a:t>
            </a:r>
            <a:r>
              <a:rPr lang="en-US" sz="2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orders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14825" y="3238500"/>
            <a:ext cx="2857500" cy="914400"/>
          </a:xfrm>
          <a:prstGeom prst="roundRect">
            <a:avLst>
              <a:gd name="adj" fmla="val 2083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4825" y="3238500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WHERE</a:t>
            </a:r>
            <a:r>
              <a:rPr lang="en-US" sz="21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total</a:t>
            </a:r>
            <a:r>
              <a:rPr lang="en-US" sz="21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&gt; 100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15250" y="3238500"/>
            <a:ext cx="28575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0" y="3238500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GROUP</a:t>
            </a:r>
            <a:r>
              <a:rPr lang="en-US" sz="21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</a:t>
            </a:r>
            <a:r>
              <a:rPr lang="en-US" sz="2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customer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115675" y="3238500"/>
            <a:ext cx="2857500" cy="914400"/>
          </a:xfrm>
          <a:prstGeom prst="roundRect">
            <a:avLst>
              <a:gd name="adj" fmla="val 20833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15675" y="3238500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HAVING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4516100" y="3238500"/>
            <a:ext cx="28575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16100" y="3238500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</a:t>
            </a:r>
            <a:r>
              <a:rPr lang="en-US" sz="2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…</a:t>
            </a:r>
            <a:r>
              <a:rPr lang="en-US" sz="21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AS</a:t>
            </a:r>
            <a:r>
              <a:rPr lang="en-US" sz="21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total</a:t>
            </a:r>
            <a:endParaRPr lang="en-US" sz="2100" dirty="0"/>
          </a:p>
        </p:txBody>
      </p:sp>
      <p:sp>
        <p:nvSpPr>
          <p:cNvPr id="17" name="Connector line-1792304654484-495526434"/>
          <p:cNvSpPr/>
          <p:nvPr/>
        </p:nvSpPr>
        <p:spPr>
          <a:xfrm>
            <a:off x="3810000" y="3695700"/>
            <a:ext cx="4667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04654485-510121424"/>
          <p:cNvSpPr/>
          <p:nvPr/>
        </p:nvSpPr>
        <p:spPr>
          <a:xfrm>
            <a:off x="7210425" y="3695700"/>
            <a:ext cx="4667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04654485-743819863"/>
          <p:cNvSpPr/>
          <p:nvPr/>
        </p:nvSpPr>
        <p:spPr>
          <a:xfrm>
            <a:off x="10610850" y="3695700"/>
            <a:ext cx="4667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304654485-844737517"/>
          <p:cNvSpPr/>
          <p:nvPr/>
        </p:nvSpPr>
        <p:spPr>
          <a:xfrm>
            <a:off x="14011275" y="3695700"/>
            <a:ext cx="4667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314825" y="4286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total</a:t>
            </a:r>
            <a:r>
              <a:rPr lang="en-US" sz="2100" dirty="0" spc="4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10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tồn</a:t>
            </a:r>
            <a:r>
              <a:rPr lang="en-US" sz="2100" dirty="0" spc="-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115675" y="4286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5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1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100" dirty="0" spc="-1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100" dirty="0" spc="-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10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516100" y="4286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total</a:t>
            </a:r>
            <a:r>
              <a:rPr lang="en-US" sz="21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5334000"/>
            <a:ext cx="16459200" cy="3714750"/>
          </a:xfrm>
          <a:prstGeom prst="roundRect">
            <a:avLst>
              <a:gd name="adj" fmla="val 7179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5600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80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95400" y="60388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1295400" y="68770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WHERE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95400" y="79248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WHERE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gộp.</a:t>
            </a:r>
            <a:endParaRPr lang="en-US" sz="2550" dirty="0"/>
          </a:p>
        </p:txBody>
      </p:sp>
      <p:sp>
        <p:nvSpPr>
          <p:cNvPr id="29" name="Connector line-1792304654503-37277212"/>
          <p:cNvSpPr/>
          <p:nvPr/>
        </p:nvSpPr>
        <p:spPr>
          <a:xfrm>
            <a:off x="9048750" y="6096000"/>
            <a:ext cx="0" cy="2476500"/>
          </a:xfrm>
          <a:prstGeom prst="line">
            <a:avLst/>
          </a:prstGeom>
          <a:noFill/>
          <a:ln w="28575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372600" y="60388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3900" dirty="0" spc="-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3900" dirty="0"/>
          </a:p>
        </p:txBody>
      </p:sp>
      <p:sp>
        <p:nvSpPr>
          <p:cNvPr id="31" name="Text 29"/>
          <p:cNvSpPr/>
          <p:nvPr/>
        </p:nvSpPr>
        <p:spPr>
          <a:xfrm>
            <a:off x="9372600" y="6877050"/>
            <a:ext cx="7620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HAVING,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 BY: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9372600" y="802005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HAVING</a:t>
            </a:r>
            <a:r>
              <a:rPr lang="en-US" sz="28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SUM(amount)</a:t>
            </a:r>
            <a:r>
              <a:rPr lang="en-US" sz="28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&gt; 100</a:t>
            </a:r>
            <a:endParaRPr lang="en-US" sz="285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f5ed8bea-e093-400d-b1e9-dcf4aadacb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THUẬT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 CHÍNH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908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524500" y="25908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Language: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4861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48615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0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logic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524500" y="348615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381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3815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Alias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24500" y="43815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2768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27685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0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24500" y="527685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chạy: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1722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1722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EXPLAIN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24500" y="61722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7334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75057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250" y="79057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 snapshot cố</a:t>
            </a:r>
            <a:r>
              <a:rPr lang="en-US" sz="19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38250" y="82867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19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SELECT,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Functions,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38250" y="86677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alias,</a:t>
            </a:r>
            <a:r>
              <a:rPr lang="en-US" sz="195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0" y="7334250"/>
            <a:ext cx="8229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733425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9563100" y="76200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63100" y="81343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63100" y="86487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c32f015c-0d61-4190-a63a-0e53fa4f21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2026-10-19T00:43:48Z</dcterms:created>
  <dcterms:modified xsi:type="dcterms:W3CDTF">2026-10-19T00:43:48Z</dcterms:modified>
</cp:coreProperties>
</file>