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200" dirty="0" spc="-1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AWS: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VPC</a:t>
            </a:r>
            <a:r>
              <a:rPr lang="en-US" sz="72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 cách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72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ra,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72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75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975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VPC</a:t>
            </a:r>
            <a:r>
              <a:rPr lang="en-US" sz="2975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975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975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975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975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975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975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975" dirty="0"/>
          </a:p>
        </p:txBody>
      </p:sp>
      <p:sp>
        <p:nvSpPr>
          <p:cNvPr id="5" name="Connector line-1792420758673-742569122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mạng,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VPC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335000" y="3429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10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1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VPC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6134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100" dirty="0"/>
          </a:p>
        </p:txBody>
      </p:sp>
      <p:sp>
        <p:nvSpPr>
          <p:cNvPr id="12" name="Connector line-1792420758697-747662954"/>
          <p:cNvSpPr/>
          <p:nvPr/>
        </p:nvSpPr>
        <p:spPr>
          <a:xfrm flipV="1">
            <a:off x="12439650" y="3790950"/>
            <a:ext cx="895350" cy="13525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3" name="Connector line-1792420758697-718740246"/>
          <p:cNvSpPr/>
          <p:nvPr/>
        </p:nvSpPr>
        <p:spPr>
          <a:xfrm>
            <a:off x="12439650" y="5143500"/>
            <a:ext cx="895350" cy="95"/>
          </a:xfrm>
          <a:custGeom>
            <a:avLst/>
            <a:gdLst/>
            <a:ahLst/>
            <a:cxnLst/>
            <a:rect l="l" t="t" r="r" b="b"/>
            <a:pathLst>
              <a:path w="895350" h="95">
                <a:moveTo>
                  <a:pt x="0" y="0"/>
                </a:moveTo>
                <a:lnTo>
                  <a:pt x="447675" y="0"/>
                </a:lnTo>
                <a:lnTo>
                  <a:pt x="447675" y="0"/>
                </a:lnTo>
                <a:lnTo>
                  <a:pt x="895350" y="0"/>
                </a:lnTo>
              </a:path>
            </a:pathLst>
          </a:custGeom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4" name="Connector line-1792420758698-654816709"/>
          <p:cNvSpPr/>
          <p:nvPr/>
        </p:nvSpPr>
        <p:spPr>
          <a:xfrm>
            <a:off x="12439650" y="5143500"/>
            <a:ext cx="895350" cy="13525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e5bcc8ce-e155-4b31-b161-e4ecd11a76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b="1" spc="2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Region,</a:t>
            </a:r>
            <a:r>
              <a:rPr lang="en-US" sz="63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AZ,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VPC,</a:t>
            </a:r>
            <a:r>
              <a:rPr lang="en-US" sz="63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subnet.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5715000"/>
          </a:xfrm>
          <a:prstGeom prst="roundRect">
            <a:avLst>
              <a:gd name="adj" fmla="val 4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1051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Region:</a:t>
            </a:r>
            <a:r>
              <a:rPr lang="en-US" sz="24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vùng</a:t>
            </a:r>
            <a:r>
              <a:rPr lang="en-US" sz="2400" dirty="0" spc="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địa</a:t>
            </a:r>
            <a:r>
              <a:rPr lang="en-US" sz="24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38250" y="3714750"/>
            <a:ext cx="7620000" cy="4667250"/>
          </a:xfrm>
          <a:prstGeom prst="roundRect">
            <a:avLst>
              <a:gd name="adj" fmla="val 4082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4000" y="384810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AZ:</a:t>
            </a:r>
            <a:r>
              <a:rPr lang="en-US" sz="225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29750" y="3714750"/>
            <a:ext cx="7620000" cy="4667250"/>
          </a:xfrm>
          <a:prstGeom prst="roundRect">
            <a:avLst>
              <a:gd name="adj" fmla="val 4082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5500" y="384810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 khác</a:t>
            </a:r>
            <a:r>
              <a:rPr lang="en-US" sz="2250" b="1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b="1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Region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04900" y="4572000"/>
            <a:ext cx="16078200" cy="3619500"/>
          </a:xfrm>
          <a:prstGeom prst="roundRect">
            <a:avLst>
              <a:gd name="adj" fmla="val 6316"/>
            </a:avLst>
          </a:prstGeom>
          <a:solidFill>
            <a:srgbClr val="FFF1D6"/>
          </a:solidFill>
          <a:ln w="47625">
            <a:solidFill>
              <a:srgbClr val="B45309"/>
            </a:solidFill>
            <a:prstDash val="lgDash"/>
          </a:ln>
        </p:spPr>
      </p:sp>
      <p:sp>
        <p:nvSpPr>
          <p:cNvPr id="11" name="Text 9"/>
          <p:cNvSpPr/>
          <p:nvPr/>
        </p:nvSpPr>
        <p:spPr>
          <a:xfrm>
            <a:off x="1428750" y="4705350"/>
            <a:ext cx="1238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VPC:</a:t>
            </a:r>
            <a:r>
              <a:rPr lang="en-US" sz="24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mạng</a:t>
            </a:r>
            <a:r>
              <a:rPr lang="en-US" sz="2400" dirty="0" spc="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ảo</a:t>
            </a:r>
            <a:r>
              <a:rPr lang="en-US" sz="24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riêng,</a:t>
            </a:r>
            <a:r>
              <a:rPr lang="en-US" sz="24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trải</a:t>
            </a:r>
            <a:r>
              <a:rPr lang="en-US" sz="24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nhiều</a:t>
            </a:r>
            <a:r>
              <a:rPr lang="en-US" sz="24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AZ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19250" y="5524500"/>
            <a:ext cx="6858000" cy="2286000"/>
          </a:xfrm>
          <a:prstGeom prst="roundRect">
            <a:avLst>
              <a:gd name="adj" fmla="val 8333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Subnet: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810750" y="5524500"/>
            <a:ext cx="6858000" cy="2286000"/>
          </a:xfrm>
          <a:prstGeom prst="roundRect">
            <a:avLst>
              <a:gd name="adj" fmla="val 8333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Subnet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 AZ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ffff6e1-890b-4811-a646-5bc054d4a6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VPC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3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3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ra,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nối.</a:t>
            </a:r>
            <a:endParaRPr lang="en-US" sz="6300" dirty="0"/>
          </a:p>
        </p:txBody>
      </p:sp>
      <p:sp>
        <p:nvSpPr>
          <p:cNvPr id="4" name="Connector line-1792420767856-890739433"/>
          <p:cNvSpPr/>
          <p:nvPr/>
        </p:nvSpPr>
        <p:spPr>
          <a:xfrm>
            <a:off x="1333500" y="5334000"/>
            <a:ext cx="15621000" cy="0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667000" y="5048250"/>
            <a:ext cx="571500" cy="571500"/>
          </a:xfrm>
          <a:prstGeom prst="ellipse">
            <a:avLst/>
          </a:prstGeom>
          <a:solidFill>
            <a:srgbClr val="B45309"/>
          </a:solidFill>
          <a:ln w="57150">
            <a:solidFill>
              <a:srgbClr val="F3E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7000" y="5048250"/>
            <a:ext cx="571500" cy="571500"/>
          </a:xfrm>
          <a:prstGeom prst="ellipse">
            <a:avLst/>
          </a:prstGeom>
          <a:solidFill>
            <a:srgbClr val="B45309"/>
          </a:solidFill>
          <a:ln w="571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0" y="5048250"/>
            <a:ext cx="571500" cy="571500"/>
          </a:xfrm>
          <a:prstGeom prst="ellipse">
            <a:avLst/>
          </a:prstGeom>
          <a:solidFill>
            <a:srgbClr val="B45309"/>
          </a:solidFill>
          <a:ln w="571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97000" y="5048250"/>
            <a:ext cx="571500" cy="571500"/>
          </a:xfrm>
          <a:prstGeom prst="ellipse">
            <a:avLst/>
          </a:prstGeom>
          <a:solidFill>
            <a:srgbClr val="B45309"/>
          </a:solidFill>
          <a:ln w="57150">
            <a:solidFill>
              <a:srgbClr val="F3E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8100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Internet</a:t>
            </a:r>
            <a:r>
              <a:rPr lang="en-US" sz="2850" dirty="0" spc="-2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gateway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4953000" y="38100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Client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VPN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8763000" y="38100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Virtual</a:t>
            </a:r>
            <a:r>
              <a:rPr lang="en-US" sz="28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private</a:t>
            </a:r>
            <a:r>
              <a:rPr lang="en-US" sz="2850" dirty="0" spc="-2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gateway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573000" y="38100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50" dirty="0" spc="-10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NAT</a:t>
            </a:r>
            <a:r>
              <a:rPr lang="en-US" sz="2850" dirty="0" spc="-2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gateway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143000" y="600075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53000" y="600075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từ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63000" y="600075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400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573000" y="600075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07c6479-9c80-47a1-95ca-7cf175d64c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spc="3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1800" b="1" spc="30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 hay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24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Subnet công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khai</a:t>
            </a:r>
            <a:endParaRPr lang="en-US" sz="3000" dirty="0"/>
          </a:p>
        </p:txBody>
      </p:sp>
      <p:sp>
        <p:nvSpPr>
          <p:cNvPr id="6" name="Text richtext-1792420768928-528917666"/>
          <p:cNvSpPr/>
          <p:nvPr/>
        </p:nvSpPr>
        <p:spPr>
          <a:xfrm>
            <a:off x="1333500" y="4381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7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270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524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Subnet</a:t>
            </a:r>
            <a:r>
              <a:rPr lang="en-US" sz="30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riêng</a:t>
            </a:r>
            <a:endParaRPr lang="en-US" sz="3000" dirty="0"/>
          </a:p>
        </p:txBody>
      </p:sp>
      <p:sp>
        <p:nvSpPr>
          <p:cNvPr id="9" name="Text richtext-1792420768947-459952158"/>
          <p:cNvSpPr/>
          <p:nvPr/>
        </p:nvSpPr>
        <p:spPr>
          <a:xfrm>
            <a:off x="9791700" y="4381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700" dirty="0" spc="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6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270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8f80844-0afb-49fb-85d4-277585651a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VPC</a:t>
            </a:r>
            <a:r>
              <a:rPr lang="en-US" sz="1800" b="1" spc="29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Peering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bắc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cầu,</a:t>
            </a:r>
            <a:r>
              <a:rPr lang="en-US" sz="63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trạm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3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VPC peering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400050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3810000" y="400050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 B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705600" y="400050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550" dirty="0"/>
          </a:p>
        </p:txBody>
      </p:sp>
      <p:sp>
        <p:nvSpPr>
          <p:cNvPr id="8" name="Connector line-1792420769783-761920655"/>
          <p:cNvSpPr/>
          <p:nvPr/>
        </p:nvSpPr>
        <p:spPr>
          <a:xfrm>
            <a:off x="2819400" y="4476750"/>
            <a:ext cx="9906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9" name="Connector line-1792420769784-592249952"/>
          <p:cNvSpPr/>
          <p:nvPr/>
        </p:nvSpPr>
        <p:spPr>
          <a:xfrm>
            <a:off x="5715000" y="4476750"/>
            <a:ext cx="9906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866900" y="4953000"/>
            <a:ext cx="5791200" cy="1333500"/>
          </a:xfrm>
          <a:custGeom>
            <a:avLst/>
            <a:gdLst/>
            <a:ahLst/>
            <a:cxnLst/>
            <a:rect l="l" t="t" r="r" b="b"/>
            <a:pathLst>
              <a:path w="5791200" h="1333500">
                <a:moveTo>
                  <a:pt x="0" y="0"/>
                </a:moveTo>
                <a:cubicBezTo>
                  <a:pt x="0" y="1333500"/>
                  <a:pt x="5791200" y="1333500"/>
                  <a:pt x="5791200" y="0"/>
                </a:cubicBezTo>
              </a:path>
            </a:pathLst>
          </a:custGeom>
          <a:ln w="47625">
            <a:solidFill>
              <a:srgbClr val="E8472B"/>
            </a:solidFill>
            <a:prstDash val="lgDash"/>
          </a:ln>
        </p:spPr>
      </p:sp>
      <p:sp>
        <p:nvSpPr>
          <p:cNvPr id="11" name="Text 9"/>
          <p:cNvSpPr/>
          <p:nvPr/>
        </p:nvSpPr>
        <p:spPr>
          <a:xfrm>
            <a:off x="914400" y="6667500"/>
            <a:ext cx="769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B, B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C: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525000" y="29527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Transit</a:t>
            </a:r>
            <a:r>
              <a:rPr lang="en-US" sz="2550" dirty="0" spc="-2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gateway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592050" y="4095750"/>
            <a:ext cx="1714500" cy="17145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Trạm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9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0" y="447675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5468600" y="447675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496800" y="6667500"/>
            <a:ext cx="1905000" cy="952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 3</a:t>
            </a:r>
            <a:endParaRPr lang="en-US" sz="2550" dirty="0"/>
          </a:p>
        </p:txBody>
      </p:sp>
      <p:sp>
        <p:nvSpPr>
          <p:cNvPr id="17" name="Connector line-1792420769801-129813538"/>
          <p:cNvSpPr/>
          <p:nvPr/>
        </p:nvSpPr>
        <p:spPr>
          <a:xfrm flipH="1">
            <a:off x="11430000" y="4953000"/>
            <a:ext cx="11620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8" name="Connector line-1792420769801-799431899"/>
          <p:cNvSpPr/>
          <p:nvPr/>
        </p:nvSpPr>
        <p:spPr>
          <a:xfrm>
            <a:off x="14306550" y="4953000"/>
            <a:ext cx="11620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9" name="Connector line-1792420769801-894271139"/>
          <p:cNvSpPr/>
          <p:nvPr/>
        </p:nvSpPr>
        <p:spPr>
          <a:xfrm>
            <a:off x="13449300" y="5810250"/>
            <a:ext cx="0" cy="857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525000" y="8096250"/>
            <a:ext cx="784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VPC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trạm.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260364a-27f1-4fe9-977a-d5776ded01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3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endpoint,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qua</a:t>
            </a:r>
            <a:r>
              <a:rPr lang="en-US" sz="6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internet.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5143500"/>
          </a:xfrm>
          <a:prstGeom prst="roundRect">
            <a:avLst>
              <a:gd name="adj" fmla="val 5185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Gateway</a:t>
            </a:r>
            <a:r>
              <a:rPr lang="en-US" sz="30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endpoint</a:t>
            </a:r>
            <a:endParaRPr lang="en-US" sz="3000" dirty="0"/>
          </a:p>
        </p:txBody>
      </p:sp>
      <p:sp>
        <p:nvSpPr>
          <p:cNvPr id="7" name="Text richtext-1792421990202-210904358"/>
          <p:cNvSpPr/>
          <p:nvPr/>
        </p:nvSpPr>
        <p:spPr>
          <a:xfrm>
            <a:off x="1333500" y="438150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DynamoDB.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9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3143250"/>
            <a:ext cx="8001000" cy="5143500"/>
          </a:xfrm>
          <a:prstGeom prst="roundRect">
            <a:avLst>
              <a:gd name="adj" fmla="val 5185"/>
            </a:avLst>
          </a:prstGeom>
          <a:solidFill>
            <a:srgbClr val="DDE3F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Interface</a:t>
            </a:r>
            <a:r>
              <a:rPr lang="en-US" sz="300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endpoint</a:t>
            </a:r>
            <a:endParaRPr lang="en-US" sz="3000" dirty="0"/>
          </a:p>
        </p:txBody>
      </p:sp>
      <p:sp>
        <p:nvSpPr>
          <p:cNvPr id="11" name="Text richtext-1792421990223-288226208"/>
          <p:cNvSpPr/>
          <p:nvPr/>
        </p:nvSpPr>
        <p:spPr>
          <a:xfrm>
            <a:off x="9791700" y="438150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Lối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subnet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đưa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VPC.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dcf636d-0de6-457b-a668-7ea1bf42c7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PEERING THÀNH GÁNH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Peering</a:t>
            </a:r>
            <a:r>
              <a:rPr lang="en-US" sz="63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6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nhanh.</a:t>
            </a:r>
            <a:endParaRPr lang="en-US" sz="6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760720"/>
                <a:gridCol w="576072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-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Số</a:t>
                      </a:r>
                      <a:r>
                        <a:rPr lang="en-US" sz="300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VPC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</a:t>
                      </a:r>
                      <a:r>
                        <a:rPr lang="en-US" sz="300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peering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</a:t>
                      </a:r>
                      <a:r>
                        <a:rPr lang="en-US" sz="3000" b="1" dirty="0" spc="-28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Transit</a:t>
                      </a:r>
                      <a:r>
                        <a:rPr lang="en-US" sz="3000" b="1" dirty="0" spc="-3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gateway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</a:t>
                      </a:r>
                      <a:r>
                        <a:rPr lang="en-US" sz="3000" dirty="0" spc="-4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r>
                        <a:rPr lang="en-US" sz="30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45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</a:t>
                      </a:r>
                      <a:r>
                        <a:rPr lang="en-US" sz="3000" dirty="0" spc="-4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r>
                        <a:rPr lang="en-US" sz="30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429500"/>
            <a:ext cx="1619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n(n−1)/2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peering,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peering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bắc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5d2b73f-69bd-4480-987d-e2d79082d8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33350" cy="2286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716250" cy="22860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Subnet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6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 từ</a:t>
            </a:r>
            <a:r>
              <a:rPr lang="en-US" sz="60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S3,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cấm</a:t>
            </a:r>
            <a:r>
              <a:rPr lang="en-US" sz="60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internet.</a:t>
            </a: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0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5143500"/>
            <a:ext cx="164592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52450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Gateway</a:t>
            </a:r>
            <a:r>
              <a:rPr lang="en-US" sz="48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endpoint</a:t>
            </a:r>
            <a:r>
              <a:rPr lang="en-US" sz="48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800" dirty="0" spc="1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S3.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33500" y="6667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300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-1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20ca1651-8bee-4059-96af-460e00aa7a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300" dirty="0" spc="-1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AWS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400425"/>
            <a:ext cx="914400" cy="9144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235" dirty="0"/>
          </a:p>
        </p:txBody>
      </p:sp>
      <p:sp>
        <p:nvSpPr>
          <p:cNvPr id="6" name="Text 4"/>
          <p:cNvSpPr/>
          <p:nvPr/>
        </p:nvSpPr>
        <p:spPr>
          <a:xfrm>
            <a:off x="2571750" y="3400425"/>
            <a:ext cx="1428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31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1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31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5114925"/>
            <a:ext cx="914400" cy="9144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235" dirty="0"/>
          </a:p>
        </p:txBody>
      </p:sp>
      <p:sp>
        <p:nvSpPr>
          <p:cNvPr id="9" name="Text 7"/>
          <p:cNvSpPr/>
          <p:nvPr/>
        </p:nvSpPr>
        <p:spPr>
          <a:xfrm>
            <a:off x="2571750" y="5114925"/>
            <a:ext cx="1428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</a:t>
            </a:r>
            <a:r>
              <a:rPr lang="en-US" sz="31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mức,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giá,</a:t>
            </a: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thể</a:t>
            </a: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6572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829425"/>
            <a:ext cx="914400" cy="9144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235" dirty="0"/>
          </a:p>
        </p:txBody>
      </p:sp>
      <p:sp>
        <p:nvSpPr>
          <p:cNvPr id="12" name="Text 10"/>
          <p:cNvSpPr/>
          <p:nvPr/>
        </p:nvSpPr>
        <p:spPr>
          <a:xfrm>
            <a:off x="2571750" y="6829425"/>
            <a:ext cx="1428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150" dirty="0" spc="-6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AWS</a:t>
            </a:r>
            <a:r>
              <a:rPr lang="en-US" sz="31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86511fa-79f6-4097-9fa0-cb44044e7f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19075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324100"/>
            <a:ext cx="34766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6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10150" y="219075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8750" y="2324100"/>
            <a:ext cx="34766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VPC</a:t>
            </a:r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90525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038600"/>
            <a:ext cx="34766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</a:t>
            </a:r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sàng,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010150" y="390525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8750" y="4038600"/>
            <a:ext cx="34766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VPN</a:t>
            </a:r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ảo,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61975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5753100"/>
            <a:ext cx="34766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NAT</a:t>
            </a:r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010150" y="561975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8750" y="5753100"/>
            <a:ext cx="34766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</a:t>
            </a:r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72600" y="15240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72600" y="219075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21907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372600" y="352425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35242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VPC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372600" y="485775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9715500" y="485775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AWS:</a:t>
            </a:r>
            <a:r>
              <a:rPr lang="en-US" sz="2250" dirty="0" spc="-4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Global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Infrastructure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9f6859ef-ec8d-4db2-a64b-2ae5dd08f9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2026-10-19T15:00:23Z</dcterms:created>
  <dcterms:modified xsi:type="dcterms:W3CDTF">2026-10-19T15:00:23Z</dcterms:modified>
</cp:coreProperties>
</file>