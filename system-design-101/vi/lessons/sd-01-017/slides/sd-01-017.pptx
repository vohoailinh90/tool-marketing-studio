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715500" cy="32766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hoạt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810250"/>
            <a:ext cx="9144000" cy="1524000"/>
          </a:xfrm>
          <a:prstGeom prst="rect">
            <a:avLst/>
          </a:prstGeom>
          <a:noFill/>
          <a:ln/>
        </p:spPr>
        <p:txBody>
          <a:bodyPr wrap="square" lIns="0" tIns="10859" rIns="0" bIns="-10859" rtlCol="0" anchor="t"/>
          <a:lstStyle/>
          <a:p>
            <a:pPr algn="l" indent="0" marL="0">
              <a:lnSpc>
                <a:spcPts val="3846"/>
              </a:lnSpc>
              <a:buNone/>
            </a:pPr>
            <a:r>
              <a:rPr lang="en-US" sz="2849" dirty="0" spc="-2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REST</a:t>
            </a:r>
            <a:r>
              <a:rPr lang="en-US" sz="2849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coi</a:t>
            </a:r>
            <a:r>
              <a:rPr lang="en-US" sz="2849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mọi</a:t>
            </a:r>
            <a:r>
              <a:rPr lang="en-US" sz="2849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</a:t>
            </a:r>
            <a:r>
              <a:rPr lang="en-US" sz="2849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849" dirty="0" spc="-1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2849" dirty="0" spc="-1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nguyên</a:t>
            </a:r>
            <a:r>
              <a:rPr lang="en-US" sz="2849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849" dirty="0" spc="3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địa</a:t>
            </a:r>
            <a:r>
              <a:rPr lang="en-US" sz="2849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chỉ.</a:t>
            </a:r>
            <a:endParaRPr lang="en-US" sz="2849" dirty="0"/>
          </a:p>
          <a:p>
            <a:pPr algn="l" indent="0" marL="0">
              <a:lnSpc>
                <a:spcPts val="3846"/>
              </a:lnSpc>
              <a:buNone/>
            </a:pPr>
            <a:r>
              <a:rPr lang="en-US" sz="2849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Hai</a:t>
            </a:r>
            <a:r>
              <a:rPr lang="en-US" sz="2849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 chỉ</a:t>
            </a:r>
            <a:r>
              <a:rPr lang="en-US" sz="2849" dirty="0" spc="-1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trao</a:t>
            </a:r>
            <a:r>
              <a:rPr lang="en-US" sz="2849" dirty="0" spc="1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849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849" dirty="0" spc="1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849" dirty="0" spc="-1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bày</a:t>
            </a:r>
            <a:r>
              <a:rPr lang="en-US" sz="2849" dirty="0" spc="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849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nó.</a:t>
            </a:r>
            <a:endParaRPr lang="en-US" sz="2849" dirty="0"/>
          </a:p>
        </p:txBody>
      </p:sp>
      <p:sp>
        <p:nvSpPr>
          <p:cNvPr id="5" name="Shape 3"/>
          <p:cNvSpPr/>
          <p:nvPr/>
        </p:nvSpPr>
        <p:spPr>
          <a:xfrm>
            <a:off x="914400" y="75247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6192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619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7907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7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34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277600" y="23812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 riêng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858500" y="32766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276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44805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6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34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3450" dirty="0" spc="-3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45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34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1277600" y="40386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 thức,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 thái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45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 phiên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277600" y="56959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 tin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858500" y="65913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5913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76275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Ràng</a:t>
            </a:r>
            <a:r>
              <a:rPr lang="en-US" sz="345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1277600" y="73533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Khiến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 dễ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 rộng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d6454aa1-32d5-4e57-b2f4-4767b9ea24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REST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coi mọi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nguyên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địa chỉ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Hai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7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trao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7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bày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 nó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Mục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tiêu: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hiểu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70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ràng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buộc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khiến API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dễ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mở rộng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dirty="0" spc="-1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cầu,</a:t>
            </a:r>
            <a:r>
              <a:rPr lang="en-US" sz="1950" dirty="0" spc="-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000500"/>
            <a:ext cx="2095500" cy="2095500"/>
          </a:xfrm>
          <a:prstGeom prst="roundRect">
            <a:avLst>
              <a:gd name="adj" fmla="val 7273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4000500"/>
            <a:ext cx="2095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4897100" y="4000500"/>
            <a:ext cx="2095500" cy="2095500"/>
          </a:xfrm>
          <a:prstGeom prst="roundRect">
            <a:avLst>
              <a:gd name="adj" fmla="val 7273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14897100" y="4000500"/>
            <a:ext cx="2095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210800" y="4000500"/>
            <a:ext cx="457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cầu: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</a:t>
            </a:r>
            <a:r>
              <a:rPr lang="en-US" sz="2100" b="1" dirty="0" spc="-1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/orders/42</a:t>
            </a:r>
            <a:endParaRPr lang="en-US" sz="2100" dirty="0"/>
          </a:p>
        </p:txBody>
      </p:sp>
      <p:sp>
        <p:nvSpPr>
          <p:cNvPr id="20" name="Connector line-1792323826571-719210574"/>
          <p:cNvSpPr/>
          <p:nvPr/>
        </p:nvSpPr>
        <p:spPr>
          <a:xfrm>
            <a:off x="10210800" y="4629150"/>
            <a:ext cx="4572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323826571-36971917"/>
          <p:cNvSpPr/>
          <p:nvPr/>
        </p:nvSpPr>
        <p:spPr>
          <a:xfrm flipH="1">
            <a:off x="10210800" y="5524500"/>
            <a:ext cx="4572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210800" y="5638800"/>
            <a:ext cx="457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1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hồi:</a:t>
            </a:r>
            <a:r>
              <a:rPr lang="en-US" sz="21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10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8001000" y="6762750"/>
            <a:ext cx="89916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8001000" y="676275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5" name="Text 23"/>
          <p:cNvSpPr/>
          <p:nvPr/>
        </p:nvSpPr>
        <p:spPr>
          <a:xfrm>
            <a:off x="8362950" y="6762750"/>
            <a:ext cx="8477250" cy="1428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Địa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 cái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gì,</a:t>
            </a:r>
            <a:r>
              <a:rPr lang="en-US" sz="27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phương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 gì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Text 34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d12d1649-2261-45b6-ae92-7cbbb3ed13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80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1950" spc="230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1950" spc="17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Đơn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hàng,</a:t>
            </a:r>
            <a:r>
              <a:rPr lang="en-US" sz="27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dùng,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danh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sách</a:t>
            </a:r>
            <a:r>
              <a:rPr lang="en-US" sz="27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đều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7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 nguyên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7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270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nguyên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URL riêng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Địa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 cái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gì,</a:t>
            </a:r>
            <a:r>
              <a:rPr lang="en-US" sz="27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phương</a:t>
            </a:r>
            <a:r>
              <a:rPr lang="en-US" sz="27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 gì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Mọi</a:t>
            </a:r>
            <a:r>
              <a:rPr lang="en-US" sz="195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1950" dirty="0" spc="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đều</a:t>
            </a:r>
            <a:r>
              <a:rPr lang="en-US" sz="195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195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1950" dirty="0" spc="-1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2762250" cy="1809750"/>
          </a:xfrm>
          <a:prstGeom prst="roundRect">
            <a:avLst>
              <a:gd name="adj" fmla="val 8421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41910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2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2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001000" y="4953000"/>
            <a:ext cx="276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19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URL</a:t>
            </a:r>
            <a:r>
              <a:rPr lang="en-US" sz="1950" dirty="0" spc="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953750" y="3810000"/>
            <a:ext cx="2762250" cy="1809750"/>
          </a:xfrm>
          <a:prstGeom prst="roundRect">
            <a:avLst>
              <a:gd name="adj" fmla="val 8421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53750" y="41910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27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2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0953750" y="4953000"/>
            <a:ext cx="276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19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URL</a:t>
            </a:r>
            <a:r>
              <a:rPr lang="en-US" sz="1950" dirty="0" spc="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3906500" y="3810000"/>
            <a:ext cx="3086100" cy="1809750"/>
          </a:xfrm>
          <a:prstGeom prst="roundRect">
            <a:avLst>
              <a:gd name="adj" fmla="val 8421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906500" y="4191000"/>
            <a:ext cx="3086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2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2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3906500" y="4953000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19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URL</a:t>
            </a:r>
            <a:r>
              <a:rPr lang="en-US" sz="1950" dirty="0" spc="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endParaRPr lang="en-US" sz="1950" dirty="0"/>
          </a:p>
        </p:txBody>
      </p:sp>
      <p:sp>
        <p:nvSpPr>
          <p:cNvPr id="24" name="Connector line-1792323844815-535039284"/>
          <p:cNvSpPr/>
          <p:nvPr/>
        </p:nvSpPr>
        <p:spPr>
          <a:xfrm>
            <a:off x="9382125" y="5695950"/>
            <a:ext cx="0" cy="6286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01000" y="6400800"/>
            <a:ext cx="8991600" cy="1619250"/>
          </a:xfrm>
          <a:prstGeom prst="roundRect">
            <a:avLst>
              <a:gd name="adj" fmla="val 10588"/>
            </a:avLst>
          </a:prstGeom>
          <a:solidFill>
            <a:srgbClr val="7C93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67700" y="65722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ví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URL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8001000" y="6858000"/>
            <a:ext cx="899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7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/orders/42</a:t>
            </a:r>
            <a:endParaRPr lang="en-US" sz="570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Text 36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788d0f75-38a2-487e-ab0e-bde655c3b2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7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1950" spc="208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1950" spc="17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 HỒI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đi,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78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810500" cy="5715000"/>
          </a:xfrm>
          <a:prstGeom prst="roundRect">
            <a:avLst>
              <a:gd name="adj" fmla="val 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05150"/>
            <a:ext cx="571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8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3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295400" y="4286250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28625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195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295650" y="4191000"/>
            <a:ext cx="514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GET</a:t>
            </a:r>
            <a:r>
              <a:rPr lang="en-US" sz="22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/orders/42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95400" y="5619750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561975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295650" y="5524500"/>
            <a:ext cx="514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Accept,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Authorization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95400" y="6953250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95325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Thân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295650" y="6858000"/>
            <a:ext cx="5143500" cy="8001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nếu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có,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POST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 PUT</a:t>
            </a:r>
            <a:endParaRPr lang="en-US" sz="2250" dirty="0"/>
          </a:p>
        </p:txBody>
      </p:sp>
      <p:sp>
        <p:nvSpPr>
          <p:cNvPr id="15" name="Connector line-1792323863318-278593290"/>
          <p:cNvSpPr/>
          <p:nvPr/>
        </p:nvSpPr>
        <p:spPr>
          <a:xfrm>
            <a:off x="8820150" y="4476750"/>
            <a:ext cx="6477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23863319-561414490"/>
          <p:cNvSpPr/>
          <p:nvPr/>
        </p:nvSpPr>
        <p:spPr>
          <a:xfrm flipH="1">
            <a:off x="8820150" y="5334000"/>
            <a:ext cx="6477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63100" y="2857500"/>
            <a:ext cx="7810500" cy="5715000"/>
          </a:xfrm>
          <a:prstGeom prst="roundRect">
            <a:avLst>
              <a:gd name="adj" fmla="val 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44100" y="3105150"/>
            <a:ext cx="571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Phản</a:t>
            </a:r>
            <a:r>
              <a:rPr lang="en-US" sz="3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endParaRPr lang="en-US" sz="3900" dirty="0"/>
          </a:p>
        </p:txBody>
      </p:sp>
      <p:sp>
        <p:nvSpPr>
          <p:cNvPr id="19" name="Shape 17"/>
          <p:cNvSpPr/>
          <p:nvPr/>
        </p:nvSpPr>
        <p:spPr>
          <a:xfrm>
            <a:off x="9944100" y="4286250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4100" y="428625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944350" y="4191000"/>
            <a:ext cx="514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200,</a:t>
            </a:r>
            <a:r>
              <a:rPr lang="en-US" sz="22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404...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944100" y="5619750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44100" y="561975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944350" y="5524500"/>
            <a:ext cx="5143500" cy="8001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Content-Type,</a:t>
            </a: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Cache-Control, ETag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944100" y="6953250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44100" y="695325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Thân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944350" y="6858000"/>
            <a:ext cx="5143500" cy="8001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2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bày,</a:t>
            </a: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 JSON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Text 36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5dbac8f6-4f3c-4166-bc53-277b4f4eac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KHÔNG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78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700" dirty="0" spc="-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mang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đủ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thông</a:t>
            </a:r>
            <a:r>
              <a:rPr lang="en-US" sz="27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27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xử lý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Bản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27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cũng</a:t>
            </a:r>
            <a:r>
              <a:rPr lang="en-US" sz="27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 được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Nên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kiểu</a:t>
            </a:r>
            <a:r>
              <a:rPr lang="en-US" sz="270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REST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dễ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cân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 tải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195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19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19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195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1950" dirty="0" spc="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1950" dirty="0" spc="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2190750" cy="857250"/>
          </a:xfrm>
          <a:prstGeom prst="roundRect">
            <a:avLst>
              <a:gd name="adj" fmla="val 15556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810000"/>
            <a:ext cx="219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7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Yêu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001000" y="4953000"/>
            <a:ext cx="2190750" cy="857250"/>
          </a:xfrm>
          <a:prstGeom prst="roundRect">
            <a:avLst>
              <a:gd name="adj" fmla="val 15556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4953000"/>
            <a:ext cx="219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7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Yêu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001000" y="6096000"/>
            <a:ext cx="2190750" cy="857250"/>
          </a:xfrm>
          <a:prstGeom prst="roundRect">
            <a:avLst>
              <a:gd name="adj" fmla="val 15556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6096000"/>
            <a:ext cx="219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7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Yêu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2100" dirty="0"/>
          </a:p>
        </p:txBody>
      </p:sp>
      <p:sp>
        <p:nvSpPr>
          <p:cNvPr id="21" name="Connector line-1792323884276-736121754"/>
          <p:cNvSpPr/>
          <p:nvPr/>
        </p:nvSpPr>
        <p:spPr>
          <a:xfrm>
            <a:off x="10248900" y="4238625"/>
            <a:ext cx="990600" cy="714375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23884276-47581084"/>
          <p:cNvSpPr/>
          <p:nvPr/>
        </p:nvSpPr>
        <p:spPr>
          <a:xfrm>
            <a:off x="10248900" y="5381625"/>
            <a:ext cx="9906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323884276-126023717"/>
          <p:cNvSpPr/>
          <p:nvPr/>
        </p:nvSpPr>
        <p:spPr>
          <a:xfrm flipV="1">
            <a:off x="10248900" y="5810250"/>
            <a:ext cx="990600" cy="714375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1334750" y="4095750"/>
            <a:ext cx="1809750" cy="2571750"/>
          </a:xfrm>
          <a:prstGeom prst="roundRect">
            <a:avLst>
              <a:gd name="adj" fmla="val 8421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1334750" y="4095750"/>
            <a:ext cx="1809750" cy="257175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ctr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</a:t>
            </a:r>
            <a:r>
              <a:rPr lang="en-US" sz="2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balancer</a:t>
            </a:r>
            <a:endParaRPr lang="en-US" sz="2700" dirty="0"/>
          </a:p>
        </p:txBody>
      </p:sp>
      <p:sp>
        <p:nvSpPr>
          <p:cNvPr id="26" name="Connector line-1792323884278-21600871"/>
          <p:cNvSpPr/>
          <p:nvPr/>
        </p:nvSpPr>
        <p:spPr>
          <a:xfrm flipV="1">
            <a:off x="13220700" y="4238625"/>
            <a:ext cx="990600" cy="714375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7" name="Connector line-1792323884279-575719590"/>
          <p:cNvSpPr/>
          <p:nvPr/>
        </p:nvSpPr>
        <p:spPr>
          <a:xfrm>
            <a:off x="13220700" y="5381625"/>
            <a:ext cx="9906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8" name="Connector line-1792323884279-736877103"/>
          <p:cNvSpPr/>
          <p:nvPr/>
        </p:nvSpPr>
        <p:spPr>
          <a:xfrm>
            <a:off x="13220700" y="5810250"/>
            <a:ext cx="990600" cy="714375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4287500" y="3810000"/>
            <a:ext cx="2705100" cy="857250"/>
          </a:xfrm>
          <a:prstGeom prst="roundRect">
            <a:avLst>
              <a:gd name="adj" fmla="val 15556"/>
            </a:avLst>
          </a:prstGeom>
          <a:solidFill>
            <a:srgbClr val="2A2F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287500" y="3810000"/>
            <a:ext cx="2705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4287500" y="4953000"/>
            <a:ext cx="2705100" cy="857250"/>
          </a:xfrm>
          <a:prstGeom prst="roundRect">
            <a:avLst>
              <a:gd name="adj" fmla="val 15556"/>
            </a:avLst>
          </a:prstGeom>
          <a:solidFill>
            <a:srgbClr val="2A2F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287500" y="4953000"/>
            <a:ext cx="2705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4287500" y="6096000"/>
            <a:ext cx="2705100" cy="857250"/>
          </a:xfrm>
          <a:prstGeom prst="roundRect">
            <a:avLst>
              <a:gd name="adj" fmla="val 15556"/>
            </a:avLst>
          </a:prstGeom>
          <a:solidFill>
            <a:srgbClr val="2A2F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287500" y="6096000"/>
            <a:ext cx="2705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8001000" y="7429500"/>
            <a:ext cx="8991600" cy="857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400" dirty="0" spc="-2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</a:t>
            </a:r>
            <a:r>
              <a:rPr lang="en-US" sz="240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40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400" dirty="0" spc="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đủ</a:t>
            </a:r>
            <a:r>
              <a:rPr lang="en-US" sz="240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thông</a:t>
            </a:r>
            <a:r>
              <a:rPr lang="en-US" sz="240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tin,</a:t>
            </a:r>
            <a:r>
              <a:rPr lang="en-US" sz="2400" dirty="0" spc="-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240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40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240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 cũng</a:t>
            </a:r>
            <a:r>
              <a:rPr lang="en-US" sz="240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xử</a:t>
            </a:r>
            <a:r>
              <a:rPr lang="en-US" sz="2400" dirty="0" spc="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 được.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Shape 4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3" name="Shape 4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4" name="Shape 4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5" name="Shape 4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6" name="Text 44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9d289590-7a94-4e93-9960-39cfd78af0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91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RÀNG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BUỘC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8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ràng</a:t>
            </a:r>
            <a:r>
              <a:rPr lang="en-US" sz="78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8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REST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162300" cy="5524500"/>
          </a:xfrm>
          <a:prstGeom prst="roundRect">
            <a:avLst>
              <a:gd name="adj" fmla="val 6024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4238625" y="2857500"/>
            <a:ext cx="3162300" cy="5524500"/>
          </a:xfrm>
          <a:prstGeom prst="roundRect">
            <a:avLst>
              <a:gd name="adj" fmla="val 6024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7562850" y="2857500"/>
            <a:ext cx="3162300" cy="5524500"/>
          </a:xfrm>
          <a:prstGeom prst="roundRect">
            <a:avLst>
              <a:gd name="adj" fmla="val 6024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10887075" y="2857500"/>
            <a:ext cx="3162300" cy="5524500"/>
          </a:xfrm>
          <a:prstGeom prst="roundRect">
            <a:avLst>
              <a:gd name="adj" fmla="val 602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14211300" y="2857500"/>
            <a:ext cx="3162300" cy="5524500"/>
          </a:xfrm>
          <a:prstGeom prst="roundRect">
            <a:avLst>
              <a:gd name="adj" fmla="val 602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857500"/>
            <a:ext cx="95250" cy="5524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4238625" y="2857500"/>
            <a:ext cx="95250" cy="5524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7562850" y="2857500"/>
            <a:ext cx="95250" cy="5524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7075" y="2857500"/>
            <a:ext cx="95250" cy="5524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4211300" y="2857500"/>
            <a:ext cx="95250" cy="5524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2952750"/>
            <a:ext cx="152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250" dirty="0"/>
          </a:p>
        </p:txBody>
      </p:sp>
      <p:sp>
        <p:nvSpPr>
          <p:cNvPr id="15" name="Text 13"/>
          <p:cNvSpPr/>
          <p:nvPr/>
        </p:nvSpPr>
        <p:spPr>
          <a:xfrm>
            <a:off x="4619625" y="2952750"/>
            <a:ext cx="152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250" dirty="0"/>
          </a:p>
        </p:txBody>
      </p:sp>
      <p:sp>
        <p:nvSpPr>
          <p:cNvPr id="16" name="Text 14"/>
          <p:cNvSpPr/>
          <p:nvPr/>
        </p:nvSpPr>
        <p:spPr>
          <a:xfrm>
            <a:off x="7943850" y="2952750"/>
            <a:ext cx="152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250" dirty="0"/>
          </a:p>
        </p:txBody>
      </p:sp>
      <p:sp>
        <p:nvSpPr>
          <p:cNvPr id="17" name="Text 15"/>
          <p:cNvSpPr/>
          <p:nvPr/>
        </p:nvSpPr>
        <p:spPr>
          <a:xfrm>
            <a:off x="11268075" y="2952750"/>
            <a:ext cx="152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250" dirty="0"/>
          </a:p>
        </p:txBody>
      </p:sp>
      <p:sp>
        <p:nvSpPr>
          <p:cNvPr id="18" name="Text 16"/>
          <p:cNvSpPr/>
          <p:nvPr/>
        </p:nvSpPr>
        <p:spPr>
          <a:xfrm>
            <a:off x="14592300" y="2952750"/>
            <a:ext cx="152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8250" dirty="0"/>
          </a:p>
        </p:txBody>
      </p:sp>
      <p:sp>
        <p:nvSpPr>
          <p:cNvPr id="19" name="Text 17"/>
          <p:cNvSpPr/>
          <p:nvPr/>
        </p:nvSpPr>
        <p:spPr>
          <a:xfrm>
            <a:off x="1295400" y="4400550"/>
            <a:ext cx="2667000" cy="104775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r>
              <a:rPr lang="en-US" sz="285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 chủ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295400" y="5619750"/>
            <a:ext cx="2667000" cy="2571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Giao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diện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tách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khỏi</a:t>
            </a:r>
            <a:r>
              <a:rPr lang="en-US" sz="22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 trữ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4619625" y="4400550"/>
            <a:ext cx="2667000" cy="104775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</a:t>
            </a:r>
            <a:r>
              <a:rPr lang="en-US" sz="28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4619625" y="5619750"/>
            <a:ext cx="2667000" cy="2571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</a:t>
            </a:r>
            <a:r>
              <a:rPr lang="en-US" sz="22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trạng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 phiên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943850" y="4400550"/>
            <a:ext cx="2667000" cy="104775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Cache</a:t>
            </a:r>
            <a:r>
              <a:rPr lang="en-US" sz="285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7943850" y="5619750"/>
            <a:ext cx="2667000" cy="2571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Phản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hồi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</a:t>
            </a:r>
            <a:r>
              <a:rPr lang="en-US" sz="2250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cache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 không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268075" y="4400550"/>
            <a:ext cx="2667000" cy="104775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28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 nhất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11268075" y="5619750"/>
            <a:ext cx="2667000" cy="2571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Mọi</a:t>
            </a:r>
            <a:r>
              <a:rPr lang="en-US" sz="22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22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nguyên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giao diện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4592300" y="4400550"/>
            <a:ext cx="2667000" cy="104775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 tầng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14592300" y="5619750"/>
            <a:ext cx="2667000" cy="2571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2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proxy,</a:t>
            </a:r>
            <a:r>
              <a:rPr lang="en-US" sz="2250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gateway,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CDN</a:t>
            </a:r>
            <a:r>
              <a:rPr lang="en-US" sz="22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 giữa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Text 37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06e0cfbf-93e0-4277-aa8e-eac8b037f5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phong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289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2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endParaRPr lang="en-US" sz="2850" dirty="0"/>
          </a:p>
        </p:txBody>
      </p:sp>
      <p:sp>
        <p:nvSpPr>
          <p:cNvPr id="7" name="Text richtext-1792323952173-670380078"/>
          <p:cNvSpPr/>
          <p:nvPr/>
        </p:nvSpPr>
        <p:spPr>
          <a:xfrm>
            <a:off x="1295400" y="3733800"/>
            <a:ext cx="4762500" cy="1809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Phong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kiến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trúc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250" dirty="0" spc="-4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Roy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Fielding</a:t>
            </a:r>
            <a:r>
              <a:rPr lang="en-US" sz="22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 tả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giao</a:t>
            </a:r>
            <a:r>
              <a:rPr lang="en-US" sz="22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 chuẩn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477000" y="2857500"/>
            <a:ext cx="533400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4770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30289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Hay</a:t>
            </a:r>
            <a:r>
              <a:rPr lang="en-US" sz="285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285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2850" dirty="0" spc="-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bớt</a:t>
            </a:r>
            <a:endParaRPr lang="en-US" sz="2850" dirty="0"/>
          </a:p>
        </p:txBody>
      </p:sp>
      <p:sp>
        <p:nvSpPr>
          <p:cNvPr id="11" name="Text richtext-1792323952187-433735309"/>
          <p:cNvSpPr/>
          <p:nvPr/>
        </p:nvSpPr>
        <p:spPr>
          <a:xfrm>
            <a:off x="6858000" y="3733800"/>
            <a:ext cx="4762500" cy="1809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 nhận</a:t>
            </a:r>
            <a:r>
              <a:rPr lang="en-US" sz="22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 REST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Nhưng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bỏ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bớt</a:t>
            </a:r>
            <a:r>
              <a:rPr lang="en-US" sz="22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ràng buộc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Như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2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siêu liên kết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039600" y="2857500"/>
            <a:ext cx="533400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396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2420600" y="30289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</a:t>
            </a:r>
            <a:r>
              <a:rPr lang="en-US" sz="2850" dirty="0" spc="-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285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endParaRPr lang="en-US" sz="2850" dirty="0"/>
          </a:p>
        </p:txBody>
      </p:sp>
      <p:sp>
        <p:nvSpPr>
          <p:cNvPr id="15" name="Text richtext-1792323952195-838958977"/>
          <p:cNvSpPr/>
          <p:nvPr/>
        </p:nvSpPr>
        <p:spPr>
          <a:xfrm>
            <a:off x="12420600" y="3733800"/>
            <a:ext cx="4762500" cy="1809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nghĩa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 liệu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Dữ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2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nằm</a:t>
            </a:r>
            <a:r>
              <a:rPr lang="en-US" sz="22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 liệu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5848350"/>
            <a:ext cx="811530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601980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Tốn</a:t>
            </a:r>
            <a:r>
              <a:rPr lang="en-US" sz="285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285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2850" dirty="0"/>
          </a:p>
        </p:txBody>
      </p:sp>
      <p:sp>
        <p:nvSpPr>
          <p:cNvPr id="19" name="Text richtext-1792323952203-878930188"/>
          <p:cNvSpPr/>
          <p:nvPr/>
        </p:nvSpPr>
        <p:spPr>
          <a:xfrm>
            <a:off x="1295400" y="6724650"/>
            <a:ext cx="7429500" cy="1809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40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 phải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mang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thông tin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Ví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dụ:</a:t>
            </a:r>
            <a:r>
              <a:rPr lang="en-US" sz="240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token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 thực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258300" y="5848350"/>
            <a:ext cx="811530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21" name="Shape 19"/>
          <p:cNvSpPr/>
          <p:nvPr/>
        </p:nvSpPr>
        <p:spPr>
          <a:xfrm>
            <a:off x="925830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9639300" y="601980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 còn</a:t>
            </a:r>
            <a:r>
              <a:rPr lang="en-US" sz="2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2850" dirty="0"/>
          </a:p>
        </p:txBody>
      </p:sp>
      <p:sp>
        <p:nvSpPr>
          <p:cNvPr id="23" name="Text richtext-1792323952209-520627805"/>
          <p:cNvSpPr/>
          <p:nvPr/>
        </p:nvSpPr>
        <p:spPr>
          <a:xfrm>
            <a:off x="9639300" y="6724650"/>
            <a:ext cx="7429500" cy="1809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</a:t>
            </a:r>
            <a:r>
              <a:rPr lang="en-US" sz="240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 thực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</a:t>
            </a:r>
            <a:r>
              <a:rPr lang="en-US" sz="240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chia</a:t>
            </a:r>
            <a:r>
              <a:rPr lang="en-US" sz="24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 nguyên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Text 32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f457665a-aabd-458f-a81e-b20eef92ab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915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95400" y="3714750"/>
            <a:ext cx="2571750" cy="723900"/>
          </a:xfrm>
          <a:prstGeom prst="roundRect">
            <a:avLst>
              <a:gd name="adj" fmla="val 18421"/>
            </a:avLst>
          </a:prstGeom>
          <a:solidFill>
            <a:srgbClr val="2A2F42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714750"/>
            <a:ext cx="2571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/products/9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095750" y="3619500"/>
            <a:ext cx="4762500" cy="914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Trình</a:t>
            </a:r>
            <a:r>
              <a:rPr lang="en-US" sz="22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duyệt và</a:t>
            </a: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CDN</a:t>
            </a:r>
            <a:r>
              <a:rPr lang="en-US" sz="2250" dirty="0" spc="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</a:t>
            </a:r>
            <a:r>
              <a:rPr lang="en-US" sz="22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2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 giờ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95400" y="4762500"/>
            <a:ext cx="2571750" cy="723900"/>
          </a:xfrm>
          <a:prstGeom prst="roundRect">
            <a:avLst>
              <a:gd name="adj" fmla="val 18421"/>
            </a:avLst>
          </a:prstGeom>
          <a:solidFill>
            <a:srgbClr val="2A2F42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62500"/>
            <a:ext cx="2571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10:05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095750" y="4667250"/>
            <a:ext cx="4762500" cy="914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Chủ shop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 giá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95400" y="5810250"/>
            <a:ext cx="2571750" cy="723900"/>
          </a:xfrm>
          <a:prstGeom prst="roundRect">
            <a:avLst>
              <a:gd name="adj" fmla="val 18421"/>
            </a:avLst>
          </a:prstGeom>
          <a:solidFill>
            <a:srgbClr val="2A2F42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810250"/>
            <a:ext cx="2571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10:30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095750" y="5715000"/>
            <a:ext cx="4762500" cy="914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Khách</a:t>
            </a:r>
            <a:r>
              <a:rPr lang="en-US" sz="22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2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thấy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 cũ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95400" y="6953250"/>
            <a:ext cx="7524750" cy="1619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Ràng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buộc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REST</a:t>
            </a:r>
            <a:r>
              <a:rPr lang="en-US" sz="27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700" dirty="0" spc="-3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tình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huống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này,</a:t>
            </a:r>
            <a:r>
              <a:rPr lang="en-US" sz="2700" dirty="0" spc="-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</a:t>
            </a:r>
            <a:r>
              <a:rPr lang="en-US" sz="27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hại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thế nào?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34500" y="2857500"/>
            <a:ext cx="80391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15500" y="3600450"/>
            <a:ext cx="742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Ràng</a:t>
            </a:r>
            <a:r>
              <a:rPr lang="en-US" sz="33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buộc:</a:t>
            </a: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cache</a:t>
            </a:r>
            <a:r>
              <a:rPr lang="en-US" sz="3300" dirty="0" spc="-4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3300" dirty="0"/>
          </a:p>
        </p:txBody>
      </p:sp>
      <p:sp>
        <p:nvSpPr>
          <p:cNvPr id="20" name="Shape 18"/>
          <p:cNvSpPr/>
          <p:nvPr/>
        </p:nvSpPr>
        <p:spPr>
          <a:xfrm>
            <a:off x="9715500" y="4572000"/>
            <a:ext cx="3143250" cy="819150"/>
          </a:xfrm>
          <a:prstGeom prst="roundRect">
            <a:avLst>
              <a:gd name="adj" fmla="val 16279"/>
            </a:avLst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0" y="4572000"/>
            <a:ext cx="3143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hạn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087350" y="4476750"/>
            <a:ext cx="4095750" cy="10096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Cho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 liệu</a:t>
            </a:r>
            <a:r>
              <a:rPr lang="en-US" sz="21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1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đổi, như giá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715500" y="5715000"/>
            <a:ext cx="3143250" cy="819150"/>
          </a:xfrm>
          <a:prstGeom prst="roundRect">
            <a:avLst>
              <a:gd name="adj" fmla="val 16279"/>
            </a:avLst>
          </a:prstGeom>
          <a:solidFill>
            <a:srgbClr val="FF6A4D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0" y="5715000"/>
            <a:ext cx="3143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no-cache,</a:t>
            </a:r>
            <a:r>
              <a:rPr lang="en-US" sz="19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no-store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087350" y="5619750"/>
            <a:ext cx="4095750" cy="10096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Hỏi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1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chủ,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1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 lưu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715500" y="6858000"/>
            <a:ext cx="3143250" cy="819150"/>
          </a:xfrm>
          <a:prstGeom prst="roundRect">
            <a:avLst>
              <a:gd name="adj" fmla="val 16279"/>
            </a:avLst>
          </a:prstGeom>
          <a:solidFill>
            <a:srgbClr val="FF6A4D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6858000"/>
            <a:ext cx="3143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087350" y="6762750"/>
            <a:ext cx="4095750" cy="10096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Khi</a:t>
            </a:r>
            <a:r>
              <a:rPr lang="en-US" sz="21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 giá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715500" y="7867650"/>
            <a:ext cx="742950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ETag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1800" dirty="0" spc="-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 giá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cũ,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-8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 hơn.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Text 38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9da6f0aa-37c0-4404-850e-215bea4704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 thêm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289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30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ràng</a:t>
            </a: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Fielding</a:t>
            </a:r>
            <a:endParaRPr lang="en-US" sz="3000" dirty="0"/>
          </a:p>
        </p:txBody>
      </p:sp>
      <p:sp>
        <p:nvSpPr>
          <p:cNvPr id="7" name="Text richtext-1792323998034-852898454"/>
          <p:cNvSpPr/>
          <p:nvPr/>
        </p:nvSpPr>
        <p:spPr>
          <a:xfrm>
            <a:off x="1295400" y="3752850"/>
            <a:ext cx="7429500" cy="1771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 mã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40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cầu,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tùy chọn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Ví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dụ:</a:t>
            </a:r>
            <a:r>
              <a:rPr lang="en-US" sz="24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</a:t>
            </a:r>
            <a:r>
              <a:rPr lang="en-US" sz="2400" dirty="0" spc="4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script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 chạy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15450" y="285750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31545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9696450" y="30289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 diện</a:t>
            </a:r>
            <a:r>
              <a:rPr lang="en-US" sz="3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30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3000" dirty="0"/>
          </a:p>
        </p:txBody>
      </p:sp>
      <p:sp>
        <p:nvSpPr>
          <p:cNvPr id="11" name="Text richtext-1792323998047-742670747"/>
          <p:cNvSpPr/>
          <p:nvPr/>
        </p:nvSpPr>
        <p:spPr>
          <a:xfrm>
            <a:off x="9696450" y="3752850"/>
            <a:ext cx="7429500" cy="17716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Định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danh</a:t>
            </a:r>
            <a:r>
              <a:rPr lang="en-US" sz="22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22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nguyên,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thao</a:t>
            </a:r>
            <a:r>
              <a:rPr lang="en-US" sz="22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 bày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Thông</a:t>
            </a:r>
            <a:r>
              <a:rPr lang="en-US" sz="22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điệp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2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 tả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Siêu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phương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tiện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</a:t>
            </a:r>
            <a:r>
              <a:rPr lang="en-US" sz="22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dắt</a:t>
            </a:r>
            <a:r>
              <a:rPr lang="en-US" sz="22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trạng</a:t>
            </a:r>
            <a:r>
              <a:rPr lang="en-US" sz="225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 (HATEOAS)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84835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01980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3000" dirty="0" spc="-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30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0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Richardson</a:t>
            </a:r>
            <a:endParaRPr lang="en-US" sz="3000" dirty="0"/>
          </a:p>
        </p:txBody>
      </p:sp>
      <p:sp>
        <p:nvSpPr>
          <p:cNvPr id="15" name="Text richtext-1792323998057-55307154"/>
          <p:cNvSpPr/>
          <p:nvPr/>
        </p:nvSpPr>
        <p:spPr>
          <a:xfrm>
            <a:off x="1295400" y="6743700"/>
            <a:ext cx="7429500" cy="17716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2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Xếp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HTTP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2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mức,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2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 vào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Đến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2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siêu liên kết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r>
              <a:rPr lang="en-US" sz="225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dừng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25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2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</a:t>
            </a:r>
            <a:r>
              <a:rPr lang="en-US" sz="22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2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hữu ích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15450" y="584835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1545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9696450" y="601980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30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endParaRPr lang="en-US" sz="3000" dirty="0"/>
          </a:p>
        </p:txBody>
      </p:sp>
      <p:sp>
        <p:nvSpPr>
          <p:cNvPr id="19" name="Text richtext-1792323998067-823538717"/>
          <p:cNvSpPr/>
          <p:nvPr/>
        </p:nvSpPr>
        <p:spPr>
          <a:xfrm>
            <a:off x="9696450" y="6743700"/>
            <a:ext cx="7429500" cy="1771650"/>
          </a:xfrm>
          <a:prstGeom prst="rect">
            <a:avLst/>
          </a:prstGeom>
          <a:noFill/>
          <a:ln/>
        </p:spPr>
        <p:txBody>
          <a:bodyPr wrap="square" lIns="0" tIns="12023" rIns="0" bIns="-12023" rtlCol="0" anchor="t"/>
          <a:lstStyle/>
          <a:p>
            <a:pPr algn="l" marL="285750" indent="-202042">
              <a:lnSpc>
                <a:spcPts val="2895"/>
              </a:lnSpc>
              <a:buSzPct val="100000"/>
              <a:buFont typeface="Arial"/>
              <a:buChar char="•"/>
            </a:pPr>
            <a:r>
              <a:rPr lang="en-US" sz="2227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REST</a:t>
            </a:r>
            <a:r>
              <a:rPr lang="en-US" sz="2227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27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</a:t>
            </a:r>
            <a:r>
              <a:rPr lang="en-US" sz="2227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227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227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 thực</a:t>
            </a:r>
            <a:endParaRPr lang="en-US" sz="2227" dirty="0"/>
          </a:p>
          <a:p>
            <a:pPr algn="l" marL="285750" indent="-202042">
              <a:lnSpc>
                <a:spcPts val="2895"/>
              </a:lnSpc>
              <a:buSzPct val="100000"/>
              <a:buFont typeface="Arial"/>
              <a:buChar char="•"/>
            </a:pPr>
            <a:r>
              <a:rPr lang="en-US" sz="2227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Khóa</a:t>
            </a:r>
            <a:r>
              <a:rPr lang="en-US" sz="2227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API,</a:t>
            </a:r>
            <a:r>
              <a:rPr lang="en-US" sz="2227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HTTP</a:t>
            </a:r>
            <a:r>
              <a:rPr lang="en-US" sz="2227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Basic,</a:t>
            </a:r>
            <a:r>
              <a:rPr lang="en-US" sz="2227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token</a:t>
            </a:r>
            <a:r>
              <a:rPr lang="en-US" sz="2227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Bearer</a:t>
            </a:r>
            <a:r>
              <a:rPr lang="en-US" sz="2227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227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OAuth 2.0</a:t>
            </a:r>
            <a:endParaRPr lang="en-US" sz="2227" dirty="0"/>
          </a:p>
          <a:p>
            <a:pPr algn="l" marL="285750" indent="-202042">
              <a:lnSpc>
                <a:spcPts val="2895"/>
              </a:lnSpc>
              <a:buSzPct val="100000"/>
              <a:buFont typeface="Arial"/>
              <a:buChar char="•"/>
            </a:pPr>
            <a:r>
              <a:rPr lang="en-US" sz="2227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JWT</a:t>
            </a:r>
            <a:r>
              <a:rPr lang="en-US" sz="2227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 là</a:t>
            </a:r>
            <a:r>
              <a:rPr lang="en-US" sz="2227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227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dạng</a:t>
            </a:r>
            <a:r>
              <a:rPr lang="en-US" sz="2227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token;</a:t>
            </a:r>
            <a:r>
              <a:rPr lang="en-US" sz="2227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</a:t>
            </a:r>
            <a:r>
              <a:rPr lang="en-US" sz="2227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r>
              <a:rPr lang="en-US" sz="2227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</a:t>
            </a:r>
            <a:r>
              <a:rPr lang="en-US" sz="2227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phân quyền</a:t>
            </a:r>
            <a:endParaRPr lang="en-US" sz="2227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Text 28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9c1ca398-9d7f-452f-a2c4-5e61214285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76325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6000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527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448050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95400" y="3905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REpresentational</a:t>
            </a:r>
            <a:r>
              <a:rPr lang="en-US" sz="1950" dirty="0" spc="-1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State</a:t>
            </a:r>
            <a:r>
              <a:rPr lang="en-US" sz="1950" dirty="0" spc="-2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Transfer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4305300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295400" y="47625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Application</a:t>
            </a:r>
            <a:r>
              <a:rPr lang="en-US" sz="1950" dirty="0" spc="-1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Programming</a:t>
            </a:r>
            <a:r>
              <a:rPr lang="en-US" sz="1950" dirty="0" spc="-9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Interface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95400" y="5162550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URL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95400" y="56197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Uniform</a:t>
            </a:r>
            <a:r>
              <a:rPr lang="en-US" sz="1950" dirty="0" spc="-19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Resource</a:t>
            </a:r>
            <a:r>
              <a:rPr lang="en-US" sz="1950" dirty="0" spc="-1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Locator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95400" y="6019800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95400" y="64770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HyperText</a:t>
            </a:r>
            <a:r>
              <a:rPr lang="en-US" sz="1950" dirty="0" spc="-2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Transfer</a:t>
            </a:r>
            <a:r>
              <a:rPr lang="en-US" sz="1950" dirty="0" spc="-1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Protocol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95400" y="6877050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ETag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95400" y="7334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Entity</a:t>
            </a:r>
            <a:r>
              <a:rPr lang="en-US" sz="1950" dirty="0" spc="-4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95400" y="7734300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295400" y="81915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JavaScript</a:t>
            </a:r>
            <a:r>
              <a:rPr lang="en-US" sz="1950" dirty="0" spc="-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Object</a:t>
            </a:r>
            <a:r>
              <a:rPr lang="en-US" sz="1950" dirty="0" spc="-1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Notation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572250" y="3448050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6572250" y="3905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Content</a:t>
            </a:r>
            <a:r>
              <a:rPr lang="en-US" sz="19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Delivery</a:t>
            </a:r>
            <a:r>
              <a:rPr lang="en-US" sz="1950" dirty="0" spc="-9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Network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572250" y="4305300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6572250" y="47625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Transport</a:t>
            </a:r>
            <a:r>
              <a:rPr lang="en-US" sz="1950" dirty="0" spc="-2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Layer</a:t>
            </a:r>
            <a:r>
              <a:rPr lang="en-US" sz="19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Security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572250" y="5162550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6572250" y="56197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Open AUTHorization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6572250" y="6019800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6572250" y="64770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JSON</a:t>
            </a:r>
            <a:r>
              <a:rPr lang="en-US" sz="1950" dirty="0" spc="-2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Web</a:t>
            </a:r>
            <a:r>
              <a:rPr lang="en-US" sz="1950" dirty="0" spc="-4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Token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572250" y="6877050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HATEOAS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6572250" y="7334250"/>
            <a:ext cx="4762500" cy="762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Hypermedia</a:t>
            </a:r>
            <a:r>
              <a:rPr lang="en-US" sz="19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As</a:t>
            </a:r>
            <a:r>
              <a:rPr lang="en-US" sz="19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</a:t>
            </a:r>
            <a:r>
              <a:rPr lang="en-US" sz="19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Engine</a:t>
            </a:r>
            <a:r>
              <a:rPr lang="en-US" sz="19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Of</a:t>
            </a:r>
            <a:r>
              <a:rPr lang="en-US" sz="1950" dirty="0" spc="-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Application State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1906250" y="2762250"/>
            <a:ext cx="5467350" cy="6000750"/>
          </a:xfrm>
          <a:prstGeom prst="roundRect">
            <a:avLst>
              <a:gd name="adj" fmla="val 4181"/>
            </a:avLst>
          </a:prstGeom>
          <a:solidFill>
            <a:srgbClr val="1E212B"/>
          </a:solidFill>
          <a:ln/>
        </p:spPr>
      </p:sp>
      <p:sp>
        <p:nvSpPr>
          <p:cNvPr id="30" name="Text 28"/>
          <p:cNvSpPr/>
          <p:nvPr/>
        </p:nvSpPr>
        <p:spPr>
          <a:xfrm>
            <a:off x="12287250" y="29527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31" name="Text richtext-1792324022110-299130505"/>
          <p:cNvSpPr/>
          <p:nvPr/>
        </p:nvSpPr>
        <p:spPr>
          <a:xfrm>
            <a:off x="12287250" y="3467100"/>
            <a:ext cx="4762500" cy="3810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 hỏi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Fielding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 HTTP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9110,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9111,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7617,</a:t>
            </a:r>
            <a:r>
              <a:rPr lang="en-US" sz="21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6749,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6750, 7519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Martin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Fowler: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Richardson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Maturity Model</a:t>
            </a:r>
            <a:endParaRPr lang="en-US" sz="2100" dirty="0"/>
          </a:p>
        </p:txBody>
      </p:sp>
      <p:sp>
        <p:nvSpPr>
          <p:cNvPr id="32" name="Connector line-1792324022121-180411251"/>
          <p:cNvSpPr/>
          <p:nvPr/>
        </p:nvSpPr>
        <p:spPr>
          <a:xfrm>
            <a:off x="12287250" y="7353300"/>
            <a:ext cx="4705350" cy="0"/>
          </a:xfrm>
          <a:prstGeom prst="line">
            <a:avLst/>
          </a:prstGeom>
          <a:noFill/>
          <a:ln w="19050">
            <a:solidFill>
              <a:srgbClr val="3C405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2287250" y="7505700"/>
            <a:ext cx="4762500" cy="1143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nguồn</a:t>
            </a:r>
            <a:r>
              <a:rPr lang="en-US" sz="180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1800" dirty="0" spc="-1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-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7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 chiếu trực tiếp.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1" name="Shape 3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Shape 4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3" name="Shape 4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Text 42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da507635-661a-43ad-8693-5d9f47af8d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2026-10-18T11:47:21Z</dcterms:created>
  <dcterms:modified xsi:type="dcterms:W3CDTF">2026-10-18T11:47:21Z</dcterms:modified>
</cp:coreProperties>
</file>