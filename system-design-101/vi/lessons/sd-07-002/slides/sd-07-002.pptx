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9525000" cy="497205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-6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Ví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</a:t>
            </a:r>
            <a:r>
              <a:rPr lang="en-US" sz="81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81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ngân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hàng</a:t>
            </a:r>
            <a:r>
              <a:rPr lang="en-US" sz="8100" dirty="0" spc="-8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8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ví</a:t>
            </a:r>
            <a:r>
              <a:rPr lang="en-US" sz="8100" dirty="0" spc="-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trên</a:t>
            </a:r>
            <a:r>
              <a:rPr lang="en-US" sz="8100" dirty="0" spc="-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blockchain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6858000"/>
            <a:ext cx="9144000" cy="104775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000" dirty="0" spc="7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Vì</a:t>
            </a:r>
            <a:r>
              <a:rPr lang="en-US" sz="30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30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30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sổ</a:t>
            </a:r>
            <a:r>
              <a:rPr lang="en-US" sz="3000" dirty="0" spc="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3000" dirty="0" spc="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</a:t>
            </a:r>
            <a:r>
              <a:rPr lang="en-US" sz="300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3000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3000" dirty="0" spc="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đổi?</a:t>
            </a:r>
            <a:endParaRPr lang="en-US" sz="3000" dirty="0"/>
          </a:p>
        </p:txBody>
      </p:sp>
      <p:sp>
        <p:nvSpPr>
          <p:cNvPr id="5" name="Connector line-1792378832006-940266196"/>
          <p:cNvSpPr/>
          <p:nvPr/>
        </p:nvSpPr>
        <p:spPr>
          <a:xfrm>
            <a:off x="914400" y="8286750"/>
            <a:ext cx="86106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8572500"/>
            <a:ext cx="9144000" cy="76200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Sổ</a:t>
            </a:r>
            <a:r>
              <a:rPr lang="en-US" sz="2100" dirty="0" spc="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1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ngân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hàng,</a:t>
            </a:r>
            <a:r>
              <a:rPr lang="en-US" sz="21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 sổ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 thanh</a:t>
            </a:r>
            <a:r>
              <a:rPr lang="en-US" sz="16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nghệ</a:t>
            </a: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endParaRPr lang="en-US" sz="1650" dirty="0"/>
          </a:p>
        </p:txBody>
      </p:sp>
      <p:sp>
        <p:nvSpPr>
          <p:cNvPr id="8" name="Connector line-1792378832013-797977436"/>
          <p:cNvSpPr/>
          <p:nvPr/>
        </p:nvSpPr>
        <p:spPr>
          <a:xfrm>
            <a:off x="12287250" y="3143250"/>
            <a:ext cx="0" cy="4000500"/>
          </a:xfrm>
          <a:prstGeom prst="line">
            <a:avLst/>
          </a:prstGeom>
          <a:noFill/>
          <a:ln w="28575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12001500" y="2857500"/>
            <a:ext cx="571500" cy="5715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2001500" y="4857750"/>
            <a:ext cx="571500" cy="5715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2001500" y="6858000"/>
            <a:ext cx="571500" cy="5715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2954000" y="2762250"/>
            <a:ext cx="4476750" cy="7620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Ở</a:t>
            </a:r>
            <a:r>
              <a:rPr lang="en-US" sz="2250" b="1" dirty="0" spc="-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ngân</a:t>
            </a:r>
            <a:r>
              <a:rPr lang="en-US" sz="2250" b="1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2954000" y="4762500"/>
            <a:ext cx="4476750" cy="7620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4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Trên</a:t>
            </a:r>
            <a:r>
              <a:rPr lang="en-US" sz="2250" b="1" dirty="0" spc="-1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blockchain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2954000" y="6762750"/>
            <a:ext cx="4476750" cy="7620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Điểm</a:t>
            </a:r>
            <a:r>
              <a:rPr lang="en-US" sz="2250" b="1" dirty="0" spc="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6" name="Moda image moda-export-watermark-9a8d577d-0531-4f9d-86a3-6c6f2a03222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800" b="1" spc="25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câu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hỏi</a:t>
            </a:r>
            <a:r>
              <a:rPr lang="en-US" sz="6900" dirty="0" spc="-6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về</a:t>
            </a:r>
            <a:r>
              <a:rPr lang="en-US" sz="69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chiếc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ví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3619500"/>
          </a:xfrm>
          <a:prstGeom prst="roundRect">
            <a:avLst>
              <a:gd name="adj" fmla="val 10526"/>
            </a:avLst>
          </a:prstGeom>
          <a:solidFill>
            <a:srgbClr val="14161C"/>
          </a:solidFill>
          <a:ln/>
        </p:spPr>
      </p:sp>
      <p:sp>
        <p:nvSpPr>
          <p:cNvPr id="5" name="Text 3"/>
          <p:cNvSpPr/>
          <p:nvPr/>
        </p:nvSpPr>
        <p:spPr>
          <a:xfrm>
            <a:off x="1485900" y="2857500"/>
            <a:ext cx="15316200" cy="3619500"/>
          </a:xfrm>
          <a:prstGeom prst="rect">
            <a:avLst/>
          </a:prstGeom>
          <a:noFill/>
          <a:ln/>
        </p:spPr>
        <p:txBody>
          <a:bodyPr wrap="square" lIns="0" tIns="20002" rIns="0" bIns="-20002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3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Ai</a:t>
            </a:r>
            <a:r>
              <a:rPr lang="en-US" sz="6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giữ</a:t>
            </a:r>
            <a:r>
              <a:rPr lang="en-US" sz="6300" dirty="0" spc="-4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sổ?</a:t>
            </a:r>
            <a:r>
              <a:rPr lang="en-US" sz="63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Tiền thật</a:t>
            </a:r>
            <a:r>
              <a:rPr lang="en-US" sz="6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chuyển</a:t>
            </a: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6300" dirty="0" spc="-3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nào?</a:t>
            </a:r>
            <a:r>
              <a:rPr lang="en-US" sz="63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Mở</a:t>
            </a:r>
            <a:r>
              <a:rPr lang="en-US" sz="6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ví</a:t>
            </a: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mấy</a:t>
            </a:r>
            <a:r>
              <a:rPr lang="en-US" sz="6300" dirty="0" spc="-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lần?</a:t>
            </a:r>
            <a:endParaRPr lang="en-US" sz="6300" dirty="0"/>
          </a:p>
        </p:txBody>
      </p:sp>
      <p:sp>
        <p:nvSpPr>
          <p:cNvPr id="6" name="Shape 4"/>
          <p:cNvSpPr/>
          <p:nvPr/>
        </p:nvSpPr>
        <p:spPr>
          <a:xfrm>
            <a:off x="914400" y="6953250"/>
            <a:ext cx="5334000" cy="1047750"/>
          </a:xfrm>
          <a:prstGeom prst="roundRect">
            <a:avLst>
              <a:gd name="adj" fmla="val 21818"/>
            </a:avLst>
          </a:prstGeom>
          <a:solidFill>
            <a:srgbClr val="CFE8E2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6953250"/>
            <a:ext cx="5334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Ngân</a:t>
            </a:r>
            <a:r>
              <a:rPr lang="en-US" sz="22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hàng:</a:t>
            </a:r>
            <a:r>
              <a:rPr lang="en-US" sz="22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sổ</a:t>
            </a: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6477000" y="6953250"/>
            <a:ext cx="5334000" cy="1047750"/>
          </a:xfrm>
          <a:prstGeom prst="roundRect">
            <a:avLst>
              <a:gd name="adj" fmla="val 21818"/>
            </a:avLst>
          </a:prstGeom>
          <a:solidFill>
            <a:srgbClr val="F8D9D0"/>
          </a:solidFill>
          <a:ln/>
        </p:spPr>
      </p:sp>
      <p:sp>
        <p:nvSpPr>
          <p:cNvPr id="9" name="Text 7"/>
          <p:cNvSpPr/>
          <p:nvPr/>
        </p:nvSpPr>
        <p:spPr>
          <a:xfrm>
            <a:off x="6477000" y="6953250"/>
            <a:ext cx="5334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Blockchain:</a:t>
            </a:r>
            <a:r>
              <a:rPr lang="en-US" sz="22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sổ</a:t>
            </a: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r>
              <a:rPr lang="en-US" sz="22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12039600" y="6953250"/>
            <a:ext cx="5334000" cy="1047750"/>
          </a:xfrm>
          <a:prstGeom prst="roundRect">
            <a:avLst>
              <a:gd name="adj" fmla="val 21818"/>
            </a:avLst>
          </a:prstGeom>
          <a:solidFill>
            <a:srgbClr val="DDE3FA"/>
          </a:solidFill>
          <a:ln/>
        </p:spPr>
      </p:sp>
      <p:sp>
        <p:nvSpPr>
          <p:cNvPr id="11" name="Text 9"/>
          <p:cNvSpPr/>
          <p:nvPr/>
        </p:nvSpPr>
        <p:spPr>
          <a:xfrm>
            <a:off x="12039600" y="6953250"/>
            <a:ext cx="5334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Điểm</a:t>
            </a:r>
            <a:r>
              <a:rPr lang="en-US" sz="22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khác:</a:t>
            </a:r>
            <a:r>
              <a:rPr lang="en-US" sz="22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382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5123eeee-3840-4d18-b570-4c3968b38f8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1800" b="1" spc="29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NGÂN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Sổ</a:t>
            </a:r>
            <a:r>
              <a:rPr lang="en-US" sz="6900" dirty="0" spc="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</a:t>
            </a:r>
            <a:r>
              <a:rPr lang="en-US" sz="69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ngay,</a:t>
            </a:r>
            <a:r>
              <a:rPr lang="en-US" sz="69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tiền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thật</a:t>
            </a:r>
            <a:r>
              <a:rPr lang="en-US" sz="6900" dirty="0" spc="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sau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8001000" cy="4381500"/>
          </a:xfrm>
          <a:prstGeom prst="roundRect">
            <a:avLst>
              <a:gd name="adj" fmla="val 695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086100"/>
            <a:ext cx="7239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3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SỔ</a:t>
            </a:r>
            <a:r>
              <a:rPr lang="en-US" sz="1950" b="1" spc="21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b="1" spc="24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1950" b="1" spc="22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NGÂN HÀNG</a:t>
            </a:r>
            <a:endParaRPr lang="en-US" sz="1950" dirty="0"/>
          </a:p>
        </p:txBody>
      </p:sp>
      <p:sp>
        <p:nvSpPr>
          <p:cNvPr id="6" name="Text richtext-1792378834021-29102788"/>
          <p:cNvSpPr/>
          <p:nvPr/>
        </p:nvSpPr>
        <p:spPr>
          <a:xfrm>
            <a:off x="1295400" y="3657600"/>
            <a:ext cx="7239000" cy="32385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marL="342900" indent="-244981">
              <a:lnSpc>
                <a:spcPts val="3510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Bob</a:t>
            </a:r>
            <a:r>
              <a:rPr lang="en-US" sz="2700" dirty="0" spc="4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100</a:t>
            </a:r>
            <a:r>
              <a:rPr lang="en-US" sz="270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đô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la:</a:t>
            </a: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B1234.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Citibank: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 từ</a:t>
            </a:r>
            <a:r>
              <a:rPr lang="en-US" sz="27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đầu.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buSzPct val="100000"/>
              <a:buFont typeface="Arial"/>
              <a:buChar char="•"/>
            </a:pPr>
            <a:r>
              <a:rPr lang="en-US" sz="27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Chuyển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50:</a:t>
            </a:r>
            <a:r>
              <a:rPr lang="en-US" sz="27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sổ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trừ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B1234, cộng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C512</a:t>
            </a:r>
            <a:r>
              <a:rPr lang="en-US" sz="27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372600" y="2762250"/>
            <a:ext cx="8001000" cy="4381500"/>
          </a:xfrm>
          <a:prstGeom prst="roundRect">
            <a:avLst>
              <a:gd name="adj" fmla="val 6957"/>
            </a:avLst>
          </a:prstGeom>
          <a:solidFill>
            <a:srgbClr val="CFE8E2"/>
          </a:solidFill>
          <a:ln/>
        </p:spPr>
      </p:sp>
      <p:sp>
        <p:nvSpPr>
          <p:cNvPr id="8" name="Text 6"/>
          <p:cNvSpPr/>
          <p:nvPr/>
        </p:nvSpPr>
        <p:spPr>
          <a:xfrm>
            <a:off x="9753600" y="3086100"/>
            <a:ext cx="7239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TIỀN</a:t>
            </a:r>
            <a:r>
              <a:rPr lang="en-US" sz="1950" b="1" spc="18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endParaRPr lang="en-US" sz="1950" dirty="0"/>
          </a:p>
        </p:txBody>
      </p:sp>
      <p:sp>
        <p:nvSpPr>
          <p:cNvPr id="9" name="Text richtext-1792378834045-712018544"/>
          <p:cNvSpPr/>
          <p:nvPr/>
        </p:nvSpPr>
        <p:spPr>
          <a:xfrm>
            <a:off x="9753600" y="3657600"/>
            <a:ext cx="7239000" cy="32385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marL="342900" indent="-244981">
              <a:lnSpc>
                <a:spcPts val="3510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gọn:</a:t>
            </a:r>
            <a:r>
              <a:rPr lang="en-US" sz="270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 cuối</a:t>
            </a:r>
            <a:r>
              <a:rPr lang="en-US" sz="27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ngày,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chuyển.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70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Thực</a:t>
            </a:r>
            <a:r>
              <a:rPr lang="en-US" sz="270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tế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tùy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tiền.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buSzPct val="100000"/>
              <a:buFont typeface="Arial"/>
              <a:buChar char="•"/>
            </a:pP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 thanh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7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ngay,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 nhiều</a:t>
            </a:r>
            <a:r>
              <a:rPr lang="en-US" sz="27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đợt.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7620000"/>
            <a:ext cx="16459200" cy="1143000"/>
          </a:xfrm>
          <a:prstGeom prst="roundRect">
            <a:avLst>
              <a:gd name="adj" fmla="val 23333"/>
            </a:avLst>
          </a:prstGeom>
          <a:solidFill>
            <a:srgbClr val="14161C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7620000"/>
            <a:ext cx="15697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5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Rút</a:t>
            </a:r>
            <a:r>
              <a:rPr lang="en-US" sz="30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50</a:t>
            </a:r>
            <a:r>
              <a:rPr lang="en-US" sz="30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30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lại:</a:t>
            </a: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trừ B1234,</a:t>
            </a:r>
            <a:r>
              <a:rPr lang="en-US" sz="30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 tiền</a:t>
            </a:r>
            <a:r>
              <a:rPr lang="en-US" sz="30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mặt.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03/09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2f7e63de-572d-4a1f-a663-797c1c68274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800" b="1" spc="28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BLOCKCHAIN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5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Ký</a:t>
            </a:r>
            <a:r>
              <a:rPr lang="en-US" sz="69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bằng</a:t>
            </a:r>
            <a:r>
              <a:rPr lang="en-US" sz="69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r>
              <a:rPr lang="en-US" sz="6900" dirty="0" spc="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riêng,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chờ</a:t>
            </a:r>
            <a:r>
              <a:rPr lang="en-US" sz="6900" dirty="0" spc="-3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xác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nhận</a:t>
            </a:r>
            <a:endParaRPr lang="en-US" sz="6900" dirty="0"/>
          </a:p>
        </p:txBody>
      </p:sp>
      <p:sp>
        <p:nvSpPr>
          <p:cNvPr id="4" name="Connector line-1792378889718-654238176"/>
          <p:cNvSpPr/>
          <p:nvPr/>
        </p:nvSpPr>
        <p:spPr>
          <a:xfrm>
            <a:off x="2476500" y="4000500"/>
            <a:ext cx="12573000" cy="0"/>
          </a:xfrm>
          <a:prstGeom prst="line">
            <a:avLst/>
          </a:prstGeom>
          <a:noFill/>
          <a:ln w="57150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1905000" y="3429000"/>
            <a:ext cx="1143000" cy="11430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 w="57150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 spc="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096000" y="3429000"/>
            <a:ext cx="1143000" cy="11430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 w="57150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 spc="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0287000" y="3429000"/>
            <a:ext cx="1143000" cy="11430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 w="57150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 spc="-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14478000" y="3429000"/>
            <a:ext cx="1143000" cy="11430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952500" y="5048250"/>
            <a:ext cx="3048000" cy="19050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ctr" indent="0" marL="0">
              <a:lnSpc>
                <a:spcPts val="3188"/>
              </a:lnSpc>
              <a:buNone/>
            </a:pP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Bob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</a:t>
            </a:r>
            <a:r>
              <a:rPr lang="en-US" sz="2550" b="1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Alice,</a:t>
            </a:r>
            <a:r>
              <a:rPr lang="en-US" sz="2550" b="1" dirty="0" spc="4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25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ether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5143500" y="5048250"/>
            <a:ext cx="3048000" cy="19050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ctr" indent="0" marL="0">
              <a:lnSpc>
                <a:spcPts val="3188"/>
              </a:lnSpc>
              <a:buNone/>
            </a:pP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Bob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5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9334500" y="5048250"/>
            <a:ext cx="3048000" cy="19050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ctr" indent="0" marL="0">
              <a:lnSpc>
                <a:spcPts val="3188"/>
              </a:lnSpc>
              <a:buNone/>
            </a:pPr>
            <a:r>
              <a:rPr lang="en-US" sz="255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55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b="1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55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55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blockchain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13525500" y="5048250"/>
            <a:ext cx="3048000" cy="19050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ctr" indent="0" marL="0">
              <a:lnSpc>
                <a:spcPts val="3188"/>
              </a:lnSpc>
              <a:buNone/>
            </a:pPr>
            <a:r>
              <a:rPr lang="en-US" sz="2550" b="1" dirty="0" spc="-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Bob</a:t>
            </a:r>
            <a:r>
              <a:rPr lang="en-US" sz="2550" b="1" dirty="0" spc="-6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550" b="1" dirty="0" spc="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</a:t>
            </a:r>
            <a:r>
              <a:rPr lang="en-US" sz="2550" b="1" dirty="0" spc="-6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ether,</a:t>
            </a:r>
            <a:r>
              <a:rPr lang="en-US" sz="2550" b="1" dirty="0" spc="-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Alice</a:t>
            </a:r>
            <a:r>
              <a:rPr lang="en-US" sz="2550" b="1" dirty="0" spc="-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2550" b="1" dirty="0" spc="-7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ether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14400" y="7524750"/>
            <a:ext cx="16459200" cy="1143000"/>
          </a:xfrm>
          <a:prstGeom prst="roundRect">
            <a:avLst>
              <a:gd name="adj" fmla="val 23333"/>
            </a:avLst>
          </a:prstGeom>
          <a:solidFill>
            <a:srgbClr val="1E212B"/>
          </a:solidFill>
          <a:ln/>
        </p:spPr>
      </p:sp>
      <p:sp>
        <p:nvSpPr>
          <p:cNvPr id="14" name="Text 12"/>
          <p:cNvSpPr/>
          <p:nvPr/>
        </p:nvSpPr>
        <p:spPr>
          <a:xfrm>
            <a:off x="1295400" y="7524750"/>
            <a:ext cx="15697200" cy="11430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ctr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tiền</a:t>
            </a:r>
            <a:r>
              <a:rPr lang="en-US" sz="25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mặt;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5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 lúc</a:t>
            </a:r>
            <a:r>
              <a:rPr lang="en-US" sz="255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đầu.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04/09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88170b4c-bcd0-4bee-9233-a71049756cd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1800" b="1" spc="29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chỗ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nhau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3429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CHỖ</a:t>
            </a:r>
            <a:r>
              <a:rPr lang="en-US" sz="1650" b="1" spc="21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953000" y="2571750"/>
            <a:ext cx="5905500" cy="609600"/>
          </a:xfrm>
          <a:prstGeom prst="roundRect">
            <a:avLst>
              <a:gd name="adj" fmla="val 50000"/>
            </a:avLst>
          </a:prstGeom>
          <a:solidFill>
            <a:srgbClr val="CFE8E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22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Ở</a:t>
            </a:r>
            <a:r>
              <a:rPr lang="en-US" sz="1800" b="1" spc="22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NGÂN</a:t>
            </a:r>
            <a:r>
              <a:rPr lang="en-US" sz="1800" b="1" spc="22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68100" y="2571750"/>
            <a:ext cx="5905500" cy="609600"/>
          </a:xfrm>
          <a:prstGeom prst="roundRect">
            <a:avLst>
              <a:gd name="adj" fmla="val 50000"/>
            </a:avLst>
          </a:prstGeom>
          <a:solidFill>
            <a:srgbClr val="F8D9D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22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TRÊN</a:t>
            </a:r>
            <a:r>
              <a:rPr lang="en-US" sz="1800" b="1" spc="20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BLOCKCHAIN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346710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DDE3FA"/>
          </a:solidFill>
          <a:ln/>
        </p:spPr>
      </p:sp>
      <p:sp>
        <p:nvSpPr>
          <p:cNvPr id="8" name="Text 6"/>
          <p:cNvSpPr/>
          <p:nvPr/>
        </p:nvSpPr>
        <p:spPr>
          <a:xfrm>
            <a:off x="1238250" y="3467100"/>
            <a:ext cx="3429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Sổ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4953000" y="3467100"/>
            <a:ext cx="5905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Sổ</a:t>
            </a:r>
            <a:r>
              <a:rPr lang="en-US" sz="25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ngân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11468100" y="3467100"/>
            <a:ext cx="5905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Sổ cái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14400" y="508635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8250" y="5086350"/>
            <a:ext cx="3429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-88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2700" b="1" dirty="0" spc="-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4953000" y="5086350"/>
            <a:ext cx="5905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Mở ở</a:t>
            </a:r>
            <a:r>
              <a:rPr lang="en-US" sz="25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ngân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11468100" y="5086350"/>
            <a:ext cx="5905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550" b="1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5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914400" y="670560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DDE3FA"/>
          </a:solidFill>
          <a:ln/>
        </p:spPr>
      </p:sp>
      <p:sp>
        <p:nvSpPr>
          <p:cNvPr id="16" name="Text 14"/>
          <p:cNvSpPr/>
          <p:nvPr/>
        </p:nvSpPr>
        <p:spPr>
          <a:xfrm>
            <a:off x="1238250" y="6705600"/>
            <a:ext cx="3429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-3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Xác</a:t>
            </a:r>
            <a:r>
              <a:rPr lang="en-US" sz="2700" b="1" dirty="0" spc="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4953000" y="6705600"/>
            <a:ext cx="5905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8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Tùy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thống; mô hình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gọn: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cuối</a:t>
            </a:r>
            <a:r>
              <a:rPr lang="en-US" sz="25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11468100" y="6705600"/>
            <a:ext cx="5905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Gần thời gian</a:t>
            </a:r>
            <a:r>
              <a:rPr lang="en-US" sz="255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914400" y="8477250"/>
            <a:ext cx="16459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Khác</a:t>
            </a:r>
            <a:r>
              <a:rPr lang="en-US" sz="19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19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(Bitcoin,</a:t>
            </a:r>
            <a:r>
              <a:rPr lang="en-US" sz="195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Ethereum)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9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19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sổ,</a:t>
            </a:r>
            <a:r>
              <a:rPr lang="en-US" sz="19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1950" dirty="0" spc="2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19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chỉ. Gộp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19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19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cầu: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1950" dirty="0" spc="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nguồn.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96f4158e-b4f7-4869-b85a-91f5638b779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2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nhắc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5334000" cy="4191000"/>
          </a:xfrm>
          <a:prstGeom prst="roundRect">
            <a:avLst>
              <a:gd name="adj" fmla="val 7273"/>
            </a:avLst>
          </a:prstGeom>
          <a:solidFill>
            <a:srgbClr val="1E212B"/>
          </a:solidFill>
          <a:ln w="19050">
            <a:solidFill>
              <a:srgbClr val="3A3F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200400"/>
            <a:ext cx="457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PHÍ</a:t>
            </a:r>
            <a:r>
              <a:rPr lang="en-US" sz="1950" b="1" spc="17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 GIAN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95400" y="3810000"/>
            <a:ext cx="4572000" cy="2857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7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phí;</a:t>
            </a:r>
            <a:r>
              <a:rPr lang="en-US" sz="2700" b="1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70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7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477000" y="2857500"/>
            <a:ext cx="5334000" cy="4191000"/>
          </a:xfrm>
          <a:prstGeom prst="roundRect">
            <a:avLst>
              <a:gd name="adj" fmla="val 7273"/>
            </a:avLst>
          </a:prstGeom>
          <a:solidFill>
            <a:srgbClr val="1E212B"/>
          </a:solidFill>
          <a:ln w="19050">
            <a:solidFill>
              <a:srgbClr val="3A3F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3200400"/>
            <a:ext cx="457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0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195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6858000" y="3810000"/>
            <a:ext cx="4572000" cy="2857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Bạn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giữ;</a:t>
            </a:r>
            <a:r>
              <a:rPr lang="en-US" sz="270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70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700" b="1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chỉ.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12039600" y="2857500"/>
            <a:ext cx="5334000" cy="4191000"/>
          </a:xfrm>
          <a:prstGeom prst="roundRect">
            <a:avLst>
              <a:gd name="adj" fmla="val 7273"/>
            </a:avLst>
          </a:prstGeom>
          <a:solidFill>
            <a:srgbClr val="1E212B"/>
          </a:solidFill>
          <a:ln w="19050">
            <a:solidFill>
              <a:srgbClr val="3A3F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420600" y="3200400"/>
            <a:ext cx="457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NGÂN HÀNG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420600" y="3810000"/>
            <a:ext cx="4572000" cy="2857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Biết</a:t>
            </a: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 của</a:t>
            </a:r>
            <a:r>
              <a:rPr lang="en-US" sz="27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2700" b="1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chịu</a:t>
            </a:r>
            <a:r>
              <a:rPr lang="en-US" sz="27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trách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nhiệm</a:t>
            </a:r>
            <a:r>
              <a:rPr lang="en-US" sz="27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7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khách.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914400" y="7620000"/>
            <a:ext cx="16459200" cy="76200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Kiến</a:t>
            </a:r>
            <a:r>
              <a:rPr lang="en-US" sz="210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21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soạn;</a:t>
            </a:r>
            <a:r>
              <a:rPr lang="en-US" sz="21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1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10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21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1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1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blockchain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 thể.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06/09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90125248-0b00-4031-aaf4-3191d0dc83a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Ai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thấy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dư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6900" dirty="0" spc="-2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bạn?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7429500" cy="5334000"/>
          </a:xfrm>
          <a:prstGeom prst="roundRect">
            <a:avLst>
              <a:gd name="adj" fmla="val 571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20040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95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endParaRPr lang="en-US" sz="1950" dirty="0"/>
          </a:p>
        </p:txBody>
      </p:sp>
      <p:sp>
        <p:nvSpPr>
          <p:cNvPr id="6" name="Text richtext-1792378892417-12328292"/>
          <p:cNvSpPr/>
          <p:nvPr/>
        </p:nvSpPr>
        <p:spPr>
          <a:xfrm>
            <a:off x="1295400" y="3810000"/>
            <a:ext cx="6667500" cy="40005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marL="361950" indent="-258592">
              <a:lnSpc>
                <a:spcPts val="3705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850" dirty="0" spc="-6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Trong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cách,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nhìn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bạn?</a:t>
            </a:r>
            <a:endParaRPr lang="en-US" sz="2850" dirty="0"/>
          </a:p>
          <a:p>
            <a:pPr algn="l" marL="361950" indent="-258592">
              <a:lnSpc>
                <a:spcPts val="3705"/>
              </a:lnSpc>
              <a:buSzPct val="100000"/>
              <a:buFont typeface="Arial"/>
              <a:buChar char="•"/>
            </a:pPr>
            <a:r>
              <a:rPr lang="en-US" sz="2850" dirty="0" spc="7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Vì</a:t>
            </a: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sổ</a:t>
            </a:r>
            <a:r>
              <a:rPr lang="en-US" sz="28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8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28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8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đổi?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944100" y="2857500"/>
            <a:ext cx="7429500" cy="5334000"/>
          </a:xfrm>
          <a:prstGeom prst="roundRect">
            <a:avLst>
              <a:gd name="adj" fmla="val 5714"/>
            </a:avLst>
          </a:prstGeom>
          <a:solidFill>
            <a:srgbClr val="14161C"/>
          </a:solidFill>
          <a:ln/>
        </p:spPr>
      </p:sp>
      <p:sp>
        <p:nvSpPr>
          <p:cNvPr id="8" name="Text 6"/>
          <p:cNvSpPr/>
          <p:nvPr/>
        </p:nvSpPr>
        <p:spPr>
          <a:xfrm>
            <a:off x="10325100" y="320040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1950" b="1" spc="22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1950" dirty="0"/>
          </a:p>
        </p:txBody>
      </p:sp>
      <p:sp>
        <p:nvSpPr>
          <p:cNvPr id="9" name="Text richtext-1792378892426-876039184"/>
          <p:cNvSpPr/>
          <p:nvPr/>
        </p:nvSpPr>
        <p:spPr>
          <a:xfrm>
            <a:off x="10325100" y="3810000"/>
            <a:ext cx="6667500" cy="4000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5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Ngân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hàng: chỉ</a:t>
            </a:r>
            <a:r>
              <a:rPr lang="en-US" sz="25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ngân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55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5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dư.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 hình</a:t>
            </a:r>
            <a:r>
              <a:rPr lang="en-US" sz="25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gọn:</a:t>
            </a:r>
            <a:r>
              <a:rPr lang="en-US" sz="25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sổ</a:t>
            </a:r>
            <a:r>
              <a:rPr lang="en-US" sz="255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5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ngay,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</a:t>
            </a:r>
            <a:r>
              <a:rPr lang="en-US" sz="25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cuối</a:t>
            </a:r>
            <a:r>
              <a:rPr lang="en-US" sz="25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ngày.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5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Thực</a:t>
            </a:r>
            <a:r>
              <a:rPr lang="en-US" sz="25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tế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tùy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tiền.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Blockchain:</a:t>
            </a:r>
            <a:r>
              <a:rPr lang="en-US" sz="25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5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sổ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255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đó.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76b63031-7808-43df-877f-4417b0fdba9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800" b="1" spc="28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</a:t>
            </a:r>
            <a:r>
              <a:rPr lang="en-US" sz="6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thêm</a:t>
            </a:r>
            <a:r>
              <a:rPr lang="en-US" sz="6900" dirty="0" spc="-2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r>
              <a:rPr lang="en-US" sz="6900" dirty="0" spc="-5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</a:t>
            </a:r>
            <a:r>
              <a:rPr lang="en-US" sz="69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nguồn?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1428750"/>
          </a:xfrm>
          <a:prstGeom prst="roundRect">
            <a:avLst>
              <a:gd name="adj" fmla="val 18667"/>
            </a:avLst>
          </a:prstGeom>
          <a:solidFill>
            <a:srgbClr val="1E212B"/>
          </a:solidFill>
          <a:ln w="19050">
            <a:solidFill>
              <a:srgbClr val="3A3F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2905125"/>
            <a:ext cx="571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1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180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95400" y="3286125"/>
            <a:ext cx="1524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 sánh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ngắn,</a:t>
            </a:r>
            <a:r>
              <a:rPr lang="en-US" sz="2700" b="1" dirty="0" spc="-3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kèm</a:t>
            </a:r>
            <a:r>
              <a:rPr lang="en-US" sz="270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sơ</a:t>
            </a:r>
            <a:r>
              <a:rPr lang="en-US" sz="270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1866900" y="4381500"/>
            <a:ext cx="14554200" cy="1428750"/>
          </a:xfrm>
          <a:prstGeom prst="roundRect">
            <a:avLst>
              <a:gd name="adj" fmla="val 18667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47900" y="4524375"/>
            <a:ext cx="571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18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1800" b="1" spc="18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1800" b="1" spc="22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247900" y="4905375"/>
            <a:ext cx="13811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</a:t>
            </a: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dụ,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270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70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bước.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2819400" y="6000750"/>
            <a:ext cx="12649200" cy="1428750"/>
          </a:xfrm>
          <a:prstGeom prst="roundRect">
            <a:avLst>
              <a:gd name="adj" fmla="val 18667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6143625"/>
            <a:ext cx="571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 BIÊN</a:t>
            </a:r>
            <a:r>
              <a:rPr lang="en-US" sz="1800" b="1" spc="21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</a:t>
            </a:r>
            <a:r>
              <a:rPr lang="en-US" sz="180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200400" y="6524625"/>
            <a:ext cx="11906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</a:t>
            </a:r>
            <a:r>
              <a:rPr lang="en-US" sz="270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700" b="1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đáp</a:t>
            </a:r>
            <a:r>
              <a:rPr lang="en-US" sz="27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án.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914400" y="7905750"/>
            <a:ext cx="16459200" cy="76200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bàn</a:t>
            </a:r>
            <a:r>
              <a:rPr lang="en-US" sz="21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Visa</a:t>
            </a:r>
            <a:r>
              <a:rPr lang="en-US" sz="21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100" dirty="0" spc="-1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PayPal</a:t>
            </a:r>
            <a:r>
              <a:rPr lang="en-US" sz="210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1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</a:t>
            </a:r>
            <a:r>
              <a:rPr lang="en-US" sz="21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1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blockchain,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dirty="0" spc="-2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08/09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7e4ddb8e-718a-41e1-8cbc-dbc132749c6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thuật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 cần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00965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181100" y="3143250"/>
            <a:ext cx="2857500" cy="47625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19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4286250" y="2762250"/>
            <a:ext cx="6477000" cy="123825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ctr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</a:t>
            </a:r>
            <a:r>
              <a:rPr lang="en-US" sz="2250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dịch,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2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14400" y="4191000"/>
            <a:ext cx="100965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1181100" y="4572000"/>
            <a:ext cx="2857500" cy="47625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Địa chỉ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4286250" y="4191000"/>
            <a:ext cx="6477000" cy="123825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ctr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2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Nơi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 tiền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 hóa</a:t>
            </a:r>
            <a:r>
              <a:rPr lang="en-US" sz="22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22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blockchain.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14400" y="5619750"/>
            <a:ext cx="100965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1181100" y="6000750"/>
            <a:ext cx="2857500" cy="47625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Sổ</a:t>
            </a:r>
            <a:r>
              <a:rPr lang="en-US" sz="19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4286250" y="5619750"/>
            <a:ext cx="6477000" cy="123825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ctr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Sổ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2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tán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22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blockchain.</a:t>
            </a:r>
            <a:endParaRPr lang="en-US" sz="2250" dirty="0"/>
          </a:p>
        </p:txBody>
      </p:sp>
      <p:sp>
        <p:nvSpPr>
          <p:cNvPr id="13" name="Connector line-1792378894243-718330184"/>
          <p:cNvSpPr/>
          <p:nvPr/>
        </p:nvSpPr>
        <p:spPr>
          <a:xfrm>
            <a:off x="11772900" y="2762250"/>
            <a:ext cx="0" cy="581025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12382500" y="2762250"/>
            <a:ext cx="495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15" name="Text richtext-1792378894245-798554543"/>
          <p:cNvSpPr/>
          <p:nvPr/>
        </p:nvSpPr>
        <p:spPr>
          <a:xfrm>
            <a:off x="12382500" y="3333750"/>
            <a:ext cx="4953000" cy="13335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2382500" y="6858000"/>
            <a:ext cx="4953000" cy="1809750"/>
          </a:xfrm>
          <a:prstGeom prst="rect">
            <a:avLst/>
          </a:prstGeom>
          <a:noFill/>
          <a:ln/>
        </p:spPr>
        <p:txBody>
          <a:bodyPr wrap="square" lIns="0" tIns="4001" rIns="0" bIns="-4001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80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2026-10-19.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8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1800" dirty="0" spc="-2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09/09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d915cc41-5cb0-45d6-b8c2-0cd6707e5a1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2026-10-19T10:38:12Z</dcterms:created>
  <dcterms:modified xsi:type="dcterms:W3CDTF">2026-10-19T10:38:12Z</dcterms:modified>
</cp:coreProperties>
</file>