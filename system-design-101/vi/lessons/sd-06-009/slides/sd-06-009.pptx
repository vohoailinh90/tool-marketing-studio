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8288000" cy="10287000"/>
  <p:notesSz cx="10287000" cy="18288000"/>
  <p:embeddedFontLst>
    <p:embeddedFont>
      <p:font typeface="Be Vietnam Pro SemiBold"/>
      <p:regular r:id="rId16"/>
    </p:embeddedFont>
    <p:embeddedFont>
      <p:font typeface="Bricolage Grotesque ExtraBold"/>
      <p:regular r:id="rId17"/>
    </p:embeddedFont>
    <p:embeddedFont>
      <p:font typeface="Be Vietnam Pro"/>
      <p:regular r:id="rId18"/>
      <p:bold r:id="rId19"/>
    </p:embeddedFont>
    <p:embeddedFont>
      <p:font typeface="Be Vietnam Pro ExtraBold"/>
      <p:regular r:id="rId20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font" Target="fonts/font1.fntdata"/><Relationship Id="rId17" Type="http://schemas.openxmlformats.org/officeDocument/2006/relationships/font" Target="fonts/font2.fntdata"/><Relationship Id="rId18" Type="http://schemas.openxmlformats.org/officeDocument/2006/relationships/font" Target="fonts/font3.fntdata"/><Relationship Id="rId19" Type="http://schemas.openxmlformats.org/officeDocument/2006/relationships/font" Target="fonts/font4.fntdata"/><Relationship Id="rId20" Type="http://schemas.openxmlformats.org/officeDocument/2006/relationships/font" Target="fonts/font5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9525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spc="277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SYSTEM</a:t>
            </a:r>
            <a:r>
              <a:rPr lang="en-US" sz="1950" spc="298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DESIGN</a:t>
            </a:r>
            <a:r>
              <a:rPr lang="en-US" sz="1950" spc="297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101</a:t>
            </a:r>
            <a:r>
              <a:rPr lang="en-US" sz="1950" spc="299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·</a:t>
            </a:r>
            <a:r>
              <a:rPr lang="en-US" sz="1950" spc="296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BÀI</a:t>
            </a:r>
            <a:r>
              <a:rPr lang="en-US" sz="1950" spc="300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09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524000"/>
            <a:ext cx="9525000" cy="5524500"/>
          </a:xfrm>
          <a:prstGeom prst="rect">
            <a:avLst/>
          </a:prstGeom>
          <a:noFill/>
          <a:ln/>
        </p:spPr>
        <p:txBody>
          <a:bodyPr wrap="square" lIns="0" tIns="69437" rIns="0" bIns="-69437" rtlCol="0" anchor="t"/>
          <a:lstStyle/>
          <a:p>
            <a:pPr algn="l" indent="0" marL="0">
              <a:lnSpc>
                <a:spcPts val="8505"/>
              </a:lnSpc>
              <a:buNone/>
            </a:pPr>
            <a:r>
              <a:rPr lang="en-US" sz="8100" dirty="0" spc="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Những</a:t>
            </a:r>
            <a:r>
              <a:rPr lang="en-US" sz="8100" dirty="0" spc="2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điều</a:t>
            </a: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cân</a:t>
            </a: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nhắc</a:t>
            </a:r>
            <a:r>
              <a:rPr lang="en-US" sz="81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khi</a:t>
            </a: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dùng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bộ</a:t>
            </a: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r>
              <a:rPr lang="en-US" sz="8100" dirty="0" spc="1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đệm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7524750"/>
            <a:ext cx="8953500" cy="1047750"/>
          </a:xfrm>
          <a:prstGeom prst="rect">
            <a:avLst/>
          </a:prstGeom>
          <a:noFill/>
          <a:ln/>
        </p:spPr>
        <p:txBody>
          <a:bodyPr wrap="square" lIns="0" tIns="16192" rIns="0" bIns="-16192" rtlCol="0" anchor="t"/>
          <a:lstStyle/>
          <a:p>
            <a:pPr algn="l" indent="0" marL="0">
              <a:lnSpc>
                <a:spcPts val="3900"/>
              </a:lnSpc>
              <a:buNone/>
            </a:pPr>
            <a:r>
              <a:rPr lang="en-US" sz="3000" dirty="0" spc="-4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Trúng</a:t>
            </a:r>
            <a:r>
              <a:rPr lang="en-US" sz="3000" dirty="0" spc="-3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70%,</a:t>
            </a:r>
            <a:r>
              <a:rPr lang="en-US" sz="300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30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nên</a:t>
            </a:r>
            <a:r>
              <a:rPr lang="en-US" sz="300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gấp</a:t>
            </a:r>
            <a:r>
              <a:rPr lang="en-US" sz="3000" dirty="0" spc="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đôi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nhớ?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914400" y="8953500"/>
            <a:ext cx="1333500" cy="762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</p:sp>
      <p:sp>
        <p:nvSpPr>
          <p:cNvPr id="6" name="Shape 4"/>
          <p:cNvSpPr/>
          <p:nvPr/>
        </p:nvSpPr>
        <p:spPr>
          <a:xfrm>
            <a:off x="10763250" y="914400"/>
            <a:ext cx="6610350" cy="2381250"/>
          </a:xfrm>
          <a:prstGeom prst="roundRect">
            <a:avLst>
              <a:gd name="adj" fmla="val 9600"/>
            </a:avLst>
          </a:prstGeom>
          <a:solidFill>
            <a:srgbClr val="1E212B"/>
          </a:solidFill>
          <a:ln/>
        </p:spPr>
      </p:sp>
      <p:sp>
        <p:nvSpPr>
          <p:cNvPr id="7" name="Shape 5"/>
          <p:cNvSpPr/>
          <p:nvPr/>
        </p:nvSpPr>
        <p:spPr>
          <a:xfrm>
            <a:off x="10763250" y="914400"/>
            <a:ext cx="95250" cy="238125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</p:sp>
      <p:sp>
        <p:nvSpPr>
          <p:cNvPr id="8" name="Text 6"/>
          <p:cNvSpPr/>
          <p:nvPr/>
        </p:nvSpPr>
        <p:spPr>
          <a:xfrm>
            <a:off x="11163300" y="1238250"/>
            <a:ext cx="5905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3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Khi</a:t>
            </a:r>
            <a:r>
              <a:rPr lang="en-US" sz="3300" dirty="0" spc="1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nào</a:t>
            </a:r>
            <a:r>
              <a:rPr lang="en-US" sz="3300" dirty="0" spc="4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đáng</a:t>
            </a:r>
            <a:r>
              <a:rPr lang="en-US" sz="3300" dirty="0" spc="0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dùng</a:t>
            </a:r>
            <a:endParaRPr lang="en-US" sz="3300" dirty="0"/>
          </a:p>
        </p:txBody>
      </p:sp>
      <p:sp>
        <p:nvSpPr>
          <p:cNvPr id="9" name="Text 7"/>
          <p:cNvSpPr/>
          <p:nvPr/>
        </p:nvSpPr>
        <p:spPr>
          <a:xfrm>
            <a:off x="11163300" y="2038350"/>
            <a:ext cx="5905500" cy="95250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Đọc</a:t>
            </a:r>
            <a:r>
              <a:rPr lang="en-US" sz="24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nhiều,</a:t>
            </a:r>
            <a:r>
              <a:rPr lang="en-US" sz="24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ít</a:t>
            </a:r>
            <a:r>
              <a:rPr lang="en-US" sz="2400" dirty="0" spc="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10763250" y="3676650"/>
            <a:ext cx="6610350" cy="2381250"/>
          </a:xfrm>
          <a:prstGeom prst="roundRect">
            <a:avLst>
              <a:gd name="adj" fmla="val 9600"/>
            </a:avLst>
          </a:prstGeom>
          <a:solidFill>
            <a:srgbClr val="1E212B"/>
          </a:solidFill>
          <a:ln/>
        </p:spPr>
      </p:sp>
      <p:sp>
        <p:nvSpPr>
          <p:cNvPr id="11" name="Shape 9"/>
          <p:cNvSpPr/>
          <p:nvPr/>
        </p:nvSpPr>
        <p:spPr>
          <a:xfrm>
            <a:off x="10763250" y="3676650"/>
            <a:ext cx="95250" cy="238125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12" name="Text 10"/>
          <p:cNvSpPr/>
          <p:nvPr/>
        </p:nvSpPr>
        <p:spPr>
          <a:xfrm>
            <a:off x="11163300" y="4000500"/>
            <a:ext cx="5905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0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Đo</a:t>
            </a:r>
            <a:r>
              <a:rPr lang="en-US" sz="3300" dirty="0" spc="-17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gì</a:t>
            </a:r>
            <a:endParaRPr lang="en-US" sz="3300" dirty="0"/>
          </a:p>
        </p:txBody>
      </p:sp>
      <p:sp>
        <p:nvSpPr>
          <p:cNvPr id="13" name="Text 11"/>
          <p:cNvSpPr/>
          <p:nvPr/>
        </p:nvSpPr>
        <p:spPr>
          <a:xfrm>
            <a:off x="11163300" y="4800600"/>
            <a:ext cx="5905500" cy="95250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Bốn</a:t>
            </a:r>
            <a:r>
              <a:rPr lang="en-US" sz="240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400" dirty="0" spc="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r>
              <a:rPr lang="en-US" sz="240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400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INFO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10763250" y="6438900"/>
            <a:ext cx="6610350" cy="2381250"/>
          </a:xfrm>
          <a:prstGeom prst="roundRect">
            <a:avLst>
              <a:gd name="adj" fmla="val 9600"/>
            </a:avLst>
          </a:prstGeom>
          <a:solidFill>
            <a:srgbClr val="1E212B"/>
          </a:solidFill>
          <a:ln/>
        </p:spPr>
      </p:sp>
      <p:sp>
        <p:nvSpPr>
          <p:cNvPr id="15" name="Shape 13"/>
          <p:cNvSpPr/>
          <p:nvPr/>
        </p:nvSpPr>
        <p:spPr>
          <a:xfrm>
            <a:off x="10763250" y="6438900"/>
            <a:ext cx="95250" cy="238125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</p:sp>
      <p:sp>
        <p:nvSpPr>
          <p:cNvPr id="16" name="Text 14"/>
          <p:cNvSpPr/>
          <p:nvPr/>
        </p:nvSpPr>
        <p:spPr>
          <a:xfrm>
            <a:off x="11163300" y="6762750"/>
            <a:ext cx="5905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94" dirty="0" spc="1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Hạn</a:t>
            </a:r>
            <a:r>
              <a:rPr lang="en-US" sz="3094" dirty="0" spc="10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sống,</a:t>
            </a:r>
            <a:r>
              <a:rPr lang="en-US" sz="3094" dirty="0" spc="-12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khởi</a:t>
            </a:r>
            <a:r>
              <a:rPr lang="en-US" sz="3094" dirty="0" spc="6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động</a:t>
            </a:r>
            <a:r>
              <a:rPr lang="en-US" sz="3094" dirty="0" spc="1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nguội</a:t>
            </a:r>
            <a:endParaRPr lang="en-US" sz="3094" dirty="0"/>
          </a:p>
        </p:txBody>
      </p:sp>
      <p:sp>
        <p:nvSpPr>
          <p:cNvPr id="17" name="Text 15"/>
          <p:cNvSpPr/>
          <p:nvPr/>
        </p:nvSpPr>
        <p:spPr>
          <a:xfrm>
            <a:off x="11163300" y="7562850"/>
            <a:ext cx="5905500" cy="95250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TTL</a:t>
            </a:r>
            <a:r>
              <a:rPr lang="en-US" sz="240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4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nạp</a:t>
            </a:r>
            <a:r>
              <a:rPr lang="en-US" sz="240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sẵn</a:t>
            </a:r>
            <a:endParaRPr lang="en-US" sz="2400" dirty="0"/>
          </a:p>
        </p:txBody>
      </p:sp>
      <p:sp>
        <p:nvSpPr>
          <p:cNvPr id="18" name="Shape 1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9" name="Moda image moda-export-watermark-2f1b4619-c43a-4916-a67a-9c124598af5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spc="224" kern="0" dirty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TÌNH</a:t>
            </a:r>
            <a:r>
              <a:rPr lang="en-US" sz="1950" spc="226" kern="0" dirty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HUỐNG</a:t>
            </a:r>
            <a:r>
              <a:rPr lang="en-US" sz="1950" spc="173" kern="0" dirty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</a:t>
            </a:r>
            <a:r>
              <a:rPr lang="en-US" sz="1950" spc="226" kern="0" dirty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MỤC</a:t>
            </a:r>
            <a:r>
              <a:rPr lang="en-US" sz="1950" spc="224" kern="0" dirty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TIÊU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809750"/>
            <a:ext cx="16459200" cy="4572000"/>
          </a:xfrm>
          <a:prstGeom prst="rect">
            <a:avLst/>
          </a:prstGeom>
          <a:noFill/>
          <a:ln/>
        </p:spPr>
        <p:txBody>
          <a:bodyPr wrap="square" lIns="0" tIns="75438" rIns="0" bIns="-75438" rtlCol="0" anchor="t"/>
          <a:lstStyle/>
          <a:p>
            <a:pPr algn="l" indent="0" marL="0">
              <a:lnSpc>
                <a:spcPts val="10692"/>
              </a:lnSpc>
              <a:buNone/>
            </a:pPr>
            <a:r>
              <a:rPr lang="en-US" sz="9900" dirty="0" spc="-30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Tới</a:t>
            </a:r>
            <a:r>
              <a:rPr lang="en-US" sz="9900" dirty="0" spc="-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9900" dirty="0" spc="-8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mức,</a:t>
            </a:r>
            <a:r>
              <a:rPr lang="en-US" sz="99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thêm</a:t>
            </a:r>
            <a:r>
              <a:rPr lang="en-US" sz="9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bộ</a:t>
            </a:r>
            <a:r>
              <a:rPr lang="en-US" sz="9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 không</a:t>
            </a:r>
            <a:r>
              <a:rPr lang="en-US" sz="9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mua</a:t>
            </a:r>
            <a:r>
              <a:rPr lang="en-US" sz="99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thêm</a:t>
            </a:r>
            <a:r>
              <a:rPr lang="en-US" sz="9900" dirty="0" spc="-3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gì.</a:t>
            </a:r>
            <a:endParaRPr lang="en-US" sz="9900" dirty="0"/>
          </a:p>
        </p:txBody>
      </p:sp>
      <p:sp>
        <p:nvSpPr>
          <p:cNvPr id="4" name="Shape 2"/>
          <p:cNvSpPr/>
          <p:nvPr/>
        </p:nvSpPr>
        <p:spPr>
          <a:xfrm>
            <a:off x="914400" y="704850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E8E0CF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7391400"/>
            <a:ext cx="7239000" cy="742950"/>
          </a:xfrm>
          <a:prstGeom prst="roundRect">
            <a:avLst>
              <a:gd name="adj" fmla="val 50000"/>
            </a:avLst>
          </a:prstGeom>
          <a:solidFill>
            <a:srgbClr val="FBF8F2"/>
          </a:solidFill>
          <a:ln w="28575">
            <a:solidFill>
              <a:srgbClr val="B45309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Phép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25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nhỏ</a:t>
            </a:r>
            <a:r>
              <a:rPr lang="en-US" sz="2550" b="1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550" b="1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Redis</a:t>
            </a:r>
            <a:endParaRPr lang="en-US" sz="2550" dirty="0"/>
          </a:p>
        </p:txBody>
      </p:sp>
      <p:sp>
        <p:nvSpPr>
          <p:cNvPr id="6" name="Text 4"/>
          <p:cNvSpPr/>
          <p:nvPr/>
        </p:nvSpPr>
        <p:spPr>
          <a:xfrm>
            <a:off x="8915400" y="7391400"/>
            <a:ext cx="8077200" cy="742950"/>
          </a:xfrm>
          <a:prstGeom prst="roundRect">
            <a:avLst>
              <a:gd name="adj" fmla="val 50000"/>
            </a:avLst>
          </a:prstGeom>
          <a:solidFill>
            <a:srgbClr val="FBF8F2"/>
          </a:solidFill>
          <a:ln w="28575">
            <a:solidFill>
              <a:srgbClr val="14161C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Câu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r>
              <a:rPr lang="en-US" sz="25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cuối</a:t>
            </a:r>
            <a:r>
              <a:rPr lang="en-US" sz="255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25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bỏ</a:t>
            </a:r>
            <a:r>
              <a:rPr lang="en-US" sz="25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</a:t>
            </a:r>
            <a:endParaRPr lang="en-US" sz="2550" dirty="0"/>
          </a:p>
        </p:txBody>
      </p:sp>
      <p:sp>
        <p:nvSpPr>
          <p:cNvPr id="7" name="Shape 5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8" name="Shape 6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9" name="Shape 7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10" name="Shape 8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11" name="Shape 9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12" name="Shape 10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13" name="Shape 11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14" name="Shape 12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15" name="Shape 13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16" name="Text 14"/>
          <p:cNvSpPr/>
          <p:nvPr/>
        </p:nvSpPr>
        <p:spPr>
          <a:xfrm>
            <a:off x="34290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09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02/09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8" name="Moda image moda-export-watermark-f76d8135-df8e-4591-b2b0-bc01abbedd7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spc="223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KHI</a:t>
            </a:r>
            <a:r>
              <a:rPr lang="en-US" sz="1950" spc="208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NÀO ĐÁNG</a:t>
            </a:r>
            <a:r>
              <a:rPr lang="en-US" sz="1950" spc="225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DÙNG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104900"/>
            <a:ext cx="16459200" cy="1181100"/>
          </a:xfrm>
          <a:prstGeom prst="rect">
            <a:avLst/>
          </a:prstGeom>
          <a:noFill/>
          <a:ln/>
        </p:spPr>
        <p:txBody>
          <a:bodyPr wrap="square" lIns="0" tIns="66865" rIns="0" bIns="-66865" rtlCol="0" anchor="t"/>
          <a:lstStyle/>
          <a:p>
            <a:pPr algn="l" indent="0" marL="0">
              <a:lnSpc>
                <a:spcPts val="8190"/>
              </a:lnSpc>
              <a:buNone/>
            </a:pPr>
            <a:r>
              <a:rPr lang="en-US" sz="78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Đọc</a:t>
            </a:r>
            <a:r>
              <a:rPr lang="en-US" sz="78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nhiều,</a:t>
            </a:r>
            <a:r>
              <a:rPr lang="en-US" sz="78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ít</a:t>
            </a:r>
            <a:r>
              <a:rPr lang="en-US" sz="7800" dirty="0" spc="1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đổi</a:t>
            </a:r>
            <a:r>
              <a:rPr lang="en-US" sz="7800" dirty="0" spc="-2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thì</a:t>
            </a:r>
            <a:r>
              <a:rPr lang="en-US" sz="7800" dirty="0" spc="-5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hợp</a:t>
            </a:r>
            <a:endParaRPr lang="en-US" sz="7800" dirty="0"/>
          </a:p>
        </p:txBody>
      </p:sp>
      <p:sp>
        <p:nvSpPr>
          <p:cNvPr id="4" name="Connector line-1792371165275-774555619"/>
          <p:cNvSpPr/>
          <p:nvPr/>
        </p:nvSpPr>
        <p:spPr>
          <a:xfrm>
            <a:off x="2571750" y="4000500"/>
            <a:ext cx="13144500" cy="0"/>
          </a:xfrm>
          <a:prstGeom prst="line">
            <a:avLst/>
          </a:prstGeom>
          <a:noFill/>
          <a:ln w="57150">
            <a:solidFill>
              <a:srgbClr val="FFB454"/>
            </a:solidFill>
            <a:prstDash val="solid"/>
            <a:headEnd type="none"/>
            <a:tailEnd type="none"/>
          </a:ln>
        </p:spPr>
      </p:sp>
      <p:sp>
        <p:nvSpPr>
          <p:cNvPr id="5" name="Shape 3"/>
          <p:cNvSpPr/>
          <p:nvPr/>
        </p:nvSpPr>
        <p:spPr>
          <a:xfrm>
            <a:off x="2190750" y="3619500"/>
            <a:ext cx="762000" cy="762000"/>
          </a:xfrm>
          <a:prstGeom prst="ellipse">
            <a:avLst/>
          </a:prstGeom>
          <a:solidFill>
            <a:srgbClr val="3DD6A0"/>
          </a:solidFill>
          <a:ln/>
        </p:spPr>
      </p:sp>
      <p:sp>
        <p:nvSpPr>
          <p:cNvPr id="6" name="Shape 4"/>
          <p:cNvSpPr/>
          <p:nvPr/>
        </p:nvSpPr>
        <p:spPr>
          <a:xfrm>
            <a:off x="8763000" y="3619500"/>
            <a:ext cx="762000" cy="7620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7" name="Shape 5"/>
          <p:cNvSpPr/>
          <p:nvPr/>
        </p:nvSpPr>
        <p:spPr>
          <a:xfrm>
            <a:off x="15335250" y="3619500"/>
            <a:ext cx="762000" cy="762000"/>
          </a:xfrm>
          <a:prstGeom prst="ellipse">
            <a:avLst/>
          </a:prstGeom>
          <a:solidFill>
            <a:srgbClr val="FFB454"/>
          </a:solidFill>
          <a:ln/>
        </p:spPr>
      </p:sp>
      <p:sp>
        <p:nvSpPr>
          <p:cNvPr id="8" name="Shape 6"/>
          <p:cNvSpPr/>
          <p:nvPr/>
        </p:nvSpPr>
        <p:spPr>
          <a:xfrm>
            <a:off x="914400" y="4857750"/>
            <a:ext cx="5143500" cy="4000500"/>
          </a:xfrm>
          <a:prstGeom prst="roundRect">
            <a:avLst>
              <a:gd name="adj" fmla="val 5714"/>
            </a:avLst>
          </a:prstGeom>
          <a:solidFill>
            <a:srgbClr val="1E212B"/>
          </a:solidFill>
          <a:ln/>
        </p:spPr>
      </p:sp>
      <p:sp>
        <p:nvSpPr>
          <p:cNvPr id="9" name="Text 7"/>
          <p:cNvSpPr/>
          <p:nvPr/>
        </p:nvSpPr>
        <p:spPr>
          <a:xfrm>
            <a:off x="1238250" y="5143500"/>
            <a:ext cx="44958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122" dirty="0" spc="-23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Hợp</a:t>
            </a:r>
            <a:endParaRPr lang="en-US" sz="3122" dirty="0"/>
          </a:p>
        </p:txBody>
      </p:sp>
      <p:sp>
        <p:nvSpPr>
          <p:cNvPr id="10" name="Text 8"/>
          <p:cNvSpPr/>
          <p:nvPr/>
        </p:nvSpPr>
        <p:spPr>
          <a:xfrm>
            <a:off x="1238250" y="5810250"/>
            <a:ext cx="4495800" cy="285750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Dữ liệu</a:t>
            </a:r>
            <a:r>
              <a:rPr lang="en-US" sz="2700" dirty="0" spc="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700" dirty="0" spc="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700" dirty="0" spc="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thường</a:t>
            </a:r>
            <a:r>
              <a:rPr lang="en-US" sz="2700" dirty="0" spc="-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xuyên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mà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ít</a:t>
            </a:r>
            <a:r>
              <a:rPr lang="en-US" sz="270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2700" dirty="0" spc="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endParaRPr lang="en-US" sz="2700" dirty="0"/>
          </a:p>
        </p:txBody>
      </p:sp>
      <p:sp>
        <p:nvSpPr>
          <p:cNvPr id="11" name="Shape 9"/>
          <p:cNvSpPr/>
          <p:nvPr/>
        </p:nvSpPr>
        <p:spPr>
          <a:xfrm>
            <a:off x="6572250" y="4857750"/>
            <a:ext cx="5143500" cy="4000500"/>
          </a:xfrm>
          <a:prstGeom prst="roundRect">
            <a:avLst>
              <a:gd name="adj" fmla="val 5714"/>
            </a:avLst>
          </a:prstGeom>
          <a:solidFill>
            <a:srgbClr val="1E212B"/>
          </a:solidFill>
          <a:ln/>
        </p:spPr>
      </p:sp>
      <p:sp>
        <p:nvSpPr>
          <p:cNvPr id="12" name="Text 10"/>
          <p:cNvSpPr/>
          <p:nvPr/>
        </p:nvSpPr>
        <p:spPr>
          <a:xfrm>
            <a:off x="6896100" y="5143500"/>
            <a:ext cx="44958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122" dirty="0" spc="0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Không</a:t>
            </a:r>
            <a:r>
              <a:rPr lang="en-US" sz="3122" dirty="0" spc="-17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hợp</a:t>
            </a:r>
            <a:endParaRPr lang="en-US" sz="3122" dirty="0"/>
          </a:p>
        </p:txBody>
      </p:sp>
      <p:sp>
        <p:nvSpPr>
          <p:cNvPr id="13" name="Text 11"/>
          <p:cNvSpPr/>
          <p:nvPr/>
        </p:nvSpPr>
        <p:spPr>
          <a:xfrm>
            <a:off x="6896100" y="5810250"/>
            <a:ext cx="4495800" cy="285750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Đổi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liên</a:t>
            </a:r>
            <a:r>
              <a:rPr lang="en-US" sz="27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tục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thì</a:t>
            </a:r>
            <a:r>
              <a:rPr lang="en-US" sz="270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700" dirty="0" spc="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đệm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 nhanh</a:t>
            </a:r>
            <a:endParaRPr lang="en-US" sz="2700" dirty="0"/>
          </a:p>
        </p:txBody>
      </p:sp>
      <p:sp>
        <p:nvSpPr>
          <p:cNvPr id="14" name="Shape 12"/>
          <p:cNvSpPr/>
          <p:nvPr/>
        </p:nvSpPr>
        <p:spPr>
          <a:xfrm>
            <a:off x="12230100" y="4857750"/>
            <a:ext cx="5143500" cy="4000500"/>
          </a:xfrm>
          <a:prstGeom prst="roundRect">
            <a:avLst>
              <a:gd name="adj" fmla="val 5714"/>
            </a:avLst>
          </a:prstGeom>
          <a:solidFill>
            <a:srgbClr val="1E212B"/>
          </a:solidFill>
          <a:ln/>
        </p:spPr>
      </p:sp>
      <p:sp>
        <p:nvSpPr>
          <p:cNvPr id="15" name="Text 13"/>
          <p:cNvSpPr/>
          <p:nvPr/>
        </p:nvSpPr>
        <p:spPr>
          <a:xfrm>
            <a:off x="12553950" y="5143500"/>
            <a:ext cx="44958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122" dirty="0" spc="-6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Luôn</a:t>
            </a:r>
            <a:r>
              <a:rPr lang="en-US" sz="3122" dirty="0" spc="3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3122" dirty="0"/>
          </a:p>
        </p:txBody>
      </p:sp>
      <p:sp>
        <p:nvSpPr>
          <p:cNvPr id="16" name="Text 14"/>
          <p:cNvSpPr/>
          <p:nvPr/>
        </p:nvSpPr>
        <p:spPr>
          <a:xfrm>
            <a:off x="12553950" y="5810250"/>
            <a:ext cx="4495800" cy="285750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Kho</a:t>
            </a:r>
            <a:r>
              <a:rPr lang="en-US" sz="270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tạm</a:t>
            </a:r>
            <a:r>
              <a:rPr lang="en-US" sz="2700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mất</a:t>
            </a:r>
            <a:r>
              <a:rPr lang="en-US" sz="2700" dirty="0" spc="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được;</a:t>
            </a:r>
            <a:r>
              <a:rPr lang="en-US" sz="270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 quý</a:t>
            </a:r>
            <a:r>
              <a:rPr lang="en-US" sz="27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 kho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</a:t>
            </a:r>
            <a:endParaRPr lang="en-US" sz="2700" dirty="0"/>
          </a:p>
        </p:txBody>
      </p:sp>
      <p:sp>
        <p:nvSpPr>
          <p:cNvPr id="17" name="Shape 15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18" name="Shape 16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19" name="Shape 17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0" name="Shape 18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21" name="Shape 19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22" name="Shape 20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23" name="Shape 21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24" name="Shape 22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25" name="Shape 23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26" name="Text 24"/>
          <p:cNvSpPr/>
          <p:nvPr/>
        </p:nvSpPr>
        <p:spPr>
          <a:xfrm>
            <a:off x="34290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09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03/09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9b705f06-3ea9-4fba-9d35-f459da4b946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spc="224" kern="0" dirty="0">
                <a:solidFill>
                  <a:srgbClr val="0F766E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ĐO</a:t>
            </a:r>
            <a:r>
              <a:rPr lang="en-US" sz="1950" spc="222" kern="0" dirty="0">
                <a:solidFill>
                  <a:srgbClr val="0F766E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GÌ:</a:t>
            </a:r>
            <a:r>
              <a:rPr lang="en-US" sz="1950" spc="225" kern="0" dirty="0">
                <a:solidFill>
                  <a:srgbClr val="0F766E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LỆNH</a:t>
            </a:r>
            <a:r>
              <a:rPr lang="en-US" sz="1950" spc="213" kern="0" dirty="0">
                <a:solidFill>
                  <a:srgbClr val="0F766E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INFO</a:t>
            </a:r>
            <a:r>
              <a:rPr lang="en-US" sz="1950" spc="217" kern="0" dirty="0">
                <a:solidFill>
                  <a:srgbClr val="0F766E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CỦA</a:t>
            </a:r>
            <a:r>
              <a:rPr lang="en-US" sz="1950" spc="224" kern="0" dirty="0">
                <a:solidFill>
                  <a:srgbClr val="0F766E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REDIS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104900"/>
            <a:ext cx="16459200" cy="1181100"/>
          </a:xfrm>
          <a:prstGeom prst="rect">
            <a:avLst/>
          </a:prstGeom>
          <a:noFill/>
          <a:ln/>
        </p:spPr>
        <p:txBody>
          <a:bodyPr wrap="square" lIns="0" tIns="66865" rIns="0" bIns="-66865" rtlCol="0" anchor="t"/>
          <a:lstStyle/>
          <a:p>
            <a:pPr algn="l" indent="0" marL="0">
              <a:lnSpc>
                <a:spcPts val="8190"/>
              </a:lnSpc>
              <a:buNone/>
            </a:pPr>
            <a:r>
              <a:rPr lang="en-US" sz="78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Bốn</a:t>
            </a:r>
            <a:r>
              <a:rPr lang="en-US" sz="78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số</a:t>
            </a:r>
            <a:r>
              <a:rPr lang="en-US" sz="78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7800" dirty="0" spc="-9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xem</a:t>
            </a:r>
            <a:endParaRPr lang="en-US" sz="78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8001000" cy="3048000"/>
          </a:xfrm>
          <a:prstGeom prst="roundRect">
            <a:avLst>
              <a:gd name="adj" fmla="val 7500"/>
            </a:avLst>
          </a:prstGeom>
          <a:solidFill>
            <a:srgbClr val="CFE8E2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3086100"/>
            <a:ext cx="7239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 spc="3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TỶ</a:t>
            </a:r>
            <a:r>
              <a:rPr lang="en-US" sz="2100" b="1" dirty="0" spc="-3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</a:t>
            </a:r>
            <a:r>
              <a:rPr lang="en-US" sz="2100" b="1" dirty="0" spc="-10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TRÚNG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1295400" y="3619500"/>
            <a:ext cx="7239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9" dirty="0" spc="-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keyspace_hits, keyspace_misses</a:t>
            </a:r>
            <a:endParaRPr lang="en-US" sz="3809" dirty="0"/>
          </a:p>
        </p:txBody>
      </p:sp>
      <p:sp>
        <p:nvSpPr>
          <p:cNvPr id="7" name="Text 5"/>
          <p:cNvSpPr/>
          <p:nvPr/>
        </p:nvSpPr>
        <p:spPr>
          <a:xfrm>
            <a:off x="1295400" y="4476750"/>
            <a:ext cx="7239000" cy="1143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hits chia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hits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cộng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misses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9372600" y="2762250"/>
            <a:ext cx="8001000" cy="3048000"/>
          </a:xfrm>
          <a:prstGeom prst="roundRect">
            <a:avLst>
              <a:gd name="adj" fmla="val 7500"/>
            </a:avLst>
          </a:prstGeom>
          <a:solidFill>
            <a:srgbClr val="E8E0CF"/>
          </a:solidFill>
          <a:ln/>
        </p:spPr>
      </p:sp>
      <p:sp>
        <p:nvSpPr>
          <p:cNvPr id="9" name="Text 7"/>
          <p:cNvSpPr/>
          <p:nvPr/>
        </p:nvSpPr>
        <p:spPr>
          <a:xfrm>
            <a:off x="9753600" y="3086100"/>
            <a:ext cx="7239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 spc="-19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KHÓA</a:t>
            </a:r>
            <a:r>
              <a:rPr lang="en-US" sz="2100" b="1" dirty="0" spc="-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2100" b="1" dirty="0" spc="-75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ĐẨY</a:t>
            </a:r>
            <a:r>
              <a:rPr lang="en-US" sz="2100" b="1" dirty="0" spc="-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9753600" y="3619500"/>
            <a:ext cx="7239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dirty="0" spc="-1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evicted_keys</a:t>
            </a:r>
            <a:endParaRPr lang="en-US" sz="3900" dirty="0"/>
          </a:p>
        </p:txBody>
      </p:sp>
      <p:sp>
        <p:nvSpPr>
          <p:cNvPr id="11" name="Text 9"/>
          <p:cNvSpPr/>
          <p:nvPr/>
        </p:nvSpPr>
        <p:spPr>
          <a:xfrm>
            <a:off x="9753600" y="4476750"/>
            <a:ext cx="7239000" cy="1143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Số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25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đẩy</a:t>
            </a:r>
            <a:r>
              <a:rPr lang="en-US" sz="2550" dirty="0" spc="-3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vì</a:t>
            </a:r>
            <a:r>
              <a:rPr lang="en-US" sz="25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đầy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914400" y="6096000"/>
            <a:ext cx="8001000" cy="2952750"/>
          </a:xfrm>
          <a:prstGeom prst="roundRect">
            <a:avLst>
              <a:gd name="adj" fmla="val 7742"/>
            </a:avLst>
          </a:prstGeom>
          <a:solidFill>
            <a:srgbClr val="E8E0CF"/>
          </a:solidFill>
          <a:ln/>
        </p:spPr>
      </p:sp>
      <p:sp>
        <p:nvSpPr>
          <p:cNvPr id="13" name="Text 11"/>
          <p:cNvSpPr/>
          <p:nvPr/>
        </p:nvSpPr>
        <p:spPr>
          <a:xfrm>
            <a:off x="1295400" y="6419850"/>
            <a:ext cx="7239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 spc="-1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2100" b="1" dirty="0" spc="-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1295400" y="6953250"/>
            <a:ext cx="7239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Bộ</a:t>
            </a:r>
            <a:r>
              <a:rPr lang="en-US" sz="3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r>
              <a:rPr lang="en-US" sz="3900" dirty="0" spc="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đã</a:t>
            </a:r>
            <a:r>
              <a:rPr lang="en-US" sz="3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dùng</a:t>
            </a:r>
            <a:endParaRPr lang="en-US" sz="3900" dirty="0"/>
          </a:p>
        </p:txBody>
      </p:sp>
      <p:sp>
        <p:nvSpPr>
          <p:cNvPr id="15" name="Text 13"/>
          <p:cNvSpPr/>
          <p:nvPr/>
        </p:nvSpPr>
        <p:spPr>
          <a:xfrm>
            <a:off x="1295400" y="7810500"/>
            <a:ext cx="7239000" cy="1143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So</a:t>
            </a:r>
            <a:r>
              <a:rPr lang="en-US" sz="25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giới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2550" dirty="0" spc="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đặt</a:t>
            </a:r>
            <a:endParaRPr lang="en-US" sz="2550" dirty="0"/>
          </a:p>
        </p:txBody>
      </p:sp>
      <p:sp>
        <p:nvSpPr>
          <p:cNvPr id="16" name="Shape 14"/>
          <p:cNvSpPr/>
          <p:nvPr/>
        </p:nvSpPr>
        <p:spPr>
          <a:xfrm>
            <a:off x="9372600" y="6096000"/>
            <a:ext cx="8001000" cy="2952750"/>
          </a:xfrm>
          <a:prstGeom prst="roundRect">
            <a:avLst>
              <a:gd name="adj" fmla="val 7742"/>
            </a:avLst>
          </a:prstGeom>
          <a:solidFill>
            <a:srgbClr val="CFE8E2"/>
          </a:solidFill>
          <a:ln/>
        </p:spPr>
      </p:sp>
      <p:sp>
        <p:nvSpPr>
          <p:cNvPr id="17" name="Text 15"/>
          <p:cNvSpPr/>
          <p:nvPr/>
        </p:nvSpPr>
        <p:spPr>
          <a:xfrm>
            <a:off x="9753600" y="6419850"/>
            <a:ext cx="7239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 spc="-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LỆNH</a:t>
            </a:r>
            <a:r>
              <a:rPr lang="en-US" sz="2100" b="1" dirty="0" spc="-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2100" b="1" dirty="0" spc="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100" b="1" dirty="0" spc="-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CHỐI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9753600" y="6953250"/>
            <a:ext cx="7239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dirty="0" spc="-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Lệnh</a:t>
            </a:r>
            <a:r>
              <a:rPr lang="en-US" sz="3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bị</a:t>
            </a:r>
            <a:r>
              <a:rPr lang="en-US" sz="3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</a:t>
            </a:r>
            <a:r>
              <a:rPr lang="en-US" sz="3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chối</a:t>
            </a:r>
            <a:endParaRPr lang="en-US" sz="3900" dirty="0"/>
          </a:p>
        </p:txBody>
      </p:sp>
      <p:sp>
        <p:nvSpPr>
          <p:cNvPr id="19" name="Text 17"/>
          <p:cNvSpPr/>
          <p:nvPr/>
        </p:nvSpPr>
        <p:spPr>
          <a:xfrm>
            <a:off x="9753600" y="7810500"/>
            <a:ext cx="7239000" cy="1143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Do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giới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2550" dirty="0"/>
          </a:p>
        </p:txBody>
      </p:sp>
      <p:sp>
        <p:nvSpPr>
          <p:cNvPr id="20" name="Shape 18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21" name="Shape 19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22" name="Shape 20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23" name="Shape 21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4" name="Shape 22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25" name="Shape 23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26" name="Shape 24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27" name="Shape 25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28" name="Shape 26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29" name="Text 27"/>
          <p:cNvSpPr/>
          <p:nvPr/>
        </p:nvSpPr>
        <p:spPr>
          <a:xfrm>
            <a:off x="34290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09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04/09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1" name="Moda image moda-export-watermark-5bc956ab-095c-40d2-883f-208a6181307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spc="226" kern="0" dirty="0">
                <a:solidFill>
                  <a:srgbClr val="FF6A4D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HẠN</a:t>
            </a:r>
            <a:r>
              <a:rPr lang="en-US" sz="1950" spc="231" kern="0" dirty="0">
                <a:solidFill>
                  <a:srgbClr val="FF6A4D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SỐNG</a:t>
            </a:r>
            <a:r>
              <a:rPr lang="en-US" sz="1950" spc="172" kern="0" dirty="0">
                <a:solidFill>
                  <a:srgbClr val="FF6A4D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</a:t>
            </a:r>
            <a:r>
              <a:rPr lang="en-US" sz="1950" spc="224" kern="0" dirty="0">
                <a:solidFill>
                  <a:srgbClr val="FF6A4D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KHỞI ĐỘNG</a:t>
            </a:r>
            <a:r>
              <a:rPr lang="en-US" sz="1950" spc="225" kern="0" dirty="0">
                <a:solidFill>
                  <a:srgbClr val="FF6A4D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NGUỘI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104900"/>
            <a:ext cx="16459200" cy="1181100"/>
          </a:xfrm>
          <a:prstGeom prst="rect">
            <a:avLst/>
          </a:prstGeom>
          <a:noFill/>
          <a:ln/>
        </p:spPr>
        <p:txBody>
          <a:bodyPr wrap="square" lIns="0" tIns="66865" rIns="0" bIns="-66865" rtlCol="0" anchor="t"/>
          <a:lstStyle/>
          <a:p>
            <a:pPr algn="l" indent="0" marL="0">
              <a:lnSpc>
                <a:spcPts val="8190"/>
              </a:lnSpc>
              <a:buNone/>
            </a:pPr>
            <a:r>
              <a:rPr lang="en-US" sz="78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Hai</a:t>
            </a:r>
            <a:r>
              <a:rPr lang="en-US" sz="78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chỗ</a:t>
            </a:r>
            <a:r>
              <a:rPr lang="en-US" sz="78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dễ</a:t>
            </a:r>
            <a:r>
              <a:rPr lang="en-US" sz="7800" dirty="0" spc="-6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trượt</a:t>
            </a:r>
            <a:endParaRPr lang="en-US" sz="78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8001000" cy="6096000"/>
          </a:xfrm>
          <a:prstGeom prst="roundRect">
            <a:avLst>
              <a:gd name="adj" fmla="val 3750"/>
            </a:avLst>
          </a:prstGeom>
          <a:solidFill>
            <a:srgbClr val="1E212B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2762250"/>
            <a:ext cx="8001000" cy="95250"/>
          </a:xfrm>
          <a:prstGeom prst="rect">
            <a:avLst/>
          </a:prstGeom>
          <a:solidFill>
            <a:srgbClr val="FF6A4D"/>
          </a:solidFill>
          <a:ln/>
        </p:spPr>
      </p:sp>
      <p:sp>
        <p:nvSpPr>
          <p:cNvPr id="6" name="Text 4"/>
          <p:cNvSpPr/>
          <p:nvPr/>
        </p:nvSpPr>
        <p:spPr>
          <a:xfrm>
            <a:off x="1295400" y="3219450"/>
            <a:ext cx="7239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100" dirty="0" spc="-1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Hạn</a:t>
            </a:r>
            <a:r>
              <a:rPr lang="en-US" sz="5100" dirty="0" spc="1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sống</a:t>
            </a:r>
            <a:r>
              <a:rPr lang="en-US" sz="5100" dirty="0" spc="-7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(TTL)</a:t>
            </a:r>
            <a:endParaRPr lang="en-US" sz="5100" dirty="0"/>
          </a:p>
        </p:txBody>
      </p:sp>
      <p:sp>
        <p:nvSpPr>
          <p:cNvPr id="7" name="Text richtext-1792371191458-324357107"/>
          <p:cNvSpPr/>
          <p:nvPr/>
        </p:nvSpPr>
        <p:spPr>
          <a:xfrm>
            <a:off x="1295400" y="4476750"/>
            <a:ext cx="7239000" cy="4191000"/>
          </a:xfrm>
          <a:prstGeom prst="rect">
            <a:avLst/>
          </a:prstGeom>
          <a:noFill/>
          <a:ln/>
        </p:spPr>
        <p:txBody>
          <a:bodyPr wrap="square" lIns="0" tIns="16192" rIns="0" bIns="-16192" rtlCol="0" anchor="t"/>
          <a:lstStyle/>
          <a:p>
            <a:pPr algn="l" marL="381000" indent="-272202">
              <a:lnSpc>
                <a:spcPts val="3900"/>
              </a:lnSpc>
              <a:spcAft>
                <a:spcPts val="1800"/>
              </a:spcAft>
              <a:buSzPct val="100000"/>
              <a:buFont typeface="Arial"/>
              <a:buChar char="•"/>
            </a:pP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Quá</a:t>
            </a:r>
            <a:r>
              <a:rPr lang="en-US" sz="300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ngắn:</a:t>
            </a: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biến</a:t>
            </a:r>
            <a:r>
              <a:rPr lang="en-US" sz="300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mất</a:t>
            </a:r>
            <a:r>
              <a:rPr lang="en-US" sz="3000" dirty="0" spc="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300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kịp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 lại</a:t>
            </a:r>
            <a:endParaRPr lang="en-US" sz="3000" dirty="0"/>
          </a:p>
          <a:p>
            <a:pPr algn="l" marL="381000" indent="-272202">
              <a:lnSpc>
                <a:spcPts val="3900"/>
              </a:lnSpc>
              <a:buSzPct val="100000"/>
              <a:buFont typeface="Arial"/>
              <a:buChar char="•"/>
            </a:pP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Quá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dài:</a:t>
            </a:r>
            <a:r>
              <a:rPr lang="en-US" sz="300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 lâu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9372600" y="2762250"/>
            <a:ext cx="8001000" cy="6096000"/>
          </a:xfrm>
          <a:prstGeom prst="roundRect">
            <a:avLst>
              <a:gd name="adj" fmla="val 3750"/>
            </a:avLst>
          </a:prstGeom>
          <a:solidFill>
            <a:srgbClr val="1E212B"/>
          </a:solidFill>
          <a:ln/>
        </p:spPr>
      </p:sp>
      <p:sp>
        <p:nvSpPr>
          <p:cNvPr id="9" name="Shape 7"/>
          <p:cNvSpPr/>
          <p:nvPr/>
        </p:nvSpPr>
        <p:spPr>
          <a:xfrm>
            <a:off x="9372600" y="2762250"/>
            <a:ext cx="8001000" cy="95250"/>
          </a:xfrm>
          <a:prstGeom prst="rect">
            <a:avLst/>
          </a:prstGeom>
          <a:solidFill>
            <a:srgbClr val="FF6A4D"/>
          </a:solidFill>
          <a:ln/>
        </p:spPr>
      </p:sp>
      <p:sp>
        <p:nvSpPr>
          <p:cNvPr id="10" name="Text 8"/>
          <p:cNvSpPr/>
          <p:nvPr/>
        </p:nvSpPr>
        <p:spPr>
          <a:xfrm>
            <a:off x="9753600" y="3219450"/>
            <a:ext cx="7239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100" dirty="0" spc="-23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Khởi</a:t>
            </a:r>
            <a:r>
              <a:rPr lang="en-US" sz="5100" dirty="0" spc="9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động</a:t>
            </a:r>
            <a:r>
              <a:rPr lang="en-US" sz="5100" dirty="0" spc="2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nguội</a:t>
            </a:r>
            <a:endParaRPr lang="en-US" sz="5100" dirty="0"/>
          </a:p>
        </p:txBody>
      </p:sp>
      <p:sp>
        <p:nvSpPr>
          <p:cNvPr id="11" name="Text richtext-1792371191481-470445532"/>
          <p:cNvSpPr/>
          <p:nvPr/>
        </p:nvSpPr>
        <p:spPr>
          <a:xfrm>
            <a:off x="9753600" y="4476750"/>
            <a:ext cx="7239000" cy="4191000"/>
          </a:xfrm>
          <a:prstGeom prst="rect">
            <a:avLst/>
          </a:prstGeom>
          <a:noFill/>
          <a:ln/>
        </p:spPr>
        <p:txBody>
          <a:bodyPr wrap="square" lIns="0" tIns="16192" rIns="0" bIns="-16192" rtlCol="0" anchor="t"/>
          <a:lstStyle/>
          <a:p>
            <a:pPr algn="l" marL="381000" indent="-272202">
              <a:lnSpc>
                <a:spcPts val="3900"/>
              </a:lnSpc>
              <a:spcAft>
                <a:spcPts val="1800"/>
              </a:spcAft>
              <a:buSzPct val="100000"/>
              <a:buFont typeface="Arial"/>
              <a:buChar char="•"/>
            </a:pP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Mọi</a:t>
            </a:r>
            <a:r>
              <a:rPr lang="en-US" sz="3000" dirty="0" spc="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lượt</a:t>
            </a:r>
            <a:r>
              <a:rPr lang="en-US" sz="3000" dirty="0" spc="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3000" dirty="0" spc="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đều</a:t>
            </a:r>
            <a:r>
              <a:rPr lang="en-US" sz="3000" dirty="0" spc="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trượt,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dồn</a:t>
            </a:r>
            <a:r>
              <a:rPr lang="en-US" sz="3000" dirty="0" spc="-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</a:t>
            </a:r>
            <a:endParaRPr lang="en-US" sz="3000" dirty="0"/>
          </a:p>
          <a:p>
            <a:pPr algn="l" marL="381000" indent="-272202">
              <a:lnSpc>
                <a:spcPts val="3900"/>
              </a:lnSpc>
              <a:buSzPct val="100000"/>
              <a:buFont typeface="Arial"/>
              <a:buChar char="•"/>
            </a:pP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Nạp</a:t>
            </a:r>
            <a:r>
              <a:rPr lang="en-US" sz="300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sẵn</a:t>
            </a:r>
            <a:r>
              <a:rPr lang="en-US" sz="300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(seed)</a:t>
            </a:r>
            <a:r>
              <a:rPr lang="en-US" sz="3000" dirty="0" spc="2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giảm</a:t>
            </a:r>
            <a:r>
              <a:rPr lang="en-US" sz="300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tải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lúc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cao</a:t>
            </a:r>
            <a:r>
              <a:rPr lang="en-US" sz="3000" dirty="0" spc="2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điểm</a:t>
            </a:r>
            <a:endParaRPr lang="en-US" sz="3000" dirty="0"/>
          </a:p>
        </p:txBody>
      </p:sp>
      <p:sp>
        <p:nvSpPr>
          <p:cNvPr id="12" name="Shape 10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13" name="Shape 11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14" name="Shape 12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15" name="Shape 13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16" name="Shape 14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7" name="Shape 15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18" name="Shape 16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19" name="Shape 17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20" name="Shape 18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21" name="Text 19"/>
          <p:cNvSpPr/>
          <p:nvPr/>
        </p:nvSpPr>
        <p:spPr>
          <a:xfrm>
            <a:off x="34290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09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05/09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3" name="Moda image moda-export-watermark-97be5c57-60cc-4896-b488-6676629fedd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spc="223" kern="0" dirty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GIỚI</a:t>
            </a:r>
            <a:r>
              <a:rPr lang="en-US" sz="1950" spc="226" kern="0" dirty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HẠN</a:t>
            </a:r>
            <a:r>
              <a:rPr lang="en-US" sz="1950" spc="206" kern="0" dirty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CẦN</a:t>
            </a:r>
            <a:r>
              <a:rPr lang="en-US" sz="1950" spc="226" kern="0" dirty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NHỚ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104900"/>
            <a:ext cx="16459200" cy="1181100"/>
          </a:xfrm>
          <a:prstGeom prst="rect">
            <a:avLst/>
          </a:prstGeom>
          <a:noFill/>
          <a:ln/>
        </p:spPr>
        <p:txBody>
          <a:bodyPr wrap="square" lIns="0" tIns="66865" rIns="0" bIns="-66865" rtlCol="0" anchor="t"/>
          <a:lstStyle/>
          <a:p>
            <a:pPr algn="l" indent="0" marL="0">
              <a:lnSpc>
                <a:spcPts val="8190"/>
              </a:lnSpc>
              <a:buNone/>
            </a:pPr>
            <a:r>
              <a:rPr lang="en-US" sz="78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Số</a:t>
            </a:r>
            <a:r>
              <a:rPr lang="en-US" sz="78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trúng</a:t>
            </a:r>
            <a:r>
              <a:rPr lang="en-US" sz="78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 của</a:t>
            </a:r>
            <a:r>
              <a:rPr lang="en-US" sz="78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riêng</a:t>
            </a:r>
            <a:r>
              <a:rPr lang="en-US" sz="7800" dirty="0" spc="-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bạn</a:t>
            </a:r>
            <a:endParaRPr lang="en-US" sz="78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16459200" cy="1905000"/>
          </a:xfrm>
          <a:prstGeom prst="roundRect">
            <a:avLst>
              <a:gd name="adj" fmla="val 12000"/>
            </a:avLst>
          </a:prstGeom>
          <a:solidFill>
            <a:srgbClr val="E8E0CF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2990850"/>
            <a:ext cx="142875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0" dirty="0" spc="2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9000" dirty="0"/>
          </a:p>
        </p:txBody>
      </p:sp>
      <p:sp>
        <p:nvSpPr>
          <p:cNvPr id="6" name="Text 4"/>
          <p:cNvSpPr/>
          <p:nvPr/>
        </p:nvSpPr>
        <p:spPr>
          <a:xfrm>
            <a:off x="2857500" y="2857500"/>
            <a:ext cx="14097000" cy="1714500"/>
          </a:xfrm>
          <a:prstGeom prst="rect">
            <a:avLst/>
          </a:prstGeom>
          <a:noFill/>
          <a:ln/>
        </p:spPr>
        <p:txBody>
          <a:bodyPr wrap="square" lIns="0" tIns="24082" rIns="0" bIns="-24082" rtlCol="0" anchor="ctr"/>
          <a:lstStyle/>
          <a:p>
            <a:pPr algn="l" indent="0" marL="0">
              <a:lnSpc>
                <a:spcPts val="4313"/>
              </a:lnSpc>
              <a:buNone/>
            </a:pPr>
            <a:r>
              <a:rPr lang="en-US" sz="3450" dirty="0" spc="-13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Tỷ</a:t>
            </a:r>
            <a:r>
              <a:rPr lang="en-US" sz="34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lệ</a:t>
            </a:r>
            <a:r>
              <a:rPr lang="en-US" sz="34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trúng</a:t>
            </a:r>
            <a:r>
              <a:rPr lang="en-US" sz="345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phụ</a:t>
            </a:r>
            <a:r>
              <a:rPr lang="en-US" sz="34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thuộc</a:t>
            </a:r>
            <a:r>
              <a:rPr lang="en-US" sz="34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kiểu</a:t>
            </a:r>
            <a:r>
              <a:rPr lang="en-US" sz="34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truy</a:t>
            </a:r>
            <a:r>
              <a:rPr lang="en-US" sz="34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cập</a:t>
            </a:r>
            <a:r>
              <a:rPr lang="en-US" sz="34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của</a:t>
            </a:r>
            <a:r>
              <a:rPr lang="en-US" sz="34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bạn</a:t>
            </a:r>
            <a:endParaRPr lang="en-US" sz="3450" dirty="0"/>
          </a:p>
        </p:txBody>
      </p:sp>
      <p:sp>
        <p:nvSpPr>
          <p:cNvPr id="7" name="Shape 5"/>
          <p:cNvSpPr/>
          <p:nvPr/>
        </p:nvSpPr>
        <p:spPr>
          <a:xfrm>
            <a:off x="914400" y="4953000"/>
            <a:ext cx="16459200" cy="1905000"/>
          </a:xfrm>
          <a:prstGeom prst="roundRect">
            <a:avLst>
              <a:gd name="adj" fmla="val 12000"/>
            </a:avLst>
          </a:prstGeom>
          <a:solidFill>
            <a:srgbClr val="E8E0CF"/>
          </a:solidFill>
          <a:ln/>
        </p:spPr>
      </p:sp>
      <p:sp>
        <p:nvSpPr>
          <p:cNvPr id="8" name="Text 6"/>
          <p:cNvSpPr/>
          <p:nvPr/>
        </p:nvSpPr>
        <p:spPr>
          <a:xfrm>
            <a:off x="1295400" y="5181600"/>
            <a:ext cx="142875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0" dirty="0" spc="-4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9000" dirty="0"/>
          </a:p>
        </p:txBody>
      </p:sp>
      <p:sp>
        <p:nvSpPr>
          <p:cNvPr id="9" name="Text 7"/>
          <p:cNvSpPr/>
          <p:nvPr/>
        </p:nvSpPr>
        <p:spPr>
          <a:xfrm>
            <a:off x="2857500" y="5048250"/>
            <a:ext cx="14097000" cy="1714500"/>
          </a:xfrm>
          <a:prstGeom prst="rect">
            <a:avLst/>
          </a:prstGeom>
          <a:noFill/>
          <a:ln/>
        </p:spPr>
        <p:txBody>
          <a:bodyPr wrap="square" lIns="0" tIns="24082" rIns="0" bIns="-24082" rtlCol="0" anchor="ctr"/>
          <a:lstStyle/>
          <a:p>
            <a:pPr algn="l" indent="0" marL="0">
              <a:lnSpc>
                <a:spcPts val="4313"/>
              </a:lnSpc>
              <a:buNone/>
            </a:pPr>
            <a:r>
              <a:rPr lang="en-US" sz="34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Đo</a:t>
            </a:r>
            <a:r>
              <a:rPr lang="en-US" sz="3450" dirty="0" spc="-2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trên</a:t>
            </a:r>
            <a:r>
              <a:rPr lang="en-US" sz="3450" dirty="0" spc="4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lưu</a:t>
            </a:r>
            <a:r>
              <a:rPr lang="en-US" sz="3450" dirty="0" spc="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lượng</a:t>
            </a:r>
            <a:r>
              <a:rPr lang="en-US" sz="3450" dirty="0" spc="-1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thật</a:t>
            </a:r>
            <a:r>
              <a:rPr lang="en-US" sz="3450" dirty="0" spc="1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trước</a:t>
            </a:r>
            <a:r>
              <a:rPr lang="en-US" sz="34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khi</a:t>
            </a:r>
            <a:r>
              <a:rPr lang="en-US" sz="345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chọn</a:t>
            </a:r>
            <a:r>
              <a:rPr lang="en-US" sz="34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kích</a:t>
            </a:r>
            <a:r>
              <a:rPr lang="en-US" sz="3450" dirty="0" spc="1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thước</a:t>
            </a:r>
            <a:endParaRPr lang="en-US" sz="3450" dirty="0"/>
          </a:p>
        </p:txBody>
      </p:sp>
      <p:sp>
        <p:nvSpPr>
          <p:cNvPr id="10" name="Shape 8"/>
          <p:cNvSpPr/>
          <p:nvPr/>
        </p:nvSpPr>
        <p:spPr>
          <a:xfrm>
            <a:off x="914400" y="7143750"/>
            <a:ext cx="16459200" cy="1905000"/>
          </a:xfrm>
          <a:prstGeom prst="roundRect">
            <a:avLst>
              <a:gd name="adj" fmla="val 12000"/>
            </a:avLst>
          </a:prstGeom>
          <a:solidFill>
            <a:srgbClr val="E8E0CF"/>
          </a:solidFill>
          <a:ln/>
        </p:spPr>
      </p:sp>
      <p:sp>
        <p:nvSpPr>
          <p:cNvPr id="11" name="Text 9"/>
          <p:cNvSpPr/>
          <p:nvPr/>
        </p:nvSpPr>
        <p:spPr>
          <a:xfrm>
            <a:off x="1295400" y="7372350"/>
            <a:ext cx="142875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0" dirty="0" spc="-2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9000" dirty="0"/>
          </a:p>
        </p:txBody>
      </p:sp>
      <p:sp>
        <p:nvSpPr>
          <p:cNvPr id="12" name="Text 10"/>
          <p:cNvSpPr/>
          <p:nvPr/>
        </p:nvSpPr>
        <p:spPr>
          <a:xfrm>
            <a:off x="2857500" y="7239000"/>
            <a:ext cx="14097000" cy="1714500"/>
          </a:xfrm>
          <a:prstGeom prst="rect">
            <a:avLst/>
          </a:prstGeom>
          <a:noFill/>
          <a:ln/>
        </p:spPr>
        <p:txBody>
          <a:bodyPr wrap="square" lIns="0" tIns="24082" rIns="0" bIns="-24082" rtlCol="0" anchor="ctr"/>
          <a:lstStyle/>
          <a:p>
            <a:pPr algn="l" indent="0" marL="0">
              <a:lnSpc>
                <a:spcPts val="4313"/>
              </a:lnSpc>
              <a:buNone/>
            </a:pPr>
            <a:r>
              <a:rPr lang="en-US" sz="3450" dirty="0" spc="-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Thêm</a:t>
            </a:r>
            <a:r>
              <a:rPr lang="en-US" sz="3450" dirty="0" spc="-1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một</a:t>
            </a:r>
            <a:r>
              <a:rPr lang="en-US" sz="34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nơi</a:t>
            </a:r>
            <a:r>
              <a:rPr lang="en-US" sz="34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dữ</a:t>
            </a:r>
            <a:r>
              <a:rPr lang="en-US" sz="34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liệu</a:t>
            </a:r>
            <a:r>
              <a:rPr lang="en-US" sz="34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cũ,</a:t>
            </a:r>
            <a:r>
              <a:rPr lang="en-US" sz="3450" dirty="0" spc="-1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một</a:t>
            </a:r>
            <a:r>
              <a:rPr lang="en-US" sz="345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hệ</a:t>
            </a:r>
            <a:r>
              <a:rPr lang="en-US" sz="3450" dirty="0" spc="-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thống</a:t>
            </a:r>
            <a:r>
              <a:rPr lang="en-US" sz="3450" dirty="0" spc="1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nữa</a:t>
            </a:r>
            <a:endParaRPr lang="en-US" sz="3450" dirty="0"/>
          </a:p>
        </p:txBody>
      </p:sp>
      <p:sp>
        <p:nvSpPr>
          <p:cNvPr id="13" name="Shape 11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14" name="Shape 12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15" name="Shape 13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16" name="Shape 14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17" name="Shape 15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18" name="Shape 16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9" name="Shape 17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20" name="Shape 18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21" name="Shape 19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22" name="Text 20"/>
          <p:cNvSpPr/>
          <p:nvPr/>
        </p:nvSpPr>
        <p:spPr>
          <a:xfrm>
            <a:off x="34290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09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06/09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4" name="Moda image moda-export-watermark-d66fca51-af0f-49d0-89fb-628e4c05902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spc="223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NHÌN</a:t>
            </a:r>
            <a:r>
              <a:rPr lang="en-US" sz="1950" spc="224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HÌNH</a:t>
            </a:r>
            <a:r>
              <a:rPr lang="en-US" sz="1950" spc="225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TRẢ</a:t>
            </a:r>
            <a:r>
              <a:rPr lang="en-US" sz="1950" spc="199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LỜI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104900"/>
            <a:ext cx="16459200" cy="1181100"/>
          </a:xfrm>
          <a:prstGeom prst="rect">
            <a:avLst/>
          </a:prstGeom>
          <a:noFill/>
          <a:ln/>
        </p:spPr>
        <p:txBody>
          <a:bodyPr wrap="square" lIns="0" tIns="66865" rIns="0" bIns="-66865" rtlCol="0" anchor="t"/>
          <a:lstStyle/>
          <a:p>
            <a:pPr algn="l" indent="0" marL="0">
              <a:lnSpc>
                <a:spcPts val="8190"/>
              </a:lnSpc>
              <a:buNone/>
            </a:pPr>
            <a:r>
              <a:rPr lang="en-US" sz="7800" dirty="0" spc="-2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Trúng</a:t>
            </a:r>
            <a:r>
              <a:rPr lang="en-US" sz="7800" dirty="0" spc="-3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70%,</a:t>
            </a:r>
            <a:r>
              <a:rPr lang="en-US" sz="7800" dirty="0" spc="-1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gấp</a:t>
            </a:r>
            <a:r>
              <a:rPr lang="en-US" sz="7800" dirty="0" spc="1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đôi</a:t>
            </a:r>
            <a:r>
              <a:rPr lang="en-US" sz="78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bộ</a:t>
            </a:r>
            <a:r>
              <a:rPr lang="en-US" sz="78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nhớ?</a:t>
            </a:r>
            <a:endParaRPr lang="en-US" sz="7800" dirty="0"/>
          </a:p>
        </p:txBody>
      </p:sp>
      <p:sp>
        <p:nvSpPr>
          <p:cNvPr id="4" name="Text 2"/>
          <p:cNvSpPr/>
          <p:nvPr/>
        </p:nvSpPr>
        <p:spPr>
          <a:xfrm>
            <a:off x="914400" y="2571750"/>
            <a:ext cx="7048500" cy="3810000"/>
          </a:xfrm>
          <a:prstGeom prst="rect">
            <a:avLst/>
          </a:prstGeom>
          <a:noFill/>
          <a:ln/>
        </p:spPr>
        <p:txBody>
          <a:bodyPr wrap="square" lIns="0" tIns="228600" rIns="0" bIns="-228600" rtlCol="0" anchor="t"/>
          <a:lstStyle/>
          <a:p>
            <a:pPr algn="l" indent="0" marL="0">
              <a:lnSpc>
                <a:spcPts val="22500"/>
              </a:lnSpc>
              <a:buNone/>
            </a:pPr>
            <a:r>
              <a:rPr lang="en-US" sz="22500" dirty="0" spc="-153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70%</a:t>
            </a:r>
            <a:endParaRPr lang="en-US" sz="22500" dirty="0"/>
          </a:p>
        </p:txBody>
      </p:sp>
      <p:sp>
        <p:nvSpPr>
          <p:cNvPr id="5" name="Text 3"/>
          <p:cNvSpPr/>
          <p:nvPr/>
        </p:nvSpPr>
        <p:spPr>
          <a:xfrm>
            <a:off x="914400" y="5905500"/>
            <a:ext cx="7048500" cy="1905000"/>
          </a:xfrm>
          <a:prstGeom prst="rect">
            <a:avLst/>
          </a:prstGeom>
          <a:noFill/>
          <a:ln/>
        </p:spPr>
        <p:txBody>
          <a:bodyPr wrap="square" lIns="0" tIns="15383" rIns="0" bIns="-15383" rtlCol="0" anchor="t"/>
          <a:lstStyle/>
          <a:p>
            <a:pPr algn="l" indent="0" marL="0">
              <a:lnSpc>
                <a:spcPts val="3705"/>
              </a:lnSpc>
              <a:buNone/>
            </a:pPr>
            <a:r>
              <a:rPr lang="en-US" sz="2850" dirty="0" spc="-4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Trúng</a:t>
            </a:r>
            <a:r>
              <a:rPr lang="en-US" sz="2850" dirty="0" spc="-2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70%;</a:t>
            </a:r>
            <a:r>
              <a:rPr lang="en-US" sz="2850" dirty="0" spc="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r>
              <a:rPr lang="en-US" sz="28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nghiệp</a:t>
            </a:r>
            <a:r>
              <a:rPr lang="en-US" sz="2850" dirty="0" spc="1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đề</a:t>
            </a:r>
            <a:r>
              <a:rPr lang="en-US" sz="28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nghị</a:t>
            </a:r>
            <a:r>
              <a:rPr lang="en-US" sz="285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gấp</a:t>
            </a:r>
            <a:r>
              <a:rPr lang="en-US" sz="2850" dirty="0" spc="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đôi</a:t>
            </a:r>
            <a:r>
              <a:rPr lang="en-US" sz="285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8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2850" dirty="0"/>
          </a:p>
        </p:txBody>
      </p:sp>
      <p:sp>
        <p:nvSpPr>
          <p:cNvPr id="6" name="Shape 4"/>
          <p:cNvSpPr/>
          <p:nvPr/>
        </p:nvSpPr>
        <p:spPr>
          <a:xfrm>
            <a:off x="8572500" y="2762250"/>
            <a:ext cx="8801100" cy="1524000"/>
          </a:xfrm>
          <a:prstGeom prst="roundRect">
            <a:avLst>
              <a:gd name="adj" fmla="val 15000"/>
            </a:avLst>
          </a:prstGeom>
          <a:solidFill>
            <a:srgbClr val="F3EEE3"/>
          </a:solidFill>
          <a:ln/>
        </p:spPr>
      </p:sp>
      <p:sp>
        <p:nvSpPr>
          <p:cNvPr id="7" name="Text 5"/>
          <p:cNvSpPr/>
          <p:nvPr/>
        </p:nvSpPr>
        <p:spPr>
          <a:xfrm>
            <a:off x="8915400" y="2819400"/>
            <a:ext cx="8115300" cy="1409700"/>
          </a:xfrm>
          <a:prstGeom prst="rect">
            <a:avLst/>
          </a:prstGeom>
          <a:noFill/>
          <a:ln/>
        </p:spPr>
        <p:txBody>
          <a:bodyPr wrap="square" lIns="0" tIns="11430" rIns="0" bIns="-11430" rtlCol="0" anchor="ctr"/>
          <a:lstStyle/>
          <a:p>
            <a:pPr algn="l" indent="0" marL="0">
              <a:lnSpc>
                <a:spcPts val="4140"/>
              </a:lnSpc>
              <a:buNone/>
            </a:pPr>
            <a:r>
              <a:rPr lang="en-US" sz="3600" dirty="0" spc="-6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Trước</a:t>
            </a:r>
            <a:r>
              <a:rPr lang="en-US" sz="36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khi</a:t>
            </a:r>
            <a:r>
              <a:rPr lang="en-US" sz="3600" dirty="0" spc="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đồng</a:t>
            </a:r>
            <a:r>
              <a:rPr lang="en-US" sz="36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ý,</a:t>
            </a:r>
            <a:r>
              <a:rPr lang="en-US" sz="3600" dirty="0" spc="-4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xem</a:t>
            </a:r>
            <a:r>
              <a:rPr lang="en-US" sz="3600" dirty="0" spc="-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gì</a:t>
            </a:r>
            <a:r>
              <a:rPr lang="en-US" sz="36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trong</a:t>
            </a:r>
            <a:r>
              <a:rPr lang="en-US" sz="36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cấu</a:t>
            </a:r>
            <a:r>
              <a:rPr lang="en-US" sz="3600" dirty="0" spc="-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hình,</a:t>
            </a:r>
            <a:r>
              <a:rPr lang="en-US" sz="3600" dirty="0" spc="-1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INFO?</a:t>
            </a:r>
            <a:endParaRPr lang="en-US" sz="3600" dirty="0"/>
          </a:p>
        </p:txBody>
      </p:sp>
      <p:sp>
        <p:nvSpPr>
          <p:cNvPr id="8" name="Shape 6"/>
          <p:cNvSpPr/>
          <p:nvPr/>
        </p:nvSpPr>
        <p:spPr>
          <a:xfrm>
            <a:off x="8572500" y="4572000"/>
            <a:ext cx="8801100" cy="4476750"/>
          </a:xfrm>
          <a:prstGeom prst="roundRect">
            <a:avLst>
              <a:gd name="adj" fmla="val 5106"/>
            </a:avLst>
          </a:prstGeom>
          <a:solidFill>
            <a:srgbClr val="1E212B"/>
          </a:solidFill>
          <a:ln/>
        </p:spPr>
      </p:sp>
      <p:sp>
        <p:nvSpPr>
          <p:cNvPr id="9" name="Shape 7"/>
          <p:cNvSpPr/>
          <p:nvPr/>
        </p:nvSpPr>
        <p:spPr>
          <a:xfrm>
            <a:off x="8572500" y="4572000"/>
            <a:ext cx="8801100" cy="95250"/>
          </a:xfrm>
          <a:prstGeom prst="rect">
            <a:avLst/>
          </a:prstGeom>
          <a:solidFill>
            <a:srgbClr val="3DD6A0"/>
          </a:solidFill>
          <a:ln/>
        </p:spPr>
      </p:sp>
      <p:sp>
        <p:nvSpPr>
          <p:cNvPr id="10" name="Text 8"/>
          <p:cNvSpPr/>
          <p:nvPr/>
        </p:nvSpPr>
        <p:spPr>
          <a:xfrm>
            <a:off x="8953500" y="4914900"/>
            <a:ext cx="80391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-65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Xem</a:t>
            </a:r>
            <a:r>
              <a:rPr lang="en-US" sz="3600" dirty="0" spc="2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chính sách</a:t>
            </a:r>
            <a:r>
              <a:rPr lang="en-US" sz="3600" dirty="0" spc="-39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trước</a:t>
            </a:r>
            <a:endParaRPr lang="en-US" sz="3600" dirty="0"/>
          </a:p>
        </p:txBody>
      </p:sp>
      <p:sp>
        <p:nvSpPr>
          <p:cNvPr id="11" name="Text richtext-1792371195441-842450428"/>
          <p:cNvSpPr/>
          <p:nvPr/>
        </p:nvSpPr>
        <p:spPr>
          <a:xfrm>
            <a:off x="8953500" y="5810250"/>
            <a:ext cx="8039100" cy="314325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marL="342900" indent="-244981">
              <a:lnSpc>
                <a:spcPts val="3510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700" dirty="0" spc="-3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270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maxmemory-policy</a:t>
            </a:r>
            <a:r>
              <a:rPr lang="en-US" sz="270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70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r>
              <a:rPr lang="en-US" sz="2700" dirty="0" spc="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7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endParaRPr lang="en-US" sz="2700" dirty="0"/>
          </a:p>
          <a:p>
            <a:pPr algn="l" marL="342900" indent="-244981">
              <a:lnSpc>
                <a:spcPts val="3510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70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noeviction,</a:t>
            </a:r>
            <a:r>
              <a:rPr lang="en-US" sz="270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volatile:</a:t>
            </a:r>
            <a:r>
              <a:rPr lang="en-US" sz="2700" dirty="0" spc="-2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evicted_keys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luôn</a:t>
            </a:r>
            <a:r>
              <a:rPr lang="en-US" sz="27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0,</a:t>
            </a:r>
            <a:r>
              <a:rPr lang="en-US" sz="2700" dirty="0" spc="-2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</a:t>
            </a:r>
            <a:r>
              <a:rPr lang="en-US" sz="27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lệnh bị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7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chối</a:t>
            </a:r>
            <a:endParaRPr lang="en-US" sz="2700" dirty="0"/>
          </a:p>
          <a:p>
            <a:pPr algn="l" marL="342900" indent="-244981">
              <a:lnSpc>
                <a:spcPts val="3510"/>
              </a:lnSpc>
              <a:buSzPct val="100000"/>
              <a:buFont typeface="Arial"/>
              <a:buChar char="•"/>
            </a:pPr>
            <a:r>
              <a:rPr lang="en-US" sz="27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Có</a:t>
            </a:r>
            <a:r>
              <a:rPr lang="en-US" sz="27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đẩy</a:t>
            </a:r>
            <a:r>
              <a:rPr lang="en-US" sz="270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khóa:</a:t>
            </a:r>
            <a:r>
              <a:rPr lang="en-US" sz="2700" dirty="0" spc="-2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evicted_keys</a:t>
            </a:r>
            <a:r>
              <a:rPr lang="en-US" sz="270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tăng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nhanh thì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</a:t>
            </a:r>
            <a:r>
              <a:rPr lang="en-US" sz="270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7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2700" dirty="0"/>
          </a:p>
        </p:txBody>
      </p:sp>
      <p:sp>
        <p:nvSpPr>
          <p:cNvPr id="12" name="Shape 10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13" name="Shape 11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14" name="Shape 12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15" name="Shape 13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16" name="Shape 14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17" name="Shape 15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18" name="Shape 16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9" name="Shape 17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20" name="Shape 18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21" name="Text 19"/>
          <p:cNvSpPr/>
          <p:nvPr/>
        </p:nvSpPr>
        <p:spPr>
          <a:xfrm>
            <a:off x="34290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09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07/09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3" name="Moda image moda-export-watermark-1989f47c-3454-470d-9846-ba4e27c625b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spc="226" kern="0" dirty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XEM</a:t>
            </a:r>
            <a:r>
              <a:rPr lang="en-US" sz="1950" spc="216" kern="0" dirty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SÂU</a:t>
            </a:r>
            <a:r>
              <a:rPr lang="en-US" sz="1950" spc="224" kern="0" dirty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HƠN:</a:t>
            </a:r>
            <a:r>
              <a:rPr lang="en-US" sz="1950" spc="226" kern="0" dirty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THỬ</a:t>
            </a:r>
            <a:r>
              <a:rPr lang="en-US" sz="1950" spc="224" kern="0" dirty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TRÊN REDIS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104900"/>
            <a:ext cx="16459200" cy="1181100"/>
          </a:xfrm>
          <a:prstGeom prst="rect">
            <a:avLst/>
          </a:prstGeom>
          <a:noFill/>
          <a:ln/>
        </p:spPr>
        <p:txBody>
          <a:bodyPr wrap="square" lIns="0" tIns="61722" rIns="0" bIns="-61722" rtlCol="0" anchor="t"/>
          <a:lstStyle/>
          <a:p>
            <a:pPr algn="l" indent="0" marL="0">
              <a:lnSpc>
                <a:spcPts val="7560"/>
              </a:lnSpc>
              <a:buNone/>
            </a:pPr>
            <a:r>
              <a:rPr lang="en-US" sz="72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Thêm</a:t>
            </a:r>
            <a:r>
              <a:rPr lang="en-US" sz="72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bộ</a:t>
            </a:r>
            <a:r>
              <a:rPr lang="en-US" sz="7200" dirty="0" spc="-6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nhớ,</a:t>
            </a:r>
            <a:r>
              <a:rPr lang="en-US" sz="72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trúng</a:t>
            </a:r>
            <a:r>
              <a:rPr lang="en-US" sz="72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thêm</a:t>
            </a:r>
            <a:r>
              <a:rPr lang="en-US" sz="7200" dirty="0" spc="-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bao</a:t>
            </a:r>
            <a:r>
              <a:rPr lang="en-US" sz="72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nhiêu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914400" y="8629650"/>
            <a:ext cx="16459200" cy="76200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-10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210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8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lên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16</a:t>
            </a:r>
            <a:r>
              <a:rPr lang="en-US" sz="21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MB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trúng thêm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6" name="Shape 4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7" name="Shape 5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8" name="Shape 6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9" name="Shape 7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10" name="Shape 8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11" name="Shape 9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12" name="Shape 10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3" name="Shape 11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14" name="Text 12"/>
          <p:cNvSpPr/>
          <p:nvPr/>
        </p:nvSpPr>
        <p:spPr>
          <a:xfrm>
            <a:off x="34290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09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08/09</a:t>
            </a:r>
            <a:endParaRPr lang="en-US" sz="18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667000"/>
          <a:ext cx="13716000" cy="914400"/>
        </p:xfrm>
        <a:graphic>
          <a:graphicData uri="http://schemas.openxmlformats.org/drawingml/2006/table">
            <a:tbl>
              <a:tblPr/>
              <a:tblGrid>
                <a:gridCol w="4608576"/>
                <a:gridCol w="5925312"/>
                <a:gridCol w="5925312"/>
              </a:tblGrid>
              <a:tr h="11430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600"/>
                        </a:lnSpc>
                        <a:buNone/>
                      </a:pPr>
                      <a:r>
                        <a:rPr lang="en-US" sz="3000" b="1" dirty="0" spc="5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Giới</a:t>
                      </a:r>
                      <a:r>
                        <a:rPr lang="en-US" sz="3000" b="1" dirty="0" spc="-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hạn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600"/>
                        </a:lnSpc>
                        <a:buNone/>
                      </a:pPr>
                      <a:r>
                        <a:rPr lang="en-US" sz="3000" b="1" dirty="0" spc="-109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Tỷ</a:t>
                      </a:r>
                      <a:r>
                        <a:rPr lang="en-US" sz="3000" b="1" dirty="0" spc="-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lệ trúng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600"/>
                        </a:lnSpc>
                        <a:buNone/>
                      </a:pPr>
                      <a:r>
                        <a:rPr lang="en-US" sz="3000" b="1" dirty="0" spc="-1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Khóa</a:t>
                      </a:r>
                      <a:r>
                        <a:rPr lang="en-US" sz="3000" b="1" dirty="0" spc="5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bị</a:t>
                      </a:r>
                      <a:r>
                        <a:rPr lang="en-US" sz="3000" b="1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đẩy</a:t>
                      </a:r>
                      <a:r>
                        <a:rPr lang="en-US" sz="3000" b="1" dirty="0" spc="-2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ra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</a:tr>
              <a:tr h="11430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600"/>
                        </a:lnSpc>
                        <a:buNone/>
                      </a:pPr>
                      <a:r>
                        <a:rPr lang="en-US" sz="3000" dirty="0" spc="-5" kern="0">
                          <a:solidFill>
                            <a:srgbClr val="14161C"/>
                          </a:solidFill>
                          <a:latin typeface="Be Vietnam Pro ExtraBold" pitchFamily="34" charset="0"/>
                          <a:ea typeface="Be Vietnam Pro ExtraBold" pitchFamily="34" charset="-122"/>
                          <a:cs typeface="Be Vietnam Pro ExtraBold" pitchFamily="34" charset="-120"/>
                        </a:rPr>
                        <a:t>2</a:t>
                      </a:r>
                      <a:r>
                        <a:rPr lang="en-US" sz="3000" dirty="0" spc="1" kern="0">
                          <a:solidFill>
                            <a:srgbClr val="14161C"/>
                          </a:solidFill>
                          <a:latin typeface="Be Vietnam Pro ExtraBold" pitchFamily="34" charset="0"/>
                          <a:ea typeface="Be Vietnam Pro ExtraBold" pitchFamily="34" charset="-122"/>
                          <a:cs typeface="Be Vietnam Pro ExtraBold" pitchFamily="34" charset="-120"/>
                        </a:rPr>
                        <a:t> MB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E8E0C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600"/>
                        </a:lnSpc>
                        <a:buNone/>
                      </a:pPr>
                      <a:r>
                        <a:rPr lang="en-US" sz="3000" dirty="0" spc="-8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63%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E8E0C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600"/>
                        </a:lnSpc>
                        <a:buNone/>
                      </a:pPr>
                      <a:r>
                        <a:rPr lang="en-US" sz="3000" dirty="0" spc="-1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21.024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E8E0CF"/>
                    </a:solidFill>
                  </a:tcPr>
                </a:tc>
              </a:tr>
              <a:tr h="11430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600"/>
                        </a:lnSpc>
                        <a:buNone/>
                      </a:pPr>
                      <a:r>
                        <a:rPr lang="en-US" sz="3000" dirty="0" spc="-6" kern="0">
                          <a:solidFill>
                            <a:srgbClr val="14161C"/>
                          </a:solidFill>
                          <a:latin typeface="Be Vietnam Pro ExtraBold" pitchFamily="34" charset="0"/>
                          <a:ea typeface="Be Vietnam Pro ExtraBold" pitchFamily="34" charset="-122"/>
                          <a:cs typeface="Be Vietnam Pro ExtraBold" pitchFamily="34" charset="-120"/>
                        </a:rPr>
                        <a:t>4</a:t>
                      </a:r>
                      <a:r>
                        <a:rPr lang="en-US" sz="3000" dirty="0" spc="1" kern="0">
                          <a:solidFill>
                            <a:srgbClr val="14161C"/>
                          </a:solidFill>
                          <a:latin typeface="Be Vietnam Pro ExtraBold" pitchFamily="34" charset="0"/>
                          <a:ea typeface="Be Vietnam Pro ExtraBold" pitchFamily="34" charset="-122"/>
                          <a:cs typeface="Be Vietnam Pro ExtraBold" pitchFamily="34" charset="-120"/>
                        </a:rPr>
                        <a:t> MB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600"/>
                        </a:lnSpc>
                        <a:buNone/>
                      </a:pPr>
                      <a:r>
                        <a:rPr lang="en-US" sz="3000" dirty="0" spc="8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79%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600"/>
                        </a:lnSpc>
                        <a:buNone/>
                      </a:pPr>
                      <a:r>
                        <a:rPr lang="en-US" sz="300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9.620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  <a:tr h="11430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600"/>
                        </a:lnSpc>
                        <a:buNone/>
                      </a:pPr>
                      <a:r>
                        <a:rPr lang="en-US" sz="3000" dirty="0" spc="0" kern="0">
                          <a:solidFill>
                            <a:srgbClr val="14161C"/>
                          </a:solidFill>
                          <a:latin typeface="Be Vietnam Pro ExtraBold" pitchFamily="34" charset="0"/>
                          <a:ea typeface="Be Vietnam Pro ExtraBold" pitchFamily="34" charset="-122"/>
                          <a:cs typeface="Be Vietnam Pro ExtraBold" pitchFamily="34" charset="-120"/>
                        </a:rPr>
                        <a:t>8</a:t>
                      </a:r>
                      <a:r>
                        <a:rPr lang="en-US" sz="3000" dirty="0" spc="1" kern="0">
                          <a:solidFill>
                            <a:srgbClr val="14161C"/>
                          </a:solidFill>
                          <a:latin typeface="Be Vietnam Pro ExtraBold" pitchFamily="34" charset="0"/>
                          <a:ea typeface="Be Vietnam Pro ExtraBold" pitchFamily="34" charset="-122"/>
                          <a:cs typeface="Be Vietnam Pro ExtraBold" pitchFamily="34" charset="-120"/>
                        </a:rPr>
                        <a:t> MB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E8E0C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600"/>
                        </a:lnSpc>
                        <a:buNone/>
                      </a:pPr>
                      <a:r>
                        <a:rPr lang="en-US" sz="3000" dirty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88%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E8E0C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600"/>
                        </a:lnSpc>
                        <a:buNone/>
                      </a:pPr>
                      <a:r>
                        <a:rPr lang="en-US" sz="3000" dirty="0" spc="4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549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E8E0CF"/>
                    </a:solidFill>
                  </a:tcPr>
                </a:tc>
              </a:tr>
              <a:tr h="11430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600"/>
                        </a:lnSpc>
                        <a:buNone/>
                      </a:pPr>
                      <a:r>
                        <a:rPr lang="en-US" sz="3000" dirty="0" spc="3" kern="0">
                          <a:solidFill>
                            <a:srgbClr val="E8472B"/>
                          </a:solidFill>
                          <a:latin typeface="Be Vietnam Pro ExtraBold" pitchFamily="34" charset="0"/>
                          <a:ea typeface="Be Vietnam Pro ExtraBold" pitchFamily="34" charset="-122"/>
                          <a:cs typeface="Be Vietnam Pro ExtraBold" pitchFamily="34" charset="-120"/>
                        </a:rPr>
                        <a:t>16</a:t>
                      </a:r>
                      <a:r>
                        <a:rPr lang="en-US" sz="3000" dirty="0" spc="1" kern="0">
                          <a:solidFill>
                            <a:srgbClr val="E8472B"/>
                          </a:solidFill>
                          <a:latin typeface="Be Vietnam Pro ExtraBold" pitchFamily="34" charset="0"/>
                          <a:ea typeface="Be Vietnam Pro ExtraBold" pitchFamily="34" charset="-122"/>
                          <a:cs typeface="Be Vietnam Pro ExtraBold" pitchFamily="34" charset="-120"/>
                        </a:rPr>
                        <a:t> MB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600"/>
                        </a:lnSpc>
                        <a:buNone/>
                      </a:pPr>
                      <a:r>
                        <a:rPr lang="en-US" sz="3000" dirty="0" spc="-2" kern="0">
                          <a:solidFill>
                            <a:srgbClr val="E8472B"/>
                          </a:solidFill>
                          <a:latin typeface="Be Vietnam Pro ExtraBold" pitchFamily="34" charset="0"/>
                          <a:ea typeface="Be Vietnam Pro ExtraBold" pitchFamily="34" charset="-122"/>
                          <a:cs typeface="Be Vietnam Pro ExtraBold" pitchFamily="34" charset="-120"/>
                        </a:rPr>
                        <a:t>88%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600"/>
                        </a:lnSpc>
                        <a:buNone/>
                      </a:pPr>
                      <a:r>
                        <a:rPr lang="en-US" sz="3000" dirty="0" spc="-1" kern="0">
                          <a:solidFill>
                            <a:srgbClr val="E8472B"/>
                          </a:solidFill>
                          <a:latin typeface="Be Vietnam Pro ExtraBold" pitchFamily="34" charset="0"/>
                          <a:ea typeface="Be Vietnam Pro ExtraBold" pitchFamily="34" charset="-122"/>
                          <a:cs typeface="Be Vietnam Pro ExtraBold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</a:tbl>
          </a:graphicData>
        </a:graphic>
      </p:graphicFrame>
      <p:sp>
        <p:nvSpPr>
          <p:cNvPr id="16" name="Shape 1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7" name="Moda image moda-export-watermark-5ac72f4e-78fc-4b4c-937e-a4ff5e1f441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spc="227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TỪ</a:t>
            </a:r>
            <a:r>
              <a:rPr lang="en-US" sz="1950" spc="224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VIẾT</a:t>
            </a:r>
            <a:r>
              <a:rPr lang="en-US" sz="1950" spc="134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TẮT</a:t>
            </a:r>
            <a:r>
              <a:rPr lang="en-US" sz="1950" spc="173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</a:t>
            </a:r>
            <a:r>
              <a:rPr lang="en-US" sz="1950" spc="225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104900"/>
            <a:ext cx="16459200" cy="1181100"/>
          </a:xfrm>
          <a:prstGeom prst="rect">
            <a:avLst/>
          </a:prstGeom>
          <a:noFill/>
          <a:ln/>
        </p:spPr>
        <p:txBody>
          <a:bodyPr wrap="square" lIns="0" tIns="66865" rIns="0" bIns="-66865" rtlCol="0" anchor="t"/>
          <a:lstStyle/>
          <a:p>
            <a:pPr algn="l" indent="0" marL="0">
              <a:lnSpc>
                <a:spcPts val="8190"/>
              </a:lnSpc>
              <a:buNone/>
            </a:pPr>
            <a:r>
              <a:rPr lang="en-US" sz="78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Thuật</a:t>
            </a:r>
            <a:r>
              <a:rPr lang="en-US" sz="78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ngữ</a:t>
            </a:r>
            <a:r>
              <a:rPr lang="en-US" sz="7800" dirty="0" spc="-8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78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nguồn</a:t>
            </a:r>
            <a:endParaRPr lang="en-US" sz="7800" dirty="0"/>
          </a:p>
        </p:txBody>
      </p:sp>
      <p:sp>
        <p:nvSpPr>
          <p:cNvPr id="4" name="Shape 2"/>
          <p:cNvSpPr/>
          <p:nvPr/>
        </p:nvSpPr>
        <p:spPr>
          <a:xfrm>
            <a:off x="914400" y="2667000"/>
            <a:ext cx="5334000" cy="2476500"/>
          </a:xfrm>
          <a:prstGeom prst="roundRect">
            <a:avLst>
              <a:gd name="adj" fmla="val 7692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238250" y="2857500"/>
            <a:ext cx="47625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MB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1238250" y="3714750"/>
            <a:ext cx="476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9AA0B5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MegaByte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38250" y="4133850"/>
            <a:ext cx="4762500" cy="857250"/>
          </a:xfrm>
          <a:prstGeom prst="rect">
            <a:avLst/>
          </a:prstGeom>
          <a:noFill/>
          <a:ln/>
        </p:spPr>
        <p:txBody>
          <a:bodyPr wrap="square" lIns="0" tIns="16764" rIns="0" bIns="-16764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400" dirty="0" spc="-11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Megabyte,</a:t>
            </a:r>
            <a:r>
              <a:rPr lang="en-US" sz="2400" dirty="0" spc="7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đơn</a:t>
            </a:r>
            <a:r>
              <a:rPr lang="en-US" sz="2400" dirty="0" spc="2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vị</a:t>
            </a:r>
            <a:r>
              <a:rPr lang="en-US" sz="2400" dirty="0" spc="-3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dung</a:t>
            </a:r>
            <a:r>
              <a:rPr lang="en-US" sz="2400" dirty="0" spc="6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lượng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6477000" y="2667000"/>
            <a:ext cx="5334000" cy="2476500"/>
          </a:xfrm>
          <a:prstGeom prst="roundRect">
            <a:avLst>
              <a:gd name="adj" fmla="val 7692"/>
            </a:avLst>
          </a:prstGeom>
          <a:solidFill>
            <a:srgbClr val="1E212B"/>
          </a:solidFill>
          <a:ln/>
        </p:spPr>
      </p:sp>
      <p:sp>
        <p:nvSpPr>
          <p:cNvPr id="9" name="Text 7"/>
          <p:cNvSpPr/>
          <p:nvPr/>
        </p:nvSpPr>
        <p:spPr>
          <a:xfrm>
            <a:off x="6800850" y="2857500"/>
            <a:ext cx="47625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3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TTL</a:t>
            </a:r>
            <a:endParaRPr lang="en-US" sz="5400" dirty="0"/>
          </a:p>
        </p:txBody>
      </p:sp>
      <p:sp>
        <p:nvSpPr>
          <p:cNvPr id="10" name="Text 8"/>
          <p:cNvSpPr/>
          <p:nvPr/>
        </p:nvSpPr>
        <p:spPr>
          <a:xfrm>
            <a:off x="6800850" y="3714750"/>
            <a:ext cx="476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9AA0B5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Time</a:t>
            </a:r>
            <a:r>
              <a:rPr lang="en-US" sz="1800" dirty="0" spc="-58" kern="0">
                <a:solidFill>
                  <a:srgbClr val="9AA0B5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To</a:t>
            </a:r>
            <a:r>
              <a:rPr lang="en-US" sz="1800" dirty="0" spc="-10" kern="0">
                <a:solidFill>
                  <a:srgbClr val="9AA0B5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Live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800850" y="4133850"/>
            <a:ext cx="4762500" cy="857250"/>
          </a:xfrm>
          <a:prstGeom prst="rect">
            <a:avLst/>
          </a:prstGeom>
          <a:noFill/>
          <a:ln/>
        </p:spPr>
        <p:txBody>
          <a:bodyPr wrap="square" lIns="0" tIns="16764" rIns="0" bIns="-16764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400" dirty="0" spc="2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Thời</a:t>
            </a:r>
            <a:r>
              <a:rPr lang="en-US" sz="2400" dirty="0" spc="1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gian</a:t>
            </a:r>
            <a:r>
              <a:rPr lang="en-US" sz="2400" dirty="0" spc="-7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sống</a:t>
            </a:r>
            <a:r>
              <a:rPr lang="en-US" sz="2400" dirty="0" spc="0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của</a:t>
            </a:r>
            <a:r>
              <a:rPr lang="en-US" sz="2400" dirty="0" spc="-2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khóa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12039600" y="2667000"/>
            <a:ext cx="5334000" cy="2476500"/>
          </a:xfrm>
          <a:prstGeom prst="roundRect">
            <a:avLst>
              <a:gd name="adj" fmla="val 7692"/>
            </a:avLst>
          </a:prstGeom>
          <a:solidFill>
            <a:srgbClr val="1E212B"/>
          </a:solidFill>
          <a:ln/>
        </p:spPr>
      </p:sp>
      <p:sp>
        <p:nvSpPr>
          <p:cNvPr id="13" name="Text 11"/>
          <p:cNvSpPr/>
          <p:nvPr/>
        </p:nvSpPr>
        <p:spPr>
          <a:xfrm>
            <a:off x="12363450" y="2857500"/>
            <a:ext cx="47625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OOM</a:t>
            </a:r>
            <a:endParaRPr lang="en-US" sz="5400" dirty="0"/>
          </a:p>
        </p:txBody>
      </p:sp>
      <p:sp>
        <p:nvSpPr>
          <p:cNvPr id="14" name="Text 12"/>
          <p:cNvSpPr/>
          <p:nvPr/>
        </p:nvSpPr>
        <p:spPr>
          <a:xfrm>
            <a:off x="12363450" y="3714750"/>
            <a:ext cx="476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2" kern="0">
                <a:solidFill>
                  <a:srgbClr val="9AA0B5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Out</a:t>
            </a:r>
            <a:r>
              <a:rPr lang="en-US" sz="1800" dirty="0" spc="0" kern="0">
                <a:solidFill>
                  <a:srgbClr val="9AA0B5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Of</a:t>
            </a:r>
            <a:r>
              <a:rPr lang="en-US" sz="1800" dirty="0" spc="-1" kern="0">
                <a:solidFill>
                  <a:srgbClr val="9AA0B5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Memory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2363450" y="4133850"/>
            <a:ext cx="4762500" cy="857250"/>
          </a:xfrm>
          <a:prstGeom prst="rect">
            <a:avLst/>
          </a:prstGeom>
          <a:noFill/>
          <a:ln/>
        </p:spPr>
        <p:txBody>
          <a:bodyPr wrap="square" lIns="0" tIns="16764" rIns="0" bIns="-16764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400" dirty="0" spc="-9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Hết</a:t>
            </a:r>
            <a:r>
              <a:rPr lang="en-US" sz="2400" dirty="0" spc="-3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bộ</a:t>
            </a:r>
            <a:r>
              <a:rPr lang="en-US" sz="2400" dirty="0" spc="0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nhớ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914400" y="5429250"/>
            <a:ext cx="16459200" cy="3619500"/>
          </a:xfrm>
          <a:prstGeom prst="roundRect">
            <a:avLst>
              <a:gd name="adj" fmla="val 5263"/>
            </a:avLst>
          </a:prstGeom>
          <a:solidFill>
            <a:srgbClr val="1E212B"/>
          </a:solidFill>
          <a:ln/>
        </p:spPr>
      </p:sp>
      <p:sp>
        <p:nvSpPr>
          <p:cNvPr id="17" name="Text 15"/>
          <p:cNvSpPr/>
          <p:nvPr/>
        </p:nvSpPr>
        <p:spPr>
          <a:xfrm>
            <a:off x="1295400" y="5657850"/>
            <a:ext cx="5715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spc="226" kern="0" dirty="0">
                <a:solidFill>
                  <a:srgbClr val="9AA0B5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NGUỒN</a:t>
            </a:r>
            <a:endParaRPr lang="en-US" sz="1950" dirty="0"/>
          </a:p>
        </p:txBody>
      </p:sp>
      <p:sp>
        <p:nvSpPr>
          <p:cNvPr id="18" name="Text 16"/>
          <p:cNvSpPr/>
          <p:nvPr/>
        </p:nvSpPr>
        <p:spPr>
          <a:xfrm>
            <a:off x="11658600" y="5657850"/>
            <a:ext cx="5334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9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1950" dirty="0" spc="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19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195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19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2026-10-18</a:t>
            </a:r>
            <a:endParaRPr lang="en-US" sz="1950" dirty="0"/>
          </a:p>
        </p:txBody>
      </p:sp>
      <p:sp>
        <p:nvSpPr>
          <p:cNvPr id="19" name="Text richtext-1792371218327-690177432"/>
          <p:cNvSpPr/>
          <p:nvPr/>
        </p:nvSpPr>
        <p:spPr>
          <a:xfrm>
            <a:off x="1295400" y="6153150"/>
            <a:ext cx="15697200" cy="27622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spcAft>
                <a:spcPts val="600"/>
              </a:spcAft>
              <a:buSzPct val="100000"/>
              <a:buFont typeface="Arial"/>
              <a:buChar char="•"/>
            </a:pP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ByteByteGo:</a:t>
            </a:r>
            <a:r>
              <a:rPr lang="en-US" sz="25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spcAft>
                <a:spcPts val="600"/>
              </a:spcAft>
              <a:buSzPct val="100000"/>
              <a:buFont typeface="Arial"/>
              <a:buChar char="•"/>
            </a:pPr>
            <a:r>
              <a:rPr lang="en-US" sz="255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Microsoft:</a:t>
            </a:r>
            <a:r>
              <a:rPr lang="en-US" sz="255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dẫn</a:t>
            </a:r>
            <a:r>
              <a:rPr lang="en-US" sz="2550" dirty="0" spc="-1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255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r>
              <a:rPr lang="en-US" sz="2550" dirty="0" spc="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đệm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-2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Redis:</a:t>
            </a:r>
            <a:r>
              <a:rPr lang="en-US" sz="255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550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eviction</a:t>
            </a:r>
            <a:endParaRPr lang="en-US" sz="2550" dirty="0"/>
          </a:p>
        </p:txBody>
      </p:sp>
      <p:sp>
        <p:nvSpPr>
          <p:cNvPr id="20" name="Shape 18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21" name="Shape 19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22" name="Shape 20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23" name="Shape 21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24" name="Shape 22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25" name="Shape 23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26" name="Shape 24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27" name="Shape 25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28" name="Shape 26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9" name="Text 27"/>
          <p:cNvSpPr/>
          <p:nvPr/>
        </p:nvSpPr>
        <p:spPr>
          <a:xfrm>
            <a:off x="34290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09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09/09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1" name="Moda image moda-export-watermark-01700078-f3c4-4066-8cdd-3d888d05e06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2026-10-19T14:02:41Z</dcterms:created>
  <dcterms:modified xsi:type="dcterms:W3CDTF">2026-10-19T14:02:41Z</dcterms:modified>
</cp:coreProperties>
</file>