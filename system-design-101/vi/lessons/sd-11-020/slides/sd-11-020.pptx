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ricolage Grotesque"/>
      <p:bold r:id="rId20"/>
    </p:embeddedFont>
    <p:embeddedFont>
      <p:font typeface="Be Vietnam Pro SemiBold"/>
      <p:regular r:id="rId21"/>
    </p:embeddedFont>
    <p:embeddedFont>
      <p:font typeface="Be Vietnam Pro ExtraBold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0096500" cy="4572000"/>
          </a:xfrm>
          <a:prstGeom prst="rect">
            <a:avLst/>
          </a:prstGeom>
          <a:noFill/>
          <a:ln/>
        </p:spPr>
        <p:txBody>
          <a:bodyPr wrap="square" lIns="0" tIns="50292" rIns="0" bIns="-50292" rtlCol="0" anchor="t"/>
          <a:lstStyle/>
          <a:p>
            <a:pPr algn="l" indent="0" marL="0">
              <a:lnSpc>
                <a:spcPts val="7128"/>
              </a:lnSpc>
              <a:buNone/>
            </a:pP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66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chịu</a:t>
            </a:r>
            <a:r>
              <a:rPr lang="en-US" sz="6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lỗi,</a:t>
            </a:r>
            <a:r>
              <a:rPr lang="en-US" sz="66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6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r>
              <a:rPr lang="en-US" sz="66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</a:t>
            </a:r>
            <a:r>
              <a:rPr lang="en-US" sz="6600" dirty="0" spc="-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thừa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6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Hỏng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phần,</a:t>
            </a:r>
            <a:r>
              <a:rPr lang="en-US" sz="25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vụ?</a:t>
            </a:r>
            <a:endParaRPr lang="en-US" sz="2550" dirty="0"/>
          </a:p>
        </p:txBody>
      </p:sp>
      <p:sp>
        <p:nvSpPr>
          <p:cNvPr id="5" name="Connector line-1792420591535-853866890"/>
          <p:cNvSpPr/>
          <p:nvPr/>
        </p:nvSpPr>
        <p:spPr>
          <a:xfrm>
            <a:off x="914400" y="7715250"/>
            <a:ext cx="95250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629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thế,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100" dirty="0" spc="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hỏng,</a:t>
            </a:r>
            <a:r>
              <a:rPr lang="en-US" sz="21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991850" y="4419600"/>
            <a:ext cx="1447800" cy="14478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Chịu</a:t>
            </a:r>
            <a:r>
              <a:rPr lang="en-US" sz="2100" b="1" dirty="0" spc="0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lỗi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335000" y="34290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10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10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1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335000" y="47815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10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335000" y="61341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1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10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endParaRPr lang="en-US" sz="2100" dirty="0"/>
          </a:p>
        </p:txBody>
      </p:sp>
      <p:sp>
        <p:nvSpPr>
          <p:cNvPr id="12" name="Connector line-1792420591559-622247161"/>
          <p:cNvSpPr/>
          <p:nvPr/>
        </p:nvSpPr>
        <p:spPr>
          <a:xfrm flipV="1">
            <a:off x="12439650" y="3790950"/>
            <a:ext cx="895350" cy="1352550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3" name="Connector line-1792420591559-49921872"/>
          <p:cNvSpPr/>
          <p:nvPr/>
        </p:nvSpPr>
        <p:spPr>
          <a:xfrm>
            <a:off x="12439650" y="5143500"/>
            <a:ext cx="895350" cy="95"/>
          </a:xfrm>
          <a:custGeom>
            <a:avLst/>
            <a:gdLst/>
            <a:ahLst/>
            <a:cxnLst/>
            <a:rect l="l" t="t" r="r" b="b"/>
            <a:pathLst>
              <a:path w="895350" h="95">
                <a:moveTo>
                  <a:pt x="0" y="0"/>
                </a:moveTo>
                <a:lnTo>
                  <a:pt x="447675" y="0"/>
                </a:lnTo>
                <a:lnTo>
                  <a:pt x="447675" y="0"/>
                </a:lnTo>
                <a:lnTo>
                  <a:pt x="895350" y="0"/>
                </a:lnTo>
              </a:path>
            </a:pathLst>
          </a:custGeom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4" name="Connector line-1792420591560-203159887"/>
          <p:cNvSpPr/>
          <p:nvPr/>
        </p:nvSpPr>
        <p:spPr>
          <a:xfrm>
            <a:off x="12439650" y="5143500"/>
            <a:ext cx="895350" cy="135255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21b75a54-774d-4e8b-b8be-a0d2abdc89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BỐI</a:t>
            </a:r>
            <a:r>
              <a:rPr lang="en-US" sz="1800" b="1" spc="28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2857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190750"/>
            <a:ext cx="15716250" cy="2857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7935"/>
              </a:lnSpc>
              <a:buNone/>
            </a:pP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Chịu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lỗi: hỏng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 phần, hệ thống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28750" y="5905500"/>
            <a:ext cx="15716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345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34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450" b="1" dirty="0" spc="-1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34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thế,</a:t>
            </a:r>
            <a:r>
              <a:rPr lang="en-US" sz="3450" b="1" dirty="0" spc="-2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450" b="1" dirty="0" spc="-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3450" b="1" dirty="0" spc="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45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 đúng</a:t>
            </a:r>
            <a:r>
              <a:rPr lang="en-US" sz="345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7403162f-6342-4e4d-ab84-e453efca497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6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SAO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 sẵn bản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 thế.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14287500" cy="1809750"/>
          </a:xfrm>
          <a:prstGeom prst="roundRect">
            <a:avLst>
              <a:gd name="adj" fmla="val 14737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238500"/>
            <a:ext cx="13525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Sao</a:t>
            </a:r>
            <a:r>
              <a:rPr lang="en-US" sz="31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chép:</a:t>
            </a: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1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1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1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nhiều</a:t>
            </a:r>
            <a:r>
              <a:rPr lang="en-US" sz="31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nơi.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2133600" y="4762500"/>
            <a:ext cx="14287500" cy="1809750"/>
          </a:xfrm>
          <a:prstGeom prst="roundRect">
            <a:avLst>
              <a:gd name="adj" fmla="val 14737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52700" y="4762500"/>
            <a:ext cx="13525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Dư</a:t>
            </a:r>
            <a:r>
              <a:rPr lang="en-US" sz="31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thừa:</a:t>
            </a: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31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1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31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31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31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thay.</a:t>
            </a:r>
            <a:endParaRPr lang="en-US" sz="3150" dirty="0"/>
          </a:p>
        </p:txBody>
      </p:sp>
      <p:sp>
        <p:nvSpPr>
          <p:cNvPr id="8" name="Shape 6"/>
          <p:cNvSpPr/>
          <p:nvPr/>
        </p:nvSpPr>
        <p:spPr>
          <a:xfrm>
            <a:off x="3352800" y="6286500"/>
            <a:ext cx="14020800" cy="1238250"/>
          </a:xfrm>
          <a:prstGeom prst="roundRect">
            <a:avLst>
              <a:gd name="adj" fmla="val 21538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3771900" y="6286500"/>
            <a:ext cx="13335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Cái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giá: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khớp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9da0bd30-9ff5-4ad2-b8fb-0ad2fcabdbe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CÂN</a:t>
            </a:r>
            <a:r>
              <a:rPr lang="en-US" sz="1800" b="1" spc="29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800" b="1" spc="25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1800" b="1" spc="25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việc,</a:t>
            </a:r>
            <a:r>
              <a:rPr lang="en-US" sz="63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chuyển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 hỏng.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45720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tải: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6858000" y="3619500"/>
            <a:ext cx="45720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801600" y="3619500"/>
            <a:ext cx="45720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endParaRPr lang="en-US" sz="2550" dirty="0"/>
          </a:p>
        </p:txBody>
      </p:sp>
      <p:sp>
        <p:nvSpPr>
          <p:cNvPr id="7" name="Connector line-1792420596632-401059147"/>
          <p:cNvSpPr/>
          <p:nvPr/>
        </p:nvSpPr>
        <p:spPr>
          <a:xfrm>
            <a:off x="5486400" y="4429125"/>
            <a:ext cx="13716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420596633-554726721"/>
          <p:cNvSpPr/>
          <p:nvPr/>
        </p:nvSpPr>
        <p:spPr>
          <a:xfrm>
            <a:off x="11430000" y="4429125"/>
            <a:ext cx="13716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647700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2A2E3B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6477000"/>
            <a:ext cx="156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7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Chuyển</a:t>
            </a:r>
            <a:r>
              <a:rPr lang="en-US" sz="2850" dirty="0" spc="-6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16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tức</a:t>
            </a:r>
            <a:r>
              <a:rPr lang="en-US" sz="285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thời:</a:t>
            </a:r>
            <a:r>
              <a:rPr lang="en-US" sz="2850" dirty="0" spc="9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85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850" dirty="0" spc="-1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285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 thể</a:t>
            </a:r>
            <a:r>
              <a:rPr lang="en-US" sz="2850" dirty="0" spc="-8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thấy</a:t>
            </a:r>
            <a:r>
              <a:rPr lang="en-US" sz="285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94edc9a9-2be1-440f-90aa-88c25f6ec8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</a:t>
            </a:r>
            <a:r>
              <a:rPr lang="en-US" sz="1800" b="1" spc="30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5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2857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190750"/>
            <a:ext cx="15716250" cy="2857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7935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Phần</a:t>
            </a:r>
            <a:r>
              <a:rPr lang="en-US" sz="6900" dirty="0" spc="-7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gợi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69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hỏng,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r>
              <a:rPr lang="en-US" sz="6900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đặt</a:t>
            </a:r>
            <a:r>
              <a:rPr lang="en-US" sz="6900" dirty="0" spc="-9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9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28750" y="5905500"/>
            <a:ext cx="15716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12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Tắt</a:t>
            </a:r>
            <a:r>
              <a:rPr lang="en-US" sz="34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bớt</a:t>
            </a:r>
            <a:r>
              <a:rPr lang="en-US" sz="34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34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34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3450" b="1" dirty="0" spc="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4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4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345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34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69842ad5-09c8-480f-be81-c6c4ea1ea3f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GIÁM</a:t>
            </a:r>
            <a:r>
              <a:rPr lang="en-US" sz="1800" b="1" spc="24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1800" b="1" spc="28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r>
              <a:rPr lang="en-US" sz="63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3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chữa</a:t>
            </a:r>
            <a:r>
              <a:rPr lang="en-US" sz="63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971925"/>
            <a:ext cx="914400" cy="9144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35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235" dirty="0"/>
          </a:p>
        </p:txBody>
      </p:sp>
      <p:sp>
        <p:nvSpPr>
          <p:cNvPr id="6" name="Text 4"/>
          <p:cNvSpPr/>
          <p:nvPr/>
        </p:nvSpPr>
        <p:spPr>
          <a:xfrm>
            <a:off x="2667000" y="3619500"/>
            <a:ext cx="14287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Thấy</a:t>
            </a:r>
            <a:r>
              <a:rPr lang="en-US" sz="31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sớm</a:t>
            </a:r>
            <a:r>
              <a:rPr lang="en-US" sz="315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1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</a:t>
            </a:r>
            <a:r>
              <a:rPr lang="en-US" sz="31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31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31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xử</a:t>
            </a:r>
            <a:r>
              <a:rPr lang="en-US" sz="31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lý.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14400" y="561975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3500" y="5972175"/>
            <a:ext cx="914400" cy="9144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35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235" dirty="0"/>
          </a:p>
        </p:txBody>
      </p:sp>
      <p:sp>
        <p:nvSpPr>
          <p:cNvPr id="9" name="Text 7"/>
          <p:cNvSpPr/>
          <p:nvPr/>
        </p:nvSpPr>
        <p:spPr>
          <a:xfrm>
            <a:off x="2667000" y="5619750"/>
            <a:ext cx="14287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Đo</a:t>
            </a:r>
            <a:r>
              <a:rPr lang="en-US" sz="315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sức</a:t>
            </a:r>
            <a:r>
              <a:rPr lang="en-US" sz="31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khỏe</a:t>
            </a:r>
            <a:r>
              <a:rPr lang="en-US" sz="315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31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chuyển</a:t>
            </a:r>
            <a:r>
              <a:rPr lang="en-US" sz="31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</a:t>
            </a:r>
            <a:r>
              <a:rPr lang="en-US" sz="31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phòng</a:t>
            </a:r>
            <a:r>
              <a:rPr lang="en-US" sz="31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31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lúc.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bb1c13a5-1e38-40f5-badc-5937721ad6d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Phép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r>
              <a:rPr lang="en-US" sz="63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3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CFE8E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143250"/>
            <a:ext cx="8001000" cy="1333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354330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Phép</a:t>
            </a:r>
            <a:r>
              <a:rPr lang="en-US" sz="285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tính</a:t>
            </a:r>
            <a:r>
              <a:rPr lang="en-US" sz="2850" dirty="0" spc="-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cho</a:t>
            </a:r>
            <a:r>
              <a:rPr lang="en-US" sz="2850" dirty="0" spc="-1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thấy</a:t>
            </a:r>
            <a:endParaRPr lang="en-US" sz="2850" dirty="0"/>
          </a:p>
        </p:txBody>
      </p:sp>
      <p:sp>
        <p:nvSpPr>
          <p:cNvPr id="7" name="Text richtext-1792420601573-597908655"/>
          <p:cNvSpPr/>
          <p:nvPr/>
        </p:nvSpPr>
        <p:spPr>
          <a:xfrm>
            <a:off x="1333500" y="438150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99%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song: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99,99%.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99,9% nối tiếp: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99,7%.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372600" y="314325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F8D9D0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3143250"/>
            <a:ext cx="8001000" cy="1333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9791700" y="354330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1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Thực</a:t>
            </a:r>
            <a:r>
              <a:rPr lang="en-US" sz="2850" dirty="0" spc="-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tế</a:t>
            </a:r>
            <a:r>
              <a:rPr lang="en-US" sz="2850" dirty="0" spc="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thường</a:t>
            </a:r>
            <a:r>
              <a:rPr lang="en-US" sz="2850" dirty="0" spc="-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lệch</a:t>
            </a:r>
            <a:endParaRPr lang="en-US" sz="2850" dirty="0"/>
          </a:p>
        </p:txBody>
      </p:sp>
      <p:sp>
        <p:nvSpPr>
          <p:cNvPr id="11" name="Text richtext-1792420601594-601447176"/>
          <p:cNvSpPr/>
          <p:nvPr/>
        </p:nvSpPr>
        <p:spPr>
          <a:xfrm>
            <a:off x="9791700" y="438150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mềm,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phòng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Dư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7e0b003f-8350-4c5a-bb46-b56d95f004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15240" rIns="0" bIns="-1524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4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máy,</a:t>
            </a:r>
            <a:r>
              <a:rPr lang="en-US" sz="48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4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4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 liệu:</a:t>
            </a:r>
            <a:r>
              <a:rPr lang="en-US" sz="48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tối</a:t>
            </a:r>
            <a:r>
              <a:rPr lang="en-US" sz="48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</a:t>
            </a:r>
            <a:r>
              <a:rPr lang="en-US" sz="4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4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nhiêu?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164592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0" dirty="0" spc="-18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99,9%</a:t>
            </a:r>
            <a:endParaRPr lang="en-US" sz="22500" dirty="0"/>
          </a:p>
        </p:txBody>
      </p:sp>
      <p:sp>
        <p:nvSpPr>
          <p:cNvPr id="5" name="Text 3"/>
          <p:cNvSpPr/>
          <p:nvPr/>
        </p:nvSpPr>
        <p:spPr>
          <a:xfrm>
            <a:off x="914400" y="7239000"/>
            <a:ext cx="16459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50" dirty="0" spc="-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Nếu cơ</a:t>
            </a:r>
            <a:r>
              <a:rPr lang="en-US" sz="3150" dirty="0" spc="-6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sở</a:t>
            </a:r>
            <a:r>
              <a:rPr lang="en-US" sz="3150" dirty="0" spc="-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315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3150" dirty="0" spc="-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99,9%,</a:t>
            </a:r>
            <a:r>
              <a:rPr lang="en-US" sz="3150" dirty="0" spc="-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 hệ</a:t>
            </a:r>
            <a:r>
              <a:rPr lang="en-US" sz="3150" dirty="0" spc="-6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thống không</a:t>
            </a:r>
            <a:r>
              <a:rPr lang="en-US" sz="3150" dirty="0" spc="-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hơn.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6ec7f602-f5c4-437c-b111-015d83285b4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THỬ: VÌ</a:t>
            </a:r>
            <a:r>
              <a:rPr lang="en-US" sz="1800" b="1" spc="27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b="1" spc="24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Độ sẵn sàng</a:t>
            </a:r>
            <a:r>
              <a:rPr lang="en-US" sz="6300" dirty="0" spc="-6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3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</a:t>
            </a:r>
            <a:r>
              <a:rPr lang="en-US" sz="63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ngừng.</a:t>
            </a:r>
            <a:endParaRPr lang="en-US" sz="6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143250"/>
          <a:ext cx="13716000" cy="914400"/>
        </p:xfrm>
        <a:graphic>
          <a:graphicData uri="http://schemas.openxmlformats.org/drawingml/2006/table">
            <a:tbl>
              <a:tblPr/>
              <a:tblGrid>
                <a:gridCol w="7406640"/>
                <a:gridCol w="9052560"/>
              </a:tblGrid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b="1" dirty="0" spc="0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Độ</a:t>
                      </a:r>
                      <a:r>
                        <a:rPr lang="en-US" sz="3000" b="1" dirty="0" spc="-1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sẵn</a:t>
                      </a:r>
                      <a:r>
                        <a:rPr lang="en-US" sz="3000" b="1" dirty="0" spc="-5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sàng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b="1" dirty="0" spc="1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Thời gian</a:t>
                      </a:r>
                      <a:r>
                        <a:rPr lang="en-US" sz="3000" b="1" dirty="0" spc="20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ngừng</a:t>
                      </a:r>
                      <a:r>
                        <a:rPr lang="en-US" sz="3000" b="1" dirty="0" spc="-4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mỗi</a:t>
                      </a:r>
                      <a:r>
                        <a:rPr lang="en-US" sz="3000" b="1" dirty="0" spc="-3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năm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b="1" dirty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99%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khoảng</a:t>
                      </a:r>
                      <a:r>
                        <a:rPr lang="en-US" sz="3000" dirty="0" spc="-6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87,6</a:t>
                      </a:r>
                      <a:r>
                        <a:rPr lang="en-US" sz="3000" dirty="0" spc="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giờ</a:t>
                      </a:r>
                      <a:r>
                        <a:rPr lang="en-US" sz="3000" dirty="0" spc="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(3,65</a:t>
                      </a:r>
                      <a:r>
                        <a:rPr lang="en-US" sz="3000" dirty="0" spc="-17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ngày)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b="1" dirty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99,9%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khoảng</a:t>
                      </a:r>
                      <a:r>
                        <a:rPr lang="en-US" sz="3000" dirty="0" spc="-3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8,76</a:t>
                      </a:r>
                      <a:r>
                        <a:rPr lang="en-US" sz="3000" dirty="0" spc="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giờ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b="1" dirty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99,99%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khoảng</a:t>
                      </a:r>
                      <a:r>
                        <a:rPr lang="en-US" sz="3000" dirty="0" spc="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52,6</a:t>
                      </a:r>
                      <a:r>
                        <a:rPr lang="en-US" sz="300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phút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</a:tbl>
          </a:graphicData>
        </a:graphic>
      </p:graphicFrame>
      <p:sp>
        <p:nvSpPr>
          <p:cNvPr id="5" name="Text richtext-1792420603611-101109977"/>
          <p:cNvSpPr/>
          <p:nvPr/>
        </p:nvSpPr>
        <p:spPr>
          <a:xfrm>
            <a:off x="914400" y="790575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Song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song: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1 −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−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a)²,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cần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 tiếp: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a0dd5bb8-5e29-4262-9d19-d369d3c1ee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7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76200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253365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25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5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pPr algn="l" indent="0" marL="0">
              <a:buNone/>
            </a:pPr>
            <a:r>
              <a:rPr lang="en-US" sz="25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</a:t>
            </a:r>
            <a:r>
              <a:rPr lang="en-US" sz="25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5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76200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8250" y="481965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255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5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55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pPr algn="l" indent="0" marL="0">
              <a:buNone/>
            </a:pPr>
            <a:r>
              <a:rPr lang="en-US" sz="25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mắt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xích mà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cả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372600" y="16192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72600" y="228600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9715500" y="228600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 cố</a:t>
            </a:r>
            <a:r>
              <a:rPr lang="en-US" sz="24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372600" y="3619500"/>
            <a:ext cx="80010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9715500" y="3619500"/>
            <a:ext cx="73342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7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</a:t>
            </a:r>
            <a:r>
              <a:rPr lang="en-US" sz="24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Well-Architected:</a:t>
            </a:r>
            <a:r>
              <a:rPr lang="en-US" sz="24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Reliability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Pillar,</a:t>
            </a:r>
            <a:r>
              <a:rPr lang="en-US" sz="24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Availability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9d3c0bd1-2d5e-4a47-90f4-47e4e42f69b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2026-10-19T14:37:12Z</dcterms:created>
  <dcterms:modified xsi:type="dcterms:W3CDTF">2026-10-19T14:37:12Z</dcterms:modified>
</cp:coreProperties>
</file>