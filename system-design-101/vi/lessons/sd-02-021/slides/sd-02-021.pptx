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952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21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9334500" cy="3810000"/>
          </a:xfrm>
          <a:prstGeom prst="rect">
            <a:avLst/>
          </a:prstGeom>
          <a:noFill/>
          <a:ln/>
        </p:spPr>
        <p:txBody>
          <a:bodyPr wrap="square" lIns="0" tIns="66675" rIns="0" bIns="-66675" rtlCol="0" anchor="t"/>
          <a:lstStyle/>
          <a:p>
            <a:pPr algn="l" indent="0" marL="0">
              <a:lnSpc>
                <a:spcPts val="7800"/>
              </a:lnSpc>
              <a:buNone/>
            </a:pPr>
            <a:r>
              <a:rPr lang="en-US" sz="75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Netflix</a:t>
            </a:r>
            <a:r>
              <a:rPr lang="en-US" sz="7500" dirty="0" spc="-8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7500" dirty="0" spc="-7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Java:</a:t>
            </a:r>
            <a:r>
              <a:rPr lang="en-US" sz="7500" dirty="0" spc="-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ba</a:t>
            </a:r>
            <a:r>
              <a:rPr lang="en-US" sz="7500" dirty="0" spc="-2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đời</a:t>
            </a:r>
            <a:r>
              <a:rPr lang="en-US" sz="75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kiến</a:t>
            </a:r>
            <a:r>
              <a:rPr lang="en-US" sz="7500" dirty="0" spc="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trúc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5715000"/>
            <a:ext cx="8572500" cy="1143000"/>
          </a:xfrm>
          <a:prstGeom prst="rect">
            <a:avLst/>
          </a:prstGeom>
          <a:noFill/>
          <a:ln/>
        </p:spPr>
        <p:txBody>
          <a:bodyPr wrap="square" lIns="0" tIns="6667" rIns="0" bIns="-6667" rtlCol="0" anchor="t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300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3000" dirty="0" spc="-2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Java.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Cái</a:t>
            </a:r>
            <a:r>
              <a:rPr lang="en-US" sz="30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r>
              <a:rPr lang="en-US" sz="3000" dirty="0" spc="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đổi?</a:t>
            </a:r>
            <a:endParaRPr lang="en-US" sz="3000" dirty="0"/>
          </a:p>
        </p:txBody>
      </p:sp>
      <p:sp>
        <p:nvSpPr>
          <p:cNvPr id="5" name="Connector line-1792380004514-835365071"/>
          <p:cNvSpPr/>
          <p:nvPr/>
        </p:nvSpPr>
        <p:spPr>
          <a:xfrm>
            <a:off x="914400" y="7239000"/>
            <a:ext cx="8610600" cy="0"/>
          </a:xfrm>
          <a:prstGeom prst="line">
            <a:avLst/>
          </a:prstGeom>
          <a:noFill/>
          <a:ln w="19050">
            <a:solidFill>
              <a:srgbClr val="2D3140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914400" y="7524750"/>
            <a:ext cx="8572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cổng,</a:t>
            </a:r>
            <a:r>
              <a:rPr lang="en-US" sz="2100" dirty="0" spc="-2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1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BFF,</a:t>
            </a:r>
            <a:r>
              <a:rPr lang="en-US" sz="2100" dirty="0" spc="-2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1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GraphQL</a:t>
            </a:r>
            <a:r>
              <a:rPr lang="en-US" sz="2100" dirty="0" spc="-2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Federation.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14400" y="9620250"/>
            <a:ext cx="8572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 Tình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65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165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tế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10668000" y="1428750"/>
            <a:ext cx="3238500" cy="3238500"/>
          </a:xfrm>
          <a:prstGeom prst="roundRect">
            <a:avLst>
              <a:gd name="adj" fmla="val 8235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953750" y="1714500"/>
            <a:ext cx="2667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01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0953750" y="2762250"/>
            <a:ext cx="2667000" cy="1619250"/>
          </a:xfrm>
          <a:prstGeom prst="rect">
            <a:avLst/>
          </a:prstGeom>
          <a:noFill/>
          <a:ln/>
        </p:spPr>
        <p:txBody>
          <a:bodyPr wrap="square" lIns="0" tIns="20002" rIns="0" bIns="-20002" rtlCol="0" anchor="t"/>
          <a:lstStyle/>
          <a:p>
            <a:pPr algn="l" indent="0" marL="0">
              <a:lnSpc>
                <a:spcPts val="3465"/>
              </a:lnSpc>
              <a:buNone/>
            </a:pPr>
            <a:r>
              <a:rPr lang="en-US" sz="3150" dirty="0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Cổng API</a:t>
            </a:r>
            <a:endParaRPr lang="en-US" sz="3150" dirty="0"/>
          </a:p>
        </p:txBody>
      </p:sp>
      <p:sp>
        <p:nvSpPr>
          <p:cNvPr id="11" name="Shape 9"/>
          <p:cNvSpPr/>
          <p:nvPr/>
        </p:nvSpPr>
        <p:spPr>
          <a:xfrm>
            <a:off x="14135100" y="1428750"/>
            <a:ext cx="3238500" cy="3238500"/>
          </a:xfrm>
          <a:prstGeom prst="roundRect">
            <a:avLst>
              <a:gd name="adj" fmla="val 8235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4420850" y="1714500"/>
            <a:ext cx="2667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4420850" y="2762250"/>
            <a:ext cx="2667000" cy="1619250"/>
          </a:xfrm>
          <a:prstGeom prst="rect">
            <a:avLst/>
          </a:prstGeom>
          <a:noFill/>
          <a:ln/>
        </p:spPr>
        <p:txBody>
          <a:bodyPr wrap="square" lIns="0" tIns="20002" rIns="0" bIns="-20002" rtlCol="0" anchor="t"/>
          <a:lstStyle/>
          <a:p>
            <a:pPr algn="l" indent="0" marL="0">
              <a:lnSpc>
                <a:spcPts val="3465"/>
              </a:lnSpc>
              <a:buNone/>
            </a:pPr>
            <a:r>
              <a:rPr lang="en-US" sz="3150" dirty="0" spc="-79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BFF,</a:t>
            </a:r>
            <a:r>
              <a:rPr lang="en-US" sz="3150" dirty="0" spc="-21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Groovy,</a:t>
            </a:r>
            <a:r>
              <a:rPr lang="en-US" sz="3150" dirty="0" spc="-30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RxJava</a:t>
            </a:r>
            <a:endParaRPr lang="en-US" sz="3150" dirty="0"/>
          </a:p>
        </p:txBody>
      </p:sp>
      <p:sp>
        <p:nvSpPr>
          <p:cNvPr id="14" name="Shape 12"/>
          <p:cNvSpPr/>
          <p:nvPr/>
        </p:nvSpPr>
        <p:spPr>
          <a:xfrm>
            <a:off x="10668000" y="4895850"/>
            <a:ext cx="3238500" cy="3238500"/>
          </a:xfrm>
          <a:prstGeom prst="roundRect">
            <a:avLst>
              <a:gd name="adj" fmla="val 8235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953750" y="5181600"/>
            <a:ext cx="2667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03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0953750" y="6229350"/>
            <a:ext cx="2667000" cy="1619250"/>
          </a:xfrm>
          <a:prstGeom prst="rect">
            <a:avLst/>
          </a:prstGeom>
          <a:noFill/>
          <a:ln/>
        </p:spPr>
        <p:txBody>
          <a:bodyPr wrap="square" lIns="0" tIns="20002" rIns="0" bIns="-20002" rtlCol="0" anchor="t"/>
          <a:lstStyle/>
          <a:p>
            <a:pPr algn="l" indent="0" marL="0">
              <a:lnSpc>
                <a:spcPts val="3465"/>
              </a:lnSpc>
              <a:buNone/>
            </a:pPr>
            <a:r>
              <a:rPr lang="en-US" sz="3150" dirty="0" spc="-9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GraphQL</a:t>
            </a:r>
            <a:r>
              <a:rPr lang="en-US" sz="3150" dirty="0" spc="-10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Federation</a:t>
            </a:r>
            <a:endParaRPr lang="en-US" sz="3150" dirty="0"/>
          </a:p>
        </p:txBody>
      </p:sp>
      <p:sp>
        <p:nvSpPr>
          <p:cNvPr id="17" name="Shape 15"/>
          <p:cNvSpPr/>
          <p:nvPr/>
        </p:nvSpPr>
        <p:spPr>
          <a:xfrm>
            <a:off x="14135100" y="4895850"/>
            <a:ext cx="3238500" cy="3238500"/>
          </a:xfrm>
          <a:prstGeom prst="roundRect">
            <a:avLst>
              <a:gd name="adj" fmla="val 8235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4420850" y="5181600"/>
            <a:ext cx="2667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04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4420850" y="6229350"/>
            <a:ext cx="2667000" cy="1619250"/>
          </a:xfrm>
          <a:prstGeom prst="rect">
            <a:avLst/>
          </a:prstGeom>
          <a:noFill/>
          <a:ln/>
        </p:spPr>
        <p:txBody>
          <a:bodyPr wrap="square" lIns="0" tIns="20002" rIns="0" bIns="-20002" rtlCol="0" anchor="t"/>
          <a:lstStyle/>
          <a:p>
            <a:pPr algn="l" indent="0" marL="0">
              <a:lnSpc>
                <a:spcPts val="3465"/>
              </a:lnSpc>
              <a:buNone/>
            </a:pPr>
            <a:r>
              <a:rPr lang="en-US" sz="3150" dirty="0" spc="2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Điểm</a:t>
            </a:r>
            <a:r>
              <a:rPr lang="en-US" sz="3150" dirty="0" spc="0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chung</a:t>
            </a:r>
            <a:endParaRPr lang="en-US" sz="3150" dirty="0"/>
          </a:p>
        </p:txBody>
      </p:sp>
      <p:sp>
        <p:nvSpPr>
          <p:cNvPr id="20" name="Shape 1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1" name="Moda image moda-export-watermark-b60ad09c-6563-4fda-bfe2-c4d23113c13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24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Shape 1"/>
          <p:cNvSpPr/>
          <p:nvPr/>
        </p:nvSpPr>
        <p:spPr>
          <a:xfrm>
            <a:off x="914400" y="2476500"/>
            <a:ext cx="152400" cy="34290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</p:sp>
      <p:sp>
        <p:nvSpPr>
          <p:cNvPr id="4" name="Text 2"/>
          <p:cNvSpPr/>
          <p:nvPr/>
        </p:nvSpPr>
        <p:spPr>
          <a:xfrm>
            <a:off x="1428750" y="2381250"/>
            <a:ext cx="15240000" cy="3810000"/>
          </a:xfrm>
          <a:prstGeom prst="rect">
            <a:avLst/>
          </a:prstGeom>
          <a:noFill/>
          <a:ln/>
        </p:spPr>
        <p:txBody>
          <a:bodyPr wrap="square" lIns="0" tIns="45720" rIns="0" bIns="-45720" rtlCol="0" anchor="t"/>
          <a:lstStyle/>
          <a:p>
            <a:pPr algn="l" indent="0" marL="0">
              <a:lnSpc>
                <a:spcPts val="7920"/>
              </a:lnSpc>
              <a:buNone/>
            </a:pPr>
            <a:r>
              <a:rPr lang="en-US" sz="7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Mọi</a:t>
            </a:r>
            <a:r>
              <a:rPr lang="en-US" sz="7200" dirty="0" spc="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ứng</a:t>
            </a:r>
            <a:r>
              <a:rPr lang="en-US" sz="7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dụng</a:t>
            </a:r>
            <a:r>
              <a:rPr lang="en-US" sz="7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phía</a:t>
            </a:r>
            <a:r>
              <a:rPr lang="en-US" sz="72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sau</a:t>
            </a:r>
            <a:r>
              <a:rPr lang="en-US" sz="7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</a:t>
            </a:r>
            <a:r>
              <a:rPr lang="en-US" sz="72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Netflix là</a:t>
            </a:r>
            <a:r>
              <a:rPr lang="en-US" sz="7200" dirty="0" spc="-7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Java.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1428750" y="6858000"/>
            <a:ext cx="14287500" cy="95250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Nội</a:t>
            </a:r>
            <a:r>
              <a:rPr lang="en-US" sz="24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bộ,</a:t>
            </a:r>
            <a:r>
              <a:rPr lang="en-US" sz="240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24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video,</a:t>
            </a:r>
            <a:r>
              <a:rPr lang="en-US" sz="24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sản</a:t>
            </a:r>
            <a:r>
              <a:rPr lang="en-US" sz="240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xuất</a:t>
            </a:r>
            <a:r>
              <a:rPr lang="en-US" sz="24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phim.</a:t>
            </a:r>
            <a:r>
              <a:rPr lang="en-US" sz="240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Ngăn</a:t>
            </a:r>
            <a:r>
              <a:rPr lang="en-US" sz="240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xếp</a:t>
            </a:r>
            <a:r>
              <a:rPr lang="en-US" sz="2400" dirty="0" spc="-1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</a:t>
            </a:r>
            <a:r>
              <a:rPr lang="en-US" sz="24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</a:t>
            </a:r>
            <a:r>
              <a:rPr lang="en-US" sz="2400" dirty="0" spc="1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4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24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400" dirty="0" spc="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đời.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21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650" dirty="0"/>
          </a:p>
        </p:txBody>
      </p:sp>
      <p:sp>
        <p:nvSpPr>
          <p:cNvPr id="17" name="Shape 1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0fb42712-b573-486b-94ca-c1c8db2f81e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8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</a:t>
            </a:r>
            <a:r>
              <a:rPr lang="en-US" sz="1950" b="1" spc="30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ĐỜI</a:t>
            </a:r>
            <a:r>
              <a:rPr lang="en-US" sz="1950" b="1" spc="296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44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BẮT</a:t>
            </a:r>
            <a:r>
              <a:rPr lang="en-US" sz="1950" b="1" spc="28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195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 CỔNG API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35052" rIns="0" bIns="-35052" rtlCol="0" anchor="t"/>
          <a:lstStyle/>
          <a:p>
            <a:pPr algn="l" indent="0" marL="0">
              <a:lnSpc>
                <a:spcPts val="7728"/>
              </a:lnSpc>
              <a:buNone/>
            </a:pPr>
            <a:r>
              <a:rPr lang="en-US" sz="69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6900" dirty="0" spc="-2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đời,</a:t>
            </a:r>
            <a:r>
              <a:rPr lang="en-US" sz="6900" dirty="0" spc="-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6900" dirty="0" spc="-3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ngôn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ngữ</a:t>
            </a:r>
            <a:endParaRPr lang="en-US" sz="6900" dirty="0"/>
          </a:p>
        </p:txBody>
      </p:sp>
      <p:sp>
        <p:nvSpPr>
          <p:cNvPr id="4" name="Connector line-1792380008402-899483644"/>
          <p:cNvSpPr/>
          <p:nvPr/>
        </p:nvSpPr>
        <p:spPr>
          <a:xfrm>
            <a:off x="914400" y="4000500"/>
            <a:ext cx="16459200" cy="0"/>
          </a:xfrm>
          <a:prstGeom prst="line">
            <a:avLst/>
          </a:prstGeom>
          <a:noFill/>
          <a:ln w="47625">
            <a:solidFill>
              <a:srgbClr val="B45309"/>
            </a:solidFill>
            <a:prstDash val="solid"/>
            <a:headEnd type="none"/>
            <a:tailEnd type="none"/>
          </a:ln>
        </p:spPr>
      </p:sp>
      <p:sp>
        <p:nvSpPr>
          <p:cNvPr id="5" name="Shape 3"/>
          <p:cNvSpPr/>
          <p:nvPr/>
        </p:nvSpPr>
        <p:spPr>
          <a:xfrm>
            <a:off x="952500" y="3810000"/>
            <a:ext cx="381000" cy="38100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3143250"/>
            <a:ext cx="5105400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-20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Đời</a:t>
            </a:r>
            <a:r>
              <a:rPr lang="en-US" sz="3300" dirty="0" spc="-4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1</a:t>
            </a:r>
            <a:endParaRPr lang="en-US" sz="3300" dirty="0"/>
          </a:p>
        </p:txBody>
      </p:sp>
      <p:sp>
        <p:nvSpPr>
          <p:cNvPr id="7" name="Text 5"/>
          <p:cNvSpPr/>
          <p:nvPr/>
        </p:nvSpPr>
        <p:spPr>
          <a:xfrm>
            <a:off x="914400" y="4572000"/>
            <a:ext cx="5105400" cy="1238250"/>
          </a:xfrm>
          <a:prstGeom prst="rect">
            <a:avLst/>
          </a:prstGeom>
          <a:noFill/>
          <a:ln/>
        </p:spPr>
        <p:txBody>
          <a:bodyPr wrap="square" lIns="0" tIns="21907" rIns="0" bIns="-21907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45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Cổng</a:t>
            </a:r>
            <a:r>
              <a:rPr lang="en-US" sz="345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API</a:t>
            </a:r>
            <a:endParaRPr lang="en-US" sz="3450" dirty="0"/>
          </a:p>
        </p:txBody>
      </p:sp>
      <p:sp>
        <p:nvSpPr>
          <p:cNvPr id="8" name="Text 6"/>
          <p:cNvSpPr/>
          <p:nvPr/>
        </p:nvSpPr>
        <p:spPr>
          <a:xfrm>
            <a:off x="914400" y="5905500"/>
            <a:ext cx="5010150" cy="190500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-2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250" dirty="0" spc="10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chức</a:t>
            </a:r>
            <a:r>
              <a:rPr lang="en-US" sz="2250" dirty="0" spc="0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năng</a:t>
            </a:r>
            <a:r>
              <a:rPr lang="en-US" sz="2250" dirty="0" spc="-1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250" dirty="0" spc="-4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250" dirty="0" spc="-10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microservice</a:t>
            </a:r>
            <a:r>
              <a:rPr lang="en-US" sz="2250" dirty="0" spc="-19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Java,</a:t>
            </a:r>
            <a:r>
              <a:rPr lang="en-US" sz="2250" dirty="0" spc="-1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ban</a:t>
            </a:r>
            <a:r>
              <a:rPr lang="en-US" sz="2250" dirty="0" spc="11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250" dirty="0" spc="-21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</a:t>
            </a:r>
            <a:r>
              <a:rPr lang="en-US" sz="2250" dirty="0" spc="5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8.</a:t>
            </a:r>
            <a:endParaRPr lang="en-US" sz="2250" dirty="0"/>
          </a:p>
        </p:txBody>
      </p:sp>
      <p:sp>
        <p:nvSpPr>
          <p:cNvPr id="9" name="Shape 7"/>
          <p:cNvSpPr/>
          <p:nvPr/>
        </p:nvSpPr>
        <p:spPr>
          <a:xfrm>
            <a:off x="6438900" y="3810000"/>
            <a:ext cx="381000" cy="38100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0" y="3143250"/>
            <a:ext cx="5105400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-20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Đời</a:t>
            </a:r>
            <a:r>
              <a:rPr lang="en-US" sz="3300" dirty="0" spc="0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2</a:t>
            </a:r>
            <a:endParaRPr lang="en-US" sz="3300" dirty="0"/>
          </a:p>
        </p:txBody>
      </p:sp>
      <p:sp>
        <p:nvSpPr>
          <p:cNvPr id="11" name="Text 9"/>
          <p:cNvSpPr/>
          <p:nvPr/>
        </p:nvSpPr>
        <p:spPr>
          <a:xfrm>
            <a:off x="6400800" y="4572000"/>
            <a:ext cx="5105400" cy="1238250"/>
          </a:xfrm>
          <a:prstGeom prst="rect">
            <a:avLst/>
          </a:prstGeom>
          <a:noFill/>
          <a:ln/>
        </p:spPr>
        <p:txBody>
          <a:bodyPr wrap="square" lIns="0" tIns="21907" rIns="0" bIns="-21907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45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BFF</a:t>
            </a:r>
            <a:endParaRPr lang="en-US" sz="3450" dirty="0"/>
          </a:p>
        </p:txBody>
      </p:sp>
      <p:sp>
        <p:nvSpPr>
          <p:cNvPr id="12" name="Text 10"/>
          <p:cNvSpPr/>
          <p:nvPr/>
        </p:nvSpPr>
        <p:spPr>
          <a:xfrm>
            <a:off x="6400800" y="5905500"/>
            <a:ext cx="5010150" cy="190500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-2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250" dirty="0" spc="-5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loại</a:t>
            </a:r>
            <a:r>
              <a:rPr lang="en-US" sz="2250" dirty="0" spc="-10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250" dirty="0" spc="0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</a:t>
            </a:r>
            <a:r>
              <a:rPr lang="en-US" sz="2250" dirty="0" spc="-4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250" dirty="0" spc="4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lớp</a:t>
            </a:r>
            <a:r>
              <a:rPr lang="en-US" sz="2250" dirty="0" spc="5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riêng.</a:t>
            </a:r>
            <a:endParaRPr lang="en-US" sz="2250" dirty="0"/>
          </a:p>
        </p:txBody>
      </p:sp>
      <p:sp>
        <p:nvSpPr>
          <p:cNvPr id="13" name="Shape 11"/>
          <p:cNvSpPr/>
          <p:nvPr/>
        </p:nvSpPr>
        <p:spPr>
          <a:xfrm>
            <a:off x="11925300" y="3810000"/>
            <a:ext cx="381000" cy="38100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14" name="Text 12"/>
          <p:cNvSpPr/>
          <p:nvPr/>
        </p:nvSpPr>
        <p:spPr>
          <a:xfrm>
            <a:off x="11887200" y="3143250"/>
            <a:ext cx="5105400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-20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Đời</a:t>
            </a:r>
            <a:r>
              <a:rPr lang="en-US" sz="3300" dirty="0" spc="-2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3</a:t>
            </a:r>
            <a:endParaRPr lang="en-US" sz="3300" dirty="0"/>
          </a:p>
        </p:txBody>
      </p:sp>
      <p:sp>
        <p:nvSpPr>
          <p:cNvPr id="15" name="Text 13"/>
          <p:cNvSpPr/>
          <p:nvPr/>
        </p:nvSpPr>
        <p:spPr>
          <a:xfrm>
            <a:off x="11887200" y="4572000"/>
            <a:ext cx="5105400" cy="1238250"/>
          </a:xfrm>
          <a:prstGeom prst="rect">
            <a:avLst/>
          </a:prstGeom>
          <a:noFill/>
          <a:ln/>
        </p:spPr>
        <p:txBody>
          <a:bodyPr wrap="square" lIns="0" tIns="21907" rIns="0" bIns="-21907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45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GraphQL</a:t>
            </a:r>
            <a:r>
              <a:rPr lang="en-US" sz="3450" dirty="0" spc="-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Federation</a:t>
            </a:r>
            <a:endParaRPr lang="en-US" sz="3450" dirty="0"/>
          </a:p>
        </p:txBody>
      </p:sp>
      <p:sp>
        <p:nvSpPr>
          <p:cNvPr id="16" name="Text 14"/>
          <p:cNvSpPr/>
          <p:nvPr/>
        </p:nvSpPr>
        <p:spPr>
          <a:xfrm>
            <a:off x="11887200" y="5905500"/>
            <a:ext cx="5010150" cy="190500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-10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Thay</a:t>
            </a:r>
            <a:r>
              <a:rPr lang="en-US" sz="2250" dirty="0" spc="1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250" dirty="0" spc="-1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250" dirty="0" spc="-23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Groovy</a:t>
            </a:r>
            <a:r>
              <a:rPr lang="en-US" sz="2250" dirty="0" spc="-17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-13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RxJava.</a:t>
            </a:r>
            <a:endParaRPr lang="en-US" sz="2250" dirty="0"/>
          </a:p>
        </p:txBody>
      </p:sp>
      <p:sp>
        <p:nvSpPr>
          <p:cNvPr id="17" name="Text 15"/>
          <p:cNvSpPr/>
          <p:nvPr/>
        </p:nvSpPr>
        <p:spPr>
          <a:xfrm>
            <a:off x="914400" y="8191500"/>
            <a:ext cx="1645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</a:t>
            </a:r>
            <a:r>
              <a:rPr lang="en-US" sz="210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21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210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cổng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r>
              <a:rPr lang="en-US" sz="21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100" dirty="0" spc="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đời</a:t>
            </a:r>
            <a:r>
              <a:rPr lang="en-US" sz="21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1.</a:t>
            </a:r>
            <a:endParaRPr lang="en-US" sz="2100" dirty="0"/>
          </a:p>
        </p:txBody>
      </p:sp>
      <p:sp>
        <p:nvSpPr>
          <p:cNvPr id="18" name="Shape 16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21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03/10</a:t>
            </a:r>
            <a:endParaRPr lang="en-US" sz="1650" dirty="0"/>
          </a:p>
        </p:txBody>
      </p:sp>
      <p:sp>
        <p:nvSpPr>
          <p:cNvPr id="29" name="Shape 2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0" name="Moda image moda-export-watermark-9238096a-994c-4c3c-8da5-0dd26b5040c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ĐỜI</a:t>
            </a:r>
            <a:r>
              <a:rPr lang="en-US" sz="1950" b="1" spc="297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r>
              <a:rPr lang="en-US" sz="1950" b="1" spc="296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1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BFF</a:t>
            </a:r>
            <a:r>
              <a:rPr lang="en-US" sz="1950" b="1" spc="29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1950" b="1" spc="293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GROOVY</a:t>
            </a:r>
            <a:r>
              <a:rPr lang="en-US" sz="1950" b="1" spc="24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47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RXJAVA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35052" rIns="0" bIns="-35052" rtlCol="0" anchor="t"/>
          <a:lstStyle/>
          <a:p>
            <a:pPr algn="l" indent="0" marL="0">
              <a:lnSpc>
                <a:spcPts val="7728"/>
              </a:lnSpc>
              <a:buNone/>
            </a:pP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Mỗi</a:t>
            </a:r>
            <a:r>
              <a:rPr lang="en-US" sz="6900" dirty="0" spc="-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loại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máy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khách</a:t>
            </a:r>
            <a:r>
              <a:rPr lang="en-US" sz="690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69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BFF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4095750"/>
            <a:ext cx="4953000" cy="2286000"/>
          </a:xfrm>
          <a:prstGeom prst="roundRect">
            <a:avLst>
              <a:gd name="adj" fmla="val 13333"/>
            </a:avLst>
          </a:prstGeom>
          <a:solidFill>
            <a:srgbClr val="3DD6A0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4381500"/>
            <a:ext cx="4191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94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1950" b="1" spc="224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CỔNG</a:t>
            </a:r>
            <a:r>
              <a:rPr lang="en-US" sz="1950" b="1" spc="225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295400" y="4857750"/>
            <a:ext cx="4191000" cy="1333500"/>
          </a:xfrm>
          <a:prstGeom prst="rect">
            <a:avLst/>
          </a:prstGeom>
          <a:noFill/>
          <a:ln/>
        </p:spPr>
        <p:txBody>
          <a:bodyPr wrap="square" lIns="0" tIns="21907" rIns="0" bIns="-21907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45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Mỗi</a:t>
            </a:r>
            <a:r>
              <a:rPr lang="en-US" sz="345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loại</a:t>
            </a:r>
            <a:r>
              <a:rPr lang="en-US" sz="345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máy khách khác</a:t>
            </a:r>
            <a:r>
              <a:rPr lang="en-US" sz="345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345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chút</a:t>
            </a:r>
            <a:endParaRPr lang="en-US" sz="3450" dirty="0"/>
          </a:p>
        </p:txBody>
      </p:sp>
      <p:sp>
        <p:nvSpPr>
          <p:cNvPr id="7" name="Shape 5"/>
          <p:cNvSpPr/>
          <p:nvPr/>
        </p:nvSpPr>
        <p:spPr>
          <a:xfrm>
            <a:off x="10896600" y="2952750"/>
            <a:ext cx="6477000" cy="1333500"/>
          </a:xfrm>
          <a:prstGeom prst="roundRect">
            <a:avLst>
              <a:gd name="adj" fmla="val 15714"/>
            </a:avLst>
          </a:prstGeom>
          <a:solidFill>
            <a:srgbClr val="1E212B"/>
          </a:solidFill>
          <a:ln w="19050">
            <a:solidFill>
              <a:srgbClr val="2D314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277600" y="3162300"/>
            <a:ext cx="5715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TV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1277600" y="3543300"/>
            <a:ext cx="57150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BFF</a:t>
            </a:r>
            <a:r>
              <a:rPr lang="en-US" sz="30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riêng</a:t>
            </a:r>
            <a:endParaRPr lang="en-US" sz="3000" dirty="0"/>
          </a:p>
        </p:txBody>
      </p:sp>
      <p:sp>
        <p:nvSpPr>
          <p:cNvPr id="10" name="Connector line-1792380009372-738857844"/>
          <p:cNvSpPr/>
          <p:nvPr/>
        </p:nvSpPr>
        <p:spPr>
          <a:xfrm flipV="1">
            <a:off x="5867400" y="3619500"/>
            <a:ext cx="5029200" cy="1428750"/>
          </a:xfrm>
          <a:prstGeom prst="line">
            <a:avLst/>
          </a:prstGeom>
          <a:noFill/>
          <a:ln w="38100">
            <a:solidFill>
              <a:srgbClr val="3DD6A0"/>
            </a:solidFill>
            <a:prstDash val="solid"/>
            <a:headEnd type="none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10896600" y="4572000"/>
            <a:ext cx="6477000" cy="1333500"/>
          </a:xfrm>
          <a:prstGeom prst="roundRect">
            <a:avLst>
              <a:gd name="adj" fmla="val 15714"/>
            </a:avLst>
          </a:prstGeom>
          <a:solidFill>
            <a:srgbClr val="1E212B"/>
          </a:solidFill>
          <a:ln w="19050">
            <a:solidFill>
              <a:srgbClr val="2D314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277600" y="4781550"/>
            <a:ext cx="5715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4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DI</a:t>
            </a:r>
            <a:r>
              <a:rPr lang="en-US" sz="1800" b="1" spc="225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1277600" y="5162550"/>
            <a:ext cx="57150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BFF</a:t>
            </a:r>
            <a:r>
              <a:rPr lang="en-US" sz="30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riêng</a:t>
            </a:r>
            <a:endParaRPr lang="en-US" sz="3000" dirty="0"/>
          </a:p>
        </p:txBody>
      </p:sp>
      <p:sp>
        <p:nvSpPr>
          <p:cNvPr id="14" name="Connector line-1792380009375-139258790"/>
          <p:cNvSpPr/>
          <p:nvPr/>
        </p:nvSpPr>
        <p:spPr>
          <a:xfrm>
            <a:off x="5867400" y="5238750"/>
            <a:ext cx="5029200" cy="0"/>
          </a:xfrm>
          <a:prstGeom prst="line">
            <a:avLst/>
          </a:prstGeom>
          <a:noFill/>
          <a:ln w="38100">
            <a:solidFill>
              <a:srgbClr val="3DD6A0"/>
            </a:solidFill>
            <a:prstDash val="solid"/>
            <a:headEnd type="none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10896600" y="6191250"/>
            <a:ext cx="6477000" cy="1333500"/>
          </a:xfrm>
          <a:prstGeom prst="roundRect">
            <a:avLst>
              <a:gd name="adj" fmla="val 15714"/>
            </a:avLst>
          </a:prstGeom>
          <a:solidFill>
            <a:srgbClr val="1E212B"/>
          </a:solidFill>
          <a:ln w="19050">
            <a:solidFill>
              <a:srgbClr val="2D314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277600" y="6400800"/>
            <a:ext cx="5715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4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TRÌNH</a:t>
            </a:r>
            <a:r>
              <a:rPr lang="en-US" sz="1800" b="1" spc="23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DUYỆT</a:t>
            </a:r>
            <a:r>
              <a:rPr lang="en-US" sz="1800" b="1" spc="228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1277600" y="6781800"/>
            <a:ext cx="57150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BFF</a:t>
            </a:r>
            <a:r>
              <a:rPr lang="en-US" sz="30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riêng</a:t>
            </a:r>
            <a:endParaRPr lang="en-US" sz="3000" dirty="0"/>
          </a:p>
        </p:txBody>
      </p:sp>
      <p:sp>
        <p:nvSpPr>
          <p:cNvPr id="18" name="Connector line-1792380009379-383747501"/>
          <p:cNvSpPr/>
          <p:nvPr/>
        </p:nvSpPr>
        <p:spPr>
          <a:xfrm>
            <a:off x="5867400" y="5429250"/>
            <a:ext cx="5029200" cy="1428750"/>
          </a:xfrm>
          <a:prstGeom prst="line">
            <a:avLst/>
          </a:prstGeom>
          <a:noFill/>
          <a:ln w="38100">
            <a:solidFill>
              <a:srgbClr val="3DD6A0"/>
            </a:solidFill>
            <a:prstDash val="solid"/>
            <a:headEnd type="none"/>
            <a:tailEnd type="none"/>
          </a:ln>
        </p:spPr>
      </p:sp>
      <p:sp>
        <p:nvSpPr>
          <p:cNvPr id="19" name="Shape 17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21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65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72df103f-b846-47cf-88fb-7d358c7019c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ĐỜI</a:t>
            </a: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950" b="1" spc="29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GRAPHQL</a:t>
            </a:r>
            <a:r>
              <a:rPr lang="en-US" sz="1950" b="1" spc="28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FEDERATION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428750"/>
          </a:xfrm>
          <a:prstGeom prst="rect">
            <a:avLst/>
          </a:prstGeom>
          <a:noFill/>
          <a:ln/>
        </p:spPr>
        <p:txBody>
          <a:bodyPr wrap="square" lIns="0" tIns="33528" rIns="0" bIns="-33528" rtlCol="0" anchor="t"/>
          <a:lstStyle/>
          <a:p>
            <a:pPr algn="l" indent="0" marL="0">
              <a:lnSpc>
                <a:spcPts val="7392"/>
              </a:lnSpc>
              <a:buNone/>
            </a:pPr>
            <a:r>
              <a:rPr lang="en-US" sz="66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Vì</a:t>
            </a:r>
            <a:r>
              <a:rPr lang="en-US" sz="66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sao</a:t>
            </a:r>
            <a:r>
              <a:rPr lang="en-US" sz="6600" dirty="0" spc="-5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rời</a:t>
            </a:r>
            <a:r>
              <a:rPr lang="en-US" sz="6600" dirty="0" spc="-3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Groovy</a:t>
            </a:r>
            <a:r>
              <a:rPr lang="en-US" sz="6600" dirty="0" spc="-7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6600" dirty="0" spc="-6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RxJava</a:t>
            </a:r>
            <a:endParaRPr lang="en-US" sz="6600" dirty="0"/>
          </a:p>
        </p:txBody>
      </p:sp>
      <p:sp>
        <p:nvSpPr>
          <p:cNvPr id="4" name="Shape 2"/>
          <p:cNvSpPr/>
          <p:nvPr/>
        </p:nvSpPr>
        <p:spPr>
          <a:xfrm>
            <a:off x="914400" y="3238500"/>
            <a:ext cx="8001000" cy="4000500"/>
          </a:xfrm>
          <a:prstGeom prst="roundRect">
            <a:avLst>
              <a:gd name="adj" fmla="val 7619"/>
            </a:avLst>
          </a:prstGeom>
          <a:solidFill>
            <a:srgbClr val="E8472B"/>
          </a:solidFill>
          <a:ln/>
        </p:spPr>
      </p:sp>
      <p:sp>
        <p:nvSpPr>
          <p:cNvPr id="5" name="Text 3"/>
          <p:cNvSpPr/>
          <p:nvPr/>
        </p:nvSpPr>
        <p:spPr>
          <a:xfrm>
            <a:off x="1371600" y="3619500"/>
            <a:ext cx="7239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3" kern="0" dirty="0">
                <a:solidFill>
                  <a:srgbClr val="F8D9D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SCRIPT</a:t>
            </a:r>
            <a:r>
              <a:rPr lang="en-US" sz="1950" b="1" spc="217" kern="0" dirty="0">
                <a:solidFill>
                  <a:srgbClr val="F8D9D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GROOVY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371600" y="4191000"/>
            <a:ext cx="7086600" cy="2762250"/>
          </a:xfrm>
          <a:prstGeom prst="rect">
            <a:avLst/>
          </a:prstGeom>
          <a:noFill/>
          <a:ln/>
        </p:spPr>
        <p:txBody>
          <a:bodyPr wrap="square" lIns="0" tIns="21336" rIns="0" bIns="-21336" rtlCol="0" anchor="t"/>
          <a:lstStyle/>
          <a:p>
            <a:pPr algn="l" indent="0" marL="0">
              <a:lnSpc>
                <a:spcPts val="4704"/>
              </a:lnSpc>
              <a:buNone/>
            </a:pPr>
            <a:r>
              <a:rPr lang="en-US" sz="4200" dirty="0" spc="-4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Người</a:t>
            </a:r>
            <a:r>
              <a:rPr lang="en-US" sz="42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làm</a:t>
            </a:r>
            <a:r>
              <a:rPr lang="en-US" sz="42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UI</a:t>
            </a:r>
            <a:r>
              <a:rPr lang="en-US" sz="42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phải</a:t>
            </a:r>
            <a:r>
              <a:rPr lang="en-US" sz="4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viết</a:t>
            </a:r>
            <a:r>
              <a:rPr lang="en-US" sz="42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thêm</a:t>
            </a:r>
            <a:endParaRPr lang="en-US" sz="4200" dirty="0"/>
          </a:p>
        </p:txBody>
      </p:sp>
      <p:sp>
        <p:nvSpPr>
          <p:cNvPr id="7" name="Shape 5"/>
          <p:cNvSpPr/>
          <p:nvPr/>
        </p:nvSpPr>
        <p:spPr>
          <a:xfrm>
            <a:off x="9372600" y="3238500"/>
            <a:ext cx="8001000" cy="4000500"/>
          </a:xfrm>
          <a:prstGeom prst="roundRect">
            <a:avLst>
              <a:gd name="adj" fmla="val 7619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829800" y="3619500"/>
            <a:ext cx="7239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LẬP TRÌNH</a:t>
            </a:r>
            <a:r>
              <a:rPr lang="en-US" sz="1950" b="1" spc="22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PHẢN</a:t>
            </a:r>
            <a:r>
              <a:rPr lang="en-US" sz="1950" b="1" spc="25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9829800" y="4191000"/>
            <a:ext cx="7086600" cy="2762250"/>
          </a:xfrm>
          <a:prstGeom prst="rect">
            <a:avLst/>
          </a:prstGeom>
          <a:noFill/>
          <a:ln/>
        </p:spPr>
        <p:txBody>
          <a:bodyPr wrap="square" lIns="0" tIns="21336" rIns="0" bIns="-21336" rtlCol="0" anchor="t"/>
          <a:lstStyle/>
          <a:p>
            <a:pPr algn="l" indent="0" marL="0">
              <a:lnSpc>
                <a:spcPts val="4704"/>
              </a:lnSpc>
              <a:buNone/>
            </a:pPr>
            <a:r>
              <a:rPr lang="en-US" sz="42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Nói</a:t>
            </a:r>
            <a:r>
              <a:rPr lang="en-US" sz="42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chung</a:t>
            </a:r>
            <a:r>
              <a:rPr lang="en-US" sz="42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</a:t>
            </a:r>
            <a:r>
              <a:rPr lang="en-US" sz="42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khó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914400" y="7810500"/>
            <a:ext cx="1645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Netflix</a:t>
            </a:r>
            <a:r>
              <a:rPr lang="en-US" sz="210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chuyển</a:t>
            </a:r>
            <a:r>
              <a:rPr lang="en-US" sz="21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sang</a:t>
            </a:r>
            <a:r>
              <a:rPr lang="en-US" sz="21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GraphQL</a:t>
            </a:r>
            <a:r>
              <a:rPr lang="en-US" sz="2100" dirty="0" spc="-2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Federation.</a:t>
            </a:r>
            <a:r>
              <a:rPr lang="en-US" sz="210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Zuul</a:t>
            </a:r>
            <a:r>
              <a:rPr lang="en-US" sz="2100" dirty="0" spc="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100" dirty="0" spc="-2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proxy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100" dirty="0" spc="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đời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2.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21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65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c543b5f5-d7d4-4593-9b8c-a6f61b03cc9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ĐIỂM CHUNG</a:t>
            </a:r>
            <a:endParaRPr lang="en-US" sz="1950" dirty="0"/>
          </a:p>
        </p:txBody>
      </p:sp>
      <p:sp>
        <p:nvSpPr>
          <p:cNvPr id="3" name="Shape 1"/>
          <p:cNvSpPr/>
          <p:nvPr/>
        </p:nvSpPr>
        <p:spPr>
          <a:xfrm>
            <a:off x="914400" y="2476500"/>
            <a:ext cx="152400" cy="34290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4" name="Text 2"/>
          <p:cNvSpPr/>
          <p:nvPr/>
        </p:nvSpPr>
        <p:spPr>
          <a:xfrm>
            <a:off x="1428750" y="2381250"/>
            <a:ext cx="15240000" cy="3810000"/>
          </a:xfrm>
          <a:prstGeom prst="rect">
            <a:avLst/>
          </a:prstGeom>
          <a:noFill/>
          <a:ln/>
        </p:spPr>
        <p:txBody>
          <a:bodyPr wrap="square" lIns="0" tIns="45720" rIns="0" bIns="-45720" rtlCol="0" anchor="t"/>
          <a:lstStyle/>
          <a:p>
            <a:pPr algn="l" indent="0" marL="0">
              <a:lnSpc>
                <a:spcPts val="7920"/>
              </a:lnSpc>
              <a:buNone/>
            </a:pPr>
            <a:r>
              <a:rPr lang="en-US" sz="72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Dịch</a:t>
            </a: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vụ</a:t>
            </a:r>
            <a:r>
              <a:rPr lang="en-US" sz="7200" dirty="0" spc="-5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vẫn</a:t>
            </a:r>
            <a:r>
              <a:rPr lang="en-US" sz="72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</a:t>
            </a:r>
            <a:r>
              <a:rPr lang="en-US" sz="7200" dirty="0" spc="-6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Java;</a:t>
            </a:r>
            <a:r>
              <a:rPr lang="en-US" sz="7200" dirty="0" spc="-4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lớp</a:t>
            </a:r>
            <a:r>
              <a:rPr lang="en-US" sz="72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ở</a:t>
            </a:r>
            <a:r>
              <a:rPr lang="en-US" sz="7200" dirty="0" spc="-4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giữa</a:t>
            </a:r>
            <a:r>
              <a:rPr lang="en-US" sz="72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thay</a:t>
            </a:r>
            <a:r>
              <a:rPr lang="en-US" sz="7200" dirty="0" spc="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đổi.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1428750" y="6858000"/>
            <a:ext cx="14287500" cy="95250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</a:t>
            </a:r>
            <a:r>
              <a:rPr lang="en-US" sz="2400" dirty="0" spc="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đời</a:t>
            </a:r>
            <a:r>
              <a:rPr lang="en-US" sz="2400" dirty="0" spc="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4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4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phục vụ</a:t>
            </a:r>
            <a:r>
              <a:rPr lang="en-US" sz="24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4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khách,</a:t>
            </a:r>
            <a:r>
              <a:rPr lang="en-US" sz="24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400" dirty="0" spc="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40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4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ngữ.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21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650" dirty="0"/>
          </a:p>
        </p:txBody>
      </p:sp>
      <p:sp>
        <p:nvSpPr>
          <p:cNvPr id="17" name="Shape 1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5b62eac2-ce92-4daa-b130-84fc15581fc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9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7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35052" rIns="0" bIns="-35052" rtlCol="0" anchor="t"/>
          <a:lstStyle/>
          <a:p>
            <a:pPr algn="l" indent="0" marL="0">
              <a:lnSpc>
                <a:spcPts val="7728"/>
              </a:lnSpc>
              <a:buNone/>
            </a:pP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Nguồn</a:t>
            </a:r>
            <a:r>
              <a:rPr lang="en-US" sz="6900" dirty="0" spc="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dừng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ở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lý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do</a:t>
            </a:r>
            <a:r>
              <a:rPr lang="en-US" sz="6900" dirty="0" spc="-5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rời</a:t>
            </a:r>
            <a:r>
              <a:rPr lang="en-US" sz="6900" dirty="0" spc="-2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đời</a:t>
            </a: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hai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5219700" cy="4191000"/>
          </a:xfrm>
          <a:prstGeom prst="roundRect">
            <a:avLst>
              <a:gd name="adj" fmla="val 6364"/>
            </a:avLst>
          </a:prstGeom>
          <a:solidFill>
            <a:srgbClr val="E8472B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352800"/>
            <a:ext cx="445770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-17" kern="0">
                <a:solidFill>
                  <a:srgbClr val="F8D9D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01</a:t>
            </a:r>
            <a:endParaRPr lang="en-US" sz="4500" dirty="0"/>
          </a:p>
        </p:txBody>
      </p:sp>
      <p:sp>
        <p:nvSpPr>
          <p:cNvPr id="6" name="Text 4"/>
          <p:cNvSpPr/>
          <p:nvPr/>
        </p:nvSpPr>
        <p:spPr>
          <a:xfrm>
            <a:off x="1295400" y="4286250"/>
            <a:ext cx="4457700" cy="1333500"/>
          </a:xfrm>
          <a:prstGeom prst="rect">
            <a:avLst/>
          </a:prstGeom>
          <a:noFill/>
          <a:ln/>
        </p:spPr>
        <p:txBody>
          <a:bodyPr wrap="square" lIns="0" tIns="21907" rIns="0" bIns="-21907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45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Federation</a:t>
            </a:r>
            <a:r>
              <a:rPr lang="en-US" sz="345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chạy thế</a:t>
            </a:r>
            <a:r>
              <a:rPr lang="en-US" sz="345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</a:t>
            </a:r>
            <a:endParaRPr lang="en-US" sz="3450" dirty="0"/>
          </a:p>
        </p:txBody>
      </p:sp>
      <p:sp>
        <p:nvSpPr>
          <p:cNvPr id="7" name="Text 5"/>
          <p:cNvSpPr/>
          <p:nvPr/>
        </p:nvSpPr>
        <p:spPr>
          <a:xfrm>
            <a:off x="1295400" y="5715000"/>
            <a:ext cx="4457700" cy="13335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0" kern="0">
                <a:solidFill>
                  <a:srgbClr val="F8D9D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2250" dirty="0" spc="1" kern="0">
                <a:solidFill>
                  <a:srgbClr val="F8D9D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250" dirty="0" spc="-4" kern="0">
                <a:solidFill>
                  <a:srgbClr val="F8D9D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giải</a:t>
            </a:r>
            <a:r>
              <a:rPr lang="en-US" sz="2250" dirty="0" spc="2" kern="0">
                <a:solidFill>
                  <a:srgbClr val="F8D9D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thích.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6534150" y="3048000"/>
            <a:ext cx="5219700" cy="4191000"/>
          </a:xfrm>
          <a:prstGeom prst="roundRect">
            <a:avLst>
              <a:gd name="adj" fmla="val 6364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915150" y="3352800"/>
            <a:ext cx="445770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-3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02</a:t>
            </a:r>
            <a:endParaRPr lang="en-US" sz="4500" dirty="0"/>
          </a:p>
        </p:txBody>
      </p:sp>
      <p:sp>
        <p:nvSpPr>
          <p:cNvPr id="10" name="Text 8"/>
          <p:cNvSpPr/>
          <p:nvPr/>
        </p:nvSpPr>
        <p:spPr>
          <a:xfrm>
            <a:off x="6915150" y="4286250"/>
            <a:ext cx="4457700" cy="1333500"/>
          </a:xfrm>
          <a:prstGeom prst="rect">
            <a:avLst/>
          </a:prstGeom>
          <a:noFill/>
          <a:ln/>
        </p:spPr>
        <p:txBody>
          <a:bodyPr wrap="square" lIns="0" tIns="21907" rIns="0" bIns="-21907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45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Vì sao</a:t>
            </a:r>
            <a:r>
              <a:rPr lang="en-US" sz="3450" dirty="0" spc="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đỡ</a:t>
            </a:r>
            <a:r>
              <a:rPr lang="en-US" sz="345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việc</a:t>
            </a:r>
            <a:r>
              <a:rPr lang="en-US" sz="3450" dirty="0" spc="-1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hơn</a:t>
            </a:r>
            <a:endParaRPr lang="en-US" sz="3450" dirty="0"/>
          </a:p>
        </p:txBody>
      </p:sp>
      <p:sp>
        <p:nvSpPr>
          <p:cNvPr id="11" name="Text 9"/>
          <p:cNvSpPr/>
          <p:nvPr/>
        </p:nvSpPr>
        <p:spPr>
          <a:xfrm>
            <a:off x="6915150" y="5715000"/>
            <a:ext cx="4457700" cy="13335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0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2250" dirty="0" spc="1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250" dirty="0" spc="-4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giải</a:t>
            </a:r>
            <a:r>
              <a:rPr lang="en-US" sz="2250" dirty="0" spc="2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thích.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12153900" y="3048000"/>
            <a:ext cx="5219700" cy="4191000"/>
          </a:xfrm>
          <a:prstGeom prst="roundRect">
            <a:avLst>
              <a:gd name="adj" fmla="val 6364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534900" y="3352800"/>
            <a:ext cx="445770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-7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03</a:t>
            </a:r>
            <a:endParaRPr lang="en-US" sz="4500" dirty="0"/>
          </a:p>
        </p:txBody>
      </p:sp>
      <p:sp>
        <p:nvSpPr>
          <p:cNvPr id="14" name="Text 12"/>
          <p:cNvSpPr/>
          <p:nvPr/>
        </p:nvSpPr>
        <p:spPr>
          <a:xfrm>
            <a:off x="12534900" y="4286250"/>
            <a:ext cx="4457700" cy="1333500"/>
          </a:xfrm>
          <a:prstGeom prst="rect">
            <a:avLst/>
          </a:prstGeom>
          <a:noFill/>
          <a:ln/>
        </p:spPr>
        <p:txBody>
          <a:bodyPr wrap="square" lIns="0" tIns="21907" rIns="0" bIns="-21907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45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Mỗi</a:t>
            </a:r>
            <a:r>
              <a:rPr lang="en-US" sz="3450" dirty="0" spc="-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đời</a:t>
            </a:r>
            <a:r>
              <a:rPr lang="en-US" sz="345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bao</a:t>
            </a:r>
            <a:r>
              <a:rPr lang="en-US" sz="345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lâu</a:t>
            </a:r>
            <a:endParaRPr lang="en-US" sz="3450" dirty="0"/>
          </a:p>
        </p:txBody>
      </p:sp>
      <p:sp>
        <p:nvSpPr>
          <p:cNvPr id="15" name="Text 13"/>
          <p:cNvSpPr/>
          <p:nvPr/>
        </p:nvSpPr>
        <p:spPr>
          <a:xfrm>
            <a:off x="12534900" y="5715000"/>
            <a:ext cx="4457700" cy="13335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0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2250" dirty="0" spc="1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250" dirty="0" spc="2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nói.</a:t>
            </a:r>
            <a:endParaRPr lang="en-US" sz="2250" dirty="0"/>
          </a:p>
        </p:txBody>
      </p:sp>
      <p:sp>
        <p:nvSpPr>
          <p:cNvPr id="16" name="Shape 14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21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f9c2810d-1fca-433a-8517-61e8cd584b6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30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29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8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35052" rIns="0" bIns="-35052" rtlCol="0" anchor="t"/>
          <a:lstStyle/>
          <a:p>
            <a:pPr algn="l" indent="0" marL="0">
              <a:lnSpc>
                <a:spcPts val="7728"/>
              </a:lnSpc>
              <a:buNone/>
            </a:pPr>
            <a:r>
              <a:rPr lang="en-US" sz="6900" dirty="0" spc="-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Một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cổng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cho tivi</a:t>
            </a:r>
            <a:r>
              <a:rPr lang="en-US" sz="6900" dirty="0" spc="-7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6900" dirty="0" spc="2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điện</a:t>
            </a: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thoại?</a:t>
            </a:r>
            <a:endParaRPr lang="en-US" sz="69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952750"/>
          <a:ext cx="13716000" cy="914400"/>
        </p:xfrm>
        <a:graphic>
          <a:graphicData uri="http://schemas.openxmlformats.org/drawingml/2006/table">
            <a:tbl>
              <a:tblPr/>
              <a:tblGrid>
                <a:gridCol w="5596128"/>
                <a:gridCol w="5431536"/>
                <a:gridCol w="5431536"/>
              </a:tblGrid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-13" kern="0">
                          <a:solidFill>
                            <a:srgbClr val="6B6A66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Máy</a:t>
                      </a:r>
                      <a:r>
                        <a:rPr lang="en-US" sz="2400" b="1" dirty="0" spc="0" kern="0">
                          <a:solidFill>
                            <a:srgbClr val="6B6A66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khách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9E2D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-9" kern="0">
                          <a:solidFill>
                            <a:srgbClr val="6B6A66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Một</a:t>
                      </a:r>
                      <a:r>
                        <a:rPr lang="en-US" sz="2400" b="1" dirty="0" spc="-10" kern="0">
                          <a:solidFill>
                            <a:srgbClr val="6B6A66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cổng</a:t>
                      </a:r>
                      <a:r>
                        <a:rPr lang="en-US" sz="2400" b="1" dirty="0" spc="-4" kern="0">
                          <a:solidFill>
                            <a:srgbClr val="6B6A66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chung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9E2D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-2" kern="0">
                          <a:solidFill>
                            <a:srgbClr val="6B6A66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BFF</a:t>
                      </a:r>
                      <a:r>
                        <a:rPr lang="en-US" sz="2400" b="1" dirty="0" spc="-1" kern="0">
                          <a:solidFill>
                            <a:srgbClr val="6B6A66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riêng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9E2D2"/>
                    </a:solidFill>
                  </a:tcPr>
                </a:tc>
              </a:tr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0" kern="0">
                          <a:solidFill>
                            <a:srgbClr val="0F766E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Tivi,</a:t>
                      </a:r>
                      <a:r>
                        <a:rPr lang="en-US" sz="2400" b="1" dirty="0" spc="1" kern="0">
                          <a:solidFill>
                            <a:srgbClr val="0F766E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ảnh</a:t>
                      </a:r>
                      <a:r>
                        <a:rPr lang="en-US" sz="2400" b="1" dirty="0" spc="3" kern="0">
                          <a:solidFill>
                            <a:srgbClr val="0F766E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bìa</a:t>
                      </a:r>
                      <a:r>
                        <a:rPr lang="en-US" sz="2400" b="1" dirty="0" spc="-2" kern="0">
                          <a:solidFill>
                            <a:srgbClr val="0F766E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lớn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3EEE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Có</a:t>
                      </a:r>
                      <a:r>
                        <a:rPr lang="en-US" sz="240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thể</a:t>
                      </a:r>
                      <a:r>
                        <a:rPr lang="en-US" sz="240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thiếu</a:t>
                      </a:r>
                      <a:r>
                        <a:rPr lang="en-US" sz="2400" dirty="0" spc="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thứ</a:t>
                      </a:r>
                      <a:r>
                        <a:rPr lang="en-US" sz="240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cần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3EEE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Đúng</a:t>
                      </a:r>
                      <a:r>
                        <a:rPr lang="en-US" sz="2400" dirty="0" spc="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thứ</a:t>
                      </a:r>
                      <a:r>
                        <a:rPr lang="en-US" sz="240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cần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3EEE3"/>
                    </a:solidFill>
                  </a:tcPr>
                </a:tc>
              </a:tr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-7" kern="0">
                          <a:solidFill>
                            <a:srgbClr val="0F766E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Điện</a:t>
                      </a:r>
                      <a:r>
                        <a:rPr lang="en-US" sz="2400" b="1" dirty="0" spc="-1" kern="0">
                          <a:solidFill>
                            <a:srgbClr val="0F766E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thoại,</a:t>
                      </a:r>
                      <a:r>
                        <a:rPr lang="en-US" sz="2400" b="1" dirty="0" spc="0" kern="0">
                          <a:solidFill>
                            <a:srgbClr val="0F766E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ít</a:t>
                      </a:r>
                      <a:r>
                        <a:rPr lang="en-US" sz="2400" b="1" dirty="0" spc="5" kern="0">
                          <a:solidFill>
                            <a:srgbClr val="0F766E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trường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Nhận</a:t>
                      </a:r>
                      <a:r>
                        <a:rPr lang="en-US" sz="2400" dirty="0" spc="9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thừa</a:t>
                      </a:r>
                      <a:r>
                        <a:rPr lang="en-US" sz="2400" dirty="0" spc="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dữ</a:t>
                      </a:r>
                      <a:r>
                        <a:rPr lang="en-US" sz="240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liệu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Đúng</a:t>
                      </a:r>
                      <a:r>
                        <a:rPr lang="en-US" sz="2400" dirty="0" spc="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thứ</a:t>
                      </a:r>
                      <a:r>
                        <a:rPr lang="en-US" sz="240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cần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914400" y="6305550"/>
            <a:ext cx="1645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Giả</a:t>
            </a:r>
            <a:r>
              <a:rPr lang="en-US" sz="2100" dirty="0" spc="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định: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cổng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r>
              <a:rPr lang="en-US" sz="2100" dirty="0" spc="-2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210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dạng dữ</a:t>
            </a:r>
            <a:r>
              <a:rPr lang="en-US" sz="21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 mọi</a:t>
            </a:r>
            <a:r>
              <a:rPr lang="en-US" sz="210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khách.</a:t>
            </a:r>
            <a:endParaRPr lang="en-US" sz="2100" dirty="0"/>
          </a:p>
        </p:txBody>
      </p:sp>
      <p:sp>
        <p:nvSpPr>
          <p:cNvPr id="6" name="Shape 3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21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650" dirty="0"/>
          </a:p>
        </p:txBody>
      </p:sp>
      <p:sp>
        <p:nvSpPr>
          <p:cNvPr id="17" name="Shape 1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e67366b2-ae4b-4159-88c1-8898edcf9e2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950" b="1" spc="287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950" b="1" spc="30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35052" rIns="0" bIns="-35052" rtlCol="0" anchor="t"/>
          <a:lstStyle/>
          <a:p>
            <a:pPr algn="l" indent="0" marL="0">
              <a:lnSpc>
                <a:spcPts val="7728"/>
              </a:lnSpc>
              <a:buNone/>
            </a:pPr>
            <a:r>
              <a:rPr lang="en-US" sz="6900" dirty="0" spc="-1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GraphQL</a:t>
            </a:r>
            <a:r>
              <a:rPr lang="en-US" sz="6900" dirty="0" spc="-1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Federation</a:t>
            </a:r>
            <a:r>
              <a:rPr lang="en-US" sz="6900" dirty="0" spc="1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đỡ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việc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ở</a:t>
            </a:r>
            <a:r>
              <a:rPr lang="en-US" sz="6900" dirty="0" spc="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đâu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1E212B"/>
          </a:solidFill>
          <a:ln w="19050">
            <a:solidFill>
              <a:srgbClr val="2D314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152775"/>
            <a:ext cx="104775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1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2438400" y="3343275"/>
            <a:ext cx="144780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7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 chọn</a:t>
            </a:r>
            <a:r>
              <a:rPr lang="en-US" sz="270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trường;</a:t>
            </a:r>
            <a:r>
              <a:rPr lang="en-US" sz="27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xử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2700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r>
              <a:rPr lang="en-US" sz="270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7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chỗ.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914400" y="447675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1E212B"/>
          </a:solidFill>
          <a:ln w="19050">
            <a:solidFill>
              <a:srgbClr val="2D314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95400" y="4772025"/>
            <a:ext cx="104775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-5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2438400" y="4962525"/>
            <a:ext cx="144780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Ghép</a:t>
            </a:r>
            <a:r>
              <a:rPr lang="en-US" sz="2700" dirty="0" spc="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lược</a:t>
            </a:r>
            <a:r>
              <a:rPr lang="en-US" sz="2700" dirty="0" spc="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7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70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một.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914400" y="609600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3DD6A0"/>
          </a:solidFill>
          <a:ln/>
        </p:spPr>
      </p:sp>
      <p:sp>
        <p:nvSpPr>
          <p:cNvPr id="11" name="Text 9"/>
          <p:cNvSpPr/>
          <p:nvPr/>
        </p:nvSpPr>
        <p:spPr>
          <a:xfrm>
            <a:off x="1295400" y="6391275"/>
            <a:ext cx="104775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2438400" y="6581775"/>
            <a:ext cx="144780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Cái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giá: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lớp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ghép</a:t>
            </a:r>
            <a:r>
              <a:rPr lang="en-US" sz="270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</a:t>
            </a:r>
            <a:r>
              <a:rPr lang="en-US" sz="27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tắc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chung.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914400" y="8001000"/>
            <a:ext cx="1645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Kiến</a:t>
            </a:r>
            <a:r>
              <a:rPr lang="en-US" sz="210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1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1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</a:t>
            </a:r>
            <a:r>
              <a:rPr lang="en-US" sz="21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soạn,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từ</a:t>
            </a:r>
            <a:r>
              <a:rPr lang="en-US" sz="21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nguồn.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21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650" dirty="0"/>
          </a:p>
        </p:txBody>
      </p:sp>
      <p:sp>
        <p:nvSpPr>
          <p:cNvPr id="25" name="Shape 2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6" name="Moda image moda-export-watermark-f470f5c5-6d7a-4606-8039-8f29c1a5105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7620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950" b="1" spc="28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950" b="1" spc="25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162050"/>
            <a:ext cx="161925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300" dirty="0" spc="-4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63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viết</a:t>
            </a:r>
            <a:r>
              <a:rPr lang="en-US" sz="63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tắt</a:t>
            </a:r>
            <a:r>
              <a:rPr lang="en-US" sz="63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63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3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381250"/>
          <a:ext cx="13716000" cy="914400"/>
        </p:xfrm>
        <a:graphic>
          <a:graphicData uri="http://schemas.openxmlformats.org/drawingml/2006/table">
            <a:tbl>
              <a:tblPr/>
              <a:tblGrid>
                <a:gridCol w="2304288"/>
                <a:gridCol w="6254496"/>
                <a:gridCol w="7900416"/>
              </a:tblGrid>
              <a:tr h="8001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b="1" dirty="0" spc="-75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Từ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b="1" dirty="0" spc="-2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Dạng</a:t>
                      </a:r>
                      <a:r>
                        <a:rPr lang="en-US" sz="2250" b="1" dirty="0" spc="1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đầy</a:t>
                      </a:r>
                      <a:r>
                        <a:rPr lang="en-US" sz="2250" b="1" dirty="0" spc="4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đủ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b="1" dirty="0" spc="-1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Nghĩa</a:t>
                      </a:r>
                      <a:r>
                        <a:rPr lang="en-US" sz="2250" b="1" dirty="0" spc="-12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trong</a:t>
                      </a:r>
                      <a:r>
                        <a:rPr lang="en-US" sz="2250" b="1" dirty="0" spc="2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bài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3" kern="0">
                          <a:solidFill>
                            <a:srgbClr val="FFB454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API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4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Application</a:t>
                      </a:r>
                      <a:r>
                        <a:rPr lang="en-US" sz="2250" dirty="0" spc="-19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Programming</a:t>
                      </a:r>
                      <a:r>
                        <a:rPr lang="en-US" sz="2250" dirty="0" spc="-13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Interface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cách</a:t>
                      </a:r>
                      <a:r>
                        <a:rPr lang="en-US" sz="2250" dirty="0" spc="5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chương</a:t>
                      </a:r>
                      <a:r>
                        <a:rPr lang="en-US" sz="2250" dirty="0" spc="7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trình</a:t>
                      </a:r>
                      <a:r>
                        <a:rPr lang="en-US" sz="2250" dirty="0" spc="-1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gọi</a:t>
                      </a:r>
                      <a:r>
                        <a:rPr lang="en-US" sz="2250" dirty="0" spc="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nhau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1" kern="0">
                          <a:solidFill>
                            <a:srgbClr val="3DD6A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BFF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14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Backend</a:t>
                      </a:r>
                      <a:r>
                        <a:rPr lang="en-US" sz="2250" dirty="0" spc="-29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For</a:t>
                      </a:r>
                      <a:r>
                        <a:rPr lang="en-US" sz="2250" dirty="0" spc="-33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Frontend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3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lớp</a:t>
                      </a:r>
                      <a:r>
                        <a:rPr lang="en-US" sz="2250" dirty="0" spc="5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riêng</a:t>
                      </a:r>
                      <a:r>
                        <a:rPr lang="en-US" sz="2250" dirty="0" spc="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cho</a:t>
                      </a:r>
                      <a:r>
                        <a:rPr lang="en-US" sz="2250" dirty="0" spc="2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từng</a:t>
                      </a:r>
                      <a:r>
                        <a:rPr lang="en-US" sz="2250" dirty="0" spc="-3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giao</a:t>
                      </a:r>
                      <a:r>
                        <a:rPr lang="en-US" sz="2250" dirty="0" spc="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diện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kern="0">
                          <a:solidFill>
                            <a:srgbClr val="3DD6A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TV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3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TeleVision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4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tivi,</a:t>
                      </a:r>
                      <a:r>
                        <a:rPr lang="en-US" sz="2250" dirty="0" spc="24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ứng</a:t>
                      </a:r>
                      <a:r>
                        <a:rPr lang="en-US" sz="2250" dirty="0" spc="3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dụng</a:t>
                      </a:r>
                      <a:r>
                        <a:rPr lang="en-US" sz="2250" dirty="0" spc="-15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Netflix</a:t>
                      </a:r>
                      <a:r>
                        <a:rPr lang="en-US" sz="2250" dirty="0" spc="-19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trên</a:t>
                      </a:r>
                      <a:r>
                        <a:rPr lang="en-US" sz="2250" dirty="0" spc="-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tivi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kern="0">
                          <a:solidFill>
                            <a:srgbClr val="FF6A4D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UI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8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User</a:t>
                      </a:r>
                      <a:r>
                        <a:rPr lang="en-US" sz="2250" dirty="0" spc="-13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Interface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5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giao</a:t>
                      </a:r>
                      <a:r>
                        <a:rPr lang="en-US" sz="2250" dirty="0" spc="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diện</a:t>
                      </a:r>
                      <a:r>
                        <a:rPr lang="en-US" sz="2250" dirty="0" spc="5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người</a:t>
                      </a:r>
                      <a:r>
                        <a:rPr lang="en-US" sz="2250" dirty="0" spc="3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dùng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2" kern="0">
                          <a:solidFill>
                            <a:srgbClr val="7C93FF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QL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Query</a:t>
                      </a:r>
                      <a:r>
                        <a:rPr lang="en-US" sz="2250" dirty="0" spc="-16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Language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1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ngôn</a:t>
                      </a:r>
                      <a:r>
                        <a:rPr lang="en-US" sz="2250" dirty="0" spc="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ngữ</a:t>
                      </a:r>
                      <a:r>
                        <a:rPr lang="en-US" sz="2250" dirty="0" spc="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truy</a:t>
                      </a:r>
                      <a:r>
                        <a:rPr lang="en-US" sz="2250" dirty="0" spc="-1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vấn,</a:t>
                      </a:r>
                      <a:r>
                        <a:rPr lang="en-US" sz="2250" dirty="0" spc="-16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trong</a:t>
                      </a:r>
                      <a:r>
                        <a:rPr lang="en-US" sz="2250" dirty="0" spc="-1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GraphQL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914400" y="767715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950" dirty="0"/>
          </a:p>
        </p:txBody>
      </p:sp>
      <p:sp>
        <p:nvSpPr>
          <p:cNvPr id="6" name="Text 3"/>
          <p:cNvSpPr/>
          <p:nvPr/>
        </p:nvSpPr>
        <p:spPr>
          <a:xfrm>
            <a:off x="914400" y="8096250"/>
            <a:ext cx="1645920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r>
              <a:rPr lang="en-US" sz="25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system-design-101,</a:t>
            </a: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5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commit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550" dirty="0" spc="2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550" dirty="0"/>
          </a:p>
        </p:txBody>
      </p:sp>
      <p:sp>
        <p:nvSpPr>
          <p:cNvPr id="7" name="Text 4"/>
          <p:cNvSpPr/>
          <p:nvPr/>
        </p:nvSpPr>
        <p:spPr>
          <a:xfrm>
            <a:off x="914400" y="8629650"/>
            <a:ext cx="164592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1800" dirty="0" spc="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18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80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2026-10-19.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Blog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kỹ</a:t>
            </a:r>
            <a:r>
              <a:rPr lang="en-US" sz="180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Netflix</a:t>
            </a:r>
            <a:r>
              <a:rPr lang="en-US" sz="180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 được</a:t>
            </a:r>
            <a:r>
              <a:rPr lang="en-US" sz="1800" dirty="0" spc="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chiếu.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21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650" dirty="0"/>
          </a:p>
        </p:txBody>
      </p:sp>
      <p:sp>
        <p:nvSpPr>
          <p:cNvPr id="19" name="Shape 1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0" name="Moda image moda-export-watermark-84e21586-be8e-4244-ac75-30efe667aef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2026-10-19T09:37:58Z</dcterms:created>
  <dcterms:modified xsi:type="dcterms:W3CDTF">2026-10-19T09:37:58Z</dcterms:modified>
</cp:coreProperties>
</file>