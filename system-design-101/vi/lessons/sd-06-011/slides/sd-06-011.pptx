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false" autoCompressPictures="0" embedTrueTypeFonts="true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8288000" cy="10287000"/>
  <p:notesSz cx="10287000" cy="18288000"/>
  <p:embeddedFontLst>
    <p:embeddedFont>
      <p:font typeface="Be Vietnam Pro"/>
      <p:regular r:id="rId18"/>
      <p:bold r:id="rId16"/>
    </p:embeddedFont>
    <p:embeddedFont>
      <p:font typeface="Bricolage Grotesque ExtraBold"/>
      <p:regular r:id="rId17"/>
    </p:embeddedFont>
    <p:embeddedFont>
      <p:font typeface="Be Vietnam Pro ExtraBold"/>
      <p:regular r:id="rId19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Relationship Id="rId16" Type="http://schemas.openxmlformats.org/officeDocument/2006/relationships/font" Target="fonts/font1.fntdata"/><Relationship Id="rId17" Type="http://schemas.openxmlformats.org/officeDocument/2006/relationships/font" Target="fonts/font2.fntdata"/><Relationship Id="rId18" Type="http://schemas.openxmlformats.org/officeDocument/2006/relationships/font" Target="fonts/font3.fntdata"/><Relationship Id="rId19" Type="http://schemas.openxmlformats.org/officeDocument/2006/relationships/font" Target="fonts/font4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7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950" b="1" spc="29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950" b="1" spc="30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950" b="1" spc="29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9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95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11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524000"/>
            <a:ext cx="16459200" cy="2571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100" dirty="0" spc="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Memcached</a:t>
            </a:r>
            <a:r>
              <a:rPr lang="en-US" sz="8100" dirty="0" spc="-8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</a:t>
            </a:r>
            <a:r>
              <a:rPr lang="en-US" sz="8100" dirty="0" spc="-2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Redis</a:t>
            </a:r>
            <a:r>
              <a:rPr lang="en-US" sz="81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khác</a:t>
            </a:r>
            <a:r>
              <a:rPr lang="en-US" sz="81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nhau</a:t>
            </a:r>
            <a:r>
              <a:rPr lang="en-US" sz="81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thế</a:t>
            </a:r>
            <a:r>
              <a:rPr lang="en-US" sz="81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nào</a:t>
            </a:r>
            <a:endParaRPr lang="en-US" sz="8100" dirty="0"/>
          </a:p>
        </p:txBody>
      </p:sp>
      <p:sp>
        <p:nvSpPr>
          <p:cNvPr id="4" name="Text 2"/>
          <p:cNvSpPr/>
          <p:nvPr/>
        </p:nvSpPr>
        <p:spPr>
          <a:xfrm>
            <a:off x="914400" y="4476750"/>
            <a:ext cx="164592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dirty="0" spc="-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memcached:</a:t>
            </a:r>
            <a:r>
              <a:rPr lang="en-US" sz="2850" dirty="0" spc="-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bộ</a:t>
            </a:r>
            <a:r>
              <a:rPr lang="en-US" sz="2850" dirty="0" spc="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đệm</a:t>
            </a:r>
            <a:r>
              <a:rPr lang="en-US" sz="2850" dirty="0" spc="-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</a:t>
            </a:r>
            <a:r>
              <a:rPr lang="en-US" sz="2850" dirty="0" spc="-1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8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giá</a:t>
            </a:r>
            <a:r>
              <a:rPr lang="en-US" sz="2850" dirty="0" spc="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trị.</a:t>
            </a:r>
            <a:r>
              <a:rPr lang="en-US" sz="2850" dirty="0" spc="-2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Redis:</a:t>
            </a:r>
            <a:r>
              <a:rPr lang="en-US" sz="28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cấu</a:t>
            </a:r>
            <a:r>
              <a:rPr lang="en-US" sz="28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trúc</a:t>
            </a:r>
            <a:r>
              <a:rPr lang="en-US" sz="28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28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liệu.</a:t>
            </a:r>
            <a:endParaRPr lang="en-US" sz="2850" dirty="0"/>
          </a:p>
        </p:txBody>
      </p:sp>
      <p:sp>
        <p:nvSpPr>
          <p:cNvPr id="5" name="Text 3"/>
          <p:cNvSpPr/>
          <p:nvPr/>
        </p:nvSpPr>
        <p:spPr>
          <a:xfrm>
            <a:off x="914400" y="6191250"/>
            <a:ext cx="5181600" cy="2286000"/>
          </a:xfrm>
          <a:prstGeom prst="roundRect">
            <a:avLst>
              <a:gd name="adj" fmla="val 10000"/>
            </a:avLst>
          </a:prstGeom>
          <a:solidFill>
            <a:srgbClr val="1E212B"/>
          </a:solidFill>
          <a:ln w="38100">
            <a:solidFill>
              <a:srgbClr val="FF6A4D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900" dirty="0" spc="3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Giống nhau</a:t>
            </a:r>
            <a:endParaRPr lang="en-US" sz="3900" dirty="0"/>
          </a:p>
        </p:txBody>
      </p:sp>
      <p:sp>
        <p:nvSpPr>
          <p:cNvPr id="6" name="Text 4"/>
          <p:cNvSpPr/>
          <p:nvPr/>
        </p:nvSpPr>
        <p:spPr>
          <a:xfrm>
            <a:off x="6553200" y="6191250"/>
            <a:ext cx="5181600" cy="2286000"/>
          </a:xfrm>
          <a:prstGeom prst="roundRect">
            <a:avLst>
              <a:gd name="adj" fmla="val 10000"/>
            </a:avLst>
          </a:prstGeom>
          <a:solidFill>
            <a:srgbClr val="1E212B"/>
          </a:solidFill>
          <a:ln w="38100">
            <a:solidFill>
              <a:srgbClr val="7C93F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900" dirty="0" spc="5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Khác</a:t>
            </a:r>
            <a:r>
              <a:rPr lang="en-US" sz="3900" dirty="0" spc="2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nhau,</a:t>
            </a:r>
            <a:r>
              <a:rPr lang="en-US" sz="3900" dirty="0" spc="13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đã</a:t>
            </a:r>
            <a:r>
              <a:rPr lang="en-US" sz="3900" dirty="0" spc="0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thử</a:t>
            </a:r>
            <a:endParaRPr lang="en-US" sz="3900" dirty="0"/>
          </a:p>
        </p:txBody>
      </p:sp>
      <p:sp>
        <p:nvSpPr>
          <p:cNvPr id="7" name="Text 5"/>
          <p:cNvSpPr/>
          <p:nvPr/>
        </p:nvSpPr>
        <p:spPr>
          <a:xfrm>
            <a:off x="12192000" y="6191250"/>
            <a:ext cx="5181600" cy="2286000"/>
          </a:xfrm>
          <a:prstGeom prst="roundRect">
            <a:avLst>
              <a:gd name="adj" fmla="val 10000"/>
            </a:avLst>
          </a:prstGeom>
          <a:solidFill>
            <a:srgbClr val="1E212B"/>
          </a:solidFill>
          <a:ln w="38100">
            <a:solidFill>
              <a:srgbClr val="FFB454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900" dirty="0" spc="1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Bitmap</a:t>
            </a:r>
            <a:r>
              <a:rPr lang="en-US" sz="3900" dirty="0" spc="3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của</a:t>
            </a:r>
            <a:r>
              <a:rPr lang="en-US" sz="3900" dirty="0" spc="-12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Redis</a:t>
            </a:r>
            <a:endParaRPr lang="en-US" sz="3900" dirty="0"/>
          </a:p>
        </p:txBody>
      </p:sp>
      <p:sp>
        <p:nvSpPr>
          <p:cNvPr id="8" name="Shape 6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9" name="Moda image moda-export-watermark-ea1c5349-076a-46b9-904e-e687fb28c649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2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TÌNH</a:t>
            </a:r>
            <a:r>
              <a:rPr lang="en-US" sz="1950" b="1" spc="301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HUỐNG</a:t>
            </a:r>
            <a:r>
              <a:rPr lang="en-US" sz="1950" b="1" spc="249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298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MỤC</a:t>
            </a:r>
            <a:r>
              <a:rPr lang="en-US" sz="1950" b="1" spc="300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TIÊU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238250"/>
            <a:ext cx="1645920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300" dirty="0" spc="-1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Redis:</a:t>
            </a:r>
            <a:r>
              <a:rPr lang="en-US" sz="6300" dirty="0" spc="-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một</a:t>
            </a:r>
            <a:r>
              <a:rPr lang="en-US" sz="6300" dirty="0" spc="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memcached</a:t>
            </a:r>
            <a:r>
              <a:rPr lang="en-US" sz="6300" dirty="0" spc="-4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phức</a:t>
            </a:r>
            <a:r>
              <a:rPr lang="en-US" sz="63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tạp</a:t>
            </a:r>
            <a:r>
              <a:rPr lang="en-US" sz="6300" dirty="0" spc="-3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hơn</a:t>
            </a:r>
            <a:endParaRPr lang="en-US" sz="6300" dirty="0"/>
          </a:p>
        </p:txBody>
      </p:sp>
      <p:sp>
        <p:nvSpPr>
          <p:cNvPr id="4" name="Shape 2"/>
          <p:cNvSpPr/>
          <p:nvPr/>
        </p:nvSpPr>
        <p:spPr>
          <a:xfrm>
            <a:off x="914400" y="3238500"/>
            <a:ext cx="8001000" cy="4000500"/>
          </a:xfrm>
          <a:prstGeom prst="roundRect">
            <a:avLst>
              <a:gd name="adj" fmla="val 5714"/>
            </a:avLst>
          </a:prstGeom>
          <a:solidFill>
            <a:srgbClr val="E8E0CF"/>
          </a:solidFill>
          <a:ln w="28575">
            <a:solidFill>
              <a:srgbClr val="1F3FD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33500" y="3619500"/>
            <a:ext cx="7239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08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MEMCACHED</a:t>
            </a:r>
            <a:endParaRPr lang="en-US" sz="1950" dirty="0"/>
          </a:p>
        </p:txBody>
      </p:sp>
      <p:sp>
        <p:nvSpPr>
          <p:cNvPr id="6" name="Text 4"/>
          <p:cNvSpPr/>
          <p:nvPr/>
        </p:nvSpPr>
        <p:spPr>
          <a:xfrm>
            <a:off x="1333500" y="4286250"/>
            <a:ext cx="7239000" cy="2667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50" dirty="0" spc="2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Giá</a:t>
            </a:r>
            <a:r>
              <a:rPr lang="en-US" sz="3450" dirty="0" spc="9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trị</a:t>
            </a:r>
            <a:r>
              <a:rPr lang="en-US" sz="3450" dirty="0" spc="-8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là</a:t>
            </a:r>
            <a:r>
              <a:rPr lang="en-US" sz="3450" dirty="0" spc="-2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khối</a:t>
            </a:r>
            <a:r>
              <a:rPr lang="en-US" sz="3450" dirty="0" spc="-11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byte,</a:t>
            </a:r>
            <a:r>
              <a:rPr lang="en-US" sz="3450" dirty="0" spc="55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lưu</a:t>
            </a:r>
            <a:r>
              <a:rPr lang="en-US" sz="3450" dirty="0" spc="-32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và</a:t>
            </a:r>
            <a:r>
              <a:rPr lang="en-US" sz="3450" dirty="0" spc="-16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lấy</a:t>
            </a:r>
            <a:r>
              <a:rPr lang="en-US" sz="3450" dirty="0" spc="-8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theo</a:t>
            </a:r>
            <a:r>
              <a:rPr lang="en-US" sz="3450" dirty="0" spc="-5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khóa.</a:t>
            </a:r>
            <a:endParaRPr lang="en-US" sz="3450" dirty="0"/>
          </a:p>
        </p:txBody>
      </p:sp>
      <p:sp>
        <p:nvSpPr>
          <p:cNvPr id="7" name="Shape 5"/>
          <p:cNvSpPr/>
          <p:nvPr/>
        </p:nvSpPr>
        <p:spPr>
          <a:xfrm>
            <a:off x="9372600" y="3238500"/>
            <a:ext cx="8001000" cy="4000500"/>
          </a:xfrm>
          <a:prstGeom prst="roundRect">
            <a:avLst>
              <a:gd name="adj" fmla="val 5714"/>
            </a:avLst>
          </a:prstGeom>
          <a:solidFill>
            <a:srgbClr val="1F3FD1"/>
          </a:solidFill>
          <a:ln/>
        </p:spPr>
      </p:sp>
      <p:sp>
        <p:nvSpPr>
          <p:cNvPr id="8" name="Text 6"/>
          <p:cNvSpPr/>
          <p:nvPr/>
        </p:nvSpPr>
        <p:spPr>
          <a:xfrm>
            <a:off x="9791700" y="3619500"/>
            <a:ext cx="7239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6" kern="0" dirty="0">
                <a:solidFill>
                  <a:srgbClr val="DDE3FA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REDIS</a:t>
            </a:r>
            <a:endParaRPr lang="en-US" sz="1950" dirty="0"/>
          </a:p>
        </p:txBody>
      </p:sp>
      <p:sp>
        <p:nvSpPr>
          <p:cNvPr id="9" name="Text 7"/>
          <p:cNvSpPr/>
          <p:nvPr/>
        </p:nvSpPr>
        <p:spPr>
          <a:xfrm>
            <a:off x="9791700" y="4286250"/>
            <a:ext cx="7239000" cy="2667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50" dirty="0" spc="0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Thao</a:t>
            </a:r>
            <a:r>
              <a:rPr lang="en-US" sz="3450" dirty="0" spc="5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tác</a:t>
            </a:r>
            <a:r>
              <a:rPr lang="en-US" sz="3450" dirty="0" spc="-17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trên</a:t>
            </a:r>
            <a:r>
              <a:rPr lang="en-US" sz="3450" dirty="0" spc="-7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list,</a:t>
            </a:r>
            <a:r>
              <a:rPr lang="en-US" sz="3450" dirty="0" spc="-10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set</a:t>
            </a:r>
            <a:r>
              <a:rPr lang="en-US" sz="3450" dirty="0" spc="-31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và</a:t>
            </a:r>
            <a:r>
              <a:rPr lang="en-US" sz="3450" dirty="0" spc="3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các</a:t>
            </a:r>
            <a:r>
              <a:rPr lang="en-US" sz="3450" dirty="0" spc="5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cấu</a:t>
            </a:r>
            <a:r>
              <a:rPr lang="en-US" sz="3450" dirty="0" spc="0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trúc</a:t>
            </a:r>
            <a:r>
              <a:rPr lang="en-US" sz="3450" dirty="0" spc="-5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có</a:t>
            </a:r>
            <a:r>
              <a:rPr lang="en-US" sz="3450" dirty="0" spc="1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thứ tự.</a:t>
            </a:r>
            <a:endParaRPr lang="en-US" sz="3450" dirty="0"/>
          </a:p>
        </p:txBody>
      </p:sp>
      <p:sp>
        <p:nvSpPr>
          <p:cNvPr id="10" name="Text 8"/>
          <p:cNvSpPr/>
          <p:nvPr/>
        </p:nvSpPr>
        <p:spPr>
          <a:xfrm>
            <a:off x="914400" y="7905750"/>
            <a:ext cx="164592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Bài</a:t>
            </a:r>
            <a:r>
              <a:rPr lang="en-US" sz="2400" dirty="0" spc="-7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</a:t>
            </a:r>
            <a:r>
              <a:rPr lang="en-US" sz="24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hai</a:t>
            </a:r>
            <a:r>
              <a:rPr lang="en-US" sz="240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phần</a:t>
            </a:r>
            <a:r>
              <a:rPr lang="en-US" sz="24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mềm</a:t>
            </a:r>
            <a:r>
              <a:rPr lang="en-US" sz="24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cạnh</a:t>
            </a:r>
            <a:r>
              <a:rPr lang="en-US" sz="24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nhau</a:t>
            </a:r>
            <a:r>
              <a:rPr lang="en-US" sz="2400" dirty="0" spc="1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để</a:t>
            </a:r>
            <a:r>
              <a:rPr lang="en-US" sz="2400" dirty="0" spc="-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thấy</a:t>
            </a:r>
            <a:r>
              <a:rPr lang="en-US" sz="24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</a:t>
            </a:r>
            <a:r>
              <a:rPr lang="en-US" sz="2400" dirty="0" spc="-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biệt.</a:t>
            </a:r>
            <a:endParaRPr lang="en-US" sz="2400" dirty="0"/>
          </a:p>
        </p:txBody>
      </p:sp>
      <p:sp>
        <p:nvSpPr>
          <p:cNvPr id="11" name="Shape 9"/>
          <p:cNvSpPr/>
          <p:nvPr/>
        </p:nvSpPr>
        <p:spPr>
          <a:xfrm>
            <a:off x="9525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2" name="Shape 10"/>
          <p:cNvSpPr/>
          <p:nvPr/>
        </p:nvSpPr>
        <p:spPr>
          <a:xfrm>
            <a:off x="1200150" y="9563100"/>
            <a:ext cx="152400" cy="1524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13" name="Shape 11"/>
          <p:cNvSpPr/>
          <p:nvPr/>
        </p:nvSpPr>
        <p:spPr>
          <a:xfrm>
            <a:off x="14478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4" name="Shape 12"/>
          <p:cNvSpPr/>
          <p:nvPr/>
        </p:nvSpPr>
        <p:spPr>
          <a:xfrm>
            <a:off x="16954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5" name="Shape 13"/>
          <p:cNvSpPr/>
          <p:nvPr/>
        </p:nvSpPr>
        <p:spPr>
          <a:xfrm>
            <a:off x="19431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6" name="Shape 14"/>
          <p:cNvSpPr/>
          <p:nvPr/>
        </p:nvSpPr>
        <p:spPr>
          <a:xfrm>
            <a:off x="21907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7" name="Shape 15"/>
          <p:cNvSpPr/>
          <p:nvPr/>
        </p:nvSpPr>
        <p:spPr>
          <a:xfrm>
            <a:off x="24384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8" name="Shape 16"/>
          <p:cNvSpPr/>
          <p:nvPr/>
        </p:nvSpPr>
        <p:spPr>
          <a:xfrm>
            <a:off x="26860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9" name="Shape 17"/>
          <p:cNvSpPr/>
          <p:nvPr/>
        </p:nvSpPr>
        <p:spPr>
          <a:xfrm>
            <a:off x="29337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20" name="Text 18"/>
          <p:cNvSpPr/>
          <p:nvPr/>
        </p:nvSpPr>
        <p:spPr>
          <a:xfrm>
            <a:off x="3448050" y="9467850"/>
            <a:ext cx="666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11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02/09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2" name="Moda image moda-export-watermark-49267cb7-8e0b-4c6b-8398-c59d05754212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2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GIỐNG</a:t>
            </a:r>
            <a:r>
              <a:rPr lang="en-US" sz="1950" b="1" spc="300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NHAU</a:t>
            </a:r>
            <a:endParaRPr lang="en-US" sz="1950" dirty="0"/>
          </a:p>
        </p:txBody>
      </p:sp>
      <p:sp>
        <p:nvSpPr>
          <p:cNvPr id="3" name="Shape 1"/>
          <p:cNvSpPr/>
          <p:nvPr/>
        </p:nvSpPr>
        <p:spPr>
          <a:xfrm>
            <a:off x="914400" y="1238250"/>
            <a:ext cx="114300" cy="2571750"/>
          </a:xfrm>
          <a:prstGeom prst="rect">
            <a:avLst/>
          </a:prstGeom>
          <a:solidFill>
            <a:srgbClr val="E8472B"/>
          </a:solidFill>
          <a:ln/>
        </p:spPr>
      </p:sp>
      <p:sp>
        <p:nvSpPr>
          <p:cNvPr id="4" name="Text 2"/>
          <p:cNvSpPr/>
          <p:nvPr/>
        </p:nvSpPr>
        <p:spPr>
          <a:xfrm>
            <a:off x="1333500" y="1238250"/>
            <a:ext cx="16040100" cy="2667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Cả</a:t>
            </a:r>
            <a:r>
              <a:rPr lang="en-US" sz="69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hai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giữ</a:t>
            </a:r>
            <a:r>
              <a:rPr lang="en-US" sz="69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dữ</a:t>
            </a:r>
            <a:r>
              <a:rPr lang="en-US" sz="6900" dirty="0" spc="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liệu</a:t>
            </a:r>
            <a:r>
              <a:rPr lang="en-US" sz="6900" dirty="0" spc="-1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trong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bộ</a:t>
            </a:r>
            <a:r>
              <a:rPr lang="en-US" sz="6900" dirty="0" spc="-5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nhớ,</a:t>
            </a:r>
            <a:r>
              <a:rPr lang="en-US" sz="6900" dirty="0" spc="1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đọc</a:t>
            </a: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ghi</a:t>
            </a:r>
            <a:r>
              <a:rPr lang="en-US" sz="69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theo</a:t>
            </a:r>
            <a:r>
              <a:rPr lang="en-US" sz="6900" dirty="0" spc="-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khóa.</a:t>
            </a:r>
            <a:endParaRPr lang="en-US" sz="6900" dirty="0"/>
          </a:p>
        </p:txBody>
      </p:sp>
      <p:sp>
        <p:nvSpPr>
          <p:cNvPr id="5" name="Text 3"/>
          <p:cNvSpPr/>
          <p:nvPr/>
        </p:nvSpPr>
        <p:spPr>
          <a:xfrm>
            <a:off x="914400" y="6096000"/>
            <a:ext cx="16459200" cy="1905000"/>
          </a:xfrm>
          <a:prstGeom prst="roundRect">
            <a:avLst>
              <a:gd name="adj" fmla="val 12000"/>
            </a:avLst>
          </a:prstGeom>
          <a:solidFill>
            <a:srgbClr val="F8D9D0"/>
          </a:solidFill>
          <a:ln w="28575">
            <a:solidFill>
              <a:srgbClr val="E8472B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 spc="-10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Đẩy</a:t>
            </a:r>
            <a:r>
              <a:rPr lang="en-US" sz="3000" dirty="0" spc="-6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khóa</a:t>
            </a:r>
            <a:r>
              <a:rPr lang="en-US" sz="3000" dirty="0" spc="4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cũ</a:t>
            </a:r>
            <a:r>
              <a:rPr lang="en-US" sz="3000" dirty="0" spc="3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khi</a:t>
            </a:r>
            <a:r>
              <a:rPr lang="en-US" sz="3000" dirty="0" spc="-2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đầy:</a:t>
            </a:r>
            <a:r>
              <a:rPr lang="en-US" sz="3000" dirty="0" spc="-10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memcached</a:t>
            </a:r>
            <a:r>
              <a:rPr lang="en-US" sz="3000" dirty="0" spc="-2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làm</a:t>
            </a:r>
            <a:r>
              <a:rPr lang="en-US" sz="3000" dirty="0" spc="0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sẵn,</a:t>
            </a:r>
            <a:r>
              <a:rPr lang="en-US" sz="3000" dirty="0" spc="-27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Redis</a:t>
            </a:r>
            <a:r>
              <a:rPr lang="en-US" sz="3000" dirty="0" spc="-6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phải</a:t>
            </a:r>
            <a:r>
              <a:rPr lang="en-US" sz="3000" dirty="0" spc="2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cấu</a:t>
            </a:r>
            <a:r>
              <a:rPr lang="en-US" sz="3000" dirty="0" spc="0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hình.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9525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7" name="Shape 5"/>
          <p:cNvSpPr/>
          <p:nvPr/>
        </p:nvSpPr>
        <p:spPr>
          <a:xfrm>
            <a:off x="12001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8" name="Shape 6"/>
          <p:cNvSpPr/>
          <p:nvPr/>
        </p:nvSpPr>
        <p:spPr>
          <a:xfrm>
            <a:off x="1447800" y="9563100"/>
            <a:ext cx="152400" cy="1524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9" name="Shape 7"/>
          <p:cNvSpPr/>
          <p:nvPr/>
        </p:nvSpPr>
        <p:spPr>
          <a:xfrm>
            <a:off x="16954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0" name="Shape 8"/>
          <p:cNvSpPr/>
          <p:nvPr/>
        </p:nvSpPr>
        <p:spPr>
          <a:xfrm>
            <a:off x="19431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1" name="Shape 9"/>
          <p:cNvSpPr/>
          <p:nvPr/>
        </p:nvSpPr>
        <p:spPr>
          <a:xfrm>
            <a:off x="21907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2" name="Shape 10"/>
          <p:cNvSpPr/>
          <p:nvPr/>
        </p:nvSpPr>
        <p:spPr>
          <a:xfrm>
            <a:off x="24384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3" name="Shape 11"/>
          <p:cNvSpPr/>
          <p:nvPr/>
        </p:nvSpPr>
        <p:spPr>
          <a:xfrm>
            <a:off x="26860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4" name="Shape 12"/>
          <p:cNvSpPr/>
          <p:nvPr/>
        </p:nvSpPr>
        <p:spPr>
          <a:xfrm>
            <a:off x="29337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5" name="Text 13"/>
          <p:cNvSpPr/>
          <p:nvPr/>
        </p:nvSpPr>
        <p:spPr>
          <a:xfrm>
            <a:off x="3448050" y="9467850"/>
            <a:ext cx="666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11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 03/09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17" name="Moda image moda-export-watermark-f902acea-cadc-4b7e-b2e5-7198d448d4c2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82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KHÁC</a:t>
            </a:r>
            <a:r>
              <a:rPr lang="en-US" sz="1950" b="1" spc="300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NHAU,</a:t>
            </a:r>
            <a:r>
              <a:rPr lang="en-US" sz="1950" b="1" spc="275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ĐÃ</a:t>
            </a:r>
            <a:r>
              <a:rPr lang="en-US" sz="1950" b="1" spc="301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THỬ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238250"/>
            <a:ext cx="1645920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3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Bốn</a:t>
            </a:r>
            <a:r>
              <a:rPr lang="en-US" sz="63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khác</a:t>
            </a:r>
            <a:r>
              <a:rPr lang="en-US" sz="63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biệt</a:t>
            </a:r>
            <a:r>
              <a:rPr lang="en-US" sz="6300" dirty="0" spc="1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đã</a:t>
            </a:r>
            <a:r>
              <a:rPr lang="en-US" sz="63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chạy</a:t>
            </a:r>
            <a:r>
              <a:rPr lang="en-US" sz="6300" dirty="0" spc="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thử</a:t>
            </a:r>
            <a:endParaRPr lang="en-US" sz="6300" dirty="0"/>
          </a:p>
        </p:txBody>
      </p:sp>
      <p:sp>
        <p:nvSpPr>
          <p:cNvPr id="4" name="Text 2"/>
          <p:cNvSpPr/>
          <p:nvPr/>
        </p:nvSpPr>
        <p:spPr>
          <a:xfrm>
            <a:off x="4953000" y="2762250"/>
            <a:ext cx="5715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08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MEMCACHED</a:t>
            </a:r>
            <a:endParaRPr lang="en-US" sz="1950" dirty="0"/>
          </a:p>
        </p:txBody>
      </p:sp>
      <p:sp>
        <p:nvSpPr>
          <p:cNvPr id="5" name="Text 3"/>
          <p:cNvSpPr/>
          <p:nvPr/>
        </p:nvSpPr>
        <p:spPr>
          <a:xfrm>
            <a:off x="11239500" y="2762250"/>
            <a:ext cx="5715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6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REDIS</a:t>
            </a:r>
            <a:endParaRPr lang="en-US" sz="1950" dirty="0"/>
          </a:p>
        </p:txBody>
      </p:sp>
      <p:sp>
        <p:nvSpPr>
          <p:cNvPr id="6" name="Shape 4"/>
          <p:cNvSpPr/>
          <p:nvPr/>
        </p:nvSpPr>
        <p:spPr>
          <a:xfrm>
            <a:off x="914400" y="3238500"/>
            <a:ext cx="16459200" cy="1143000"/>
          </a:xfrm>
          <a:prstGeom prst="roundRect">
            <a:avLst>
              <a:gd name="adj" fmla="val 16667"/>
            </a:avLst>
          </a:prstGeom>
          <a:solidFill>
            <a:srgbClr val="1E212B"/>
          </a:solidFill>
          <a:ln/>
        </p:spPr>
      </p:sp>
      <p:sp>
        <p:nvSpPr>
          <p:cNvPr id="7" name="Shape 5"/>
          <p:cNvSpPr/>
          <p:nvPr/>
        </p:nvSpPr>
        <p:spPr>
          <a:xfrm>
            <a:off x="914400" y="3238500"/>
            <a:ext cx="114300" cy="1143000"/>
          </a:xfrm>
          <a:prstGeom prst="rect">
            <a:avLst/>
          </a:prstGeom>
          <a:solidFill>
            <a:srgbClr val="7C93FF"/>
          </a:solidFill>
          <a:ln/>
        </p:spPr>
      </p:sp>
      <p:sp>
        <p:nvSpPr>
          <p:cNvPr id="8" name="Text 6"/>
          <p:cNvSpPr/>
          <p:nvPr/>
        </p:nvSpPr>
        <p:spPr>
          <a:xfrm>
            <a:off x="1333500" y="3600450"/>
            <a:ext cx="3429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 spc="0" kern="0">
                <a:solidFill>
                  <a:srgbClr val="7C93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Giá</a:t>
            </a:r>
            <a:r>
              <a:rPr lang="en-US" sz="2400" dirty="0" spc="5" kern="0">
                <a:solidFill>
                  <a:srgbClr val="7C93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trị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4953000" y="3476625"/>
            <a:ext cx="59055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Khối</a:t>
            </a:r>
            <a:r>
              <a:rPr lang="en-US" sz="2250" dirty="0" spc="-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byte,</a:t>
            </a:r>
            <a:r>
              <a:rPr lang="en-US" sz="22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250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2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cấu</a:t>
            </a:r>
            <a:r>
              <a:rPr lang="en-US" sz="22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trúc</a:t>
            </a:r>
            <a:r>
              <a:rPr lang="en-US" sz="2250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22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endParaRPr lang="en-US" sz="2250" dirty="0"/>
          </a:p>
        </p:txBody>
      </p:sp>
      <p:sp>
        <p:nvSpPr>
          <p:cNvPr id="10" name="Text 8"/>
          <p:cNvSpPr/>
          <p:nvPr/>
        </p:nvSpPr>
        <p:spPr>
          <a:xfrm>
            <a:off x="11239500" y="3476625"/>
            <a:ext cx="59055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Hash,</a:t>
            </a:r>
            <a:r>
              <a:rPr lang="en-US" sz="2250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list,</a:t>
            </a:r>
            <a:r>
              <a:rPr lang="en-US" sz="2250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set,</a:t>
            </a:r>
            <a:r>
              <a:rPr lang="en-US" sz="2250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sorted</a:t>
            </a:r>
            <a:r>
              <a:rPr lang="en-US" sz="2250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set,</a:t>
            </a:r>
            <a:r>
              <a:rPr lang="en-US" sz="22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bitmap</a:t>
            </a:r>
            <a:endParaRPr lang="en-US" sz="2250" dirty="0"/>
          </a:p>
        </p:txBody>
      </p:sp>
      <p:sp>
        <p:nvSpPr>
          <p:cNvPr id="11" name="Shape 9"/>
          <p:cNvSpPr/>
          <p:nvPr/>
        </p:nvSpPr>
        <p:spPr>
          <a:xfrm>
            <a:off x="914400" y="4572000"/>
            <a:ext cx="16459200" cy="1143000"/>
          </a:xfrm>
          <a:prstGeom prst="roundRect">
            <a:avLst>
              <a:gd name="adj" fmla="val 16667"/>
            </a:avLst>
          </a:prstGeom>
          <a:solidFill>
            <a:srgbClr val="1E212B"/>
          </a:solidFill>
          <a:ln/>
        </p:spPr>
      </p:sp>
      <p:sp>
        <p:nvSpPr>
          <p:cNvPr id="12" name="Shape 10"/>
          <p:cNvSpPr/>
          <p:nvPr/>
        </p:nvSpPr>
        <p:spPr>
          <a:xfrm>
            <a:off x="914400" y="4572000"/>
            <a:ext cx="114300" cy="1143000"/>
          </a:xfrm>
          <a:prstGeom prst="rect">
            <a:avLst/>
          </a:prstGeom>
          <a:solidFill>
            <a:srgbClr val="7C93FF"/>
          </a:solidFill>
          <a:ln/>
        </p:spPr>
      </p:sp>
      <p:sp>
        <p:nvSpPr>
          <p:cNvPr id="13" name="Text 11"/>
          <p:cNvSpPr/>
          <p:nvPr/>
        </p:nvSpPr>
        <p:spPr>
          <a:xfrm>
            <a:off x="1333500" y="4933950"/>
            <a:ext cx="3429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 spc="0" kern="0">
                <a:solidFill>
                  <a:srgbClr val="7C93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Giá</a:t>
            </a:r>
            <a:r>
              <a:rPr lang="en-US" sz="2400" dirty="0" spc="5" kern="0">
                <a:solidFill>
                  <a:srgbClr val="7C93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trị</a:t>
            </a:r>
            <a:r>
              <a:rPr lang="en-US" sz="2400" dirty="0" spc="4" kern="0">
                <a:solidFill>
                  <a:srgbClr val="7C93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2</a:t>
            </a:r>
            <a:r>
              <a:rPr lang="en-US" sz="2400" dirty="0" spc="0" kern="0">
                <a:solidFill>
                  <a:srgbClr val="7C93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MiB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4953000" y="4810125"/>
            <a:ext cx="59055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-1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Từ</a:t>
            </a:r>
            <a:r>
              <a:rPr lang="en-US" sz="22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chối</a:t>
            </a:r>
            <a:r>
              <a:rPr lang="en-US" sz="22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(mặc</a:t>
            </a:r>
            <a:r>
              <a:rPr lang="en-US" sz="2250" dirty="0" spc="1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r>
              <a:rPr lang="en-US" sz="2250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tối</a:t>
            </a:r>
            <a:r>
              <a:rPr lang="en-US" sz="2250" dirty="0" spc="1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đa</a:t>
            </a:r>
            <a:r>
              <a:rPr lang="en-US" sz="2250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</a:t>
            </a:r>
            <a:r>
              <a:rPr lang="en-US" sz="22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MiB)</a:t>
            </a:r>
            <a:endParaRPr lang="en-US" sz="2250" dirty="0"/>
          </a:p>
        </p:txBody>
      </p:sp>
      <p:sp>
        <p:nvSpPr>
          <p:cNvPr id="15" name="Text 13"/>
          <p:cNvSpPr/>
          <p:nvPr/>
        </p:nvSpPr>
        <p:spPr>
          <a:xfrm>
            <a:off x="11239500" y="4810125"/>
            <a:ext cx="59055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Nhận</a:t>
            </a:r>
            <a:endParaRPr lang="en-US" sz="2250" dirty="0"/>
          </a:p>
        </p:txBody>
      </p:sp>
      <p:sp>
        <p:nvSpPr>
          <p:cNvPr id="16" name="Shape 14"/>
          <p:cNvSpPr/>
          <p:nvPr/>
        </p:nvSpPr>
        <p:spPr>
          <a:xfrm>
            <a:off x="914400" y="5905500"/>
            <a:ext cx="16459200" cy="1143000"/>
          </a:xfrm>
          <a:prstGeom prst="roundRect">
            <a:avLst>
              <a:gd name="adj" fmla="val 16667"/>
            </a:avLst>
          </a:prstGeom>
          <a:solidFill>
            <a:srgbClr val="1E212B"/>
          </a:solidFill>
          <a:ln/>
        </p:spPr>
      </p:sp>
      <p:sp>
        <p:nvSpPr>
          <p:cNvPr id="17" name="Shape 15"/>
          <p:cNvSpPr/>
          <p:nvPr/>
        </p:nvSpPr>
        <p:spPr>
          <a:xfrm>
            <a:off x="914400" y="5905500"/>
            <a:ext cx="114300" cy="1143000"/>
          </a:xfrm>
          <a:prstGeom prst="rect">
            <a:avLst/>
          </a:prstGeom>
          <a:solidFill>
            <a:srgbClr val="7C93FF"/>
          </a:solidFill>
          <a:ln/>
        </p:spPr>
      </p:sp>
      <p:sp>
        <p:nvSpPr>
          <p:cNvPr id="18" name="Text 16"/>
          <p:cNvSpPr/>
          <p:nvPr/>
        </p:nvSpPr>
        <p:spPr>
          <a:xfrm>
            <a:off x="1333500" y="6267450"/>
            <a:ext cx="3429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 spc="2" kern="0">
                <a:solidFill>
                  <a:srgbClr val="7C93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Khởi</a:t>
            </a:r>
            <a:r>
              <a:rPr lang="en-US" sz="2400" dirty="0" spc="-9" kern="0">
                <a:solidFill>
                  <a:srgbClr val="7C93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động</a:t>
            </a:r>
            <a:r>
              <a:rPr lang="en-US" sz="2400" dirty="0" spc="-1" kern="0">
                <a:solidFill>
                  <a:srgbClr val="7C93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lại</a:t>
            </a:r>
            <a:endParaRPr lang="en-US" sz="2400" dirty="0"/>
          </a:p>
        </p:txBody>
      </p:sp>
      <p:sp>
        <p:nvSpPr>
          <p:cNvPr id="19" name="Text 17"/>
          <p:cNvSpPr/>
          <p:nvPr/>
        </p:nvSpPr>
        <p:spPr>
          <a:xfrm>
            <a:off x="4953000" y="6143625"/>
            <a:ext cx="59055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-1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Mất</a:t>
            </a:r>
            <a:r>
              <a:rPr lang="en-US" sz="2250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hết</a:t>
            </a:r>
            <a:endParaRPr lang="en-US" sz="2250" dirty="0"/>
          </a:p>
        </p:txBody>
      </p:sp>
      <p:sp>
        <p:nvSpPr>
          <p:cNvPr id="20" name="Text 18"/>
          <p:cNvSpPr/>
          <p:nvPr/>
        </p:nvSpPr>
        <p:spPr>
          <a:xfrm>
            <a:off x="11239500" y="6143625"/>
            <a:ext cx="59055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Đọc lại</a:t>
            </a:r>
            <a:r>
              <a:rPr lang="en-US" sz="22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ảnh</a:t>
            </a:r>
            <a:r>
              <a:rPr lang="en-US" sz="2250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chụp</a:t>
            </a:r>
            <a:r>
              <a:rPr lang="en-US" sz="2250" dirty="0" spc="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đã</a:t>
            </a:r>
            <a:r>
              <a:rPr lang="en-US" sz="2250" dirty="0" spc="1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lưu</a:t>
            </a:r>
            <a:endParaRPr lang="en-US" sz="2250" dirty="0"/>
          </a:p>
        </p:txBody>
      </p:sp>
      <p:sp>
        <p:nvSpPr>
          <p:cNvPr id="21" name="Shape 19"/>
          <p:cNvSpPr/>
          <p:nvPr/>
        </p:nvSpPr>
        <p:spPr>
          <a:xfrm>
            <a:off x="914400" y="7239000"/>
            <a:ext cx="16459200" cy="1143000"/>
          </a:xfrm>
          <a:prstGeom prst="roundRect">
            <a:avLst>
              <a:gd name="adj" fmla="val 16667"/>
            </a:avLst>
          </a:prstGeom>
          <a:solidFill>
            <a:srgbClr val="1E212B"/>
          </a:solidFill>
          <a:ln/>
        </p:spPr>
      </p:sp>
      <p:sp>
        <p:nvSpPr>
          <p:cNvPr id="22" name="Shape 20"/>
          <p:cNvSpPr/>
          <p:nvPr/>
        </p:nvSpPr>
        <p:spPr>
          <a:xfrm>
            <a:off x="914400" y="7239000"/>
            <a:ext cx="114300" cy="1143000"/>
          </a:xfrm>
          <a:prstGeom prst="rect">
            <a:avLst/>
          </a:prstGeom>
          <a:solidFill>
            <a:srgbClr val="7C93FF"/>
          </a:solidFill>
          <a:ln/>
        </p:spPr>
      </p:sp>
      <p:sp>
        <p:nvSpPr>
          <p:cNvPr id="23" name="Text 21"/>
          <p:cNvSpPr/>
          <p:nvPr/>
        </p:nvSpPr>
        <p:spPr>
          <a:xfrm>
            <a:off x="1333500" y="7600950"/>
            <a:ext cx="3429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 spc="-13" kern="0">
                <a:solidFill>
                  <a:srgbClr val="7C93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Luồng</a:t>
            </a:r>
            <a:r>
              <a:rPr lang="en-US" sz="2400" dirty="0" spc="1" kern="0">
                <a:solidFill>
                  <a:srgbClr val="7C93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xử</a:t>
            </a:r>
            <a:r>
              <a:rPr lang="en-US" sz="2400" dirty="0" spc="4" kern="0">
                <a:solidFill>
                  <a:srgbClr val="7C93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lý</a:t>
            </a:r>
            <a:endParaRPr lang="en-US" sz="2400" dirty="0"/>
          </a:p>
        </p:txBody>
      </p:sp>
      <p:sp>
        <p:nvSpPr>
          <p:cNvPr id="24" name="Text 22"/>
          <p:cNvSpPr/>
          <p:nvPr/>
        </p:nvSpPr>
        <p:spPr>
          <a:xfrm>
            <a:off x="4953000" y="7477125"/>
            <a:ext cx="59055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4</a:t>
            </a:r>
            <a:r>
              <a:rPr lang="en-US" sz="22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luồng</a:t>
            </a:r>
            <a:endParaRPr lang="en-US" sz="2250" dirty="0"/>
          </a:p>
        </p:txBody>
      </p:sp>
      <p:sp>
        <p:nvSpPr>
          <p:cNvPr id="25" name="Text 23"/>
          <p:cNvSpPr/>
          <p:nvPr/>
        </p:nvSpPr>
        <p:spPr>
          <a:xfrm>
            <a:off x="11239500" y="7477125"/>
            <a:ext cx="59055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Một</a:t>
            </a:r>
            <a:r>
              <a:rPr lang="en-US" sz="22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luồng chính</a:t>
            </a:r>
            <a:endParaRPr lang="en-US" sz="2250" dirty="0"/>
          </a:p>
        </p:txBody>
      </p:sp>
      <p:sp>
        <p:nvSpPr>
          <p:cNvPr id="26" name="Shape 24"/>
          <p:cNvSpPr/>
          <p:nvPr/>
        </p:nvSpPr>
        <p:spPr>
          <a:xfrm>
            <a:off x="9525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27" name="Shape 25"/>
          <p:cNvSpPr/>
          <p:nvPr/>
        </p:nvSpPr>
        <p:spPr>
          <a:xfrm>
            <a:off x="120015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28" name="Shape 26"/>
          <p:cNvSpPr/>
          <p:nvPr/>
        </p:nvSpPr>
        <p:spPr>
          <a:xfrm>
            <a:off x="14478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29" name="Shape 27"/>
          <p:cNvSpPr/>
          <p:nvPr/>
        </p:nvSpPr>
        <p:spPr>
          <a:xfrm>
            <a:off x="1695450" y="9563100"/>
            <a:ext cx="152400" cy="152400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30" name="Shape 28"/>
          <p:cNvSpPr/>
          <p:nvPr/>
        </p:nvSpPr>
        <p:spPr>
          <a:xfrm>
            <a:off x="19431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31" name="Shape 29"/>
          <p:cNvSpPr/>
          <p:nvPr/>
        </p:nvSpPr>
        <p:spPr>
          <a:xfrm>
            <a:off x="219075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32" name="Shape 30"/>
          <p:cNvSpPr/>
          <p:nvPr/>
        </p:nvSpPr>
        <p:spPr>
          <a:xfrm>
            <a:off x="24384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33" name="Shape 31"/>
          <p:cNvSpPr/>
          <p:nvPr/>
        </p:nvSpPr>
        <p:spPr>
          <a:xfrm>
            <a:off x="268605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34" name="Shape 32"/>
          <p:cNvSpPr/>
          <p:nvPr/>
        </p:nvSpPr>
        <p:spPr>
          <a:xfrm>
            <a:off x="29337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35" name="Text 33"/>
          <p:cNvSpPr/>
          <p:nvPr/>
        </p:nvSpPr>
        <p:spPr>
          <a:xfrm>
            <a:off x="3448050" y="9467850"/>
            <a:ext cx="666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11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04/09</a:t>
            </a:r>
            <a:endParaRPr lang="en-US" sz="1800" dirty="0"/>
          </a:p>
        </p:txBody>
      </p:sp>
      <p:sp>
        <p:nvSpPr>
          <p:cNvPr id="36" name="Shape 34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7" name="Moda image moda-export-watermark-72680986-fda1-44d8-9a50-5cbd568ef366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98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BITMAP</a:t>
            </a:r>
            <a:r>
              <a:rPr lang="en-US" sz="1950" b="1" spc="289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1950" b="1" spc="301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REDIS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238250"/>
            <a:ext cx="1645920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3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Mỗi</a:t>
            </a:r>
            <a:r>
              <a:rPr lang="en-US" sz="6300" dirty="0" spc="-5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người</a:t>
            </a:r>
            <a:r>
              <a:rPr lang="en-US" sz="63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dùng</a:t>
            </a:r>
            <a:r>
              <a:rPr lang="en-US" sz="6300" dirty="0" spc="-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một</a:t>
            </a:r>
            <a:r>
              <a:rPr lang="en-US" sz="630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bit</a:t>
            </a:r>
            <a:endParaRPr lang="en-US" sz="6300" dirty="0"/>
          </a:p>
        </p:txBody>
      </p:sp>
      <p:sp>
        <p:nvSpPr>
          <p:cNvPr id="4" name="Text 2"/>
          <p:cNvSpPr/>
          <p:nvPr/>
        </p:nvSpPr>
        <p:spPr>
          <a:xfrm>
            <a:off x="914400" y="3048000"/>
            <a:ext cx="16459200" cy="2857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0" dirty="0" spc="2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125</a:t>
            </a:r>
            <a:r>
              <a:rPr lang="en-US" sz="18000" dirty="0" spc="-32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nghìn</a:t>
            </a:r>
            <a:r>
              <a:rPr lang="en-US" sz="18000" dirty="0" spc="-44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byte</a:t>
            </a:r>
            <a:endParaRPr lang="en-US" sz="18000" dirty="0"/>
          </a:p>
        </p:txBody>
      </p:sp>
      <p:sp>
        <p:nvSpPr>
          <p:cNvPr id="5" name="Text 3"/>
          <p:cNvSpPr/>
          <p:nvPr/>
        </p:nvSpPr>
        <p:spPr>
          <a:xfrm>
            <a:off x="914400" y="6096000"/>
            <a:ext cx="164592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Một</a:t>
            </a:r>
            <a:r>
              <a:rPr lang="en-US" sz="3000" dirty="0" spc="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triệu</a:t>
            </a:r>
            <a:r>
              <a:rPr lang="en-US" sz="3000" dirty="0" spc="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r>
              <a:rPr lang="en-US" sz="300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dùng,</a:t>
            </a:r>
            <a:r>
              <a:rPr lang="en-US" sz="3000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300</a:t>
            </a:r>
            <a:r>
              <a:rPr lang="en-US" sz="30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nghìn</a:t>
            </a:r>
            <a:r>
              <a:rPr lang="en-US" sz="3000" dirty="0" spc="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r>
              <a:rPr lang="en-US" sz="3000" dirty="0" spc="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đăng</a:t>
            </a:r>
            <a:r>
              <a:rPr lang="en-US" sz="30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nhập.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914400" y="7239000"/>
            <a:ext cx="16459200" cy="1238250"/>
          </a:xfrm>
          <a:prstGeom prst="roundRect">
            <a:avLst>
              <a:gd name="adj" fmla="val 18462"/>
            </a:avLst>
          </a:prstGeom>
          <a:solidFill>
            <a:srgbClr val="1E212B"/>
          </a:solidFill>
          <a:ln w="28575">
            <a:solidFill>
              <a:srgbClr val="FFB454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50" dirty="0" spc="-30" kern="0">
                <a:solidFill>
                  <a:srgbClr val="FFB454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Redis</a:t>
            </a:r>
            <a:r>
              <a:rPr lang="en-US" sz="2850" dirty="0" spc="6" kern="0">
                <a:solidFill>
                  <a:srgbClr val="FFB454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báo</a:t>
            </a:r>
            <a:r>
              <a:rPr lang="en-US" sz="2850" dirty="0" spc="-3" kern="0">
                <a:solidFill>
                  <a:srgbClr val="FFB454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dùng</a:t>
            </a:r>
            <a:r>
              <a:rPr lang="en-US" sz="2850" dirty="0" spc="-7" kern="0">
                <a:solidFill>
                  <a:srgbClr val="FFB454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khoảng</a:t>
            </a:r>
            <a:r>
              <a:rPr lang="en-US" sz="2850" dirty="0" spc="1" kern="0">
                <a:solidFill>
                  <a:srgbClr val="FFB454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164</a:t>
            </a:r>
            <a:r>
              <a:rPr lang="en-US" sz="2850" dirty="0" spc="-3" kern="0">
                <a:solidFill>
                  <a:srgbClr val="FFB454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nghìn</a:t>
            </a:r>
            <a:r>
              <a:rPr lang="en-US" sz="2850" dirty="0" spc="-7" kern="0">
                <a:solidFill>
                  <a:srgbClr val="FFB454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byte.</a:t>
            </a:r>
            <a:endParaRPr lang="en-US" sz="2850" dirty="0"/>
          </a:p>
        </p:txBody>
      </p:sp>
      <p:sp>
        <p:nvSpPr>
          <p:cNvPr id="7" name="Shape 5"/>
          <p:cNvSpPr/>
          <p:nvPr/>
        </p:nvSpPr>
        <p:spPr>
          <a:xfrm>
            <a:off x="9525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8" name="Shape 6"/>
          <p:cNvSpPr/>
          <p:nvPr/>
        </p:nvSpPr>
        <p:spPr>
          <a:xfrm>
            <a:off x="120015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9" name="Shape 7"/>
          <p:cNvSpPr/>
          <p:nvPr/>
        </p:nvSpPr>
        <p:spPr>
          <a:xfrm>
            <a:off x="14478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0" name="Shape 8"/>
          <p:cNvSpPr/>
          <p:nvPr/>
        </p:nvSpPr>
        <p:spPr>
          <a:xfrm>
            <a:off x="169545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1" name="Shape 9"/>
          <p:cNvSpPr/>
          <p:nvPr/>
        </p:nvSpPr>
        <p:spPr>
          <a:xfrm>
            <a:off x="1943100" y="9563100"/>
            <a:ext cx="152400" cy="152400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12" name="Shape 10"/>
          <p:cNvSpPr/>
          <p:nvPr/>
        </p:nvSpPr>
        <p:spPr>
          <a:xfrm>
            <a:off x="219075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3" name="Shape 11"/>
          <p:cNvSpPr/>
          <p:nvPr/>
        </p:nvSpPr>
        <p:spPr>
          <a:xfrm>
            <a:off x="24384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4" name="Shape 12"/>
          <p:cNvSpPr/>
          <p:nvPr/>
        </p:nvSpPr>
        <p:spPr>
          <a:xfrm>
            <a:off x="268605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5" name="Shape 13"/>
          <p:cNvSpPr/>
          <p:nvPr/>
        </p:nvSpPr>
        <p:spPr>
          <a:xfrm>
            <a:off x="29337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6" name="Text 14"/>
          <p:cNvSpPr/>
          <p:nvPr/>
        </p:nvSpPr>
        <p:spPr>
          <a:xfrm>
            <a:off x="3448050" y="9467850"/>
            <a:ext cx="666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11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05/09</a:t>
            </a:r>
            <a:endParaRPr lang="en-US" sz="1800" dirty="0"/>
          </a:p>
        </p:txBody>
      </p:sp>
      <p:sp>
        <p:nvSpPr>
          <p:cNvPr id="17" name="Shape 1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18" name="Moda image moda-export-watermark-e6a4cc49-21ab-467d-a5c1-3c792140c756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0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CHỌN</a:t>
            </a:r>
            <a:r>
              <a:rPr lang="en-US" sz="1950" b="1" spc="249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302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GIỚI</a:t>
            </a:r>
            <a:r>
              <a:rPr lang="en-US" sz="1950" b="1" spc="300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238250"/>
            <a:ext cx="1645920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300" dirty="0" spc="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Chọn</a:t>
            </a:r>
            <a:r>
              <a:rPr lang="en-US" sz="63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cái</a:t>
            </a:r>
            <a:r>
              <a:rPr lang="en-US" sz="63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nào</a:t>
            </a:r>
            <a:endParaRPr lang="en-US" sz="6300" dirty="0"/>
          </a:p>
        </p:txBody>
      </p:sp>
      <p:sp>
        <p:nvSpPr>
          <p:cNvPr id="4" name="Shape 2"/>
          <p:cNvSpPr/>
          <p:nvPr/>
        </p:nvSpPr>
        <p:spPr>
          <a:xfrm>
            <a:off x="914400" y="2857500"/>
            <a:ext cx="16459200" cy="1238250"/>
          </a:xfrm>
          <a:prstGeom prst="roundRect">
            <a:avLst>
              <a:gd name="adj" fmla="val 15385"/>
            </a:avLst>
          </a:prstGeom>
          <a:solidFill>
            <a:srgbClr val="E8E0CF"/>
          </a:solidFill>
          <a:ln/>
        </p:spPr>
      </p:sp>
      <p:sp>
        <p:nvSpPr>
          <p:cNvPr id="5" name="Shape 3"/>
          <p:cNvSpPr/>
          <p:nvPr/>
        </p:nvSpPr>
        <p:spPr>
          <a:xfrm>
            <a:off x="1143000" y="3143250"/>
            <a:ext cx="666750" cy="666750"/>
          </a:xfrm>
          <a:prstGeom prst="ellipse">
            <a:avLst/>
          </a:prstGeom>
          <a:solidFill>
            <a:srgbClr val="1F3FD1"/>
          </a:solidFill>
          <a:ln/>
        </p:spPr>
      </p:sp>
      <p:sp>
        <p:nvSpPr>
          <p:cNvPr id="6" name="Text 4"/>
          <p:cNvSpPr/>
          <p:nvPr/>
        </p:nvSpPr>
        <p:spPr>
          <a:xfrm>
            <a:off x="1143000" y="3286125"/>
            <a:ext cx="6667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dirty="0" spc="-5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1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2190750" y="3190875"/>
            <a:ext cx="14859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Chỉ</a:t>
            </a:r>
            <a:r>
              <a:rPr lang="en-US" sz="285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đặt</a:t>
            </a:r>
            <a:r>
              <a:rPr lang="en-US" sz="2850" b="1" dirty="0" spc="-2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850" b="1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lấy</a:t>
            </a:r>
            <a:r>
              <a:rPr lang="en-US" sz="2850" b="1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giá</a:t>
            </a:r>
            <a:r>
              <a:rPr lang="en-US" sz="2850" b="1" dirty="0" spc="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trị</a:t>
            </a:r>
            <a:r>
              <a:rPr lang="en-US" sz="285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nhỏ:</a:t>
            </a:r>
            <a:r>
              <a:rPr lang="en-US" sz="285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memcached</a:t>
            </a:r>
            <a:r>
              <a:rPr lang="en-US" sz="285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đủ.</a:t>
            </a:r>
            <a:endParaRPr lang="en-US" sz="2850" dirty="0"/>
          </a:p>
        </p:txBody>
      </p:sp>
      <p:sp>
        <p:nvSpPr>
          <p:cNvPr id="8" name="Shape 6"/>
          <p:cNvSpPr/>
          <p:nvPr/>
        </p:nvSpPr>
        <p:spPr>
          <a:xfrm>
            <a:off x="914400" y="4381500"/>
            <a:ext cx="16459200" cy="1238250"/>
          </a:xfrm>
          <a:prstGeom prst="roundRect">
            <a:avLst>
              <a:gd name="adj" fmla="val 15385"/>
            </a:avLst>
          </a:prstGeom>
          <a:solidFill>
            <a:srgbClr val="E8E0CF"/>
          </a:solidFill>
          <a:ln/>
        </p:spPr>
      </p:sp>
      <p:sp>
        <p:nvSpPr>
          <p:cNvPr id="9" name="Shape 7"/>
          <p:cNvSpPr/>
          <p:nvPr/>
        </p:nvSpPr>
        <p:spPr>
          <a:xfrm>
            <a:off x="1143000" y="4667250"/>
            <a:ext cx="666750" cy="666750"/>
          </a:xfrm>
          <a:prstGeom prst="ellipse">
            <a:avLst/>
          </a:prstGeom>
          <a:solidFill>
            <a:srgbClr val="1F3FD1"/>
          </a:solidFill>
          <a:ln/>
        </p:spPr>
      </p:sp>
      <p:sp>
        <p:nvSpPr>
          <p:cNvPr id="10" name="Text 8"/>
          <p:cNvSpPr/>
          <p:nvPr/>
        </p:nvSpPr>
        <p:spPr>
          <a:xfrm>
            <a:off x="1143000" y="4810125"/>
            <a:ext cx="6667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dirty="0" spc="6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2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2190750" y="4714875"/>
            <a:ext cx="14859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b="1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Cần cấu</a:t>
            </a:r>
            <a:r>
              <a:rPr lang="en-US" sz="285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trúc</a:t>
            </a:r>
            <a:r>
              <a:rPr lang="en-US" sz="285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285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liệu,</a:t>
            </a:r>
            <a:r>
              <a:rPr lang="en-US" sz="2850" b="1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giá</a:t>
            </a:r>
            <a:r>
              <a:rPr lang="en-US" sz="2850" b="1" dirty="0" spc="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trị</a:t>
            </a:r>
            <a:r>
              <a:rPr lang="en-US" sz="2850" b="1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trên</a:t>
            </a:r>
            <a:r>
              <a:rPr lang="en-US" sz="2850" b="1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</a:t>
            </a:r>
            <a:r>
              <a:rPr lang="en-US" sz="285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MiB:</a:t>
            </a:r>
            <a:r>
              <a:rPr lang="en-US" sz="2850" b="1" dirty="0" spc="-1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Redis.</a:t>
            </a:r>
            <a:endParaRPr lang="en-US" sz="2850" dirty="0"/>
          </a:p>
        </p:txBody>
      </p:sp>
      <p:sp>
        <p:nvSpPr>
          <p:cNvPr id="12" name="Shape 10"/>
          <p:cNvSpPr/>
          <p:nvPr/>
        </p:nvSpPr>
        <p:spPr>
          <a:xfrm>
            <a:off x="914400" y="5905500"/>
            <a:ext cx="16459200" cy="1238250"/>
          </a:xfrm>
          <a:prstGeom prst="roundRect">
            <a:avLst>
              <a:gd name="adj" fmla="val 15385"/>
            </a:avLst>
          </a:prstGeom>
          <a:solidFill>
            <a:srgbClr val="E8E0CF"/>
          </a:solidFill>
          <a:ln/>
        </p:spPr>
      </p:sp>
      <p:sp>
        <p:nvSpPr>
          <p:cNvPr id="13" name="Shape 11"/>
          <p:cNvSpPr/>
          <p:nvPr/>
        </p:nvSpPr>
        <p:spPr>
          <a:xfrm>
            <a:off x="1143000" y="6191250"/>
            <a:ext cx="666750" cy="666750"/>
          </a:xfrm>
          <a:prstGeom prst="ellipse">
            <a:avLst/>
          </a:prstGeom>
          <a:solidFill>
            <a:srgbClr val="1F3FD1"/>
          </a:solidFill>
          <a:ln/>
        </p:spPr>
      </p:sp>
      <p:sp>
        <p:nvSpPr>
          <p:cNvPr id="14" name="Text 12"/>
          <p:cNvSpPr/>
          <p:nvPr/>
        </p:nvSpPr>
        <p:spPr>
          <a:xfrm>
            <a:off x="1143000" y="6334125"/>
            <a:ext cx="6667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dirty="0" spc="-1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3</a:t>
            </a:r>
            <a:endParaRPr lang="en-US" sz="2400" dirty="0"/>
          </a:p>
        </p:txBody>
      </p:sp>
      <p:sp>
        <p:nvSpPr>
          <p:cNvPr id="15" name="Text 13"/>
          <p:cNvSpPr/>
          <p:nvPr/>
        </p:nvSpPr>
        <p:spPr>
          <a:xfrm>
            <a:off x="2190750" y="6238875"/>
            <a:ext cx="14859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Giữ dữ</a:t>
            </a:r>
            <a:r>
              <a:rPr lang="en-US" sz="285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285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qua</a:t>
            </a:r>
            <a:r>
              <a:rPr lang="en-US" sz="285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khởi</a:t>
            </a:r>
            <a:r>
              <a:rPr lang="en-US" sz="28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động</a:t>
            </a:r>
            <a:r>
              <a:rPr lang="en-US" sz="285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lại:</a:t>
            </a:r>
            <a:r>
              <a:rPr lang="en-US" sz="2850" b="1" dirty="0" spc="-1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Redis,</a:t>
            </a:r>
            <a:r>
              <a:rPr lang="en-US" sz="2850" b="1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cấu</a:t>
            </a:r>
            <a:r>
              <a:rPr lang="en-US" sz="28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r>
              <a:rPr lang="en-US" sz="285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kỹ.</a:t>
            </a:r>
            <a:endParaRPr lang="en-US" sz="2850" dirty="0"/>
          </a:p>
        </p:txBody>
      </p:sp>
      <p:sp>
        <p:nvSpPr>
          <p:cNvPr id="16" name="Shape 14"/>
          <p:cNvSpPr/>
          <p:nvPr/>
        </p:nvSpPr>
        <p:spPr>
          <a:xfrm>
            <a:off x="914400" y="7429500"/>
            <a:ext cx="16459200" cy="1238250"/>
          </a:xfrm>
          <a:prstGeom prst="roundRect">
            <a:avLst>
              <a:gd name="adj" fmla="val 15385"/>
            </a:avLst>
          </a:prstGeom>
          <a:solidFill>
            <a:srgbClr val="E8E0CF"/>
          </a:solidFill>
          <a:ln/>
        </p:spPr>
      </p:sp>
      <p:sp>
        <p:nvSpPr>
          <p:cNvPr id="17" name="Shape 15"/>
          <p:cNvSpPr/>
          <p:nvPr/>
        </p:nvSpPr>
        <p:spPr>
          <a:xfrm>
            <a:off x="1143000" y="7715250"/>
            <a:ext cx="666750" cy="666750"/>
          </a:xfrm>
          <a:prstGeom prst="ellipse">
            <a:avLst/>
          </a:prstGeom>
          <a:solidFill>
            <a:srgbClr val="1F3FD1"/>
          </a:solidFill>
          <a:ln/>
        </p:spPr>
      </p:sp>
      <p:sp>
        <p:nvSpPr>
          <p:cNvPr id="18" name="Text 16"/>
          <p:cNvSpPr/>
          <p:nvPr/>
        </p:nvSpPr>
        <p:spPr>
          <a:xfrm>
            <a:off x="1143000" y="7858125"/>
            <a:ext cx="6667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dirty="0" spc="-2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4</a:t>
            </a:r>
            <a:endParaRPr lang="en-US" sz="2400" dirty="0"/>
          </a:p>
        </p:txBody>
      </p:sp>
      <p:sp>
        <p:nvSpPr>
          <p:cNvPr id="19" name="Text 17"/>
          <p:cNvSpPr/>
          <p:nvPr/>
        </p:nvSpPr>
        <p:spPr>
          <a:xfrm>
            <a:off x="2190750" y="7762875"/>
            <a:ext cx="14859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b="1" dirty="0" spc="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Giới</a:t>
            </a:r>
            <a:r>
              <a:rPr lang="en-US" sz="285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hạn: chỉ</a:t>
            </a:r>
            <a:r>
              <a:rPr lang="en-US" sz="28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thử</a:t>
            </a:r>
            <a:r>
              <a:rPr lang="en-US" sz="2850" b="1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mặc</a:t>
            </a:r>
            <a:r>
              <a:rPr lang="en-US" sz="2850" b="1" dirty="0" spc="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định,</a:t>
            </a:r>
            <a:r>
              <a:rPr lang="en-US" sz="2850" b="1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850" b="1" dirty="0" spc="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đo</a:t>
            </a:r>
            <a:r>
              <a:rPr lang="en-US" sz="2850" b="1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tốc</a:t>
            </a:r>
            <a:r>
              <a:rPr lang="en-US" sz="2850" b="1" dirty="0" spc="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độ.</a:t>
            </a:r>
            <a:endParaRPr lang="en-US" sz="2850" dirty="0"/>
          </a:p>
        </p:txBody>
      </p:sp>
      <p:sp>
        <p:nvSpPr>
          <p:cNvPr id="20" name="Shape 18"/>
          <p:cNvSpPr/>
          <p:nvPr/>
        </p:nvSpPr>
        <p:spPr>
          <a:xfrm>
            <a:off x="9525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21" name="Shape 19"/>
          <p:cNvSpPr/>
          <p:nvPr/>
        </p:nvSpPr>
        <p:spPr>
          <a:xfrm>
            <a:off x="12001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22" name="Shape 20"/>
          <p:cNvSpPr/>
          <p:nvPr/>
        </p:nvSpPr>
        <p:spPr>
          <a:xfrm>
            <a:off x="14478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23" name="Shape 21"/>
          <p:cNvSpPr/>
          <p:nvPr/>
        </p:nvSpPr>
        <p:spPr>
          <a:xfrm>
            <a:off x="16954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24" name="Shape 22"/>
          <p:cNvSpPr/>
          <p:nvPr/>
        </p:nvSpPr>
        <p:spPr>
          <a:xfrm>
            <a:off x="19431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25" name="Shape 23"/>
          <p:cNvSpPr/>
          <p:nvPr/>
        </p:nvSpPr>
        <p:spPr>
          <a:xfrm>
            <a:off x="2190750" y="9563100"/>
            <a:ext cx="152400" cy="1524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26" name="Shape 24"/>
          <p:cNvSpPr/>
          <p:nvPr/>
        </p:nvSpPr>
        <p:spPr>
          <a:xfrm>
            <a:off x="24384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27" name="Shape 25"/>
          <p:cNvSpPr/>
          <p:nvPr/>
        </p:nvSpPr>
        <p:spPr>
          <a:xfrm>
            <a:off x="26860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28" name="Shape 26"/>
          <p:cNvSpPr/>
          <p:nvPr/>
        </p:nvSpPr>
        <p:spPr>
          <a:xfrm>
            <a:off x="29337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29" name="Text 27"/>
          <p:cNvSpPr/>
          <p:nvPr/>
        </p:nvSpPr>
        <p:spPr>
          <a:xfrm>
            <a:off x="3448050" y="9467850"/>
            <a:ext cx="666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11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06/09</a:t>
            </a:r>
            <a:endParaRPr lang="en-US" sz="1800" dirty="0"/>
          </a:p>
        </p:txBody>
      </p:sp>
      <p:sp>
        <p:nvSpPr>
          <p:cNvPr id="30" name="Shape 28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1" name="Moda image moda-export-watermark-b8ff919d-9020-4ad1-af12-2d7fb9433e13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73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CÂU</a:t>
            </a:r>
            <a:r>
              <a:rPr lang="en-US" sz="1950" b="1" spc="302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HỎI</a:t>
            </a:r>
            <a:r>
              <a:rPr lang="en-US" sz="1950" b="1" spc="297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KIỂM</a:t>
            </a:r>
            <a:r>
              <a:rPr lang="en-US" sz="1950" b="1" spc="300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238250"/>
            <a:ext cx="1645920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300" dirty="0" spc="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Đếm</a:t>
            </a:r>
            <a:r>
              <a:rPr lang="en-US" sz="6300" dirty="0" spc="-6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lượt</a:t>
            </a:r>
            <a:r>
              <a:rPr lang="en-US" sz="63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thích,</a:t>
            </a:r>
            <a:r>
              <a:rPr lang="en-US" sz="63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lấy</a:t>
            </a:r>
            <a:r>
              <a:rPr lang="en-US" sz="6300" dirty="0" spc="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10</a:t>
            </a:r>
            <a:r>
              <a:rPr lang="en-US" sz="63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bài</a:t>
            </a:r>
            <a:r>
              <a:rPr lang="en-US" sz="6300" dirty="0" spc="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đầu</a:t>
            </a:r>
            <a:endParaRPr lang="en-US" sz="6300" dirty="0"/>
          </a:p>
        </p:txBody>
      </p:sp>
      <p:sp>
        <p:nvSpPr>
          <p:cNvPr id="4" name="Text 2"/>
          <p:cNvSpPr/>
          <p:nvPr/>
        </p:nvSpPr>
        <p:spPr>
          <a:xfrm>
            <a:off x="5334000" y="2762250"/>
            <a:ext cx="5905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3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ĐẾM</a:t>
            </a:r>
            <a:r>
              <a:rPr lang="en-US" sz="1950" b="1" spc="209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LƯỢT</a:t>
            </a:r>
            <a:r>
              <a:rPr lang="en-US" sz="1950" b="1" spc="226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THÍCH</a:t>
            </a:r>
            <a:endParaRPr lang="en-US" sz="1950" dirty="0"/>
          </a:p>
        </p:txBody>
      </p:sp>
      <p:sp>
        <p:nvSpPr>
          <p:cNvPr id="5" name="Text 3"/>
          <p:cNvSpPr/>
          <p:nvPr/>
        </p:nvSpPr>
        <p:spPr>
          <a:xfrm>
            <a:off x="11620500" y="2762250"/>
            <a:ext cx="5715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62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LẤY</a:t>
            </a:r>
            <a:r>
              <a:rPr lang="en-US" sz="1950" b="1" spc="227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</a:t>
            </a:r>
            <a:r>
              <a:rPr lang="en-US" sz="1950" b="1" spc="219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950" b="1" spc="188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CAO</a:t>
            </a:r>
            <a:r>
              <a:rPr lang="en-US" sz="1950" b="1" spc="185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NHẤT</a:t>
            </a:r>
            <a:endParaRPr lang="en-US" sz="1950" dirty="0"/>
          </a:p>
        </p:txBody>
      </p:sp>
      <p:sp>
        <p:nvSpPr>
          <p:cNvPr id="6" name="Shape 4"/>
          <p:cNvSpPr/>
          <p:nvPr/>
        </p:nvSpPr>
        <p:spPr>
          <a:xfrm>
            <a:off x="914400" y="3238500"/>
            <a:ext cx="16459200" cy="2190750"/>
          </a:xfrm>
          <a:prstGeom prst="roundRect">
            <a:avLst>
              <a:gd name="adj" fmla="val 8696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14400" y="3238500"/>
            <a:ext cx="114300" cy="2190750"/>
          </a:xfrm>
          <a:prstGeom prst="rect">
            <a:avLst/>
          </a:prstGeom>
          <a:solidFill>
            <a:srgbClr val="1F3FD1"/>
          </a:solidFill>
          <a:ln/>
        </p:spPr>
      </p:sp>
      <p:sp>
        <p:nvSpPr>
          <p:cNvPr id="8" name="Text 6"/>
          <p:cNvSpPr/>
          <p:nvPr/>
        </p:nvSpPr>
        <p:spPr>
          <a:xfrm>
            <a:off x="1333500" y="4095750"/>
            <a:ext cx="3810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dirty="0" spc="-11" kern="0">
                <a:solidFill>
                  <a:srgbClr val="1F3FD1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memcached</a:t>
            </a:r>
            <a:endParaRPr lang="en-US" sz="2700" dirty="0"/>
          </a:p>
        </p:txBody>
      </p:sp>
      <p:sp>
        <p:nvSpPr>
          <p:cNvPr id="9" name="Text 7"/>
          <p:cNvSpPr/>
          <p:nvPr/>
        </p:nvSpPr>
        <p:spPr>
          <a:xfrm>
            <a:off x="5334000" y="3810000"/>
            <a:ext cx="590550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incr</a:t>
            </a:r>
            <a:r>
              <a:rPr lang="en-US" sz="2400" dirty="0" spc="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đếm</a:t>
            </a:r>
            <a:r>
              <a:rPr lang="en-US" sz="2400" dirty="0" spc="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2400" dirty="0" spc="2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từng</a:t>
            </a:r>
            <a:r>
              <a:rPr lang="en-US" sz="24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bài.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11620500" y="3810000"/>
            <a:ext cx="552450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240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sắp</a:t>
            </a:r>
            <a:r>
              <a:rPr lang="en-US" sz="2400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xếp:</a:t>
            </a:r>
            <a:r>
              <a:rPr lang="en-US" sz="2400" dirty="0" spc="2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ứng</a:t>
            </a:r>
            <a:r>
              <a:rPr lang="en-US" sz="240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dụng tự</a:t>
            </a:r>
            <a:r>
              <a:rPr lang="en-US" sz="2400" dirty="0" spc="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</a:t>
            </a:r>
            <a:r>
              <a:rPr lang="en-US" sz="2400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40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sắp</a:t>
            </a:r>
            <a:r>
              <a:rPr lang="en-US" sz="2400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xếp.</a:t>
            </a:r>
            <a:endParaRPr lang="en-US" sz="2400" dirty="0"/>
          </a:p>
        </p:txBody>
      </p:sp>
      <p:sp>
        <p:nvSpPr>
          <p:cNvPr id="11" name="Shape 9"/>
          <p:cNvSpPr/>
          <p:nvPr/>
        </p:nvSpPr>
        <p:spPr>
          <a:xfrm>
            <a:off x="914400" y="5715000"/>
            <a:ext cx="16459200" cy="2190750"/>
          </a:xfrm>
          <a:prstGeom prst="roundRect">
            <a:avLst>
              <a:gd name="adj" fmla="val 8696"/>
            </a:avLst>
          </a:prstGeom>
          <a:solidFill>
            <a:srgbClr val="DDE3FA"/>
          </a:solidFill>
          <a:ln w="19050">
            <a:solidFill>
              <a:srgbClr val="1F3FD1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914400" y="5715000"/>
            <a:ext cx="114300" cy="2190750"/>
          </a:xfrm>
          <a:prstGeom prst="rect">
            <a:avLst/>
          </a:prstGeom>
          <a:solidFill>
            <a:srgbClr val="1F3FD1"/>
          </a:solidFill>
          <a:ln/>
        </p:spPr>
      </p:sp>
      <p:sp>
        <p:nvSpPr>
          <p:cNvPr id="13" name="Text 11"/>
          <p:cNvSpPr/>
          <p:nvPr/>
        </p:nvSpPr>
        <p:spPr>
          <a:xfrm>
            <a:off x="1333500" y="6572250"/>
            <a:ext cx="3810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dirty="0" spc="-30" kern="0">
                <a:solidFill>
                  <a:srgbClr val="1F3FD1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Redis</a:t>
            </a:r>
            <a:endParaRPr lang="en-US" sz="2700" dirty="0"/>
          </a:p>
        </p:txBody>
      </p:sp>
      <p:sp>
        <p:nvSpPr>
          <p:cNvPr id="14" name="Text 12"/>
          <p:cNvSpPr/>
          <p:nvPr/>
        </p:nvSpPr>
        <p:spPr>
          <a:xfrm>
            <a:off x="5334000" y="6286500"/>
            <a:ext cx="590550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Sorted</a:t>
            </a:r>
            <a:r>
              <a:rPr lang="en-US" sz="2400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set:</a:t>
            </a:r>
            <a:r>
              <a:rPr lang="en-US" sz="2400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ZINCRBY</a:t>
            </a:r>
            <a:r>
              <a:rPr lang="en-US" sz="240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tăng</a:t>
            </a:r>
            <a:r>
              <a:rPr lang="en-US" sz="2400" dirty="0" spc="2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điểm</a:t>
            </a:r>
            <a:r>
              <a:rPr lang="en-US" sz="24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bài.</a:t>
            </a:r>
            <a:endParaRPr lang="en-US" sz="2400" dirty="0"/>
          </a:p>
        </p:txBody>
      </p:sp>
      <p:sp>
        <p:nvSpPr>
          <p:cNvPr id="15" name="Text 13"/>
          <p:cNvSpPr/>
          <p:nvPr/>
        </p:nvSpPr>
        <p:spPr>
          <a:xfrm>
            <a:off x="11620500" y="6286500"/>
            <a:ext cx="552450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Cùng</a:t>
            </a:r>
            <a:r>
              <a:rPr lang="en-US" sz="240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sorted</a:t>
            </a:r>
            <a:r>
              <a:rPr lang="en-US" sz="2400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set:</a:t>
            </a:r>
            <a:r>
              <a:rPr lang="en-US" sz="24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ZREVRANGE</a:t>
            </a:r>
            <a:r>
              <a:rPr lang="en-US" sz="2400" dirty="0" spc="-2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...</a:t>
            </a:r>
            <a:r>
              <a:rPr lang="en-US" sz="24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</a:t>
            </a:r>
            <a:r>
              <a:rPr lang="en-US" sz="24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9.</a:t>
            </a:r>
            <a:endParaRPr lang="en-US" sz="2400" dirty="0"/>
          </a:p>
        </p:txBody>
      </p:sp>
      <p:sp>
        <p:nvSpPr>
          <p:cNvPr id="16" name="Shape 14"/>
          <p:cNvSpPr/>
          <p:nvPr/>
        </p:nvSpPr>
        <p:spPr>
          <a:xfrm>
            <a:off x="9525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7" name="Shape 15"/>
          <p:cNvSpPr/>
          <p:nvPr/>
        </p:nvSpPr>
        <p:spPr>
          <a:xfrm>
            <a:off x="12001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8" name="Shape 16"/>
          <p:cNvSpPr/>
          <p:nvPr/>
        </p:nvSpPr>
        <p:spPr>
          <a:xfrm>
            <a:off x="14478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9" name="Shape 17"/>
          <p:cNvSpPr/>
          <p:nvPr/>
        </p:nvSpPr>
        <p:spPr>
          <a:xfrm>
            <a:off x="16954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20" name="Shape 18"/>
          <p:cNvSpPr/>
          <p:nvPr/>
        </p:nvSpPr>
        <p:spPr>
          <a:xfrm>
            <a:off x="19431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21" name="Shape 19"/>
          <p:cNvSpPr/>
          <p:nvPr/>
        </p:nvSpPr>
        <p:spPr>
          <a:xfrm>
            <a:off x="21907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22" name="Shape 20"/>
          <p:cNvSpPr/>
          <p:nvPr/>
        </p:nvSpPr>
        <p:spPr>
          <a:xfrm>
            <a:off x="2438400" y="9563100"/>
            <a:ext cx="152400" cy="1524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23" name="Shape 21"/>
          <p:cNvSpPr/>
          <p:nvPr/>
        </p:nvSpPr>
        <p:spPr>
          <a:xfrm>
            <a:off x="26860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24" name="Shape 22"/>
          <p:cNvSpPr/>
          <p:nvPr/>
        </p:nvSpPr>
        <p:spPr>
          <a:xfrm>
            <a:off x="29337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25" name="Text 23"/>
          <p:cNvSpPr/>
          <p:nvPr/>
        </p:nvSpPr>
        <p:spPr>
          <a:xfrm>
            <a:off x="3448050" y="9467850"/>
            <a:ext cx="666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11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1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07/09</a:t>
            </a:r>
            <a:endParaRPr lang="en-US" sz="1800" dirty="0"/>
          </a:p>
        </p:txBody>
      </p:sp>
      <p:sp>
        <p:nvSpPr>
          <p:cNvPr id="26" name="Shape 24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7" name="Moda image moda-export-watermark-a91a76a9-a43e-4a21-9d92-b0be31a2d9ed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3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ĐI</a:t>
            </a:r>
            <a:r>
              <a:rPr lang="en-US" sz="1950" b="1" spc="287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SÂU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238250"/>
            <a:ext cx="1645920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3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Bài</a:t>
            </a:r>
            <a:r>
              <a:rPr lang="en-US" sz="63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này</a:t>
            </a:r>
            <a:r>
              <a:rPr lang="en-US" sz="630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kiểm</a:t>
            </a:r>
            <a:r>
              <a:rPr lang="en-US" sz="63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bằng</a:t>
            </a:r>
            <a:r>
              <a:rPr lang="en-US" sz="63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cách chạy</a:t>
            </a:r>
            <a:endParaRPr lang="en-US" sz="6300" dirty="0"/>
          </a:p>
        </p:txBody>
      </p:sp>
      <p:sp>
        <p:nvSpPr>
          <p:cNvPr id="4" name="Text 2"/>
          <p:cNvSpPr/>
          <p:nvPr/>
        </p:nvSpPr>
        <p:spPr>
          <a:xfrm>
            <a:off x="914400" y="3048000"/>
            <a:ext cx="16459200" cy="1428750"/>
          </a:xfrm>
          <a:prstGeom prst="roundRect">
            <a:avLst>
              <a:gd name="adj" fmla="val 16000"/>
            </a:avLst>
          </a:prstGeom>
          <a:solidFill>
            <a:srgbClr val="1E212B"/>
          </a:solidFill>
          <a:ln w="28575">
            <a:solidFill>
              <a:srgbClr val="7C93F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 spc="6" kern="0">
                <a:solidFill>
                  <a:srgbClr val="7C93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Bài</a:t>
            </a:r>
            <a:r>
              <a:rPr lang="en-US" sz="3000" dirty="0" spc="-7" kern="0">
                <a:solidFill>
                  <a:srgbClr val="7C93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nguồn:</a:t>
            </a:r>
            <a:r>
              <a:rPr lang="en-US" sz="3000" dirty="0" spc="-11" kern="0">
                <a:solidFill>
                  <a:srgbClr val="7C93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một</a:t>
            </a:r>
            <a:r>
              <a:rPr lang="en-US" sz="3000" dirty="0" spc="0" kern="0">
                <a:solidFill>
                  <a:srgbClr val="7C93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hình</a:t>
            </a:r>
            <a:r>
              <a:rPr lang="en-US" sz="3000" dirty="0" spc="-28" kern="0">
                <a:solidFill>
                  <a:srgbClr val="7C93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và</a:t>
            </a:r>
            <a:r>
              <a:rPr lang="en-US" sz="3000" dirty="0" spc="-10" kern="0">
                <a:solidFill>
                  <a:srgbClr val="7C93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bốn</a:t>
            </a:r>
            <a:r>
              <a:rPr lang="en-US" sz="3000" dirty="0" spc="-1" kern="0">
                <a:solidFill>
                  <a:srgbClr val="7C93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ví</a:t>
            </a:r>
            <a:r>
              <a:rPr lang="en-US" sz="3000" dirty="0" spc="0" kern="0">
                <a:solidFill>
                  <a:srgbClr val="7C93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dụ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914400" y="4762500"/>
            <a:ext cx="16459200" cy="1428750"/>
          </a:xfrm>
          <a:prstGeom prst="roundRect">
            <a:avLst>
              <a:gd name="adj" fmla="val 16000"/>
            </a:avLst>
          </a:prstGeom>
          <a:solidFill>
            <a:srgbClr val="7C93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 spc="6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Bài</a:t>
            </a:r>
            <a:r>
              <a:rPr lang="en-US" sz="3000" dirty="0" spc="-10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này:</a:t>
            </a:r>
            <a:r>
              <a:rPr lang="en-US" sz="3000" dirty="0" spc="-8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chạy</a:t>
            </a:r>
            <a:r>
              <a:rPr lang="en-US" sz="3000" dirty="0" spc="-6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cả</a:t>
            </a:r>
            <a:r>
              <a:rPr lang="en-US" sz="3000" dirty="0" spc="0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hai</a:t>
            </a:r>
            <a:r>
              <a:rPr lang="en-US" sz="3000" dirty="0" spc="-9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phần</a:t>
            </a:r>
            <a:r>
              <a:rPr lang="en-US" sz="3000" dirty="0" spc="-8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mềm,</a:t>
            </a:r>
            <a:r>
              <a:rPr lang="en-US" sz="3000" dirty="0" spc="6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đo</a:t>
            </a:r>
            <a:r>
              <a:rPr lang="en-US" sz="3000" dirty="0" spc="-1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ví</a:t>
            </a:r>
            <a:r>
              <a:rPr lang="en-US" sz="3000" dirty="0" spc="0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dụ</a:t>
            </a:r>
            <a:r>
              <a:rPr lang="en-US" sz="3000" dirty="0" spc="-2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bitmap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914400" y="6477000"/>
            <a:ext cx="16459200" cy="1428750"/>
          </a:xfrm>
          <a:prstGeom prst="roundRect">
            <a:avLst>
              <a:gd name="adj" fmla="val 16000"/>
            </a:avLst>
          </a:prstGeom>
          <a:solidFill>
            <a:srgbClr val="1E212B"/>
          </a:solidFill>
          <a:ln w="28575">
            <a:solidFill>
              <a:srgbClr val="4A4E5A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 spc="-16" kern="0">
                <a:solidFill>
                  <a:srgbClr val="9AA0B5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Không</a:t>
            </a:r>
            <a:r>
              <a:rPr lang="en-US" sz="3000" dirty="0" spc="0" kern="0">
                <a:solidFill>
                  <a:srgbClr val="9AA0B5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bàn:</a:t>
            </a:r>
            <a:r>
              <a:rPr lang="en-US" sz="3000" dirty="0" spc="-5" kern="0">
                <a:solidFill>
                  <a:srgbClr val="9AA0B5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tốc</a:t>
            </a:r>
            <a:r>
              <a:rPr lang="en-US" sz="3000" dirty="0" spc="4" kern="0">
                <a:solidFill>
                  <a:srgbClr val="9AA0B5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độ,</a:t>
            </a:r>
            <a:r>
              <a:rPr lang="en-US" sz="3000" dirty="0" spc="6" kern="0">
                <a:solidFill>
                  <a:srgbClr val="9AA0B5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sao</a:t>
            </a:r>
            <a:r>
              <a:rPr lang="en-US" sz="3000" dirty="0" spc="-9" kern="0">
                <a:solidFill>
                  <a:srgbClr val="9AA0B5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chép</a:t>
            </a:r>
            <a:r>
              <a:rPr lang="en-US" sz="3000" dirty="0" spc="0" kern="0">
                <a:solidFill>
                  <a:srgbClr val="9AA0B5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dữ liệu,</a:t>
            </a:r>
            <a:r>
              <a:rPr lang="en-US" sz="3000" dirty="0" spc="-9" kern="0">
                <a:solidFill>
                  <a:srgbClr val="9AA0B5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chạy</a:t>
            </a:r>
            <a:r>
              <a:rPr lang="en-US" sz="3000" dirty="0" spc="4" kern="0">
                <a:solidFill>
                  <a:srgbClr val="9AA0B5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cụm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9525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8" name="Shape 6"/>
          <p:cNvSpPr/>
          <p:nvPr/>
        </p:nvSpPr>
        <p:spPr>
          <a:xfrm>
            <a:off x="120015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9" name="Shape 7"/>
          <p:cNvSpPr/>
          <p:nvPr/>
        </p:nvSpPr>
        <p:spPr>
          <a:xfrm>
            <a:off x="14478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0" name="Shape 8"/>
          <p:cNvSpPr/>
          <p:nvPr/>
        </p:nvSpPr>
        <p:spPr>
          <a:xfrm>
            <a:off x="169545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1" name="Shape 9"/>
          <p:cNvSpPr/>
          <p:nvPr/>
        </p:nvSpPr>
        <p:spPr>
          <a:xfrm>
            <a:off x="19431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2" name="Shape 10"/>
          <p:cNvSpPr/>
          <p:nvPr/>
        </p:nvSpPr>
        <p:spPr>
          <a:xfrm>
            <a:off x="219075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3" name="Shape 11"/>
          <p:cNvSpPr/>
          <p:nvPr/>
        </p:nvSpPr>
        <p:spPr>
          <a:xfrm>
            <a:off x="24384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4" name="Shape 12"/>
          <p:cNvSpPr/>
          <p:nvPr/>
        </p:nvSpPr>
        <p:spPr>
          <a:xfrm>
            <a:off x="2686050" y="9563100"/>
            <a:ext cx="152400" cy="152400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15" name="Shape 13"/>
          <p:cNvSpPr/>
          <p:nvPr/>
        </p:nvSpPr>
        <p:spPr>
          <a:xfrm>
            <a:off x="29337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6" name="Text 14"/>
          <p:cNvSpPr/>
          <p:nvPr/>
        </p:nvSpPr>
        <p:spPr>
          <a:xfrm>
            <a:off x="3448050" y="9467850"/>
            <a:ext cx="666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11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08/09</a:t>
            </a:r>
            <a:endParaRPr lang="en-US" sz="1800" dirty="0"/>
          </a:p>
        </p:txBody>
      </p:sp>
      <p:sp>
        <p:nvSpPr>
          <p:cNvPr id="17" name="Shape 1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18" name="Moda image moda-export-watermark-8fb501d8-bdb6-46c4-964b-7f3e20584306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TỪ</a:t>
            </a:r>
            <a:r>
              <a:rPr lang="en-US" sz="195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VIẾT</a:t>
            </a:r>
            <a:r>
              <a:rPr lang="en-US" sz="1950" b="1" spc="20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TẮT</a:t>
            </a:r>
            <a:r>
              <a:rPr lang="en-US" sz="1950" b="1" spc="24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5181600" cy="1238250"/>
          </a:xfrm>
          <a:prstGeom prst="roundRect">
            <a:avLst>
              <a:gd name="adj" fmla="val 15385"/>
            </a:avLst>
          </a:prstGeom>
          <a:solidFill>
            <a:srgbClr val="1E212B"/>
          </a:solidFill>
          <a:ln w="28575">
            <a:solidFill>
              <a:srgbClr val="FF6A4D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MiB</a:t>
            </a:r>
            <a:r>
              <a:rPr lang="en-US" sz="240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=</a:t>
            </a:r>
            <a:r>
              <a:rPr lang="en-US" sz="2400" b="1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mebibyte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6553200" y="1333500"/>
            <a:ext cx="5181600" cy="1238250"/>
          </a:xfrm>
          <a:prstGeom prst="roundRect">
            <a:avLst>
              <a:gd name="adj" fmla="val 15385"/>
            </a:avLst>
          </a:prstGeom>
          <a:solidFill>
            <a:srgbClr val="1E212B"/>
          </a:solidFill>
          <a:ln w="28575">
            <a:solidFill>
              <a:srgbClr val="7C93F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MB</a:t>
            </a:r>
            <a:r>
              <a:rPr lang="en-US" sz="240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=</a:t>
            </a:r>
            <a:r>
              <a:rPr lang="en-US" sz="2400" b="1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megabyte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12192000" y="1333500"/>
            <a:ext cx="5181600" cy="1238250"/>
          </a:xfrm>
          <a:prstGeom prst="roundRect">
            <a:avLst>
              <a:gd name="adj" fmla="val 15385"/>
            </a:avLst>
          </a:prstGeom>
          <a:solidFill>
            <a:srgbClr val="1E212B"/>
          </a:solidFill>
          <a:ln w="28575">
            <a:solidFill>
              <a:srgbClr val="FFB454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RDB</a:t>
            </a:r>
            <a:r>
              <a:rPr lang="en-US" sz="2400" b="1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=</a:t>
            </a:r>
            <a:r>
              <a:rPr lang="en-US" sz="2400" b="1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tệp</a:t>
            </a:r>
            <a:r>
              <a:rPr lang="en-US" sz="240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ảnh</a:t>
            </a:r>
            <a:r>
              <a:rPr lang="en-US" sz="240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chụp</a:t>
            </a:r>
            <a:r>
              <a:rPr lang="en-US" sz="240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240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2400" b="1" dirty="0" spc="-2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Redis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914400" y="34290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6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 ĐỐI</a:t>
            </a:r>
            <a:r>
              <a:rPr lang="en-US" sz="1950" b="1" spc="225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</a:t>
            </a:r>
            <a:endParaRPr lang="en-US" sz="1950" dirty="0"/>
          </a:p>
        </p:txBody>
      </p:sp>
      <p:sp>
        <p:nvSpPr>
          <p:cNvPr id="7" name="Text 5"/>
          <p:cNvSpPr/>
          <p:nvPr/>
        </p:nvSpPr>
        <p:spPr>
          <a:xfrm>
            <a:off x="914400" y="4000500"/>
            <a:ext cx="8001000" cy="85725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7" kern="0">
                <a:solidFill>
                  <a:srgbClr val="E8E0C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ByteByteGo</a:t>
            </a:r>
            <a:r>
              <a:rPr lang="en-US" sz="2100" b="1" dirty="0" spc="-2" kern="0">
                <a:solidFill>
                  <a:srgbClr val="E8E0C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(bài</a:t>
            </a:r>
            <a:r>
              <a:rPr lang="en-US" sz="2100" b="1" dirty="0" spc="-4" kern="0">
                <a:solidFill>
                  <a:srgbClr val="E8E0C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nguồn)</a:t>
            </a:r>
            <a:endParaRPr lang="en-US" sz="2100" dirty="0"/>
          </a:p>
        </p:txBody>
      </p:sp>
      <p:sp>
        <p:nvSpPr>
          <p:cNvPr id="8" name="Text 6"/>
          <p:cNvSpPr/>
          <p:nvPr/>
        </p:nvSpPr>
        <p:spPr>
          <a:xfrm>
            <a:off x="9372600" y="4000500"/>
            <a:ext cx="8001000" cy="85725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24" kern="0">
                <a:solidFill>
                  <a:srgbClr val="E8E0C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Redis</a:t>
            </a:r>
            <a:r>
              <a:rPr lang="en-US" sz="2100" b="1" dirty="0" spc="0" kern="0">
                <a:solidFill>
                  <a:srgbClr val="E8E0C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7.0.15 (README)</a:t>
            </a:r>
            <a:endParaRPr lang="en-US" sz="2100" dirty="0"/>
          </a:p>
        </p:txBody>
      </p:sp>
      <p:sp>
        <p:nvSpPr>
          <p:cNvPr id="9" name="Text 7"/>
          <p:cNvSpPr/>
          <p:nvPr/>
        </p:nvSpPr>
        <p:spPr>
          <a:xfrm>
            <a:off x="914400" y="5143500"/>
            <a:ext cx="8001000" cy="85725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10" kern="0">
                <a:solidFill>
                  <a:srgbClr val="E8E0C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memcached</a:t>
            </a:r>
            <a:r>
              <a:rPr lang="en-US" sz="2100" b="1" dirty="0" spc="-4" kern="0">
                <a:solidFill>
                  <a:srgbClr val="E8E0C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1.6.24</a:t>
            </a:r>
            <a:r>
              <a:rPr lang="en-US" sz="2100" b="1" dirty="0" spc="0" kern="0">
                <a:solidFill>
                  <a:srgbClr val="E8E0C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(README)</a:t>
            </a:r>
            <a:endParaRPr lang="en-US" sz="2100" dirty="0"/>
          </a:p>
        </p:txBody>
      </p:sp>
      <p:sp>
        <p:nvSpPr>
          <p:cNvPr id="10" name="Text 8"/>
          <p:cNvSpPr/>
          <p:nvPr/>
        </p:nvSpPr>
        <p:spPr>
          <a:xfrm>
            <a:off x="9372600" y="5143500"/>
            <a:ext cx="8001000" cy="85725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10" kern="0">
                <a:solidFill>
                  <a:srgbClr val="E8E0C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memcached</a:t>
            </a:r>
            <a:r>
              <a:rPr lang="en-US" sz="2100" b="1" dirty="0" spc="-4" kern="0">
                <a:solidFill>
                  <a:srgbClr val="E8E0C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1.6.24</a:t>
            </a:r>
            <a:r>
              <a:rPr lang="en-US" sz="2100" b="1" dirty="0" spc="-6" kern="0">
                <a:solidFill>
                  <a:srgbClr val="E8E0C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(mô</a:t>
            </a:r>
            <a:r>
              <a:rPr lang="en-US" sz="2100" b="1" dirty="0" spc="-7" kern="0">
                <a:solidFill>
                  <a:srgbClr val="E8E0C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tả</a:t>
            </a:r>
            <a:r>
              <a:rPr lang="en-US" sz="2100" b="1" dirty="0" spc="-2" kern="0">
                <a:solidFill>
                  <a:srgbClr val="E8E0C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giao</a:t>
            </a:r>
            <a:r>
              <a:rPr lang="en-US" sz="2100" b="1" dirty="0" spc="5" kern="0">
                <a:solidFill>
                  <a:srgbClr val="E8E0C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thức)</a:t>
            </a:r>
            <a:endParaRPr lang="en-US" sz="2100" dirty="0"/>
          </a:p>
        </p:txBody>
      </p:sp>
      <p:sp>
        <p:nvSpPr>
          <p:cNvPr id="11" name="Shape 9"/>
          <p:cNvSpPr/>
          <p:nvPr/>
        </p:nvSpPr>
        <p:spPr>
          <a:xfrm>
            <a:off x="9525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2" name="Shape 10"/>
          <p:cNvSpPr/>
          <p:nvPr/>
        </p:nvSpPr>
        <p:spPr>
          <a:xfrm>
            <a:off x="120015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3" name="Shape 11"/>
          <p:cNvSpPr/>
          <p:nvPr/>
        </p:nvSpPr>
        <p:spPr>
          <a:xfrm>
            <a:off x="14478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4" name="Shape 12"/>
          <p:cNvSpPr/>
          <p:nvPr/>
        </p:nvSpPr>
        <p:spPr>
          <a:xfrm>
            <a:off x="169545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5" name="Shape 13"/>
          <p:cNvSpPr/>
          <p:nvPr/>
        </p:nvSpPr>
        <p:spPr>
          <a:xfrm>
            <a:off x="19431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6" name="Shape 14"/>
          <p:cNvSpPr/>
          <p:nvPr/>
        </p:nvSpPr>
        <p:spPr>
          <a:xfrm>
            <a:off x="219075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7" name="Shape 15"/>
          <p:cNvSpPr/>
          <p:nvPr/>
        </p:nvSpPr>
        <p:spPr>
          <a:xfrm>
            <a:off x="24384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8" name="Shape 16"/>
          <p:cNvSpPr/>
          <p:nvPr/>
        </p:nvSpPr>
        <p:spPr>
          <a:xfrm>
            <a:off x="268605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9" name="Shape 17"/>
          <p:cNvSpPr/>
          <p:nvPr/>
        </p:nvSpPr>
        <p:spPr>
          <a:xfrm>
            <a:off x="2933700" y="9563100"/>
            <a:ext cx="152400" cy="152400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20" name="Text 18"/>
          <p:cNvSpPr/>
          <p:nvPr/>
        </p:nvSpPr>
        <p:spPr>
          <a:xfrm>
            <a:off x="3448050" y="9467850"/>
            <a:ext cx="666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11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09/09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2" name="Moda image moda-export-watermark-6dbb6e8d-93ec-4200-84be-b97664cdb36c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2026-10-19T12:50:22Z</dcterms:created>
  <dcterms:modified xsi:type="dcterms:W3CDTF">2026-10-19T12:50:22Z</dcterms:modified>
</cp:coreProperties>
</file>