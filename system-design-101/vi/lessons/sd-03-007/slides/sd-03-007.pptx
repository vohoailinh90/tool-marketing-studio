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 SemiBold"/>
      <p:regular r:id="rId17"/>
    </p:embeddedFont>
    <p:embeddedFont>
      <p:font typeface="Bricolage Grotesque ExtraBold"/>
      <p:regular r:id="rId18"/>
    </p:embeddedFont>
    <p:embeddedFont>
      <p:font typeface="Be Vietnam Pro Medium"/>
      <p:regular r:id="rId19"/>
    </p:embeddedFont>
    <p:embeddedFont>
      <p:font typeface="Be Vietnam Pro"/>
      <p:regular r:id="rId20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 07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2000250"/>
            <a:ext cx="9525000" cy="249555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9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Đường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ống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953000"/>
            <a:ext cx="8953500" cy="1238250"/>
          </a:xfrm>
          <a:prstGeom prst="rect">
            <a:avLst/>
          </a:prstGeom>
          <a:noFill/>
          <a:ln/>
        </p:spPr>
        <p:txBody>
          <a:bodyPr wrap="square" lIns="0" tIns="11986" rIns="0" bIns="-11986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3150" dirty="0" spc="-14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Từ</a:t>
            </a:r>
            <a:r>
              <a:rPr lang="en-US" sz="3150" dirty="0" spc="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nơi</a:t>
            </a:r>
            <a:r>
              <a:rPr lang="en-US" sz="315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3150" dirty="0" spc="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31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sinh</a:t>
            </a:r>
            <a:r>
              <a:rPr lang="en-US" sz="3150" dirty="0" spc="-37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ra</a:t>
            </a:r>
            <a:endParaRPr lang="en-US" sz="3150" dirty="0"/>
          </a:p>
          <a:p>
            <a:pPr algn="l" indent="0" marL="0">
              <a:lnSpc>
                <a:spcPts val="4253"/>
              </a:lnSpc>
              <a:buNone/>
            </a:pPr>
            <a:r>
              <a:rPr lang="en-US" sz="3150" dirty="0" spc="-1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tới</a:t>
            </a:r>
            <a:r>
              <a:rPr lang="en-US" sz="3150" dirty="0" spc="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nơi</a:t>
            </a:r>
            <a:r>
              <a:rPr lang="en-US" sz="315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</a:t>
            </a:r>
            <a:r>
              <a:rPr lang="en-US" sz="3150" dirty="0" spc="9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315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dùng.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14400" y="666750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Shape 4"/>
          <p:cNvSpPr/>
          <p:nvPr/>
        </p:nvSpPr>
        <p:spPr>
          <a:xfrm>
            <a:off x="10858500" y="1428750"/>
            <a:ext cx="6515100" cy="1562100"/>
          </a:xfrm>
          <a:prstGeom prst="roundRect">
            <a:avLst>
              <a:gd name="adj" fmla="val 12195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0858500" y="1428750"/>
            <a:ext cx="114300" cy="15621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11277600" y="1600200"/>
            <a:ext cx="5905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33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giai</a:t>
            </a:r>
            <a:r>
              <a:rPr lang="en-US" sz="33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1277600" y="2171700"/>
            <a:ext cx="59055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1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 thập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858500" y="3181350"/>
            <a:ext cx="6515100" cy="1562100"/>
          </a:xfrm>
          <a:prstGeom prst="roundRect">
            <a:avLst>
              <a:gd name="adj" fmla="val 1219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0858500" y="3181350"/>
            <a:ext cx="114300" cy="15621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11277600" y="3352800"/>
            <a:ext cx="5905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Nơi</a:t>
            </a:r>
            <a:r>
              <a:rPr lang="en-US" sz="33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33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trữ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1277600" y="3924300"/>
            <a:ext cx="59055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</a:t>
            </a:r>
            <a:r>
              <a:rPr lang="en-US" sz="22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lake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 warehouse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858500" y="4933950"/>
            <a:ext cx="6515100" cy="1562100"/>
          </a:xfrm>
          <a:prstGeom prst="roundRect">
            <a:avLst>
              <a:gd name="adj" fmla="val 12195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58500" y="4933950"/>
            <a:ext cx="114300" cy="15621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6" name="Text 14"/>
          <p:cNvSpPr/>
          <p:nvPr/>
        </p:nvSpPr>
        <p:spPr>
          <a:xfrm>
            <a:off x="11277600" y="5105400"/>
            <a:ext cx="5905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Lô</a:t>
            </a:r>
            <a:r>
              <a:rPr lang="en-US" sz="33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33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luồng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1277600" y="5676900"/>
            <a:ext cx="59055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tính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0858500" y="6686550"/>
            <a:ext cx="6515100" cy="1562100"/>
          </a:xfrm>
          <a:prstGeom prst="roundRect">
            <a:avLst>
              <a:gd name="adj" fmla="val 12195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58500" y="6686550"/>
            <a:ext cx="114300" cy="15621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20" name="Text 18"/>
          <p:cNvSpPr/>
          <p:nvPr/>
        </p:nvSpPr>
        <p:spPr>
          <a:xfrm>
            <a:off x="11277600" y="6858000"/>
            <a:ext cx="5905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3300" dirty="0" spc="-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1277600" y="7429500"/>
            <a:ext cx="59055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2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42fcd487-d7b4-43cd-b670-7070d3b5f32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173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8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7800" dirty="0" spc="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78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đâu?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476750"/>
          </a:xfrm>
          <a:prstGeom prst="roundRect">
            <a:avLst>
              <a:gd name="adj" fmla="val 5106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71800"/>
            <a:ext cx="666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6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Cửa</a:t>
            </a:r>
            <a:r>
              <a:rPr lang="en-US" sz="60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295400" y="447675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Cửa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5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42925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2762250"/>
            <a:ext cx="8001000" cy="4476750"/>
          </a:xfrm>
          <a:prstGeom prst="roundRect">
            <a:avLst>
              <a:gd name="adj" fmla="val 5106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9753600" y="2971800"/>
            <a:ext cx="666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Đường</a:t>
            </a: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ống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9753600" y="447675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2550" b="1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753600" y="542925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7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Tới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77724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Thường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giai</a:t>
            </a: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nhau.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5" name="Shape 1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7" name="Shape 1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Shape 1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Text 22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1586870b-c4ef-44f8-984d-aca2a5ba7b7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5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NĂM</a:t>
            </a:r>
            <a:r>
              <a:rPr lang="en-US" sz="1950" spc="223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GIAI</a:t>
            </a:r>
            <a:r>
              <a:rPr lang="en-US" sz="1950" spc="209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6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thập</a:t>
            </a:r>
            <a:r>
              <a:rPr lang="en-US" sz="7800" dirty="0" spc="-7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3048000" cy="3810000"/>
          </a:xfrm>
          <a:prstGeom prst="roundRect">
            <a:avLst>
              <a:gd name="adj" fmla="val 625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304800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6" name="Text 4"/>
          <p:cNvSpPr/>
          <p:nvPr/>
        </p:nvSpPr>
        <p:spPr>
          <a:xfrm>
            <a:off x="1181100" y="3105150"/>
            <a:ext cx="251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81100" y="3543300"/>
            <a:ext cx="2514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</a:t>
            </a:r>
            <a:r>
              <a:rPr lang="en-US" sz="3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thập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81100" y="4286250"/>
            <a:ext cx="2514600" cy="2095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250" dirty="0" spc="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250" dirty="0" spc="-1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250" dirty="0" spc="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2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250" dirty="0" spc="1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2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4267200" y="2762250"/>
            <a:ext cx="3048000" cy="3810000"/>
          </a:xfrm>
          <a:prstGeom prst="roundRect">
            <a:avLst>
              <a:gd name="adj" fmla="val 6250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4267200" y="2762250"/>
            <a:ext cx="304800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4533900" y="3105150"/>
            <a:ext cx="251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533900" y="3543300"/>
            <a:ext cx="2514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Nạp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33900" y="4286250"/>
            <a:ext cx="2514600" cy="2095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r>
              <a:rPr lang="en-US" sz="22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dirty="0" spc="9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đợi,</a:t>
            </a:r>
            <a:r>
              <a:rPr lang="en-US" sz="225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dirty="0" spc="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</a:t>
            </a:r>
            <a:r>
              <a:rPr lang="en-US" sz="225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lô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7620000" y="2762250"/>
            <a:ext cx="3048000" cy="3810000"/>
          </a:xfrm>
          <a:prstGeom prst="roundRect">
            <a:avLst>
              <a:gd name="adj" fmla="val 6250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0" y="2762250"/>
            <a:ext cx="304800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7886700" y="3105150"/>
            <a:ext cx="251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7886700" y="3543300"/>
            <a:ext cx="2514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30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trữ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886700" y="4286250"/>
            <a:ext cx="2514600" cy="2095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</a:t>
            </a:r>
            <a:r>
              <a:rPr lang="en-US" sz="2250" dirty="0" spc="-2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lake</a:t>
            </a:r>
            <a:r>
              <a:rPr lang="en-US" sz="225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thô,</a:t>
            </a:r>
            <a:r>
              <a:rPr lang="en-US" sz="2250" dirty="0" spc="-18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 warehouse</a:t>
            </a:r>
            <a:r>
              <a:rPr lang="en-US" sz="2250" dirty="0" spc="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25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sạch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0972800" y="2762250"/>
            <a:ext cx="3048000" cy="3810000"/>
          </a:xfrm>
          <a:prstGeom prst="roundRect">
            <a:avLst>
              <a:gd name="adj" fmla="val 6250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972800" y="2762250"/>
            <a:ext cx="304800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1" name="Text 19"/>
          <p:cNvSpPr/>
          <p:nvPr/>
        </p:nvSpPr>
        <p:spPr>
          <a:xfrm>
            <a:off x="11239500" y="3105150"/>
            <a:ext cx="251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1239500" y="3543300"/>
            <a:ext cx="2514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Tính</a:t>
            </a:r>
            <a:r>
              <a:rPr lang="en-US" sz="30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1239500" y="4286250"/>
            <a:ext cx="2514600" cy="2095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25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sạch,</a:t>
            </a:r>
            <a:r>
              <a:rPr lang="en-US" sz="2250" dirty="0" spc="-8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gộp,</a:t>
            </a:r>
            <a:r>
              <a:rPr lang="en-US" sz="2250" dirty="0" spc="-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250" dirty="0" spc="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4325600" y="2762250"/>
            <a:ext cx="3048000" cy="3810000"/>
          </a:xfrm>
          <a:prstGeom prst="roundRect">
            <a:avLst>
              <a:gd name="adj" fmla="val 6250"/>
            </a:avLst>
          </a:prstGeom>
          <a:solidFill>
            <a:srgbClr val="1E212B"/>
          </a:solidFill>
          <a:ln/>
        </p:spPr>
      </p:sp>
      <p:sp>
        <p:nvSpPr>
          <p:cNvPr id="25" name="Shape 23"/>
          <p:cNvSpPr/>
          <p:nvPr/>
        </p:nvSpPr>
        <p:spPr>
          <a:xfrm>
            <a:off x="14325600" y="2762250"/>
            <a:ext cx="3048000" cy="95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26" name="Text 24"/>
          <p:cNvSpPr/>
          <p:nvPr/>
        </p:nvSpPr>
        <p:spPr>
          <a:xfrm>
            <a:off x="14592300" y="3105150"/>
            <a:ext cx="251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4592300" y="3543300"/>
            <a:ext cx="2514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Sử</a:t>
            </a:r>
            <a:r>
              <a:rPr lang="en-US" sz="30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4592300" y="4286250"/>
            <a:ext cx="2514600" cy="2095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250" dirty="0" spc="1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khiển,</a:t>
            </a:r>
            <a:r>
              <a:rPr lang="en-US" sz="225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2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cáo,</a:t>
            </a:r>
            <a:r>
              <a:rPr lang="en-US" sz="2250" dirty="0" spc="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250" dirty="0" spc="-1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250" dirty="0"/>
          </a:p>
        </p:txBody>
      </p:sp>
      <p:sp>
        <p:nvSpPr>
          <p:cNvPr id="29" name="Connector line-1792289134300-434465494"/>
          <p:cNvSpPr/>
          <p:nvPr/>
        </p:nvSpPr>
        <p:spPr>
          <a:xfrm>
            <a:off x="4000500" y="4667250"/>
            <a:ext cx="2286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30" name="Connector line-1792289134300-416273603"/>
          <p:cNvSpPr/>
          <p:nvPr/>
        </p:nvSpPr>
        <p:spPr>
          <a:xfrm>
            <a:off x="7353300" y="4667250"/>
            <a:ext cx="2286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31" name="Connector line-1792289134301-179494757"/>
          <p:cNvSpPr/>
          <p:nvPr/>
        </p:nvSpPr>
        <p:spPr>
          <a:xfrm>
            <a:off x="10706100" y="4667250"/>
            <a:ext cx="2286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32" name="Connector line-1792289134301-345203175"/>
          <p:cNvSpPr/>
          <p:nvPr/>
        </p:nvSpPr>
        <p:spPr>
          <a:xfrm>
            <a:off x="14058900" y="4667250"/>
            <a:ext cx="2286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3EEE3"/>
          </a:solidFill>
          <a:ln/>
        </p:spPr>
      </p:sp>
      <p:sp>
        <p:nvSpPr>
          <p:cNvPr id="34" name="Text 32"/>
          <p:cNvSpPr/>
          <p:nvPr/>
        </p:nvSpPr>
        <p:spPr>
          <a:xfrm>
            <a:off x="1295400" y="72009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Ví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dụ:</a:t>
            </a:r>
            <a:r>
              <a:rPr lang="en-US" sz="33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3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cửa</a:t>
            </a: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33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trực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tuyến.</a:t>
            </a:r>
            <a:endParaRPr lang="en-US" sz="3300" dirty="0"/>
          </a:p>
        </p:txBody>
      </p:sp>
      <p:sp>
        <p:nvSpPr>
          <p:cNvPr id="35" name="Shape 3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6" name="Shape 3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7" name="Shape 3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9" name="Shape 3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0" name="Shape 3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1" name="Shape 3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2" name="Shape 4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3" name="Shape 4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4" name="Shape 42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5" name="Text 43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6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2bfcc9c3-ed81-429f-b74a-5b38a1c0082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GIAI</a:t>
            </a:r>
            <a:r>
              <a:rPr lang="en-US" sz="1950" spc="209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ĐOẠN</a:t>
            </a:r>
            <a:r>
              <a:rPr lang="en-US" sz="1950" spc="222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1950" spc="173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 thập</a:t>
            </a:r>
            <a:r>
              <a:rPr lang="en-US" sz="78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nạp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7239000" cy="4476750"/>
          </a:xfrm>
          <a:prstGeom prst="roundRect">
            <a:avLst>
              <a:gd name="adj" fmla="val 5106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7180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45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45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</a:t>
            </a:r>
            <a:r>
              <a:rPr lang="en-US" sz="45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thập</a:t>
            </a:r>
            <a:endParaRPr lang="en-US" sz="4500" dirty="0"/>
          </a:p>
        </p:txBody>
      </p:sp>
      <p:sp>
        <p:nvSpPr>
          <p:cNvPr id="6" name="Text richtext-1792289179086-7971189"/>
          <p:cNvSpPr/>
          <p:nvPr/>
        </p:nvSpPr>
        <p:spPr>
          <a:xfrm>
            <a:off x="1295400" y="3924300"/>
            <a:ext cx="6477000" cy="2095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Dữ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sinh</a:t>
            </a:r>
            <a:r>
              <a:rPr lang="en-US" sz="2700" dirty="0" spc="-3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ra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700" dirty="0" spc="3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ứng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dụng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Hoặc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thiết bị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Hoặc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hệ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thống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nghiệp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vụ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248400"/>
            <a:ext cx="6477000" cy="7239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4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400" dirty="0"/>
          </a:p>
        </p:txBody>
      </p:sp>
      <p:sp>
        <p:nvSpPr>
          <p:cNvPr id="8" name="Connector line-1792289179110-140985811"/>
          <p:cNvSpPr/>
          <p:nvPr/>
        </p:nvSpPr>
        <p:spPr>
          <a:xfrm>
            <a:off x="8248650" y="5000625"/>
            <a:ext cx="17907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134600" y="2762250"/>
            <a:ext cx="7239000" cy="4476750"/>
          </a:xfrm>
          <a:prstGeom prst="roundRect">
            <a:avLst>
              <a:gd name="adj" fmla="val 5106"/>
            </a:avLst>
          </a:prstGeom>
          <a:solidFill>
            <a:srgbClr val="F3DFB8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0" y="297180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r>
              <a:rPr lang="en-US" sz="45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45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Nạp</a:t>
            </a:r>
            <a:endParaRPr lang="en-US" sz="4500" dirty="0"/>
          </a:p>
        </p:txBody>
      </p:sp>
      <p:sp>
        <p:nvSpPr>
          <p:cNvPr id="11" name="Text richtext-1792289179113-525154454"/>
          <p:cNvSpPr/>
          <p:nvPr/>
        </p:nvSpPr>
        <p:spPr>
          <a:xfrm>
            <a:off x="10515600" y="3924300"/>
            <a:ext cx="6477000" cy="2095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700" dirty="0" spc="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Đưa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7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vào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hệ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thống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xử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lý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70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Thường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 hàng</a:t>
            </a:r>
            <a:r>
              <a:rPr lang="en-US" sz="270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đợi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sự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kiện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Hoặc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nạp</a:t>
            </a:r>
            <a:r>
              <a:rPr lang="en-US" sz="2700" dirty="0" spc="2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từng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lô</a:t>
            </a:r>
            <a:r>
              <a:rPr lang="en-US" sz="27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lịch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0515600" y="6248400"/>
            <a:ext cx="6477000" cy="7239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4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đợi,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nạp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lô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77724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Nạp: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33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r>
              <a:rPr lang="en-US" sz="3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hoặc</a:t>
            </a: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33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lô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 lịch.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Text 23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28f31d60-9e4b-47aa-aadc-747b5b4144a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GIAI</a:t>
            </a:r>
            <a:r>
              <a:rPr lang="en-US" sz="1950" spc="209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ĐOẠN</a:t>
            </a:r>
            <a:r>
              <a:rPr lang="en-US" sz="1950" spc="224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 ·</a:t>
            </a:r>
            <a:r>
              <a:rPr lang="en-US" sz="1950" spc="248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1950" spc="212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TRỮ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</a:t>
            </a:r>
            <a:r>
              <a:rPr lang="en-US" sz="7800" dirty="0" spc="-8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sạch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7620000" cy="4095750"/>
          </a:xfrm>
          <a:prstGeom prst="roundRect">
            <a:avLst>
              <a:gd name="adj" fmla="val 5581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114300" cy="4095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200400"/>
            <a:ext cx="6858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Data</a:t>
            </a:r>
            <a:r>
              <a:rPr lang="en-US" sz="4800" dirty="0" spc="-2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lake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371600" y="42862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Giữ</a:t>
            </a:r>
            <a:r>
              <a:rPr lang="en-US" sz="31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31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thô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371600" y="5619750"/>
            <a:ext cx="5334000" cy="7239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550" dirty="0"/>
          </a:p>
        </p:txBody>
      </p:sp>
      <p:sp>
        <p:nvSpPr>
          <p:cNvPr id="9" name="Connector line-1792289179977-159899280"/>
          <p:cNvSpPr/>
          <p:nvPr/>
        </p:nvSpPr>
        <p:spPr>
          <a:xfrm>
            <a:off x="8629650" y="4905375"/>
            <a:ext cx="102870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753600" y="2857500"/>
            <a:ext cx="7620000" cy="4095750"/>
          </a:xfrm>
          <a:prstGeom prst="roundRect">
            <a:avLst>
              <a:gd name="adj" fmla="val 5581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753600" y="2857500"/>
            <a:ext cx="114300" cy="4095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10210800" y="3200400"/>
            <a:ext cx="6858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Data</a:t>
            </a:r>
            <a:r>
              <a:rPr lang="en-US" sz="4800" dirty="0" spc="-1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warehouse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10210800" y="42862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Giữ</a:t>
            </a:r>
            <a:r>
              <a:rPr lang="en-US" sz="31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bảng</a:t>
            </a:r>
            <a:r>
              <a:rPr lang="en-US" sz="315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31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31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sạch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10210800" y="5619750"/>
            <a:ext cx="53340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25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3EEE3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77724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</a:t>
            </a:r>
            <a:r>
              <a:rPr lang="en-US" sz="33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33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lại.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9" name="Shape 1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0" name="Shape 1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1" name="Shape 1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3" name="Shape 2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4" name="Shape 2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5" name="Shape 2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6" name="Shape 24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7" name="Text 25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6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ec16cfc5-a8dc-41ee-b88c-07b1432ff12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GIAI</a:t>
            </a:r>
            <a:r>
              <a:rPr lang="en-US" sz="1950" spc="209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ĐOẠN</a:t>
            </a:r>
            <a:r>
              <a:rPr lang="en-US" sz="1950" spc="221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</a:t>
            </a:r>
            <a:r>
              <a:rPr lang="en-US" sz="1950" spc="173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Tính</a:t>
            </a:r>
            <a:r>
              <a:rPr lang="en-US" sz="78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r>
              <a:rPr lang="en-US" sz="78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 dụng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096500" cy="4476750"/>
          </a:xfrm>
          <a:prstGeom prst="roundRect">
            <a:avLst>
              <a:gd name="adj" fmla="val 5106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52750"/>
            <a:ext cx="8572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 ·</a:t>
            </a:r>
            <a:r>
              <a:rPr lang="en-US" sz="4200" dirty="0" spc="-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r>
              <a:rPr lang="en-US" sz="4200" dirty="0" spc="-2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295400" y="3829050"/>
            <a:ext cx="1809750" cy="5334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sạch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57550" y="3829050"/>
            <a:ext cx="1143000" cy="5334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Gộp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52950" y="3829050"/>
            <a:ext cx="1809750" cy="5334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515100" y="3829050"/>
            <a:ext cx="2571750" cy="5334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1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95400" y="4667250"/>
            <a:ext cx="4476750" cy="2286000"/>
          </a:xfrm>
          <a:prstGeom prst="roundRect">
            <a:avLst>
              <a:gd name="adj" fmla="val 8333"/>
            </a:avLst>
          </a:prstGeom>
          <a:solidFill>
            <a:srgbClr val="FBF8F2"/>
          </a:solidFill>
          <a:ln/>
        </p:spPr>
      </p:sp>
      <p:sp>
        <p:nvSpPr>
          <p:cNvPr id="11" name="Text 9"/>
          <p:cNvSpPr/>
          <p:nvPr/>
        </p:nvSpPr>
        <p:spPr>
          <a:xfrm>
            <a:off x="1562100" y="4857750"/>
            <a:ext cx="4000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Lô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562100" y="5676900"/>
            <a:ext cx="40005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khối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 lịch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5962650" y="4667250"/>
            <a:ext cx="4667250" cy="2286000"/>
          </a:xfrm>
          <a:prstGeom prst="roundRect">
            <a:avLst>
              <a:gd name="adj" fmla="val 8333"/>
            </a:avLst>
          </a:prstGeom>
          <a:solidFill>
            <a:srgbClr val="FBF8F2"/>
          </a:solidFill>
          <a:ln/>
        </p:spPr>
      </p:sp>
      <p:sp>
        <p:nvSpPr>
          <p:cNvPr id="14" name="Text 12"/>
          <p:cNvSpPr/>
          <p:nvPr/>
        </p:nvSpPr>
        <p:spPr>
          <a:xfrm>
            <a:off x="6229350" y="4857750"/>
            <a:ext cx="4191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Luồng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229350" y="5676900"/>
            <a:ext cx="41910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 khi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1239500" y="2762250"/>
            <a:ext cx="6134100" cy="4476750"/>
          </a:xfrm>
          <a:prstGeom prst="roundRect">
            <a:avLst>
              <a:gd name="adj" fmla="val 5106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11620500" y="2952750"/>
            <a:ext cx="5334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endParaRPr lang="en-US" sz="4200" dirty="0"/>
          </a:p>
        </p:txBody>
      </p:sp>
      <p:sp>
        <p:nvSpPr>
          <p:cNvPr id="18" name="Text richtext-1792289180872-296239468"/>
          <p:cNvSpPr/>
          <p:nvPr/>
        </p:nvSpPr>
        <p:spPr>
          <a:xfrm>
            <a:off x="11620500" y="3905250"/>
            <a:ext cx="5372100" cy="3048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Báo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cáo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Bảng</a:t>
            </a:r>
            <a:r>
              <a:rPr lang="en-US" sz="2700" dirty="0" spc="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điều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khiển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Ứng dụng</a:t>
            </a:r>
            <a:r>
              <a:rPr lang="en-US" sz="270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hướng</a:t>
            </a:r>
            <a:r>
              <a:rPr lang="en-US" sz="270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Mô hình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học</a:t>
            </a:r>
            <a:r>
              <a:rPr lang="en-US" sz="27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20" name="Text 18"/>
          <p:cNvSpPr/>
          <p:nvPr/>
        </p:nvSpPr>
        <p:spPr>
          <a:xfrm>
            <a:off x="1295400" y="77724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 thống dùng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cách.</a:t>
            </a:r>
            <a:endParaRPr lang="en-US" sz="3300" dirty="0"/>
          </a:p>
        </p:txBody>
      </p:sp>
      <p:sp>
        <p:nvSpPr>
          <p:cNvPr id="21" name="Shape 1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Text 29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3f0f058b-aafc-4ce5-9173-a6f62d03557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spc="22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spc="20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spc="22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</a:t>
            </a: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78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9715500" cy="4476750"/>
          </a:xfrm>
          <a:prstGeom prst="roundRect">
            <a:avLst>
              <a:gd name="adj" fmla="val 5106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71800"/>
            <a:ext cx="857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Mức</a:t>
            </a:r>
            <a:r>
              <a:rPr lang="en-US" sz="345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đảm</a:t>
            </a:r>
            <a:r>
              <a:rPr lang="en-US" sz="34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bảo của</a:t>
            </a:r>
            <a:r>
              <a:rPr lang="en-US" sz="345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Kafka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1295400" y="3848100"/>
            <a:ext cx="8953500" cy="857250"/>
          </a:xfrm>
          <a:prstGeom prst="roundRect">
            <a:avLst>
              <a:gd name="adj" fmla="val 17778"/>
            </a:avLst>
          </a:prstGeom>
          <a:solidFill>
            <a:srgbClr val="FBF8F2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3848100"/>
            <a:ext cx="476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9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Tối</a:t>
            </a:r>
            <a:r>
              <a:rPr lang="en-US" sz="28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1295400" y="4895850"/>
            <a:ext cx="8953500" cy="857250"/>
          </a:xfrm>
          <a:prstGeom prst="roundRect">
            <a:avLst>
              <a:gd name="adj" fmla="val 17778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4895850"/>
            <a:ext cx="3810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Ít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5619750" y="5048250"/>
            <a:ext cx="4476750" cy="5524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 bản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295400" y="5943600"/>
            <a:ext cx="8953500" cy="857250"/>
          </a:xfrm>
          <a:prstGeom prst="roundRect">
            <a:avLst>
              <a:gd name="adj" fmla="val 17778"/>
            </a:avLst>
          </a:prstGeom>
          <a:solidFill>
            <a:srgbClr val="FBF8F2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5943600"/>
            <a:ext cx="476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Đúng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10858500" y="2762250"/>
            <a:ext cx="6515100" cy="4476750"/>
          </a:xfrm>
          <a:prstGeom prst="roundRect">
            <a:avLst>
              <a:gd name="adj" fmla="val 510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39500" y="2971800"/>
            <a:ext cx="571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34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34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345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đếm</a:t>
            </a:r>
            <a:r>
              <a:rPr lang="en-US" sz="345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đôi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11239500" y="3848100"/>
            <a:ext cx="5753100" cy="8572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1239500" y="4895850"/>
            <a:ext cx="5753100" cy="8572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đè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khóa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1239500" y="5943600"/>
            <a:ext cx="5753100" cy="8572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 khử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1295400" y="77724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Khi</a:t>
            </a:r>
            <a:r>
              <a:rPr lang="en-US" sz="33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300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33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lỗi,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 thống</a:t>
            </a:r>
            <a:r>
              <a:rPr lang="en-US" sz="33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</a:t>
            </a:r>
            <a:r>
              <a:rPr lang="en-US" sz="33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lại.</a:t>
            </a:r>
            <a:endParaRPr lang="en-US" sz="3300" dirty="0"/>
          </a:p>
        </p:txBody>
      </p:sp>
      <p:sp>
        <p:nvSpPr>
          <p:cNvPr id="20" name="Shape 1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Text 28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4f7aa544-c625-4afd-bf35-5af188e5ed2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8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8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5905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2004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28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149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3771900"/>
            <a:ext cx="5334000" cy="45720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Một</a:t>
            </a:r>
            <a:r>
              <a:rPr lang="en-US" sz="300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đơn</a:t>
            </a:r>
            <a:r>
              <a:rPr lang="en-US" sz="30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hàng</a:t>
            </a:r>
            <a:r>
              <a:rPr lang="en-US" sz="3000" dirty="0" spc="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3000" dirty="0" spc="4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gửi</a:t>
            </a:r>
            <a:r>
              <a:rPr lang="en-US" sz="30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r>
              <a:rPr lang="en-US" sz="30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hai</a:t>
            </a:r>
            <a:r>
              <a:rPr lang="en-US" sz="30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lần</a:t>
            </a:r>
            <a:r>
              <a:rPr lang="en-US" sz="30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r>
              <a:rPr lang="en-US" sz="30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lỗi</a:t>
            </a:r>
            <a:r>
              <a:rPr lang="en-US" sz="30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mạng.</a:t>
            </a:r>
            <a:r>
              <a:rPr lang="en-US" sz="30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Nên</a:t>
            </a:r>
            <a:r>
              <a:rPr lang="en-US" sz="30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khử</a:t>
            </a:r>
            <a:r>
              <a:rPr lang="en-US" sz="30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 trùng</a:t>
            </a:r>
            <a:r>
              <a:rPr lang="en-US" sz="30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30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giai</a:t>
            </a:r>
            <a:r>
              <a:rPr lang="en-US" sz="300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đoạn</a:t>
            </a:r>
            <a:r>
              <a:rPr lang="en-US" sz="300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nào,</a:t>
            </a:r>
            <a:r>
              <a:rPr lang="en-US" sz="300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30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vì</a:t>
            </a:r>
            <a:r>
              <a:rPr lang="en-US" sz="30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sao</a:t>
            </a:r>
            <a:r>
              <a:rPr lang="en-US" sz="30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300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 tin</a:t>
            </a:r>
            <a:r>
              <a:rPr lang="en-US" sz="300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vào</a:t>
            </a:r>
            <a:r>
              <a:rPr lang="en-US" sz="3000" dirty="0" spc="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bước</a:t>
            </a:r>
            <a:r>
              <a:rPr lang="en-US" sz="30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nạp?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0" y="32004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1950" spc="150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001000" y="38481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8877300" y="3771900"/>
            <a:ext cx="811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300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877300" y="4305300"/>
            <a:ext cx="8115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6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2250" dirty="0" spc="-16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2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ghi</a:t>
            </a:r>
            <a:r>
              <a:rPr lang="en-US" sz="2250" dirty="0" spc="-1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8001000" y="54673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8877300" y="5391150"/>
            <a:ext cx="811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Bằng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877300" y="5924550"/>
            <a:ext cx="8115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Như</a:t>
            </a:r>
            <a:r>
              <a:rPr lang="en-US" sz="22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1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001000" y="7086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8877300" y="7010400"/>
            <a:ext cx="811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300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877300" y="7543800"/>
            <a:ext cx="8115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9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250" dirty="0" spc="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1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250" dirty="0" spc="-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250" dirty="0" spc="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2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dirty="0" spc="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6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1" name="Shape 1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2" name="Shape 2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3" name="Shape 2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4" name="Shape 2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5" name="Shape 2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6" name="Shape 2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8" name="Shape 2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9" name="Text 27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6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12f8eda3-9222-4006-bc50-ae7ed7bc213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1950" spc="21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1950" spc="225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Lô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luồng?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86100"/>
            <a:ext cx="1524000" cy="533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108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LÔ</a:t>
            </a:r>
            <a:endParaRPr lang="en-US" sz="1950" dirty="0"/>
          </a:p>
        </p:txBody>
      </p:sp>
      <p:sp>
        <p:nvSpPr>
          <p:cNvPr id="6" name="Text richtext-1792289246353-323104569"/>
          <p:cNvSpPr/>
          <p:nvPr/>
        </p:nvSpPr>
        <p:spPr>
          <a:xfrm>
            <a:off x="1295400" y="3905250"/>
            <a:ext cx="4572000" cy="3143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Đơn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giản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Thường</a:t>
            </a:r>
            <a:r>
              <a:rPr lang="en-US" sz="2700" dirty="0" spc="-3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rẻ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hơn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Hợp</a:t>
            </a:r>
            <a:r>
              <a:rPr lang="en-US" sz="27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báo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cáo</a:t>
            </a:r>
            <a:r>
              <a:rPr lang="en-US" sz="27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cuối ngày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770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3086100"/>
            <a:ext cx="2095500" cy="533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152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endParaRPr lang="en-US" sz="1950" dirty="0"/>
          </a:p>
        </p:txBody>
      </p:sp>
      <p:sp>
        <p:nvSpPr>
          <p:cNvPr id="9" name="Text richtext-1792289246365-752514048"/>
          <p:cNvSpPr/>
          <p:nvPr/>
        </p:nvSpPr>
        <p:spPr>
          <a:xfrm>
            <a:off x="6858000" y="3905250"/>
            <a:ext cx="4572000" cy="3143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5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Kết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quả</a:t>
            </a:r>
            <a:r>
              <a:rPr lang="en-US" sz="270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gần</a:t>
            </a:r>
            <a:r>
              <a:rPr lang="en-US" sz="270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thời gian thực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Phải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xử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lý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thứ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 sự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kiện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6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Và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70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đến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muộn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20396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2420600" y="3086100"/>
            <a:ext cx="314325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111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EXACTLY-ONCE</a:t>
            </a:r>
            <a:endParaRPr lang="en-US" sz="1950" dirty="0"/>
          </a:p>
        </p:txBody>
      </p:sp>
      <p:sp>
        <p:nvSpPr>
          <p:cNvPr id="12" name="Text richtext-1792289246373-288413973"/>
          <p:cNvSpPr/>
          <p:nvPr/>
        </p:nvSpPr>
        <p:spPr>
          <a:xfrm>
            <a:off x="12420600" y="3905250"/>
            <a:ext cx="4572000" cy="3143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Của</a:t>
            </a:r>
            <a:r>
              <a:rPr lang="en-US" sz="2700" dirty="0" spc="-3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Kafka,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70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phạm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</a:t>
            </a:r>
            <a:r>
              <a:rPr lang="en-US" sz="2700" dirty="0" spc="-4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Kafka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Thao</a:t>
            </a:r>
            <a:r>
              <a:rPr lang="en-US" sz="270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tác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bên</a:t>
            </a:r>
            <a:r>
              <a:rPr lang="en-US" sz="27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ngoài,</a:t>
            </a: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như</a:t>
            </a:r>
            <a:r>
              <a:rPr lang="en-US" sz="27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API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4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Vẫn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thiết</a:t>
            </a:r>
            <a:r>
              <a:rPr lang="en-US" sz="2700" dirty="0" spc="-3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</a:t>
            </a:r>
            <a:r>
              <a:rPr lang="en-US" sz="270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 lặp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77724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 thống dùng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hai.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Shape 1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Text 23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ca6e0f9a-aa70-4fe8-8379-768b856bad0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17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552700"/>
            <a:ext cx="8001000" cy="2381250"/>
          </a:xfrm>
          <a:prstGeom prst="roundRect">
            <a:avLst>
              <a:gd name="adj" fmla="val 64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2686050"/>
            <a:ext cx="7429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181100" y="360045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3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Application</a:t>
            </a:r>
            <a:r>
              <a:rPr lang="en-US" sz="1950" dirty="0" spc="-12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Programming</a:t>
            </a:r>
            <a:r>
              <a:rPr lang="en-US" sz="1950" dirty="0" spc="-8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Interface</a:t>
            </a:r>
            <a:endParaRPr lang="en-US" sz="1950" dirty="0"/>
          </a:p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b="1" dirty="0" spc="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950" dirty="0"/>
          </a:p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100" dirty="0" spc="-8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100" dirty="0" spc="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1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100" dirty="0" spc="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372600" y="2552700"/>
            <a:ext cx="8001000" cy="2381250"/>
          </a:xfrm>
          <a:prstGeom prst="roundRect">
            <a:avLst>
              <a:gd name="adj" fmla="val 64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9639300" y="2686050"/>
            <a:ext cx="7429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ML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9639300" y="360045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1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Machine</a:t>
            </a:r>
            <a:r>
              <a:rPr lang="en-US" sz="1950" dirty="0" spc="-8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Learning</a:t>
            </a:r>
            <a:endParaRPr lang="en-US" sz="1950" dirty="0"/>
          </a:p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950" dirty="0"/>
          </a:p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0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rút</a:t>
            </a:r>
            <a:r>
              <a:rPr lang="en-US" sz="2100" dirty="0" spc="-3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10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100" dirty="0" spc="-1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10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5143500"/>
            <a:ext cx="16459200" cy="3619500"/>
          </a:xfrm>
          <a:prstGeom prst="roundRect">
            <a:avLst>
              <a:gd name="adj" fmla="val 6316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535305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51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753600" y="535305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950" dirty="0" spc="6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0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</a:t>
            </a:r>
            <a:endParaRPr lang="en-US" sz="1950" dirty="0"/>
          </a:p>
        </p:txBody>
      </p:sp>
      <p:sp>
        <p:nvSpPr>
          <p:cNvPr id="13" name="Text richtext-1792289247204-713272589"/>
          <p:cNvSpPr/>
          <p:nvPr/>
        </p:nvSpPr>
        <p:spPr>
          <a:xfrm>
            <a:off x="1295400" y="5943600"/>
            <a:ext cx="15697200" cy="2571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ByteByteGo: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 nguồn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Confluent:</a:t>
            </a:r>
            <a:r>
              <a:rPr lang="en-US" sz="2400" dirty="0" spc="-3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Kafka</a:t>
            </a:r>
            <a:r>
              <a:rPr lang="en-US" sz="24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message</a:t>
            </a:r>
            <a:r>
              <a:rPr lang="en-US" sz="24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delivery</a:t>
            </a:r>
            <a:r>
              <a:rPr lang="en-US" sz="240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guarantees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Confluent:</a:t>
            </a:r>
            <a:r>
              <a:rPr lang="en-US" sz="240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trang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mở</a:t>
            </a:r>
            <a:r>
              <a:rPr lang="en-US" sz="240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được;</a:t>
            </a:r>
            <a:r>
              <a:rPr lang="en-US" sz="24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</a:t>
            </a:r>
            <a:r>
              <a:rPr lang="en-US" sz="240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trích đoạn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Google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Cloud:</a:t>
            </a:r>
            <a:r>
              <a:rPr lang="en-US" sz="240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Data</a:t>
            </a:r>
            <a:r>
              <a:rPr lang="en-US" sz="240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lake,</a:t>
            </a:r>
            <a:r>
              <a:rPr lang="en-US" sz="240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Data</a:t>
            </a:r>
            <a:r>
              <a:rPr lang="en-US" sz="240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warehouse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Ví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</a:t>
            </a:r>
            <a:r>
              <a:rPr lang="en-US" sz="2400" dirty="0" spc="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cửa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hàng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 phải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hệ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thống</a:t>
            </a:r>
            <a:r>
              <a:rPr lang="en-US" sz="24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thật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5" name="Shape 1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6" name="Shape 1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7" name="Shape 1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8" name="Shape 1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9" name="Shape 1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0" name="Shape 1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1" name="Shape 1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2" name="Shape 2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3" name="Shape 2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Text 22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6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76616378-ef66-4f46-889a-d46f1f805d2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2026-10-18T06:48:36Z</dcterms:created>
  <dcterms:modified xsi:type="dcterms:W3CDTF">2026-10-18T06:48:36Z</dcterms:modified>
</cp:coreProperties>
</file>