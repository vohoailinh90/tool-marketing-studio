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embeddedFontLst>
    <p:embeddedFont>
      <p:font typeface="Be Vietnam Pro"/>
      <p:regular r:id="rId18"/>
      <p:bold r:id="rId16"/>
    </p:embeddedFont>
    <p:embeddedFont>
      <p:font typeface="Bricolage Grotesque ExtraBold"/>
      <p:regular r:id="rId17"/>
    </p:embeddedFont>
    <p:embeddedFont>
      <p:font typeface="Be Vietnam Pro ExtraBold"/>
      <p:regular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9525000" cy="22860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kiến trúc,</a:t>
            </a:r>
            <a:endParaRPr lang="en-US" sz="6900" dirty="0"/>
          </a:p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-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giá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4476750"/>
            <a:ext cx="8572500" cy="1047750"/>
          </a:xfrm>
          <a:prstGeom prst="rect">
            <a:avLst/>
          </a:prstGeom>
          <a:noFill/>
          <a:ln/>
        </p:spPr>
        <p:txBody>
          <a:bodyPr wrap="square" lIns="0" tIns="20955" rIns="0" bIns="-20955" rtlCol="0" anchor="t"/>
          <a:lstStyle/>
          <a:p>
            <a:pPr algn="l" indent="0" marL="0">
              <a:lnSpc>
                <a:spcPts val="3750"/>
              </a:lnSpc>
              <a:buNone/>
            </a:pPr>
            <a:r>
              <a:rPr lang="en-US" sz="300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lợi,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hại,</a:t>
            </a:r>
            <a:r>
              <a:rPr lang="en-US" sz="300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3000" dirty="0" spc="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3000" dirty="0"/>
          </a:p>
        </p:txBody>
      </p:sp>
      <p:sp>
        <p:nvSpPr>
          <p:cNvPr id="5" name="Connector line-1792390441356-680772598"/>
          <p:cNvSpPr/>
          <p:nvPr/>
        </p:nvSpPr>
        <p:spPr>
          <a:xfrm>
            <a:off x="914400" y="6667500"/>
            <a:ext cx="86106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6905625"/>
            <a:ext cx="8572500" cy="76200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 chiếu</a:t>
            </a:r>
            <a:r>
              <a:rPr lang="en-US" sz="21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1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1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</a:t>
            </a:r>
            <a:r>
              <a:rPr lang="en-US" sz="210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00" dirty="0" spc="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239500" y="31432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239500" y="533400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1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400" b="1" dirty="0" spc="0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239500" y="7524750"/>
            <a:ext cx="2857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4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0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2400" dirty="0"/>
          </a:p>
        </p:txBody>
      </p:sp>
      <p:sp>
        <p:nvSpPr>
          <p:cNvPr id="10" name="Connector line-1792390441370-678610012"/>
          <p:cNvSpPr/>
          <p:nvPr/>
        </p:nvSpPr>
        <p:spPr>
          <a:xfrm>
            <a:off x="12668250" y="409575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1" name="Connector line-1792390441370-930528503"/>
          <p:cNvSpPr/>
          <p:nvPr/>
        </p:nvSpPr>
        <p:spPr>
          <a:xfrm>
            <a:off x="12668250" y="6286500"/>
            <a:ext cx="0" cy="1238250"/>
          </a:xfrm>
          <a:prstGeom prst="line">
            <a:avLst/>
          </a:prstGeom>
          <a:noFill/>
          <a:ln w="47625">
            <a:solidFill>
              <a:srgbClr val="9AA0B5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14478000" y="5429250"/>
            <a:ext cx="3429000" cy="857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19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</a:t>
            </a:r>
            <a:r>
              <a:rPr lang="en-US" sz="19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1950" dirty="0" spc="-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9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14400" y="9715500"/>
            <a:ext cx="8572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 trúc phần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mềm</a:t>
            </a:r>
            <a:endParaRPr lang="en-US" sz="1650" dirty="0"/>
          </a:p>
        </p:txBody>
      </p:sp>
      <p:sp>
        <p:nvSpPr>
          <p:cNvPr id="14" name="Shape 1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04cef2f7-9ed2-40e8-a91b-5f49a8f8067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800" b="1" spc="301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Sáu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mẫu,</a:t>
            </a:r>
            <a:r>
              <a:rPr lang="en-US" sz="69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857500"/>
            <a:ext cx="6096000" cy="4953000"/>
          </a:xfrm>
          <a:prstGeom prst="rect">
            <a:avLst/>
          </a:prstGeom>
          <a:noFill/>
          <a:ln/>
        </p:spPr>
        <p:txBody>
          <a:bodyPr wrap="square" lIns="0" tIns="320040" rIns="0" bIns="-320040" rtlCol="0" anchor="ctr"/>
          <a:lstStyle/>
          <a:p>
            <a:pPr algn="l" indent="0" marL="0">
              <a:lnSpc>
                <a:spcPts val="31500"/>
              </a:lnSpc>
              <a:buNone/>
            </a:pPr>
            <a:r>
              <a:rPr lang="en-US" sz="31500" dirty="0" spc="-2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6</a:t>
            </a:r>
            <a:endParaRPr lang="en-US" sz="31500" dirty="0"/>
          </a:p>
        </p:txBody>
      </p:sp>
      <p:sp>
        <p:nvSpPr>
          <p:cNvPr id="5" name="Text 3"/>
          <p:cNvSpPr/>
          <p:nvPr/>
        </p:nvSpPr>
        <p:spPr>
          <a:xfrm>
            <a:off x="914400" y="7905750"/>
            <a:ext cx="6667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mẫu,</a:t>
            </a: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850" b="1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850" dirty="0"/>
          </a:p>
        </p:txBody>
      </p:sp>
      <p:sp>
        <p:nvSpPr>
          <p:cNvPr id="6" name="Shape 4"/>
          <p:cNvSpPr/>
          <p:nvPr/>
        </p:nvSpPr>
        <p:spPr>
          <a:xfrm>
            <a:off x="8191500" y="2952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72500" y="2952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4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8191500" y="46672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72500" y="46672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00" b="1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00" b="1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191500" y="6381750"/>
            <a:ext cx="9182100" cy="1428750"/>
          </a:xfrm>
          <a:prstGeom prst="roundRect">
            <a:avLst>
              <a:gd name="adj" fmla="val 16000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500" y="6381750"/>
            <a:ext cx="8382000" cy="14287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ctr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4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400" dirty="0"/>
          </a:p>
        </p:txBody>
      </p:sp>
      <p:sp>
        <p:nvSpPr>
          <p:cNvPr id="12" name="Connector line-1792390442361-50181539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34be743-859b-4c8a-a547-315d1f3f7333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8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MẪU,</a:t>
            </a:r>
            <a:r>
              <a:rPr lang="en-US" sz="1800" b="1" spc="279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 LỢI MỘT</a:t>
            </a:r>
            <a:r>
              <a:rPr lang="en-US" sz="1800" b="1" spc="300" kern="0" dirty="0">
                <a:solidFill>
                  <a:srgbClr val="B45309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Đổi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lấy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82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24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238250" y="3600450"/>
            <a:ext cx="4686300" cy="2000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1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lộn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xộn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 thiếu</a:t>
            </a:r>
            <a:r>
              <a:rPr lang="en-US" sz="2100" dirty="0" spc="-1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770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008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</a:t>
            </a: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vụ</a:t>
            </a:r>
            <a:r>
              <a:rPr lang="en-US" sz="24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6800850" y="3600450"/>
            <a:ext cx="4686300" cy="2000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chịu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lỗi,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</a:t>
            </a:r>
            <a:r>
              <a:rPr lang="en-US" sz="210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Hại: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100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12039600" y="2762250"/>
            <a:ext cx="5334000" cy="3048000"/>
          </a:xfrm>
          <a:prstGeom prst="roundRect">
            <a:avLst>
              <a:gd name="adj" fmla="val 75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63450" y="302895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Hướng</a:t>
            </a:r>
            <a:r>
              <a:rPr lang="en-US" sz="2400" dirty="0" spc="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sự</a:t>
            </a:r>
            <a:r>
              <a:rPr lang="en-US" sz="24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kiện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2363450" y="3600450"/>
            <a:ext cx="4686300" cy="20002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lỏng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ghép.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Hại: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1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endParaRPr lang="en-US" sz="2100" dirty="0"/>
          </a:p>
        </p:txBody>
      </p:sp>
      <p:sp>
        <p:nvSpPr>
          <p:cNvPr id="13" name="Shape 11"/>
          <p:cNvSpPr/>
          <p:nvPr/>
        </p:nvSpPr>
        <p:spPr>
          <a:xfrm>
            <a:off x="914400" y="609600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8250" y="63627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khách</a:t>
            </a:r>
            <a:r>
              <a:rPr lang="en-US" sz="2400" dirty="0" spc="-2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400" dirty="0" spc="-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400" dirty="0" spc="2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238250" y="6934200"/>
            <a:ext cx="46863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Hại:</a:t>
            </a:r>
            <a:r>
              <a:rPr lang="en-US" sz="2100" dirty="0" spc="-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1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1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dirty="0" spc="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endParaRPr lang="en-US" sz="2100" dirty="0"/>
          </a:p>
        </p:txBody>
      </p:sp>
      <p:sp>
        <p:nvSpPr>
          <p:cNvPr id="16" name="Shape 14"/>
          <p:cNvSpPr/>
          <p:nvPr/>
        </p:nvSpPr>
        <p:spPr>
          <a:xfrm>
            <a:off x="6477000" y="609600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0850" y="63627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400" dirty="0" spc="-6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r>
              <a:rPr lang="en-US" sz="2400" dirty="0" spc="-18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800850" y="6934200"/>
            <a:ext cx="46863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100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dần.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Hại:</a:t>
            </a:r>
            <a:r>
              <a:rPr lang="en-US" sz="2100" dirty="0" spc="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 khó</a:t>
            </a:r>
            <a:endParaRPr lang="en-US" sz="2100" dirty="0"/>
          </a:p>
        </p:txBody>
      </p:sp>
      <p:sp>
        <p:nvSpPr>
          <p:cNvPr id="19" name="Shape 17"/>
          <p:cNvSpPr/>
          <p:nvPr/>
        </p:nvSpPr>
        <p:spPr>
          <a:xfrm>
            <a:off x="12039600" y="6096000"/>
            <a:ext cx="5334000" cy="2857500"/>
          </a:xfrm>
          <a:prstGeom prst="roundRect">
            <a:avLst>
              <a:gd name="adj" fmla="val 8000"/>
            </a:avLst>
          </a:prstGeom>
          <a:solidFill>
            <a:srgbClr val="FBF8F1"/>
          </a:solidFill>
          <a:ln w="28575">
            <a:solidFill>
              <a:srgbClr val="B4530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63450" y="6362700"/>
            <a:ext cx="46863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Lục</a:t>
            </a:r>
            <a:r>
              <a:rPr lang="en-US" sz="24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2363450" y="6934200"/>
            <a:ext cx="4686300" cy="180975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2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Lợi:</a:t>
            </a:r>
            <a:r>
              <a:rPr lang="en-US" sz="21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10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1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lõi. Hại:</a:t>
            </a:r>
            <a:r>
              <a:rPr lang="en-US" sz="210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tốn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1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10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dựng,</a:t>
            </a:r>
            <a:r>
              <a:rPr lang="en-US" sz="21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1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endParaRPr lang="en-US" sz="2100" dirty="0"/>
          </a:p>
        </p:txBody>
      </p:sp>
      <p:sp>
        <p:nvSpPr>
          <p:cNvPr id="22" name="Connector line-1792390443226-34735460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03c718e7-8b61-47f8-b96a-ee62f5157e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2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8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180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1800" b="1" spc="30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 mẫu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con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667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6670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Phân</a:t>
            </a:r>
            <a:r>
              <a:rPr lang="en-US" sz="2250" dirty="0" spc="-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tầng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6667500" y="26670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 0,02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0,05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37719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37719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Dịch vụ</a:t>
            </a:r>
            <a:r>
              <a:rPr lang="en-US" sz="2250" dirty="0" spc="-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nhỏ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6667500" y="37719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220</a:t>
            </a:r>
            <a:r>
              <a:rPr lang="en-US" sz="2250" dirty="0" spc="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292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48768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48768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6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Hướng</a:t>
            </a:r>
            <a:r>
              <a:rPr lang="en-US" sz="22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sự</a:t>
            </a:r>
            <a:r>
              <a:rPr lang="en-US" sz="225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kiện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6667500" y="48768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0,02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59817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4" name="Text 12"/>
          <p:cNvSpPr/>
          <p:nvPr/>
        </p:nvSpPr>
        <p:spPr>
          <a:xfrm>
            <a:off x="1295400" y="59817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Máy</a:t>
            </a:r>
            <a:r>
              <a:rPr lang="en-US" sz="22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khách</a:t>
            </a:r>
            <a:r>
              <a:rPr lang="en-US" sz="2250" dirty="0" spc="-18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và</a:t>
            </a:r>
            <a:r>
              <a:rPr lang="en-US" sz="2250" dirty="0" spc="-7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máy</a:t>
            </a:r>
            <a:r>
              <a:rPr lang="en-US" sz="2250" dirty="0" spc="2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chủ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6667500" y="59817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16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khách:</a:t>
            </a: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</a:t>
            </a: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33,5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ms,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luồng 8,6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914400" y="70866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7" name="Text 15"/>
          <p:cNvSpPr/>
          <p:nvPr/>
        </p:nvSpPr>
        <p:spPr>
          <a:xfrm>
            <a:off x="1295400" y="70866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0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Phần</a:t>
            </a:r>
            <a:r>
              <a:rPr lang="en-US" sz="22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mở</a:t>
            </a:r>
            <a:r>
              <a:rPr lang="en-US" sz="2250" dirty="0" spc="-13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rộng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6667500" y="70866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đổi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lõi: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hỏng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100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914400" y="8191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20" name="Text 18"/>
          <p:cNvSpPr/>
          <p:nvPr/>
        </p:nvSpPr>
        <p:spPr>
          <a:xfrm>
            <a:off x="1295400" y="8191500"/>
            <a:ext cx="5143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Lục</a:t>
            </a:r>
            <a:r>
              <a:rPr lang="en-US" sz="2250" dirty="0" spc="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giác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6667500" y="8191500"/>
            <a:ext cx="1047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lõi</a:t>
            </a:r>
            <a:r>
              <a:rPr lang="en-US" sz="2250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sqlite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890</a:t>
            </a:r>
            <a:r>
              <a:rPr lang="en-US" sz="2250" dirty="0" spc="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960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22" name="Connector line-1792390444150-122307132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7" name="Shape 2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04/09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73a1707d-4798-4366-9a32-7a449a6e910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3</a:t>
            </a:r>
            <a:r>
              <a:rPr lang="en-US" sz="180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800" b="1" spc="301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Hai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mẫu</a:t>
            </a: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thiếu</a:t>
            </a:r>
            <a:r>
              <a:rPr lang="en-US" sz="69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FBF8F1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1950" b="1" spc="178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1950" b="1" spc="22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33500" y="3905250"/>
            <a:ext cx="7048500" cy="3810000"/>
          </a:xfrm>
          <a:prstGeom prst="rect">
            <a:avLst/>
          </a:prstGeom>
          <a:noFill/>
          <a:ln/>
        </p:spPr>
        <p:txBody>
          <a:bodyPr wrap="square" lIns="0" tIns="-11763" rIns="0" bIns="11763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28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endParaRPr lang="en-US" sz="2850" dirty="0"/>
          </a:p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Dịch</a:t>
            </a:r>
            <a:r>
              <a:rPr lang="en-US" sz="285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850" dirty="0"/>
          </a:p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8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8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2850" dirty="0"/>
          </a:p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r>
              <a:rPr lang="en-US" sz="28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850" b="1" dirty="0" spc="-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850" dirty="0"/>
          </a:p>
        </p:txBody>
      </p:sp>
      <p:sp>
        <p:nvSpPr>
          <p:cNvPr id="7" name="Shape 5"/>
          <p:cNvSpPr/>
          <p:nvPr/>
        </p:nvSpPr>
        <p:spPr>
          <a:xfrm>
            <a:off x="9563100" y="2762250"/>
            <a:ext cx="7810500" cy="6096000"/>
          </a:xfrm>
          <a:prstGeom prst="roundRect">
            <a:avLst>
              <a:gd name="adj" fmla="val 4375"/>
            </a:avLst>
          </a:prstGeom>
          <a:solidFill>
            <a:srgbClr val="E8472B"/>
          </a:solidFill>
          <a:ln/>
        </p:spPr>
      </p:sp>
      <p:sp>
        <p:nvSpPr>
          <p:cNvPr id="8" name="Text 6"/>
          <p:cNvSpPr/>
          <p:nvPr/>
        </p:nvSpPr>
        <p:spPr>
          <a:xfrm>
            <a:off x="9982200" y="3105150"/>
            <a:ext cx="7048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26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225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1950" b="1" spc="226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950" b="1" spc="177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1950" b="1" spc="226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1950" b="1" spc="225" kern="0" dirty="0">
                <a:solidFill>
                  <a:srgbClr val="FFE9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 LẬP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82200" y="390525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-11763" rIns="0" bIns="11763" rtlCol="0" anchor="t"/>
          <a:lstStyle/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-1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Máy</a:t>
            </a:r>
            <a:r>
              <a:rPr lang="en-US" sz="28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khách</a:t>
            </a:r>
            <a:r>
              <a:rPr lang="en-US" sz="2850" b="1" dirty="0" spc="-2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b="1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8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endParaRPr lang="en-US" sz="2850" dirty="0"/>
          </a:p>
          <a:p>
            <a:pPr algn="l" indent="0" marL="0">
              <a:lnSpc>
                <a:spcPts val="4560"/>
              </a:lnSpc>
              <a:buNone/>
            </a:pPr>
            <a:r>
              <a:rPr lang="en-US" sz="28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Kiến</a:t>
            </a:r>
            <a:r>
              <a:rPr lang="en-US" sz="28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8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r>
              <a:rPr lang="en-US" sz="285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9982200" y="6096000"/>
            <a:ext cx="7048500" cy="1905000"/>
          </a:xfrm>
          <a:prstGeom prst="rect">
            <a:avLst/>
          </a:prstGeom>
          <a:noFill/>
          <a:ln/>
        </p:spPr>
        <p:txBody>
          <a:bodyPr wrap="square" lIns="0" tIns="8001" rIns="0" bIns="-8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Số</a:t>
            </a:r>
            <a:r>
              <a:rPr lang="en-US" sz="2100" dirty="0" spc="1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100" dirty="0" spc="-9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100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dạng</a:t>
            </a:r>
            <a:r>
              <a:rPr lang="en-US" sz="2100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100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100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r>
              <a:rPr lang="en-US" sz="2100" dirty="0" spc="-17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100" dirty="0" spc="-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-1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endParaRPr lang="en-US" sz="2100" dirty="0"/>
          </a:p>
        </p:txBody>
      </p:sp>
      <p:sp>
        <p:nvSpPr>
          <p:cNvPr id="11" name="Connector line-1792390484478-774415065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7" name="Shape 15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05/09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b7274e31-a391-470a-8582-d9beb8fca62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8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800" b="1" spc="30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Số</a:t>
            </a:r>
            <a:r>
              <a:rPr lang="en-US" sz="6900" dirty="0" spc="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chỉ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cho</a:t>
            </a:r>
            <a:r>
              <a:rPr lang="en-US" sz="6900" dirty="0" spc="-7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hướng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28575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2250" dirty="0" spc="-1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máy,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250" dirty="0" spc="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Python: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tỷ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lệ</a:t>
            </a:r>
            <a:r>
              <a:rPr lang="en-US" sz="2250" dirty="0" spc="-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đáng</a:t>
            </a:r>
            <a:r>
              <a:rPr lang="en-US" sz="2250" dirty="0" spc="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endParaRPr lang="en-US" sz="2250" dirty="0"/>
          </a:p>
        </p:txBody>
      </p:sp>
      <p:sp>
        <p:nvSpPr>
          <p:cNvPr id="6" name="Shape 4"/>
          <p:cNvSpPr/>
          <p:nvPr/>
        </p:nvSpPr>
        <p:spPr>
          <a:xfrm>
            <a:off x="914400" y="4286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62A36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42862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250" dirty="0" spc="-3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mặc</a:t>
            </a:r>
            <a:r>
              <a:rPr lang="en-US" sz="2250" dirty="0" spc="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(5)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1%</a:t>
            </a:r>
            <a:r>
              <a:rPr lang="en-US" sz="2250" dirty="0" spc="-2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 chậm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cỡ 1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giây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5715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2E3342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571500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Hàm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móc</a:t>
            </a:r>
            <a:r>
              <a:rPr lang="en-US" sz="2250" dirty="0" spc="1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chữ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ký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tồi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chủ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7143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363B4D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7143750"/>
            <a:ext cx="1571625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Cái</a:t>
            </a:r>
            <a:r>
              <a:rPr lang="en-US" sz="22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250" dirty="0" spc="2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lục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endParaRPr lang="en-US" sz="2250" dirty="0"/>
          </a:p>
        </p:txBody>
      </p:sp>
      <p:sp>
        <p:nvSpPr>
          <p:cNvPr id="12" name="Connector line-1792390485499-87460487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Shape 17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06/09</a:t>
            </a:r>
            <a:endParaRPr lang="en-US" sz="1650" dirty="0"/>
          </a:p>
        </p:txBody>
      </p:sp>
      <p:sp>
        <p:nvSpPr>
          <p:cNvPr id="23" name="Shape 2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4" name="Moda image moda-export-watermark-f0f2273e-d9fb-48aa-9009-2fd0ffbd67e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CÂU</a:t>
            </a:r>
            <a:r>
              <a:rPr lang="en-US" sz="1800" b="1" spc="302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1800" b="1" spc="297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Tách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tầng</a:t>
            </a:r>
            <a:r>
              <a:rPr lang="en-US" sz="69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dịch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vụ?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2762250"/>
            <a:ext cx="164592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 tầng;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5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nghiệp muốn mỗi tầng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55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55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nhỏ.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914400" y="44767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14161C"/>
          </a:solidFill>
          <a:ln/>
        </p:spPr>
      </p:sp>
      <p:sp>
        <p:nvSpPr>
          <p:cNvPr id="6" name="Text 4"/>
          <p:cNvSpPr/>
          <p:nvPr/>
        </p:nvSpPr>
        <p:spPr>
          <a:xfrm>
            <a:off x="1238250" y="4762500"/>
            <a:ext cx="43053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hàm:</a:t>
            </a:r>
            <a:r>
              <a:rPr lang="en-US" sz="2250" b="1" dirty="0" spc="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2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0,11</a:t>
            </a:r>
            <a:r>
              <a:rPr lang="en-US" sz="22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6667500" y="44767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B45309"/>
          </a:solidFill>
          <a:ln/>
        </p:spPr>
      </p:sp>
      <p:sp>
        <p:nvSpPr>
          <p:cNvPr id="8" name="Text 6"/>
          <p:cNvSpPr/>
          <p:nvPr/>
        </p:nvSpPr>
        <p:spPr>
          <a:xfrm>
            <a:off x="6991350" y="4762500"/>
            <a:ext cx="43053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spc="-1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b="1" dirty="0" spc="-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250" b="1" dirty="0" spc="-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HTTP:</a:t>
            </a: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220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250" b="1" dirty="0" spc="-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292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µs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12420600" y="4476750"/>
            <a:ext cx="4953000" cy="2476500"/>
          </a:xfrm>
          <a:prstGeom prst="roundRect">
            <a:avLst>
              <a:gd name="adj" fmla="val 10769"/>
            </a:avLst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12744450" y="4762500"/>
            <a:ext cx="4305300" cy="1905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b="1" dirty="0" spc="5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b="1" dirty="0" spc="3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250" b="1" dirty="0" spc="1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do:</a:t>
            </a:r>
            <a:r>
              <a:rPr lang="en-US" sz="2250" b="1" dirty="0" spc="0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giãn,</a:t>
            </a:r>
            <a:r>
              <a:rPr lang="en-US" sz="2250" b="1" dirty="0" spc="8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đội,</a:t>
            </a:r>
            <a:r>
              <a:rPr lang="en-US" sz="2250" b="1" dirty="0" spc="4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b="1" dirty="0" spc="2" kern="0">
                <a:solidFill>
                  <a:srgbClr val="FFFF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 riêng</a:t>
            </a:r>
            <a:endParaRPr lang="en-US" sz="2250" dirty="0"/>
          </a:p>
        </p:txBody>
      </p:sp>
      <p:sp>
        <p:nvSpPr>
          <p:cNvPr id="11" name="Connector line-1792390486361-728599053"/>
          <p:cNvSpPr/>
          <p:nvPr/>
        </p:nvSpPr>
        <p:spPr>
          <a:xfrm>
            <a:off x="5867400" y="571500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Connector line-1792390486362-730783919"/>
          <p:cNvSpPr/>
          <p:nvPr/>
        </p:nvSpPr>
        <p:spPr>
          <a:xfrm>
            <a:off x="11620500" y="571500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914400" y="742950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Nếu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gọn</a:t>
            </a: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mã,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25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250" dirty="0" spc="-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250" dirty="0" spc="1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đủ.</a:t>
            </a:r>
            <a:endParaRPr lang="en-US" sz="2250" dirty="0"/>
          </a:p>
        </p:txBody>
      </p:sp>
      <p:sp>
        <p:nvSpPr>
          <p:cNvPr id="14" name="Connector line-1792390486365-304744904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07/09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d3737017-c440-4f8c-b135-2e5f68e103a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3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1800" b="1" spc="300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800" b="1" spc="254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95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56" kern="0" dirty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Thêm</a:t>
            </a:r>
            <a:r>
              <a:rPr lang="en-US" sz="6900" dirty="0" spc="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đối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chiếu</a:t>
            </a:r>
            <a:r>
              <a:rPr lang="en-US" sz="69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r>
              <a:rPr lang="en-US" sz="6900" dirty="0" spc="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7622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476500" y="27622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Nguồn: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hình,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250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đoạn,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hại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914400" y="41910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5400" y="41910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-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2476500" y="41910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Bài</a:t>
            </a:r>
            <a:r>
              <a:rPr lang="en-US" sz="2250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thứ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tự,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cột</a:t>
            </a:r>
            <a:r>
              <a:rPr lang="en-US" sz="2250" dirty="0" spc="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14400" y="561975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61975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2476500" y="561975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 mẫu</a:t>
            </a:r>
            <a:r>
              <a:rPr lang="en-US" sz="2250" dirty="0" spc="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250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250" dirty="0" spc="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250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nhỏ</a:t>
            </a:r>
            <a:endParaRPr lang="en-US" sz="2250" dirty="0"/>
          </a:p>
        </p:txBody>
      </p:sp>
      <p:sp>
        <p:nvSpPr>
          <p:cNvPr id="13" name="Shape 11"/>
          <p:cNvSpPr/>
          <p:nvPr/>
        </p:nvSpPr>
        <p:spPr>
          <a:xfrm>
            <a:off x="914400" y="7048500"/>
            <a:ext cx="16459200" cy="1238250"/>
          </a:xfrm>
          <a:prstGeom prst="roundRect">
            <a:avLst>
              <a:gd name="adj" fmla="val 18462"/>
            </a:avLst>
          </a:prstGeom>
          <a:solidFill>
            <a:srgbClr val="FBF8F1"/>
          </a:solidFill>
          <a:ln w="19050">
            <a:solidFill>
              <a:srgbClr val="D8D0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5400" y="7048500"/>
            <a:ext cx="952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dirty="0" spc="1" kern="0">
                <a:solidFill>
                  <a:srgbClr val="5A5F7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4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476500" y="7048500"/>
            <a:ext cx="14478000" cy="123825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l" indent="0" marL="0">
              <a:lnSpc>
                <a:spcPts val="2925"/>
              </a:lnSpc>
              <a:buNone/>
            </a:pPr>
            <a:r>
              <a:rPr lang="en-US" sz="225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Hai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2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250" dirty="0" spc="-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250" dirty="0" spc="1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2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thì</a:t>
            </a:r>
            <a:r>
              <a:rPr lang="en-US" sz="22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</a:t>
            </a:r>
            <a:r>
              <a:rPr lang="en-US" sz="2250" dirty="0" spc="-2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endParaRPr lang="en-US" sz="2250" dirty="0"/>
          </a:p>
        </p:txBody>
      </p:sp>
      <p:sp>
        <p:nvSpPr>
          <p:cNvPr id="16" name="Connector line-1792390487241-708997631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CFC7B4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A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5A5F7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08/09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d139e085-da3b-4259-91f6-9bb49561871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800" b="1" spc="20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066800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ctr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 cần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00150" y="3048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IDE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905250" y="2838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2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Integrated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</a:t>
            </a: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Environment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3905250" y="3143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Môi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9" name="Text 7"/>
          <p:cNvSpPr/>
          <p:nvPr/>
        </p:nvSpPr>
        <p:spPr>
          <a:xfrm>
            <a:off x="1200150" y="43815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2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HTTP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905250" y="41719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3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65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65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3905250" y="44767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2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siêu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endParaRPr lang="en-US" sz="2250" dirty="0"/>
          </a:p>
        </p:txBody>
      </p:sp>
      <p:sp>
        <p:nvSpPr>
          <p:cNvPr id="12" name="Shape 10"/>
          <p:cNvSpPr/>
          <p:nvPr/>
        </p:nvSpPr>
        <p:spPr>
          <a:xfrm>
            <a:off x="914400" y="5429250"/>
            <a:ext cx="16459200" cy="1143000"/>
          </a:xfrm>
          <a:prstGeom prst="roundRect">
            <a:avLst>
              <a:gd name="adj" fmla="val 23333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00150" y="5715000"/>
            <a:ext cx="2381250" cy="571500"/>
          </a:xfrm>
          <a:prstGeom prst="roundRect">
            <a:avLst>
              <a:gd name="adj" fmla="val 50000"/>
            </a:avLst>
          </a:prstGeom>
          <a:solidFill>
            <a:srgbClr val="F3EEE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25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TCP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3905250" y="5505450"/>
            <a:ext cx="13144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Transmission</a:t>
            </a:r>
            <a:r>
              <a:rPr lang="en-US" sz="165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Control</a:t>
            </a:r>
            <a:r>
              <a:rPr lang="en-US" sz="165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3905250" y="5810250"/>
            <a:ext cx="131445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17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khiển</a:t>
            </a:r>
            <a:r>
              <a:rPr lang="en-US" sz="22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914400" y="7239000"/>
            <a:ext cx="164592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7715250"/>
            <a:ext cx="16459200" cy="1238250"/>
          </a:xfrm>
          <a:prstGeom prst="rect">
            <a:avLst/>
          </a:prstGeom>
          <a:noFill/>
          <a:ln/>
        </p:spPr>
        <p:txBody>
          <a:bodyPr wrap="square" lIns="0" tIns="5001" rIns="0" bIns="-5001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</a:t>
            </a:r>
            <a:r>
              <a:rPr lang="en-US" sz="22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(bản</a:t>
            </a:r>
            <a:r>
              <a:rPr lang="en-US" sz="22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250" dirty="0" spc="1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định)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Microsoft:</a:t>
            </a:r>
            <a:r>
              <a:rPr lang="en-US" sz="22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N-tier,</a:t>
            </a:r>
            <a:r>
              <a:rPr lang="en-US" sz="22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Microservices,</a:t>
            </a:r>
            <a:r>
              <a:rPr lang="en-US" sz="2250" dirty="0" spc="-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Event-driven</a:t>
            </a:r>
            <a:r>
              <a:rPr lang="en-US" sz="2250" dirty="0" spc="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Python</a:t>
            </a:r>
            <a:r>
              <a:rPr lang="en-US" sz="225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Packaging:</a:t>
            </a:r>
            <a:r>
              <a:rPr lang="en-US" sz="22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plugins</a:t>
            </a:r>
            <a:endParaRPr lang="en-US" sz="2250" dirty="0"/>
          </a:p>
        </p:txBody>
      </p:sp>
      <p:sp>
        <p:nvSpPr>
          <p:cNvPr id="18" name="Connector line-1792390488124-929581476"/>
          <p:cNvSpPr/>
          <p:nvPr/>
        </p:nvSpPr>
        <p:spPr>
          <a:xfrm>
            <a:off x="990600" y="9486900"/>
            <a:ext cx="2590800" cy="0"/>
          </a:xfrm>
          <a:prstGeom prst="line">
            <a:avLst/>
          </a:prstGeom>
          <a:noFill/>
          <a:ln w="19050">
            <a:solidFill>
              <a:srgbClr val="2C3040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28" name="Text 26"/>
          <p:cNvSpPr/>
          <p:nvPr/>
        </p:nvSpPr>
        <p:spPr>
          <a:xfrm>
            <a:off x="914400" y="9715500"/>
            <a:ext cx="66675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</a:t>
            </a:r>
            <a:r>
              <a:rPr lang="en-US" sz="16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09/09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7485a3d1-2fbe-4a95-b282-e525a615196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2026-10-19T06:15:15Z</dcterms:created>
  <dcterms:modified xsi:type="dcterms:W3CDTF">2026-10-19T06:15:15Z</dcterms:modified>
</cp:coreProperties>
</file>