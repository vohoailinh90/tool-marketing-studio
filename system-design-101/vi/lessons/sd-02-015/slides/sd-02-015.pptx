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fals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8288000" cy="10287000"/>
  <p:notesSz cx="10287000" cy="18288000"/>
  <p:embeddedFontLst>
    <p:embeddedFont>
      <p:font typeface="Be Vietnam Pro"/>
      <p:regular r:id="rId19"/>
      <p:bold r:id="rId17"/>
    </p:embeddedFont>
    <p:embeddedFont>
      <p:font typeface="Bricolage Grotesque ExtraBold"/>
      <p:regular r:id="rId18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76300"/>
            <a:ext cx="9525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7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950" b="1" spc="29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950" b="1" spc="30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950" b="1" spc="29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29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950" b="1" spc="30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15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428750"/>
            <a:ext cx="8953500" cy="4000500"/>
          </a:xfrm>
          <a:prstGeom prst="rect">
            <a:avLst/>
          </a:prstGeom>
          <a:noFill/>
          <a:ln/>
        </p:spPr>
        <p:txBody>
          <a:bodyPr wrap="square" lIns="0" tIns="77152" rIns="0" bIns="-77152" rtlCol="0" anchor="t"/>
          <a:lstStyle/>
          <a:p>
            <a:pPr algn="l" indent="0" marL="0">
              <a:lnSpc>
                <a:spcPts val="8262"/>
              </a:lnSpc>
              <a:buNone/>
            </a:pPr>
            <a:r>
              <a:rPr lang="en-US" sz="81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Netflix:</a:t>
            </a:r>
            <a:r>
              <a:rPr lang="en-US" sz="81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sáu</a:t>
            </a:r>
            <a:r>
              <a:rPr lang="en-US" sz="8100" dirty="0" spc="-1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loại</a:t>
            </a:r>
            <a:r>
              <a:rPr lang="en-US" sz="81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cơ</a:t>
            </a:r>
            <a:r>
              <a:rPr lang="en-US" sz="81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sở</a:t>
            </a:r>
            <a:r>
              <a:rPr lang="en-US" sz="81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dữ</a:t>
            </a:r>
            <a:r>
              <a:rPr lang="en-US" sz="81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liệu</a:t>
            </a:r>
            <a:endParaRPr lang="en-US" sz="8100" dirty="0"/>
          </a:p>
        </p:txBody>
      </p:sp>
      <p:sp>
        <p:nvSpPr>
          <p:cNvPr id="4" name="Text 2"/>
          <p:cNvSpPr/>
          <p:nvPr/>
        </p:nvSpPr>
        <p:spPr>
          <a:xfrm>
            <a:off x="914400" y="5905500"/>
            <a:ext cx="8572500" cy="1143000"/>
          </a:xfrm>
          <a:prstGeom prst="rect">
            <a:avLst/>
          </a:prstGeom>
          <a:noFill/>
          <a:ln/>
        </p:spPr>
        <p:txBody>
          <a:bodyPr wrap="square" lIns="0" tIns="6667" rIns="0" bIns="-6667" rtlCol="0" anchor="t"/>
          <a:lstStyle/>
          <a:p>
            <a:pPr algn="l" indent="0" marL="0">
              <a:lnSpc>
                <a:spcPts val="4200"/>
              </a:lnSpc>
              <a:buNone/>
            </a:pPr>
            <a:r>
              <a:rPr lang="en-US" sz="3000" dirty="0" spc="7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Vì</a:t>
            </a:r>
            <a:r>
              <a:rPr lang="en-US" sz="3000" dirty="0" spc="-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sao</a:t>
            </a:r>
            <a:r>
              <a:rPr lang="en-US" sz="300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30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r>
              <a:rPr lang="en-US" sz="3000" dirty="0" spc="-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300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cái</a:t>
            </a:r>
            <a:r>
              <a:rPr lang="en-US" sz="30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3000" dirty="0" spc="-3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tất</a:t>
            </a:r>
            <a:r>
              <a:rPr lang="en-US" sz="300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cả?</a:t>
            </a:r>
            <a:endParaRPr lang="en-US" sz="3000" dirty="0"/>
          </a:p>
        </p:txBody>
      </p:sp>
      <p:sp>
        <p:nvSpPr>
          <p:cNvPr id="5" name="Connector line-1792377985825-279619983"/>
          <p:cNvSpPr/>
          <p:nvPr/>
        </p:nvSpPr>
        <p:spPr>
          <a:xfrm>
            <a:off x="914400" y="7239000"/>
            <a:ext cx="8610600" cy="0"/>
          </a:xfrm>
          <a:prstGeom prst="line">
            <a:avLst/>
          </a:prstGeom>
          <a:noFill/>
          <a:ln w="19050">
            <a:solidFill>
              <a:srgbClr val="2D3140"/>
            </a:solidFill>
            <a:prstDash val="solid"/>
            <a:headEnd type="none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914400" y="7524750"/>
            <a:ext cx="8572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Mỗi</a:t>
            </a:r>
            <a:r>
              <a:rPr lang="en-US" sz="2100" dirty="0" spc="-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loại</a:t>
            </a:r>
            <a:r>
              <a:rPr lang="en-US" sz="21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1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liệu,</a:t>
            </a:r>
            <a:r>
              <a:rPr lang="en-US" sz="2100" dirty="0" spc="-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100" dirty="0" spc="-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loại</a:t>
            </a:r>
            <a:r>
              <a:rPr lang="en-US" sz="21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kho.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914400" y="9620250"/>
            <a:ext cx="85725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system-design-101</a:t>
            </a:r>
            <a:r>
              <a:rPr lang="en-US" sz="165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nhóm Tình</a:t>
            </a:r>
            <a:r>
              <a:rPr lang="en-US" sz="16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huống</a:t>
            </a:r>
            <a:r>
              <a:rPr lang="en-US" sz="1650" dirty="0" spc="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thực</a:t>
            </a:r>
            <a:r>
              <a:rPr lang="en-US" sz="1650" dirty="0" spc="-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tế</a:t>
            </a:r>
            <a:endParaRPr lang="en-US" sz="1650" dirty="0"/>
          </a:p>
        </p:txBody>
      </p:sp>
      <p:sp>
        <p:nvSpPr>
          <p:cNvPr id="8" name="Shape 6"/>
          <p:cNvSpPr/>
          <p:nvPr/>
        </p:nvSpPr>
        <p:spPr>
          <a:xfrm>
            <a:off x="10477500" y="1428750"/>
            <a:ext cx="3333750" cy="2095500"/>
          </a:xfrm>
          <a:prstGeom prst="roundRect">
            <a:avLst>
              <a:gd name="adj" fmla="val 10909"/>
            </a:avLst>
          </a:prstGeom>
          <a:solidFill>
            <a:srgbClr val="1E212B"/>
          </a:solidFill>
          <a:ln w="28575">
            <a:solidFill>
              <a:srgbClr val="FF6A4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763250" y="2381250"/>
            <a:ext cx="276225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 spc="3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Quan</a:t>
            </a:r>
            <a:r>
              <a:rPr lang="en-US" sz="3000" dirty="0" spc="-2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hệ</a:t>
            </a:r>
            <a:endParaRPr lang="en-US" sz="3000" dirty="0"/>
          </a:p>
        </p:txBody>
      </p:sp>
      <p:sp>
        <p:nvSpPr>
          <p:cNvPr id="10" name="Shape 8"/>
          <p:cNvSpPr/>
          <p:nvPr/>
        </p:nvSpPr>
        <p:spPr>
          <a:xfrm>
            <a:off x="14039850" y="1428750"/>
            <a:ext cx="3333750" cy="2095500"/>
          </a:xfrm>
          <a:prstGeom prst="roundRect">
            <a:avLst>
              <a:gd name="adj" fmla="val 10909"/>
            </a:avLst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4325600" y="2381250"/>
            <a:ext cx="276225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 spc="-3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Cột</a:t>
            </a:r>
            <a:r>
              <a:rPr lang="en-US" sz="3000" dirty="0" spc="-8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rộng</a:t>
            </a:r>
            <a:endParaRPr lang="en-US" sz="3000" dirty="0"/>
          </a:p>
        </p:txBody>
      </p:sp>
      <p:sp>
        <p:nvSpPr>
          <p:cNvPr id="12" name="Shape 10"/>
          <p:cNvSpPr/>
          <p:nvPr/>
        </p:nvSpPr>
        <p:spPr>
          <a:xfrm>
            <a:off x="10477500" y="3752850"/>
            <a:ext cx="3333750" cy="2095500"/>
          </a:xfrm>
          <a:prstGeom prst="roundRect">
            <a:avLst>
              <a:gd name="adj" fmla="val 10909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763250" y="4705350"/>
            <a:ext cx="276225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 spc="-5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Khóa–giá</a:t>
            </a:r>
            <a:r>
              <a:rPr lang="en-US" sz="3000" dirty="0" spc="0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trị</a:t>
            </a:r>
            <a:endParaRPr lang="en-US" sz="3000" dirty="0"/>
          </a:p>
        </p:txBody>
      </p:sp>
      <p:sp>
        <p:nvSpPr>
          <p:cNvPr id="14" name="Shape 12"/>
          <p:cNvSpPr/>
          <p:nvPr/>
        </p:nvSpPr>
        <p:spPr>
          <a:xfrm>
            <a:off x="14039850" y="3752850"/>
            <a:ext cx="3333750" cy="2095500"/>
          </a:xfrm>
          <a:prstGeom prst="roundRect">
            <a:avLst>
              <a:gd name="adj" fmla="val 10909"/>
            </a:avLst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4325600" y="4705350"/>
            <a:ext cx="276225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 spc="-3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Cột</a:t>
            </a:r>
            <a:endParaRPr lang="en-US" sz="3000" dirty="0"/>
          </a:p>
        </p:txBody>
      </p:sp>
      <p:sp>
        <p:nvSpPr>
          <p:cNvPr id="16" name="Shape 14"/>
          <p:cNvSpPr/>
          <p:nvPr/>
        </p:nvSpPr>
        <p:spPr>
          <a:xfrm>
            <a:off x="10477500" y="6076950"/>
            <a:ext cx="3333750" cy="2095500"/>
          </a:xfrm>
          <a:prstGeom prst="roundRect">
            <a:avLst>
              <a:gd name="adj" fmla="val 10909"/>
            </a:avLst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763250" y="7029450"/>
            <a:ext cx="2762250" cy="1104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 spc="2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Chuỗi</a:t>
            </a:r>
            <a:r>
              <a:rPr lang="en-US" sz="3000" dirty="0" spc="-11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thời</a:t>
            </a:r>
            <a:r>
              <a:rPr lang="en-US" sz="3000" dirty="0" spc="0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gian</a:t>
            </a:r>
            <a:endParaRPr lang="en-US" sz="3000" dirty="0"/>
          </a:p>
        </p:txBody>
      </p:sp>
      <p:sp>
        <p:nvSpPr>
          <p:cNvPr id="18" name="Shape 16"/>
          <p:cNvSpPr/>
          <p:nvPr/>
        </p:nvSpPr>
        <p:spPr>
          <a:xfrm>
            <a:off x="14039850" y="6076950"/>
            <a:ext cx="3333750" cy="2095500"/>
          </a:xfrm>
          <a:prstGeom prst="roundRect">
            <a:avLst>
              <a:gd name="adj" fmla="val 10909"/>
            </a:avLst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4325600" y="7029450"/>
            <a:ext cx="276225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83" dirty="0" spc="0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Kho</a:t>
            </a:r>
            <a:r>
              <a:rPr lang="en-US" sz="2783" dirty="0" spc="9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đối</a:t>
            </a:r>
            <a:r>
              <a:rPr lang="en-US" sz="2783" dirty="0" spc="-28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tượng</a:t>
            </a:r>
            <a:endParaRPr lang="en-US" sz="2783" dirty="0"/>
          </a:p>
        </p:txBody>
      </p:sp>
      <p:sp>
        <p:nvSpPr>
          <p:cNvPr id="20" name="Shape 18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1" name="Moda image moda-export-watermark-288f495d-615a-4dfa-8272-69d4d846ccfe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76300"/>
            <a:ext cx="11430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2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TÌNH</a:t>
            </a:r>
            <a:r>
              <a:rPr lang="en-US" sz="1950" b="1" spc="301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HUỐNG</a:t>
            </a:r>
            <a:r>
              <a:rPr lang="en-US" sz="1950" b="1" spc="249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950" b="1" spc="298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MỤC</a:t>
            </a:r>
            <a:r>
              <a:rPr lang="en-US" sz="1950" b="1" spc="300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TIÊU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905000"/>
            <a:ext cx="15240000" cy="2857500"/>
          </a:xfrm>
          <a:prstGeom prst="rect">
            <a:avLst/>
          </a:prstGeom>
          <a:noFill/>
          <a:ln/>
        </p:spPr>
        <p:txBody>
          <a:bodyPr wrap="square" lIns="0" tIns="61913" rIns="0" bIns="-61913" rtlCol="0" anchor="t"/>
          <a:lstStyle/>
          <a:p>
            <a:pPr algn="l" indent="0" marL="0">
              <a:lnSpc>
                <a:spcPts val="7950"/>
              </a:lnSpc>
              <a:buNone/>
            </a:pPr>
            <a:r>
              <a:rPr lang="en-US" sz="75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Không có</a:t>
            </a:r>
            <a:r>
              <a:rPr lang="en-US" sz="7500" dirty="0" spc="-1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một</a:t>
            </a:r>
            <a:r>
              <a:rPr lang="en-US" sz="75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cơ sở</a:t>
            </a:r>
            <a:r>
              <a:rPr lang="en-US" sz="75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dữ</a:t>
            </a:r>
            <a:r>
              <a:rPr lang="en-US" sz="7500" dirty="0" spc="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liệu</a:t>
            </a:r>
            <a:r>
              <a:rPr lang="en-US" sz="75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cho</a:t>
            </a:r>
            <a:r>
              <a:rPr lang="en-US" sz="7500" dirty="0" spc="-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tất</a:t>
            </a:r>
            <a:r>
              <a:rPr lang="en-US" sz="75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cả.</a:t>
            </a:r>
            <a:endParaRPr lang="en-US" sz="7500" dirty="0"/>
          </a:p>
        </p:txBody>
      </p:sp>
      <p:sp>
        <p:nvSpPr>
          <p:cNvPr id="4" name="Shape 2"/>
          <p:cNvSpPr/>
          <p:nvPr/>
        </p:nvSpPr>
        <p:spPr>
          <a:xfrm>
            <a:off x="914400" y="5334000"/>
            <a:ext cx="114300" cy="1809750"/>
          </a:xfrm>
          <a:prstGeom prst="roundRect">
            <a:avLst>
              <a:gd name="adj" fmla="val 50000"/>
            </a:avLst>
          </a:prstGeom>
          <a:solidFill>
            <a:srgbClr val="E8472B"/>
          </a:solidFill>
          <a:ln/>
        </p:spPr>
      </p:sp>
      <p:sp>
        <p:nvSpPr>
          <p:cNvPr id="5" name="Text richtext-1792377986990-584040483"/>
          <p:cNvSpPr/>
          <p:nvPr/>
        </p:nvSpPr>
        <p:spPr>
          <a:xfrm>
            <a:off x="1333500" y="5334000"/>
            <a:ext cx="14287500" cy="1905000"/>
          </a:xfrm>
          <a:prstGeom prst="rect">
            <a:avLst/>
          </a:prstGeom>
          <a:noFill/>
          <a:ln/>
        </p:spPr>
        <p:txBody>
          <a:bodyPr wrap="square" lIns="0" tIns="1794" rIns="0" bIns="-1794" rtlCol="0" anchor="t"/>
          <a:lstStyle/>
          <a:p>
            <a:pPr algn="l" marL="361950" indent="-258592">
              <a:lnSpc>
                <a:spcPts val="4133"/>
              </a:lnSpc>
              <a:buSzPct val="100000"/>
              <a:buFont typeface="Arial"/>
              <a:buChar char="•"/>
            </a:pPr>
            <a:r>
              <a:rPr lang="en-US" sz="2850" dirty="0" spc="-2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Netflix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chọn</a:t>
            </a:r>
            <a:r>
              <a:rPr lang="en-US" sz="28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loại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8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liệu.</a:t>
            </a:r>
            <a:endParaRPr lang="en-US" sz="2850" dirty="0"/>
          </a:p>
          <a:p>
            <a:pPr algn="l" marL="361950" indent="-258592">
              <a:lnSpc>
                <a:spcPts val="4133"/>
              </a:lnSpc>
              <a:buSzPct val="100000"/>
              <a:buFont typeface="Arial"/>
              <a:buChar char="•"/>
            </a:pP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Tiền, phim,</a:t>
            </a:r>
            <a:r>
              <a:rPr lang="en-US" sz="285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r>
              <a:rPr lang="en-US" sz="2850" dirty="0" spc="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đệm,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phân tích,</a:t>
            </a:r>
            <a:r>
              <a:rPr lang="en-US" sz="285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</a:t>
            </a:r>
            <a:r>
              <a:rPr lang="en-US" sz="2850" dirty="0" spc="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đo,</a:t>
            </a:r>
            <a:r>
              <a:rPr lang="en-US" sz="285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tệp.</a:t>
            </a:r>
            <a:endParaRPr lang="en-US" sz="2850" dirty="0"/>
          </a:p>
          <a:p>
            <a:pPr algn="l" marL="361950" indent="-258592">
              <a:lnSpc>
                <a:spcPts val="4133"/>
              </a:lnSpc>
              <a:buSzPct val="100000"/>
              <a:buFont typeface="Arial"/>
              <a:buChar char="•"/>
            </a:pP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Mỗi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loại</a:t>
            </a:r>
            <a:r>
              <a:rPr lang="en-US" sz="2850" dirty="0" spc="-2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28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r>
              <a:rPr lang="en-US" sz="2850" dirty="0" spc="-2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tốt</a:t>
            </a:r>
            <a:r>
              <a:rPr lang="en-US" sz="285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câu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hỏi.</a:t>
            </a:r>
            <a:endParaRPr lang="en-US" sz="2850" dirty="0"/>
          </a:p>
        </p:txBody>
      </p:sp>
      <p:sp>
        <p:nvSpPr>
          <p:cNvPr id="6" name="Shape 4"/>
          <p:cNvSpPr/>
          <p:nvPr/>
        </p:nvSpPr>
        <p:spPr>
          <a:xfrm>
            <a:off x="9144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257300" y="9353550"/>
            <a:ext cx="152400" cy="1524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6002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9431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2860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6289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9718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3147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0005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9677400"/>
            <a:ext cx="76200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15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02/10</a:t>
            </a:r>
            <a:endParaRPr lang="en-US" sz="1650" dirty="0"/>
          </a:p>
        </p:txBody>
      </p:sp>
      <p:sp>
        <p:nvSpPr>
          <p:cNvPr id="17" name="Shape 1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8" name="Moda image moda-export-watermark-21a737fa-71f4-44bd-9bd3-fc2935ef447c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76300"/>
            <a:ext cx="11430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60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LOẠI</a:t>
            </a:r>
            <a:r>
              <a:rPr lang="en-US" sz="1950" b="1" spc="301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</a:t>
            </a:r>
            <a:r>
              <a:rPr lang="en-US" sz="1950" b="1" spc="297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290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QUAN</a:t>
            </a:r>
            <a:r>
              <a:rPr lang="en-US" sz="1950" b="1" spc="299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HỆ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9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MySQL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giữ</a:t>
            </a:r>
            <a:r>
              <a:rPr lang="en-US" sz="6900" dirty="0" spc="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tiền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857500"/>
            <a:ext cx="5334000" cy="2190750"/>
          </a:xfrm>
          <a:prstGeom prst="roundRect">
            <a:avLst>
              <a:gd name="adj" fmla="val 12174"/>
            </a:avLst>
          </a:prstGeom>
          <a:solidFill>
            <a:srgbClr val="E8472B"/>
          </a:solidFill>
          <a:ln/>
        </p:spPr>
      </p:sp>
      <p:sp>
        <p:nvSpPr>
          <p:cNvPr id="5" name="Text 3"/>
          <p:cNvSpPr/>
          <p:nvPr/>
        </p:nvSpPr>
        <p:spPr>
          <a:xfrm>
            <a:off x="1295400" y="3143250"/>
            <a:ext cx="45720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17" kern="0" dirty="0">
                <a:solidFill>
                  <a:srgbClr val="F8D9D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MYSQL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295400" y="371475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Thanh</a:t>
            </a:r>
            <a:r>
              <a:rPr lang="en-US" sz="4200" dirty="0" spc="-2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toán</a:t>
            </a:r>
            <a:endParaRPr lang="en-US" sz="4200" dirty="0"/>
          </a:p>
        </p:txBody>
      </p:sp>
      <p:sp>
        <p:nvSpPr>
          <p:cNvPr id="7" name="Shape 5"/>
          <p:cNvSpPr/>
          <p:nvPr/>
        </p:nvSpPr>
        <p:spPr>
          <a:xfrm>
            <a:off x="6553200" y="2857500"/>
            <a:ext cx="5334000" cy="2190750"/>
          </a:xfrm>
          <a:prstGeom prst="roundRect">
            <a:avLst>
              <a:gd name="adj" fmla="val 12174"/>
            </a:avLst>
          </a:prstGeom>
          <a:solidFill>
            <a:srgbClr val="F8D9D0"/>
          </a:solidFill>
          <a:ln/>
        </p:spPr>
      </p:sp>
      <p:sp>
        <p:nvSpPr>
          <p:cNvPr id="8" name="Text 6"/>
          <p:cNvSpPr/>
          <p:nvPr/>
        </p:nvSpPr>
        <p:spPr>
          <a:xfrm>
            <a:off x="6934200" y="3143250"/>
            <a:ext cx="45720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17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MYSQL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934200" y="371475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Gói</a:t>
            </a:r>
            <a:r>
              <a:rPr lang="en-US" sz="4200" dirty="0" spc="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đăng</a:t>
            </a:r>
            <a:r>
              <a:rPr lang="en-US" sz="42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ký</a:t>
            </a:r>
            <a:endParaRPr lang="en-US" sz="4200" dirty="0"/>
          </a:p>
        </p:txBody>
      </p:sp>
      <p:sp>
        <p:nvSpPr>
          <p:cNvPr id="10" name="Shape 8"/>
          <p:cNvSpPr/>
          <p:nvPr/>
        </p:nvSpPr>
        <p:spPr>
          <a:xfrm>
            <a:off x="914400" y="5314950"/>
            <a:ext cx="5334000" cy="2190750"/>
          </a:xfrm>
          <a:prstGeom prst="roundRect">
            <a:avLst>
              <a:gd name="adj" fmla="val 12174"/>
            </a:avLst>
          </a:prstGeom>
          <a:solidFill>
            <a:srgbClr val="F8D9D0"/>
          </a:solidFill>
          <a:ln/>
        </p:spPr>
      </p:sp>
      <p:sp>
        <p:nvSpPr>
          <p:cNvPr id="11" name="Text 9"/>
          <p:cNvSpPr/>
          <p:nvPr/>
        </p:nvSpPr>
        <p:spPr>
          <a:xfrm>
            <a:off x="1295400" y="5600700"/>
            <a:ext cx="45720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17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MYSQL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295400" y="617220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Thuế</a:t>
            </a:r>
            <a:endParaRPr lang="en-US" sz="4200" dirty="0"/>
          </a:p>
        </p:txBody>
      </p:sp>
      <p:sp>
        <p:nvSpPr>
          <p:cNvPr id="13" name="Shape 11"/>
          <p:cNvSpPr/>
          <p:nvPr/>
        </p:nvSpPr>
        <p:spPr>
          <a:xfrm>
            <a:off x="6553200" y="5314950"/>
            <a:ext cx="5334000" cy="2190750"/>
          </a:xfrm>
          <a:prstGeom prst="roundRect">
            <a:avLst>
              <a:gd name="adj" fmla="val 12174"/>
            </a:avLst>
          </a:prstGeom>
          <a:solidFill>
            <a:srgbClr val="E8472B"/>
          </a:solidFill>
          <a:ln/>
        </p:spPr>
      </p:sp>
      <p:sp>
        <p:nvSpPr>
          <p:cNvPr id="14" name="Text 12"/>
          <p:cNvSpPr/>
          <p:nvPr/>
        </p:nvSpPr>
        <p:spPr>
          <a:xfrm>
            <a:off x="6934200" y="5600700"/>
            <a:ext cx="45720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17" kern="0" dirty="0">
                <a:solidFill>
                  <a:srgbClr val="F8D9D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MYSQL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934200" y="617220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dirty="0" spc="-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Doanh</a:t>
            </a:r>
            <a:r>
              <a:rPr lang="en-US" sz="42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thu</a:t>
            </a:r>
            <a:endParaRPr lang="en-US" sz="4200" dirty="0"/>
          </a:p>
        </p:txBody>
      </p:sp>
      <p:sp>
        <p:nvSpPr>
          <p:cNvPr id="16" name="Shape 14"/>
          <p:cNvSpPr/>
          <p:nvPr/>
        </p:nvSpPr>
        <p:spPr>
          <a:xfrm>
            <a:off x="12382500" y="2857500"/>
            <a:ext cx="4991100" cy="4648200"/>
          </a:xfrm>
          <a:prstGeom prst="roundRect">
            <a:avLst>
              <a:gd name="adj" fmla="val 5738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763500" y="3200400"/>
            <a:ext cx="428625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155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VÀ</a:t>
            </a:r>
            <a:r>
              <a:rPr lang="en-US" sz="1800" b="1" spc="211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COCKROACHDB</a:t>
            </a:r>
            <a:endParaRPr lang="en-US" sz="1800" dirty="0"/>
          </a:p>
        </p:txBody>
      </p:sp>
      <p:sp>
        <p:nvSpPr>
          <p:cNvPr id="18" name="Text richtext-1792377987964-870798677"/>
          <p:cNvSpPr/>
          <p:nvPr/>
        </p:nvSpPr>
        <p:spPr>
          <a:xfrm>
            <a:off x="12763500" y="3714750"/>
            <a:ext cx="4286250" cy="3619500"/>
          </a:xfrm>
          <a:prstGeom prst="rect">
            <a:avLst/>
          </a:prstGeom>
          <a:noFill/>
          <a:ln/>
        </p:spPr>
        <p:txBody>
          <a:bodyPr wrap="square" lIns="0" tIns="1603" rIns="0" bIns="-1603" rtlCol="0" anchor="t"/>
          <a:lstStyle/>
          <a:p>
            <a:pPr algn="l" marL="323850" indent="-231371">
              <a:lnSpc>
                <a:spcPts val="3698"/>
              </a:lnSpc>
              <a:buSzPct val="100000"/>
              <a:buFont typeface="Arial"/>
              <a:buChar char="•"/>
            </a:pPr>
            <a:r>
              <a:rPr lang="en-US" sz="25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Nhiều</a:t>
            </a: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vùng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cùng</a:t>
            </a:r>
            <a:r>
              <a:rPr lang="en-US" sz="255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hoạt</a:t>
            </a:r>
            <a:r>
              <a:rPr lang="en-US" sz="2550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động.</a:t>
            </a:r>
            <a:endParaRPr lang="en-US" sz="2550" dirty="0"/>
          </a:p>
          <a:p>
            <a:pPr algn="l" marL="323850" indent="-231371">
              <a:lnSpc>
                <a:spcPts val="3698"/>
              </a:lnSpc>
              <a:buSzPct val="100000"/>
              <a:buFont typeface="Arial"/>
              <a:buChar char="•"/>
            </a:pP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Giao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dịch</a:t>
            </a:r>
            <a:r>
              <a:rPr lang="en-US" sz="255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toàn</a:t>
            </a:r>
            <a:r>
              <a:rPr lang="en-US" sz="25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cầu.</a:t>
            </a:r>
            <a:endParaRPr lang="en-US" sz="2550" dirty="0"/>
          </a:p>
          <a:p>
            <a:pPr algn="l" marL="323850" indent="-231371">
              <a:lnSpc>
                <a:spcPts val="3698"/>
              </a:lnSpc>
              <a:buSzPct val="100000"/>
              <a:buFont typeface="Arial"/>
              <a:buChar char="•"/>
            </a:pP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Quy</a:t>
            </a:r>
            <a:r>
              <a:rPr lang="en-US" sz="2550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</a:t>
            </a:r>
            <a:r>
              <a:rPr lang="en-US" sz="2550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đường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ống</a:t>
            </a:r>
            <a:r>
              <a:rPr lang="en-US" sz="25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5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liệu.</a:t>
            </a:r>
            <a:endParaRPr lang="en-US" sz="2550" dirty="0"/>
          </a:p>
        </p:txBody>
      </p:sp>
      <p:sp>
        <p:nvSpPr>
          <p:cNvPr id="19" name="Text 17"/>
          <p:cNvSpPr/>
          <p:nvPr/>
        </p:nvSpPr>
        <p:spPr>
          <a:xfrm>
            <a:off x="914400" y="8001000"/>
            <a:ext cx="16459200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Bốn</a:t>
            </a:r>
            <a:r>
              <a:rPr lang="en-US" sz="22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</a:t>
            </a:r>
            <a:r>
              <a:rPr lang="en-US" sz="22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250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MySQL,</a:t>
            </a:r>
            <a:r>
              <a:rPr lang="en-US" sz="22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225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22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nguồn.</a:t>
            </a:r>
            <a:endParaRPr lang="en-US" sz="2250" dirty="0"/>
          </a:p>
        </p:txBody>
      </p:sp>
      <p:sp>
        <p:nvSpPr>
          <p:cNvPr id="20" name="Shape 18"/>
          <p:cNvSpPr/>
          <p:nvPr/>
        </p:nvSpPr>
        <p:spPr>
          <a:xfrm>
            <a:off x="9144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2573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600200" y="9353550"/>
            <a:ext cx="152400" cy="1524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9431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2860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6289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9718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3147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6576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0005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14400" y="9677400"/>
            <a:ext cx="76200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15 ·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03/10</a:t>
            </a:r>
            <a:endParaRPr lang="en-US" sz="1650" dirty="0"/>
          </a:p>
        </p:txBody>
      </p:sp>
      <p:sp>
        <p:nvSpPr>
          <p:cNvPr id="31" name="Shape 29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2" name="Moda image moda-export-watermark-a957f236-5e5d-4d93-87ce-3dcae07109cc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76300"/>
            <a:ext cx="11430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60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LOẠI</a:t>
            </a:r>
            <a:r>
              <a:rPr lang="en-US" sz="1950" b="1" spc="297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 ·</a:t>
            </a:r>
            <a:r>
              <a:rPr lang="en-US" sz="1950" b="1" spc="277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CỘT</a:t>
            </a:r>
            <a:r>
              <a:rPr lang="en-US" sz="1950" b="1" spc="288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RỘNG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600" dirty="0" spc="-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Cassandra:</a:t>
            </a:r>
            <a:r>
              <a:rPr lang="en-US" sz="6600" dirty="0" spc="-5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lựa</a:t>
            </a:r>
            <a:r>
              <a:rPr lang="en-US" sz="66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chọn</a:t>
            </a:r>
            <a:r>
              <a:rPr lang="en-US" sz="66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mặc</a:t>
            </a:r>
            <a:r>
              <a:rPr lang="en-US" sz="6600" dirty="0" spc="1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định</a:t>
            </a:r>
            <a:endParaRPr lang="en-US" sz="6600" dirty="0"/>
          </a:p>
        </p:txBody>
      </p:sp>
      <p:sp>
        <p:nvSpPr>
          <p:cNvPr id="4" name="Shape 2"/>
          <p:cNvSpPr/>
          <p:nvPr/>
        </p:nvSpPr>
        <p:spPr>
          <a:xfrm>
            <a:off x="914400" y="3048000"/>
            <a:ext cx="3886200" cy="3810000"/>
          </a:xfrm>
          <a:prstGeom prst="roundRect">
            <a:avLst>
              <a:gd name="adj" fmla="val 7000"/>
            </a:avLst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95400" y="3390900"/>
            <a:ext cx="3143250" cy="1038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dirty="0" spc="-14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01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1295400" y="4476750"/>
            <a:ext cx="3143250" cy="1905000"/>
          </a:xfrm>
          <a:prstGeom prst="rect">
            <a:avLst/>
          </a:prstGeom>
          <a:noFill/>
          <a:ln/>
        </p:spPr>
        <p:txBody>
          <a:bodyPr wrap="square" lIns="0" tIns="20955" rIns="0" bIns="-20955" rtlCol="0" anchor="t"/>
          <a:lstStyle/>
          <a:p>
            <a:pPr algn="l" indent="0" marL="0">
              <a:lnSpc>
                <a:spcPts val="3630"/>
              </a:lnSpc>
              <a:buNone/>
            </a:pPr>
            <a:r>
              <a:rPr lang="en-US" sz="33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Phim</a:t>
            </a:r>
            <a:r>
              <a:rPr lang="en-US" sz="3300" dirty="0" spc="-3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33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diễn viên</a:t>
            </a:r>
            <a:endParaRPr lang="en-US" sz="3300" dirty="0"/>
          </a:p>
        </p:txBody>
      </p:sp>
      <p:sp>
        <p:nvSpPr>
          <p:cNvPr id="7" name="Shape 5"/>
          <p:cNvSpPr/>
          <p:nvPr/>
        </p:nvSpPr>
        <p:spPr>
          <a:xfrm>
            <a:off x="5105400" y="3048000"/>
            <a:ext cx="3886200" cy="3810000"/>
          </a:xfrm>
          <a:prstGeom prst="roundRect">
            <a:avLst>
              <a:gd name="adj" fmla="val 7000"/>
            </a:avLst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0" y="3390900"/>
            <a:ext cx="3143250" cy="1038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dirty="0" spc="-7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02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5486400" y="4476750"/>
            <a:ext cx="3143250" cy="1905000"/>
          </a:xfrm>
          <a:prstGeom prst="rect">
            <a:avLst/>
          </a:prstGeom>
          <a:noFill/>
          <a:ln/>
        </p:spPr>
        <p:txBody>
          <a:bodyPr wrap="square" lIns="0" tIns="20955" rIns="0" bIns="-20955" rtlCol="0" anchor="t"/>
          <a:lstStyle/>
          <a:p>
            <a:pPr algn="l" indent="0" marL="0">
              <a:lnSpc>
                <a:spcPts val="3630"/>
              </a:lnSpc>
              <a:buNone/>
            </a:pPr>
            <a:r>
              <a:rPr lang="en-US" sz="33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Dữ</a:t>
            </a:r>
            <a:r>
              <a:rPr lang="en-US" sz="33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liệu</a:t>
            </a:r>
            <a:r>
              <a:rPr lang="en-US" sz="3300" dirty="0" spc="-3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người</a:t>
            </a:r>
            <a:r>
              <a:rPr lang="en-US" sz="33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dùng</a:t>
            </a:r>
            <a:endParaRPr lang="en-US" sz="3300" dirty="0"/>
          </a:p>
        </p:txBody>
      </p:sp>
      <p:sp>
        <p:nvSpPr>
          <p:cNvPr id="10" name="Shape 8"/>
          <p:cNvSpPr/>
          <p:nvPr/>
        </p:nvSpPr>
        <p:spPr>
          <a:xfrm>
            <a:off x="9296400" y="3048000"/>
            <a:ext cx="3886200" cy="3810000"/>
          </a:xfrm>
          <a:prstGeom prst="roundRect">
            <a:avLst>
              <a:gd name="adj" fmla="val 7000"/>
            </a:avLst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77400" y="3390900"/>
            <a:ext cx="3143250" cy="1038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dirty="0" spc="-9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03</a:t>
            </a:r>
            <a:endParaRPr lang="en-US" sz="4800" dirty="0"/>
          </a:p>
        </p:txBody>
      </p:sp>
      <p:sp>
        <p:nvSpPr>
          <p:cNvPr id="12" name="Text 10"/>
          <p:cNvSpPr/>
          <p:nvPr/>
        </p:nvSpPr>
        <p:spPr>
          <a:xfrm>
            <a:off x="9677400" y="4476750"/>
            <a:ext cx="3143250" cy="1905000"/>
          </a:xfrm>
          <a:prstGeom prst="rect">
            <a:avLst/>
          </a:prstGeom>
          <a:noFill/>
          <a:ln/>
        </p:spPr>
        <p:txBody>
          <a:bodyPr wrap="square" lIns="0" tIns="20955" rIns="0" bIns="-20955" rtlCol="0" anchor="t"/>
          <a:lstStyle/>
          <a:p>
            <a:pPr algn="l" indent="0" marL="0">
              <a:lnSpc>
                <a:spcPts val="3630"/>
              </a:lnSpc>
              <a:buNone/>
            </a:pPr>
            <a:r>
              <a:rPr lang="en-US" sz="33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Thông</a:t>
            </a:r>
            <a:r>
              <a:rPr lang="en-US" sz="33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tin thiết</a:t>
            </a:r>
            <a:r>
              <a:rPr lang="en-US" sz="33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bị</a:t>
            </a:r>
            <a:endParaRPr lang="en-US" sz="3300" dirty="0"/>
          </a:p>
        </p:txBody>
      </p:sp>
      <p:sp>
        <p:nvSpPr>
          <p:cNvPr id="13" name="Shape 11"/>
          <p:cNvSpPr/>
          <p:nvPr/>
        </p:nvSpPr>
        <p:spPr>
          <a:xfrm>
            <a:off x="13487400" y="3048000"/>
            <a:ext cx="3886200" cy="3810000"/>
          </a:xfrm>
          <a:prstGeom prst="roundRect">
            <a:avLst>
              <a:gd name="adj" fmla="val 7000"/>
            </a:avLst>
          </a:prstGeom>
          <a:solidFill>
            <a:srgbClr val="7C93FF"/>
          </a:solidFill>
          <a:ln/>
        </p:spPr>
      </p:sp>
      <p:sp>
        <p:nvSpPr>
          <p:cNvPr id="14" name="Text 12"/>
          <p:cNvSpPr/>
          <p:nvPr/>
        </p:nvSpPr>
        <p:spPr>
          <a:xfrm>
            <a:off x="13868400" y="3390900"/>
            <a:ext cx="3143250" cy="1038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04</a:t>
            </a:r>
            <a:endParaRPr lang="en-US" sz="4800" dirty="0"/>
          </a:p>
        </p:txBody>
      </p:sp>
      <p:sp>
        <p:nvSpPr>
          <p:cNvPr id="15" name="Text 13"/>
          <p:cNvSpPr/>
          <p:nvPr/>
        </p:nvSpPr>
        <p:spPr>
          <a:xfrm>
            <a:off x="13868400" y="4476750"/>
            <a:ext cx="3143250" cy="1905000"/>
          </a:xfrm>
          <a:prstGeom prst="rect">
            <a:avLst/>
          </a:prstGeom>
          <a:noFill/>
          <a:ln/>
        </p:spPr>
        <p:txBody>
          <a:bodyPr wrap="square" lIns="0" tIns="20955" rIns="0" bIns="-20955" rtlCol="0" anchor="t"/>
          <a:lstStyle/>
          <a:p>
            <a:pPr algn="l" indent="0" marL="0">
              <a:lnSpc>
                <a:spcPts val="3630"/>
              </a:lnSpc>
              <a:buNone/>
            </a:pPr>
            <a:r>
              <a:rPr lang="en-US" sz="33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Lịch</a:t>
            </a:r>
            <a:r>
              <a:rPr lang="en-US" sz="33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sử</a:t>
            </a:r>
            <a:r>
              <a:rPr lang="en-US" sz="3300" dirty="0" spc="-3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xem</a:t>
            </a:r>
            <a:endParaRPr lang="en-US" sz="3300" dirty="0"/>
          </a:p>
        </p:txBody>
      </p:sp>
      <p:sp>
        <p:nvSpPr>
          <p:cNvPr id="16" name="Text 14"/>
          <p:cNvSpPr/>
          <p:nvPr/>
        </p:nvSpPr>
        <p:spPr>
          <a:xfrm>
            <a:off x="914400" y="7524750"/>
            <a:ext cx="16459200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-5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Theo</a:t>
            </a:r>
            <a:r>
              <a:rPr lang="en-US" sz="2250" dirty="0" spc="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nguồn,</a:t>
            </a:r>
            <a:r>
              <a:rPr lang="en-US" sz="2250" dirty="0" spc="-14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Netflix</a:t>
            </a:r>
            <a:r>
              <a:rPr lang="en-US" sz="2250" dirty="0" spc="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r>
              <a:rPr lang="en-US" sz="2250" dirty="0" spc="-1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Cassandra</a:t>
            </a:r>
            <a:r>
              <a:rPr lang="en-US" sz="2250" dirty="0" spc="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2250" dirty="0" spc="-1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gần</a:t>
            </a:r>
            <a:r>
              <a:rPr lang="en-US" sz="2250" dirty="0" spc="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như</a:t>
            </a:r>
            <a:r>
              <a:rPr lang="en-US" sz="2250" dirty="0" spc="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mọi</a:t>
            </a:r>
            <a:r>
              <a:rPr lang="en-US" sz="2250" dirty="0" spc="3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thứ.</a:t>
            </a:r>
            <a:endParaRPr lang="en-US" sz="2250" dirty="0"/>
          </a:p>
        </p:txBody>
      </p:sp>
      <p:sp>
        <p:nvSpPr>
          <p:cNvPr id="17" name="Shape 15"/>
          <p:cNvSpPr/>
          <p:nvPr/>
        </p:nvSpPr>
        <p:spPr>
          <a:xfrm>
            <a:off x="9144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2573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6002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943100" y="9353550"/>
            <a:ext cx="152400" cy="1524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286000" y="9353550"/>
            <a:ext cx="152400" cy="15240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628900" y="9353550"/>
            <a:ext cx="152400" cy="15240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971800" y="9353550"/>
            <a:ext cx="152400" cy="15240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314700" y="9353550"/>
            <a:ext cx="152400" cy="15240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657600" y="9353550"/>
            <a:ext cx="152400" cy="15240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000500" y="9353550"/>
            <a:ext cx="152400" cy="15240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4400" y="9677400"/>
            <a:ext cx="76200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15 · 04/10</a:t>
            </a:r>
            <a:endParaRPr lang="en-US" sz="1650" dirty="0"/>
          </a:p>
        </p:txBody>
      </p:sp>
      <p:sp>
        <p:nvSpPr>
          <p:cNvPr id="28" name="Shape 26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9" name="Moda image moda-export-watermark-1b8a2ad4-98ba-4428-ba28-e440b126679a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76300"/>
            <a:ext cx="13335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60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LOẠI</a:t>
            </a:r>
            <a:r>
              <a:rPr lang="en-US" sz="1950" b="1" spc="300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</a:t>
            </a:r>
            <a:r>
              <a:rPr lang="en-US" sz="1950" b="1" spc="297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292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KHÓA–GIÁ</a:t>
            </a:r>
            <a:r>
              <a:rPr lang="en-US" sz="1950" b="1" spc="300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TRỊ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428750"/>
            <a:ext cx="7239000" cy="4000500"/>
          </a:xfrm>
          <a:prstGeom prst="rect">
            <a:avLst/>
          </a:prstGeom>
          <a:noFill/>
          <a:ln/>
        </p:spPr>
        <p:txBody>
          <a:bodyPr wrap="square" lIns="0" tIns="228600" rIns="0" bIns="-228600" rtlCol="0" anchor="t"/>
          <a:lstStyle/>
          <a:p>
            <a:pPr algn="l" indent="0" marL="0">
              <a:lnSpc>
                <a:spcPts val="22500"/>
              </a:lnSpc>
              <a:buNone/>
            </a:pPr>
            <a:r>
              <a:rPr lang="en-US" sz="22500" dirty="0" spc="-90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10+</a:t>
            </a:r>
            <a:endParaRPr lang="en-US" sz="22500" dirty="0"/>
          </a:p>
        </p:txBody>
      </p:sp>
      <p:sp>
        <p:nvSpPr>
          <p:cNvPr id="4" name="Text 2"/>
          <p:cNvSpPr/>
          <p:nvPr/>
        </p:nvSpPr>
        <p:spPr>
          <a:xfrm>
            <a:off x="914400" y="4572000"/>
            <a:ext cx="7239000" cy="1143000"/>
          </a:xfrm>
          <a:prstGeom prst="rect">
            <a:avLst/>
          </a:prstGeom>
          <a:noFill/>
          <a:ln/>
        </p:spPr>
        <p:txBody>
          <a:bodyPr wrap="square" lIns="0" tIns="28575" rIns="0" bIns="-28575" rtlCol="0" anchor="t"/>
          <a:lstStyle/>
          <a:p>
            <a:pPr algn="l" indent="0" marL="0">
              <a:lnSpc>
                <a:spcPts val="4950"/>
              </a:lnSpc>
              <a:buNone/>
            </a:pPr>
            <a:r>
              <a:rPr lang="en-US" sz="45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năm</a:t>
            </a:r>
            <a:r>
              <a:rPr lang="en-US" sz="4500" dirty="0" spc="-1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EVCache</a:t>
            </a:r>
            <a:r>
              <a:rPr lang="en-US" sz="45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ở</a:t>
            </a:r>
            <a:r>
              <a:rPr lang="en-US" sz="45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Netflix</a:t>
            </a:r>
            <a:endParaRPr lang="en-US" sz="4500" dirty="0"/>
          </a:p>
        </p:txBody>
      </p:sp>
      <p:sp>
        <p:nvSpPr>
          <p:cNvPr id="5" name="Shape 3"/>
          <p:cNvSpPr/>
          <p:nvPr/>
        </p:nvSpPr>
        <p:spPr>
          <a:xfrm>
            <a:off x="9144000" y="1905000"/>
            <a:ext cx="8229600" cy="5334000"/>
          </a:xfrm>
          <a:prstGeom prst="roundRect">
            <a:avLst>
              <a:gd name="adj" fmla="val 5000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525000" y="2247900"/>
            <a:ext cx="74295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04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EVCACHE</a:t>
            </a:r>
            <a:endParaRPr lang="en-US" sz="1800" dirty="0"/>
          </a:p>
        </p:txBody>
      </p:sp>
      <p:sp>
        <p:nvSpPr>
          <p:cNvPr id="7" name="Text richtext-1792377991209-654124743"/>
          <p:cNvSpPr/>
          <p:nvPr/>
        </p:nvSpPr>
        <p:spPr>
          <a:xfrm>
            <a:off x="9525000" y="2762250"/>
            <a:ext cx="7429500" cy="4191000"/>
          </a:xfrm>
          <a:prstGeom prst="rect">
            <a:avLst/>
          </a:prstGeom>
          <a:noFill/>
          <a:ln/>
        </p:spPr>
        <p:txBody>
          <a:bodyPr wrap="square" lIns="0" tIns="-2715" rIns="0" bIns="2715" rtlCol="0" anchor="t"/>
          <a:lstStyle/>
          <a:p>
            <a:pPr algn="l" marL="361950" indent="-258592">
              <a:lnSpc>
                <a:spcPts val="4275"/>
              </a:lnSpc>
              <a:buSzPct val="100000"/>
              <a:buFont typeface="Arial"/>
              <a:buChar char="•"/>
            </a:pPr>
            <a:r>
              <a:rPr lang="en-US" sz="2850" dirty="0" spc="2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Dựng</a:t>
            </a:r>
            <a:r>
              <a:rPr lang="en-US" sz="2850" dirty="0" spc="-2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28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Memcached.</a:t>
            </a:r>
            <a:endParaRPr lang="en-US" sz="2850" dirty="0"/>
          </a:p>
          <a:p>
            <a:pPr algn="l" marL="361950" indent="-258592">
              <a:lnSpc>
                <a:spcPts val="4275"/>
              </a:lnSpc>
              <a:buSzPct val="100000"/>
              <a:buFont typeface="Arial"/>
              <a:buChar char="•"/>
            </a:pPr>
            <a:r>
              <a:rPr lang="en-US" sz="28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Dùng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 hầu</a:t>
            </a:r>
            <a:r>
              <a:rPr lang="en-US" sz="285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hết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dịch</a:t>
            </a:r>
            <a:r>
              <a:rPr lang="en-US" sz="28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vụ.</a:t>
            </a:r>
            <a:endParaRPr lang="en-US" sz="2850" dirty="0"/>
          </a:p>
          <a:p>
            <a:pPr algn="l" marL="361950" indent="-258592">
              <a:lnSpc>
                <a:spcPts val="4275"/>
              </a:lnSpc>
              <a:buSzPct val="100000"/>
              <a:buFont typeface="Arial"/>
              <a:buChar char="•"/>
            </a:pPr>
            <a:r>
              <a:rPr lang="en-US" sz="285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Đệm</a:t>
            </a:r>
            <a:r>
              <a:rPr lang="en-US" sz="2850" dirty="0" spc="-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trang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chủ,</a:t>
            </a:r>
            <a:r>
              <a:rPr lang="en-US" sz="2850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gợi</a:t>
            </a:r>
            <a:r>
              <a:rPr lang="en-US" sz="28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ý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nhân.</a:t>
            </a:r>
            <a:endParaRPr lang="en-US" sz="2850" dirty="0"/>
          </a:p>
        </p:txBody>
      </p:sp>
      <p:sp>
        <p:nvSpPr>
          <p:cNvPr id="8" name="Shape 6"/>
          <p:cNvSpPr/>
          <p:nvPr/>
        </p:nvSpPr>
        <p:spPr>
          <a:xfrm>
            <a:off x="9144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2573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6002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9431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286000" y="9353550"/>
            <a:ext cx="152400" cy="1524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6289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9718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3147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576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0005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" y="9677400"/>
            <a:ext cx="76200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15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05/10</a:t>
            </a:r>
            <a:endParaRPr lang="en-US" sz="1650" dirty="0"/>
          </a:p>
        </p:txBody>
      </p:sp>
      <p:sp>
        <p:nvSpPr>
          <p:cNvPr id="19" name="Shape 17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0" name="Moda image moda-export-watermark-1c4b6389-8d01-4404-a1d4-74c42595749e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76300"/>
            <a:ext cx="11430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60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LOẠI</a:t>
            </a:r>
            <a:r>
              <a:rPr lang="en-US" sz="1950" b="1" spc="301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4–6</a:t>
            </a:r>
            <a:r>
              <a:rPr lang="en-US" sz="1950" b="1" spc="296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300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PHÂN TÍCH,</a:t>
            </a:r>
            <a:r>
              <a:rPr lang="en-US" sz="1950" b="1" spc="308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</a:t>
            </a:r>
            <a:r>
              <a:rPr lang="en-US" sz="1950" b="1" spc="301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ĐO,</a:t>
            </a:r>
            <a:r>
              <a:rPr lang="en-US" sz="1950" b="1" spc="299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TỆP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90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Ba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kho</a:t>
            </a: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cho</a:t>
            </a:r>
            <a:r>
              <a:rPr lang="en-US" sz="69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phân</a:t>
            </a: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tích,</a:t>
            </a:r>
            <a:r>
              <a:rPr lang="en-US" sz="69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số</a:t>
            </a:r>
            <a:r>
              <a:rPr lang="en-US" sz="6900" dirty="0" spc="1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đo</a:t>
            </a:r>
            <a:r>
              <a:rPr lang="en-US" sz="6900" dirty="0" spc="-7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6900" dirty="0" spc="-2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tệp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952750"/>
            <a:ext cx="16459200" cy="1619250"/>
          </a:xfrm>
          <a:prstGeom prst="roundRect">
            <a:avLst>
              <a:gd name="adj" fmla="val 14118"/>
            </a:avLst>
          </a:prstGeom>
          <a:solidFill>
            <a:srgbClr val="CFE8E2"/>
          </a:solidFill>
          <a:ln/>
        </p:spPr>
      </p:sp>
      <p:sp>
        <p:nvSpPr>
          <p:cNvPr id="5" name="Text 3"/>
          <p:cNvSpPr/>
          <p:nvPr/>
        </p:nvSpPr>
        <p:spPr>
          <a:xfrm>
            <a:off x="1295400" y="3181350"/>
            <a:ext cx="47625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199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CỘT</a:t>
            </a:r>
            <a:r>
              <a:rPr lang="en-US" sz="1800" b="1" spc="225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 PHÂN</a:t>
            </a:r>
            <a:r>
              <a:rPr lang="en-US" sz="1800" b="1" spc="226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TÍCH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295400" y="3619500"/>
            <a:ext cx="15621000" cy="781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Redshift,</a:t>
            </a:r>
            <a:r>
              <a:rPr lang="en-US" sz="3600" dirty="0" spc="1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Druid;</a:t>
            </a:r>
            <a:r>
              <a:rPr lang="en-US" sz="36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xử</a:t>
            </a:r>
            <a:r>
              <a:rPr lang="en-US" sz="3600" dirty="0" spc="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lý</a:t>
            </a:r>
            <a:r>
              <a:rPr lang="en-US" sz="36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bằng</a:t>
            </a:r>
            <a:r>
              <a:rPr lang="en-US" sz="3600" dirty="0" spc="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Spark,</a:t>
            </a:r>
            <a:r>
              <a:rPr lang="en-US" sz="3600" dirty="0" spc="-3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vẽ</a:t>
            </a:r>
            <a:r>
              <a:rPr lang="en-US" sz="36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bằng</a:t>
            </a:r>
            <a:r>
              <a:rPr lang="en-US" sz="3600" dirty="0" spc="-2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Tableau</a:t>
            </a:r>
            <a:endParaRPr lang="en-US" sz="3600" dirty="0"/>
          </a:p>
        </p:txBody>
      </p:sp>
      <p:sp>
        <p:nvSpPr>
          <p:cNvPr id="7" name="Shape 5"/>
          <p:cNvSpPr/>
          <p:nvPr/>
        </p:nvSpPr>
        <p:spPr>
          <a:xfrm>
            <a:off x="914400" y="4762500"/>
            <a:ext cx="16459200" cy="1619250"/>
          </a:xfrm>
          <a:prstGeom prst="roundRect">
            <a:avLst>
              <a:gd name="adj" fmla="val 14118"/>
            </a:avLst>
          </a:prstGeom>
          <a:solidFill>
            <a:srgbClr val="0F766E"/>
          </a:solidFill>
          <a:ln/>
        </p:spPr>
      </p:sp>
      <p:sp>
        <p:nvSpPr>
          <p:cNvPr id="8" name="Text 6"/>
          <p:cNvSpPr/>
          <p:nvPr/>
        </p:nvSpPr>
        <p:spPr>
          <a:xfrm>
            <a:off x="1295400" y="4991100"/>
            <a:ext cx="47625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7" kern="0" dirty="0">
                <a:solidFill>
                  <a:srgbClr val="CFE8E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CHUỖI</a:t>
            </a:r>
            <a:r>
              <a:rPr lang="en-US" sz="1800" b="1" spc="226" kern="0" dirty="0">
                <a:solidFill>
                  <a:srgbClr val="CFE8E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THỜI</a:t>
            </a:r>
            <a:r>
              <a:rPr lang="en-US" sz="1800" b="1" spc="223" kern="0" dirty="0">
                <a:solidFill>
                  <a:srgbClr val="CFE8E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GIAN</a:t>
            </a:r>
            <a:r>
              <a:rPr lang="en-US" sz="1800" b="1" spc="226" kern="0" dirty="0">
                <a:solidFill>
                  <a:srgbClr val="CFE8E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233" kern="0" dirty="0">
                <a:solidFill>
                  <a:srgbClr val="CFE8E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</a:t>
            </a:r>
            <a:r>
              <a:rPr lang="en-US" sz="1800" b="1" spc="226" kern="0" dirty="0">
                <a:solidFill>
                  <a:srgbClr val="CFE8E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295400" y="5429250"/>
            <a:ext cx="15621000" cy="781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 spc="-2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Atlas,</a:t>
            </a:r>
            <a:r>
              <a:rPr lang="en-US" sz="36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Netflix tự</a:t>
            </a:r>
            <a:r>
              <a:rPr lang="en-US" sz="36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làm,</a:t>
            </a:r>
            <a:r>
              <a:rPr lang="en-US" sz="36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mã</a:t>
            </a:r>
            <a:r>
              <a:rPr lang="en-US" sz="36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nguồn</a:t>
            </a:r>
            <a:r>
              <a:rPr lang="en-US" sz="36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mở</a:t>
            </a:r>
            <a:endParaRPr lang="en-US" sz="3600" dirty="0"/>
          </a:p>
        </p:txBody>
      </p:sp>
      <p:sp>
        <p:nvSpPr>
          <p:cNvPr id="10" name="Shape 8"/>
          <p:cNvSpPr/>
          <p:nvPr/>
        </p:nvSpPr>
        <p:spPr>
          <a:xfrm>
            <a:off x="914400" y="6572250"/>
            <a:ext cx="16459200" cy="1619250"/>
          </a:xfrm>
          <a:prstGeom prst="roundRect">
            <a:avLst>
              <a:gd name="adj" fmla="val 14118"/>
            </a:avLst>
          </a:prstGeom>
          <a:solidFill>
            <a:srgbClr val="FBF8F2"/>
          </a:solidFill>
          <a:ln w="28575">
            <a:solidFill>
              <a:srgbClr val="0F766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95400" y="6800850"/>
            <a:ext cx="47625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8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KHO</a:t>
            </a:r>
            <a:r>
              <a:rPr lang="en-US" sz="1800" b="1" spc="225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ĐỐI TƯỢNG</a:t>
            </a:r>
            <a:r>
              <a:rPr lang="en-US" sz="1800" b="1" spc="227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224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TỆP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295400" y="7239000"/>
            <a:ext cx="15621000" cy="781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 spc="2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S3</a:t>
            </a:r>
            <a:r>
              <a:rPr lang="en-US" sz="36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cho</a:t>
            </a:r>
            <a:r>
              <a:rPr lang="en-US" sz="36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ảnh,</a:t>
            </a:r>
            <a:r>
              <a:rPr lang="en-US" sz="3600" dirty="0" spc="-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video,</a:t>
            </a:r>
            <a:r>
              <a:rPr lang="en-US" sz="36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nhật</a:t>
            </a:r>
            <a:r>
              <a:rPr lang="en-US" sz="3600" dirty="0" spc="1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ký;</a:t>
            </a:r>
            <a:r>
              <a:rPr lang="en-US" sz="3600" dirty="0" spc="-2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kèm</a:t>
            </a:r>
            <a:r>
              <a:rPr lang="en-US" sz="36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Apache</a:t>
            </a:r>
            <a:r>
              <a:rPr lang="en-US" sz="36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Iceberg</a:t>
            </a:r>
            <a:endParaRPr lang="en-US" sz="3600" dirty="0"/>
          </a:p>
        </p:txBody>
      </p:sp>
      <p:sp>
        <p:nvSpPr>
          <p:cNvPr id="13" name="Shape 11"/>
          <p:cNvSpPr/>
          <p:nvPr/>
        </p:nvSpPr>
        <p:spPr>
          <a:xfrm>
            <a:off x="9144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2573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6002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9431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2860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628900" y="9353550"/>
            <a:ext cx="152400" cy="1524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9718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3147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6576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0005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4400" y="9677400"/>
            <a:ext cx="76200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15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06/10</a:t>
            </a:r>
            <a:endParaRPr lang="en-US" sz="1650" dirty="0"/>
          </a:p>
        </p:txBody>
      </p:sp>
      <p:sp>
        <p:nvSpPr>
          <p:cNvPr id="24" name="Shape 22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5" name="Moda image moda-export-watermark-0b9042fb-d0d2-4d6e-ab61-896b89dd704a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76300"/>
            <a:ext cx="11430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3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GIỚI</a:t>
            </a:r>
            <a:r>
              <a:rPr lang="en-US" sz="1950" b="1" spc="29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</a:t>
            </a:r>
            <a:r>
              <a:rPr lang="en-US" sz="1950" b="1" spc="27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195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600" dirty="0" spc="-1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Danh</a:t>
            </a:r>
            <a:r>
              <a:rPr lang="en-US" sz="66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sách</a:t>
            </a:r>
            <a:r>
              <a:rPr lang="en-US" sz="6600" dirty="0" spc="-4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chưa</a:t>
            </a:r>
            <a:r>
              <a:rPr lang="en-US" sz="66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phải</a:t>
            </a:r>
            <a:r>
              <a:rPr lang="en-US" sz="66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kiến</a:t>
            </a:r>
            <a:r>
              <a:rPr lang="en-US" sz="6600" dirty="0" spc="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trúc</a:t>
            </a:r>
            <a:endParaRPr lang="en-US" sz="6600" dirty="0"/>
          </a:p>
        </p:txBody>
      </p:sp>
      <p:sp>
        <p:nvSpPr>
          <p:cNvPr id="4" name="Shape 2"/>
          <p:cNvSpPr/>
          <p:nvPr/>
        </p:nvSpPr>
        <p:spPr>
          <a:xfrm>
            <a:off x="914400" y="2857500"/>
            <a:ext cx="16459200" cy="1428750"/>
          </a:xfrm>
          <a:prstGeom prst="roundRect">
            <a:avLst>
              <a:gd name="adj" fmla="val 16000"/>
            </a:avLst>
          </a:prstGeom>
          <a:solidFill>
            <a:srgbClr val="1E212B"/>
          </a:solidFill>
          <a:ln/>
        </p:spPr>
      </p:sp>
      <p:sp>
        <p:nvSpPr>
          <p:cNvPr id="5" name="Text 3"/>
          <p:cNvSpPr/>
          <p:nvPr/>
        </p:nvSpPr>
        <p:spPr>
          <a:xfrm>
            <a:off x="1295400" y="3105150"/>
            <a:ext cx="952500" cy="1038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dirty="0" spc="1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2438400" y="3333750"/>
            <a:ext cx="144780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270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nói</a:t>
            </a:r>
            <a:r>
              <a:rPr lang="en-US" sz="27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năm,</a:t>
            </a:r>
            <a:r>
              <a:rPr lang="en-US" sz="270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 nói</a:t>
            </a:r>
            <a:r>
              <a:rPr lang="en-US" sz="27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quy</a:t>
            </a:r>
            <a:r>
              <a:rPr lang="en-US" sz="270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mô.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914400" y="4476750"/>
            <a:ext cx="16459200" cy="1428750"/>
          </a:xfrm>
          <a:prstGeom prst="roundRect">
            <a:avLst>
              <a:gd name="adj" fmla="val 16000"/>
            </a:avLst>
          </a:prstGeom>
          <a:solidFill>
            <a:srgbClr val="1E212B"/>
          </a:solidFill>
          <a:ln/>
        </p:spPr>
      </p:sp>
      <p:sp>
        <p:nvSpPr>
          <p:cNvPr id="8" name="Text 6"/>
          <p:cNvSpPr/>
          <p:nvPr/>
        </p:nvSpPr>
        <p:spPr>
          <a:xfrm>
            <a:off x="1295400" y="4724400"/>
            <a:ext cx="952500" cy="1038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dirty="0" spc="-5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2438400" y="4953000"/>
            <a:ext cx="144780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270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nói dữ</a:t>
            </a:r>
            <a:r>
              <a:rPr lang="en-US" sz="27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700" dirty="0" spc="-8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chảy</a:t>
            </a:r>
            <a:r>
              <a:rPr lang="en-US" sz="2700" dirty="0" spc="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giữa</a:t>
            </a:r>
            <a:r>
              <a:rPr lang="en-US" sz="270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</a:t>
            </a:r>
            <a:r>
              <a:rPr lang="en-US" sz="270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kho</a:t>
            </a:r>
            <a:r>
              <a:rPr lang="en-US" sz="2700" dirty="0" spc="-3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</a:t>
            </a:r>
            <a:r>
              <a:rPr lang="en-US" sz="2700" dirty="0" spc="-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sao.</a:t>
            </a:r>
            <a:endParaRPr lang="en-US" sz="2700" dirty="0"/>
          </a:p>
        </p:txBody>
      </p:sp>
      <p:sp>
        <p:nvSpPr>
          <p:cNvPr id="10" name="Shape 8"/>
          <p:cNvSpPr/>
          <p:nvPr/>
        </p:nvSpPr>
        <p:spPr>
          <a:xfrm>
            <a:off x="914400" y="6096000"/>
            <a:ext cx="16459200" cy="1428750"/>
          </a:xfrm>
          <a:prstGeom prst="roundRect">
            <a:avLst>
              <a:gd name="adj" fmla="val 16000"/>
            </a:avLst>
          </a:prstGeom>
          <a:solidFill>
            <a:srgbClr val="1E212B"/>
          </a:solidFill>
          <a:ln/>
        </p:spPr>
      </p:sp>
      <p:sp>
        <p:nvSpPr>
          <p:cNvPr id="11" name="Text 9"/>
          <p:cNvSpPr/>
          <p:nvPr/>
        </p:nvSpPr>
        <p:spPr>
          <a:xfrm>
            <a:off x="1295400" y="6343650"/>
            <a:ext cx="952500" cy="1038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dirty="0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</a:t>
            </a:r>
            <a:endParaRPr lang="en-US" sz="4800" dirty="0"/>
          </a:p>
        </p:txBody>
      </p:sp>
      <p:sp>
        <p:nvSpPr>
          <p:cNvPr id="12" name="Text 10"/>
          <p:cNvSpPr/>
          <p:nvPr/>
        </p:nvSpPr>
        <p:spPr>
          <a:xfrm>
            <a:off x="2438400" y="6572250"/>
            <a:ext cx="144780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Spark,</a:t>
            </a:r>
            <a:r>
              <a:rPr lang="en-US" sz="2700" dirty="0" spc="-3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Tableau</a:t>
            </a:r>
            <a:r>
              <a:rPr lang="en-US" sz="27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 công</a:t>
            </a:r>
            <a:r>
              <a:rPr lang="en-US" sz="27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cụ,</a:t>
            </a:r>
            <a:r>
              <a:rPr lang="en-US" sz="270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 phải</a:t>
            </a:r>
            <a:r>
              <a:rPr lang="en-US" sz="27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cơ</a:t>
            </a:r>
            <a:r>
              <a:rPr lang="en-US" sz="2700" dirty="0" spc="-1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sở</a:t>
            </a:r>
            <a:r>
              <a:rPr lang="en-US" sz="270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7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liệu.</a:t>
            </a:r>
            <a:endParaRPr lang="en-US" sz="2700" dirty="0"/>
          </a:p>
        </p:txBody>
      </p:sp>
      <p:sp>
        <p:nvSpPr>
          <p:cNvPr id="13" name="Text 11"/>
          <p:cNvSpPr/>
          <p:nvPr/>
        </p:nvSpPr>
        <p:spPr>
          <a:xfrm>
            <a:off x="914400" y="8001000"/>
            <a:ext cx="1645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Bài</a:t>
            </a:r>
            <a:r>
              <a:rPr lang="en-US" sz="21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r>
              <a:rPr lang="en-US" sz="21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100" dirty="0" spc="-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liệt</a:t>
            </a:r>
            <a:r>
              <a:rPr lang="en-US" sz="2100" dirty="0" spc="-3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kê</a:t>
            </a:r>
            <a:r>
              <a:rPr lang="en-US" sz="2100" dirty="0" spc="-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loại</a:t>
            </a:r>
            <a:r>
              <a:rPr lang="en-US" sz="2100" dirty="0" spc="-1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100" dirty="0" spc="-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tên.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9144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2573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6002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9431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2860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6289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971800" y="9353550"/>
            <a:ext cx="152400" cy="1524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314700" y="9353550"/>
            <a:ext cx="152400" cy="15240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657600" y="9353550"/>
            <a:ext cx="152400" cy="15240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000500" y="9353550"/>
            <a:ext cx="152400" cy="15240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4400" y="9677400"/>
            <a:ext cx="76200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15 ·</a:t>
            </a:r>
            <a:r>
              <a:rPr lang="en-US" sz="1650" dirty="0" spc="-1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07/10</a:t>
            </a:r>
            <a:endParaRPr lang="en-US" sz="1650" dirty="0"/>
          </a:p>
        </p:txBody>
      </p:sp>
      <p:sp>
        <p:nvSpPr>
          <p:cNvPr id="25" name="Shape 23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6" name="Moda image moda-export-watermark-58e70c2f-ad69-423c-9f8a-b28ccdf35ba9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76300"/>
            <a:ext cx="11430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1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NHÌN</a:t>
            </a:r>
            <a:r>
              <a:rPr lang="en-US" sz="1950" b="1" spc="302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1950" b="1" spc="299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1950" b="1" spc="280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428750"/>
          </a:xfrm>
          <a:prstGeom prst="rect">
            <a:avLst/>
          </a:prstGeom>
          <a:noFill/>
          <a:ln/>
        </p:spPr>
        <p:txBody>
          <a:bodyPr wrap="square" lIns="0" tIns="14288" rIns="0" bIns="-14288" rtlCol="0" anchor="t"/>
          <a:lstStyle/>
          <a:p>
            <a:pPr algn="l" indent="0" marL="0">
              <a:lnSpc>
                <a:spcPts val="5175"/>
              </a:lnSpc>
              <a:buNone/>
            </a:pPr>
            <a:r>
              <a:rPr lang="en-US" sz="4500" dirty="0" spc="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Tiền</a:t>
            </a:r>
            <a:r>
              <a:rPr lang="en-US" sz="45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mỗi</a:t>
            </a:r>
            <a:r>
              <a:rPr lang="en-US" sz="4500" dirty="0" spc="1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tháng,</a:t>
            </a:r>
            <a:r>
              <a:rPr lang="en-US" sz="45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không</a:t>
            </a:r>
            <a:r>
              <a:rPr lang="en-US" sz="4500" dirty="0" spc="-5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được</a:t>
            </a:r>
            <a:r>
              <a:rPr lang="en-US" sz="45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ghi</a:t>
            </a:r>
            <a:r>
              <a:rPr lang="en-US" sz="45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sai</a:t>
            </a:r>
            <a:r>
              <a:rPr lang="en-US" sz="4500" dirty="0" spc="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hay</a:t>
            </a:r>
            <a:r>
              <a:rPr lang="en-US" sz="45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ghi</a:t>
            </a:r>
            <a:r>
              <a:rPr lang="en-US" sz="4500" dirty="0" spc="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đôi.</a:t>
            </a:r>
            <a:r>
              <a:rPr lang="en-US" sz="45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Để</a:t>
            </a:r>
            <a:r>
              <a:rPr lang="en-US" sz="4500" dirty="0" spc="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đâu?</a:t>
            </a:r>
            <a:endParaRPr lang="en-US" sz="4500" dirty="0"/>
          </a:p>
        </p:txBody>
      </p:sp>
      <p:sp>
        <p:nvSpPr>
          <p:cNvPr id="4" name="Shape 2"/>
          <p:cNvSpPr/>
          <p:nvPr/>
        </p:nvSpPr>
        <p:spPr>
          <a:xfrm>
            <a:off x="914400" y="3238500"/>
            <a:ext cx="8001000" cy="4000500"/>
          </a:xfrm>
          <a:prstGeom prst="roundRect">
            <a:avLst>
              <a:gd name="adj" fmla="val 7619"/>
            </a:avLst>
          </a:prstGeom>
          <a:solidFill>
            <a:srgbClr val="E8472B"/>
          </a:solidFill>
          <a:ln/>
        </p:spPr>
      </p:sp>
      <p:sp>
        <p:nvSpPr>
          <p:cNvPr id="5" name="Text 3"/>
          <p:cNvSpPr/>
          <p:nvPr/>
        </p:nvSpPr>
        <p:spPr>
          <a:xfrm>
            <a:off x="1371600" y="3619500"/>
            <a:ext cx="7239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134" kern="0" dirty="0">
                <a:solidFill>
                  <a:srgbClr val="F8D9D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ĐẶT</a:t>
            </a:r>
            <a:r>
              <a:rPr lang="en-US" sz="1950" b="1" spc="225" kern="0" dirty="0">
                <a:solidFill>
                  <a:srgbClr val="F8D9D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1371600" y="4191000"/>
            <a:ext cx="7086600" cy="2667000"/>
          </a:xfrm>
          <a:prstGeom prst="rect">
            <a:avLst/>
          </a:prstGeom>
          <a:noFill/>
          <a:ln/>
        </p:spPr>
        <p:txBody>
          <a:bodyPr wrap="square" lIns="0" tIns="26670" rIns="0" bIns="-26670" rtlCol="0" anchor="t"/>
          <a:lstStyle/>
          <a:p>
            <a:pPr algn="l" indent="0" marL="0">
              <a:lnSpc>
                <a:spcPts val="4620"/>
              </a:lnSpc>
              <a:buNone/>
            </a:pPr>
            <a:r>
              <a:rPr lang="en-US" sz="4200" dirty="0" spc="1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MySQL,</a:t>
            </a:r>
            <a:r>
              <a:rPr lang="en-US" sz="42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cơ</a:t>
            </a:r>
            <a:r>
              <a:rPr lang="en-US" sz="42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sở</a:t>
            </a:r>
            <a:r>
              <a:rPr lang="en-US" sz="42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dữ</a:t>
            </a:r>
            <a:r>
              <a:rPr lang="en-US" sz="42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liệu</a:t>
            </a:r>
            <a:r>
              <a:rPr lang="en-US" sz="42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quan</a:t>
            </a:r>
            <a:r>
              <a:rPr lang="en-US" sz="42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hệ</a:t>
            </a:r>
            <a:endParaRPr lang="en-US" sz="4200" dirty="0"/>
          </a:p>
        </p:txBody>
      </p:sp>
      <p:sp>
        <p:nvSpPr>
          <p:cNvPr id="7" name="Shape 5"/>
          <p:cNvSpPr/>
          <p:nvPr/>
        </p:nvSpPr>
        <p:spPr>
          <a:xfrm>
            <a:off x="9372600" y="3238500"/>
            <a:ext cx="8001000" cy="4000500"/>
          </a:xfrm>
          <a:prstGeom prst="roundRect">
            <a:avLst>
              <a:gd name="adj" fmla="val 7619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829800" y="3619500"/>
            <a:ext cx="7239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9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VÌ</a:t>
            </a:r>
            <a:r>
              <a:rPr lang="en-US" sz="1950" b="1" spc="196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SAO</a:t>
            </a:r>
            <a:endParaRPr lang="en-US" sz="1950" dirty="0"/>
          </a:p>
        </p:txBody>
      </p:sp>
      <p:sp>
        <p:nvSpPr>
          <p:cNvPr id="9" name="Text richtext-1792378046361-226637391"/>
          <p:cNvSpPr/>
          <p:nvPr/>
        </p:nvSpPr>
        <p:spPr>
          <a:xfrm>
            <a:off x="9829800" y="4191000"/>
            <a:ext cx="7086600" cy="2667000"/>
          </a:xfrm>
          <a:prstGeom prst="rect">
            <a:avLst/>
          </a:prstGeom>
          <a:noFill/>
          <a:ln/>
        </p:spPr>
        <p:txBody>
          <a:bodyPr wrap="square" lIns="0" tIns="1794" rIns="0" bIns="-1794" rtlCol="0" anchor="t"/>
          <a:lstStyle/>
          <a:p>
            <a:pPr algn="l" marL="361950" indent="-258592">
              <a:lnSpc>
                <a:spcPts val="4133"/>
              </a:lnSpc>
              <a:buSzPct val="100000"/>
              <a:buFont typeface="Arial"/>
              <a:buChar char="•"/>
            </a:pP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Giao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dịch: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ghi</a:t>
            </a:r>
            <a:r>
              <a:rPr lang="en-US" sz="2850" dirty="0" spc="-2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trọn</a:t>
            </a:r>
            <a:r>
              <a:rPr lang="en-US" sz="2850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vẹn,</a:t>
            </a:r>
            <a:r>
              <a:rPr lang="en-US" sz="28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hoặc</a:t>
            </a:r>
            <a:r>
              <a:rPr lang="en-US" sz="28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850" dirty="0" spc="-2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xảy</a:t>
            </a:r>
            <a:r>
              <a:rPr lang="en-US" sz="2850" dirty="0" spc="-2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ra.</a:t>
            </a:r>
            <a:endParaRPr lang="en-US" sz="2850" dirty="0"/>
          </a:p>
          <a:p>
            <a:pPr algn="l" marL="361950" indent="-258592">
              <a:lnSpc>
                <a:spcPts val="4133"/>
              </a:lnSpc>
              <a:buSzPct val="100000"/>
              <a:buFont typeface="Arial"/>
              <a:buChar char="•"/>
            </a:pPr>
            <a:r>
              <a:rPr lang="en-US" sz="285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Chống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ghi</a:t>
            </a:r>
            <a:r>
              <a:rPr lang="en-US" sz="2850" dirty="0" spc="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đôi: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thêm</a:t>
            </a:r>
            <a:r>
              <a:rPr lang="en-US" sz="28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</a:t>
            </a:r>
            <a:r>
              <a:rPr lang="en-US" sz="28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chống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trùng.</a:t>
            </a:r>
            <a:endParaRPr lang="en-US" sz="2850" dirty="0"/>
          </a:p>
        </p:txBody>
      </p:sp>
      <p:sp>
        <p:nvSpPr>
          <p:cNvPr id="10" name="Text 8"/>
          <p:cNvSpPr/>
          <p:nvPr/>
        </p:nvSpPr>
        <p:spPr>
          <a:xfrm>
            <a:off x="914400" y="7810500"/>
            <a:ext cx="1645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Bài</a:t>
            </a:r>
            <a:r>
              <a:rPr lang="en-US" sz="21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nguồn:</a:t>
            </a:r>
            <a:r>
              <a:rPr lang="en-US" sz="21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thanh</a:t>
            </a:r>
            <a:r>
              <a:rPr lang="en-US" sz="2100" dirty="0" spc="-1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toán,</a:t>
            </a:r>
            <a:r>
              <a:rPr lang="en-US" sz="210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gói</a:t>
            </a:r>
            <a:r>
              <a:rPr lang="en-US" sz="2100" dirty="0" spc="8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đăng</a:t>
            </a:r>
            <a:r>
              <a:rPr lang="en-US" sz="21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ký, thuế,</a:t>
            </a:r>
            <a:r>
              <a:rPr lang="en-US" sz="2100" dirty="0" spc="-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doanh</a:t>
            </a:r>
            <a:r>
              <a:rPr lang="en-US" sz="21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</a:t>
            </a:r>
            <a:r>
              <a:rPr lang="en-US" sz="21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nằm</a:t>
            </a:r>
            <a:r>
              <a:rPr lang="en-US" sz="2100" dirty="0" spc="-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21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MySQL.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9144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2573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6002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9431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2860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6289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9718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314700" y="9353550"/>
            <a:ext cx="152400" cy="1524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6576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0005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0" y="9677400"/>
            <a:ext cx="76200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15 · 08/10</a:t>
            </a:r>
            <a:endParaRPr lang="en-US" sz="1650" dirty="0"/>
          </a:p>
        </p:txBody>
      </p:sp>
      <p:sp>
        <p:nvSpPr>
          <p:cNvPr id="22" name="Shape 20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3" name="Moda image moda-export-watermark-07338fc5-cc37-41e2-9184-25d91f1873d5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76300"/>
            <a:ext cx="11430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9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XEM</a:t>
            </a:r>
            <a:r>
              <a:rPr lang="en-US" sz="1950" b="1" spc="28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SÂU</a:t>
            </a:r>
            <a:r>
              <a:rPr lang="en-US" sz="195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HƠN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6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Mỗi</a:t>
            </a:r>
            <a:r>
              <a:rPr lang="en-US" sz="6600" dirty="0" spc="-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loại</a:t>
            </a:r>
            <a:r>
              <a:rPr lang="en-US" sz="6600" dirty="0" spc="-2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trả</a:t>
            </a:r>
            <a:r>
              <a:rPr lang="en-US" sz="6600" dirty="0" spc="-3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lời tốt</a:t>
            </a:r>
            <a:r>
              <a:rPr lang="en-US" sz="6600" dirty="0" spc="-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một</a:t>
            </a:r>
            <a:r>
              <a:rPr lang="en-US" sz="66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câu</a:t>
            </a:r>
            <a:endParaRPr lang="en-US" sz="6600" dirty="0"/>
          </a:p>
        </p:txBody>
      </p:sp>
      <p:sp>
        <p:nvSpPr>
          <p:cNvPr id="4" name="Shape 2"/>
          <p:cNvSpPr/>
          <p:nvPr/>
        </p:nvSpPr>
        <p:spPr>
          <a:xfrm>
            <a:off x="914400" y="2857500"/>
            <a:ext cx="5219700" cy="2286000"/>
          </a:xfrm>
          <a:prstGeom prst="roundRect">
            <a:avLst>
              <a:gd name="adj" fmla="val 10000"/>
            </a:avLst>
          </a:prstGeom>
          <a:solidFill>
            <a:srgbClr val="1E212B"/>
          </a:solidFill>
          <a:ln w="28575">
            <a:solidFill>
              <a:srgbClr val="FF6A4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95400" y="3105150"/>
            <a:ext cx="447675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14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QUAN</a:t>
            </a:r>
            <a:r>
              <a:rPr lang="en-US" sz="1800" b="1" spc="227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HỆ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295400" y="3581400"/>
            <a:ext cx="4476750" cy="1333500"/>
          </a:xfrm>
          <a:prstGeom prst="rect">
            <a:avLst/>
          </a:prstGeom>
          <a:noFill/>
          <a:ln/>
        </p:spPr>
        <p:txBody>
          <a:bodyPr wrap="square" lIns="0" tIns="9700" rIns="0" bIns="-9700" rtlCol="0" anchor="t"/>
          <a:lstStyle/>
          <a:p>
            <a:pPr algn="l" indent="0" marL="0">
              <a:lnSpc>
                <a:spcPts val="3443"/>
              </a:lnSpc>
              <a:buNone/>
            </a:pPr>
            <a:r>
              <a:rPr lang="en-US" sz="255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Ghi</a:t>
            </a:r>
            <a:r>
              <a:rPr lang="en-US" sz="25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tiền</a:t>
            </a:r>
            <a:r>
              <a:rPr lang="en-US" sz="2550" dirty="0" spc="-2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trọn</a:t>
            </a:r>
            <a:r>
              <a:rPr lang="en-US" sz="2550" dirty="0" spc="-1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vẹn;</a:t>
            </a:r>
            <a:r>
              <a:rPr lang="en-US" sz="25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chống</a:t>
            </a:r>
            <a:r>
              <a:rPr lang="en-US" sz="25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trùng</a:t>
            </a:r>
            <a:r>
              <a:rPr lang="en-US" sz="25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 thêm</a:t>
            </a:r>
            <a:r>
              <a:rPr lang="en-US" sz="25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khóa.</a:t>
            </a:r>
            <a:endParaRPr lang="en-US" sz="2550" dirty="0"/>
          </a:p>
        </p:txBody>
      </p:sp>
      <p:sp>
        <p:nvSpPr>
          <p:cNvPr id="7" name="Shape 5"/>
          <p:cNvSpPr/>
          <p:nvPr/>
        </p:nvSpPr>
        <p:spPr>
          <a:xfrm>
            <a:off x="6534150" y="2857500"/>
            <a:ext cx="5219700" cy="2286000"/>
          </a:xfrm>
          <a:prstGeom prst="roundRect">
            <a:avLst>
              <a:gd name="adj" fmla="val 10000"/>
            </a:avLst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15150" y="3105150"/>
            <a:ext cx="447675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199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CỘT</a:t>
            </a:r>
            <a:r>
              <a:rPr lang="en-US" sz="1800" b="1" spc="212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RỘNG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915150" y="3581400"/>
            <a:ext cx="4476750" cy="1333500"/>
          </a:xfrm>
          <a:prstGeom prst="rect">
            <a:avLst/>
          </a:prstGeom>
          <a:noFill/>
          <a:ln/>
        </p:spPr>
        <p:txBody>
          <a:bodyPr wrap="square" lIns="0" tIns="9700" rIns="0" bIns="-9700" rtlCol="0" anchor="t"/>
          <a:lstStyle/>
          <a:p>
            <a:pPr algn="l" indent="0" marL="0">
              <a:lnSpc>
                <a:spcPts val="3443"/>
              </a:lnSpc>
              <a:buNone/>
            </a:pPr>
            <a:r>
              <a:rPr lang="en-US" sz="255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Ghi</a:t>
            </a:r>
            <a:r>
              <a:rPr lang="en-US" sz="2550" dirty="0" spc="-3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rất</a:t>
            </a:r>
            <a:r>
              <a:rPr lang="en-US" sz="25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nhiều,</a:t>
            </a:r>
            <a:r>
              <a:rPr lang="en-US" sz="2550" dirty="0" spc="1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255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25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khóa.</a:t>
            </a:r>
            <a:endParaRPr lang="en-US" sz="2550" dirty="0"/>
          </a:p>
        </p:txBody>
      </p:sp>
      <p:sp>
        <p:nvSpPr>
          <p:cNvPr id="10" name="Shape 8"/>
          <p:cNvSpPr/>
          <p:nvPr/>
        </p:nvSpPr>
        <p:spPr>
          <a:xfrm>
            <a:off x="12153900" y="2857500"/>
            <a:ext cx="5219700" cy="2286000"/>
          </a:xfrm>
          <a:prstGeom prst="roundRect">
            <a:avLst>
              <a:gd name="adj" fmla="val 10000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534900" y="3105150"/>
            <a:ext cx="447675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16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KHÓA–GIÁ</a:t>
            </a:r>
            <a:r>
              <a:rPr lang="en-US" sz="1800" b="1" spc="223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TRỊ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2534900" y="3581400"/>
            <a:ext cx="4476750" cy="1333500"/>
          </a:xfrm>
          <a:prstGeom prst="rect">
            <a:avLst/>
          </a:prstGeom>
          <a:noFill/>
          <a:ln/>
        </p:spPr>
        <p:txBody>
          <a:bodyPr wrap="square" lIns="0" tIns="9700" rIns="0" bIns="-9700" rtlCol="0" anchor="t"/>
          <a:lstStyle/>
          <a:p>
            <a:pPr algn="l" indent="0" marL="0">
              <a:lnSpc>
                <a:spcPts val="3443"/>
              </a:lnSpc>
              <a:buNone/>
            </a:pPr>
            <a:r>
              <a:rPr lang="en-US" sz="2550" dirty="0" spc="-9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Trả</a:t>
            </a:r>
            <a:r>
              <a:rPr lang="en-US" sz="25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r>
              <a:rPr lang="en-US" sz="2550" dirty="0" spc="-8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thật</a:t>
            </a:r>
            <a:r>
              <a:rPr lang="en-US" sz="25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nhanh khi</a:t>
            </a:r>
            <a:r>
              <a:rPr lang="en-US" sz="2550" dirty="0" spc="-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biết</a:t>
            </a:r>
            <a:r>
              <a:rPr lang="en-US" sz="25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khóa.</a:t>
            </a:r>
            <a:endParaRPr lang="en-US" sz="2550" dirty="0"/>
          </a:p>
        </p:txBody>
      </p:sp>
      <p:sp>
        <p:nvSpPr>
          <p:cNvPr id="13" name="Shape 11"/>
          <p:cNvSpPr/>
          <p:nvPr/>
        </p:nvSpPr>
        <p:spPr>
          <a:xfrm>
            <a:off x="914400" y="5334000"/>
            <a:ext cx="5219700" cy="2286000"/>
          </a:xfrm>
          <a:prstGeom prst="roundRect">
            <a:avLst>
              <a:gd name="adj" fmla="val 10000"/>
            </a:avLst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95400" y="5581650"/>
            <a:ext cx="447675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199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CỘT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295400" y="6057900"/>
            <a:ext cx="4476750" cy="1333500"/>
          </a:xfrm>
          <a:prstGeom prst="rect">
            <a:avLst/>
          </a:prstGeom>
          <a:noFill/>
          <a:ln/>
        </p:spPr>
        <p:txBody>
          <a:bodyPr wrap="square" lIns="0" tIns="9700" rIns="0" bIns="-9700" rtlCol="0" anchor="t"/>
          <a:lstStyle/>
          <a:p>
            <a:pPr algn="l" indent="0" marL="0">
              <a:lnSpc>
                <a:spcPts val="3443"/>
              </a:lnSpc>
              <a:buNone/>
            </a:pPr>
            <a:r>
              <a:rPr lang="en-US" sz="25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Cộng,</a:t>
            </a:r>
            <a:r>
              <a:rPr lang="en-US" sz="2550" dirty="0" spc="1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đếm</a:t>
            </a:r>
            <a:r>
              <a:rPr lang="en-US" sz="2550" dirty="0" spc="-2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25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hàng</a:t>
            </a:r>
            <a:r>
              <a:rPr lang="en-US" sz="2550" dirty="0" spc="1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triệu</a:t>
            </a:r>
            <a:r>
              <a:rPr lang="en-US" sz="25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dòng.</a:t>
            </a:r>
            <a:endParaRPr lang="en-US" sz="2550" dirty="0"/>
          </a:p>
        </p:txBody>
      </p:sp>
      <p:sp>
        <p:nvSpPr>
          <p:cNvPr id="16" name="Shape 14"/>
          <p:cNvSpPr/>
          <p:nvPr/>
        </p:nvSpPr>
        <p:spPr>
          <a:xfrm>
            <a:off x="6534150" y="5334000"/>
            <a:ext cx="5219700" cy="2286000"/>
          </a:xfrm>
          <a:prstGeom prst="roundRect">
            <a:avLst>
              <a:gd name="adj" fmla="val 10000"/>
            </a:avLst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915150" y="5581650"/>
            <a:ext cx="447675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7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CHUỖI</a:t>
            </a:r>
            <a:r>
              <a:rPr lang="en-US" sz="1800" b="1" spc="226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THỜI</a:t>
            </a:r>
            <a:r>
              <a:rPr lang="en-US" sz="1800" b="1" spc="223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GIAN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915150" y="6057900"/>
            <a:ext cx="4476750" cy="1333500"/>
          </a:xfrm>
          <a:prstGeom prst="rect">
            <a:avLst/>
          </a:prstGeom>
          <a:noFill/>
          <a:ln/>
        </p:spPr>
        <p:txBody>
          <a:bodyPr wrap="square" lIns="0" tIns="9700" rIns="0" bIns="-9700" rtlCol="0" anchor="t"/>
          <a:lstStyle/>
          <a:p>
            <a:pPr algn="l" indent="0" marL="0">
              <a:lnSpc>
                <a:spcPts val="3443"/>
              </a:lnSpc>
              <a:buNone/>
            </a:pPr>
            <a:r>
              <a:rPr lang="en-US" sz="255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Số</a:t>
            </a:r>
            <a:r>
              <a:rPr lang="en-US" sz="2550" dirty="0" spc="1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</a:t>
            </a:r>
            <a:r>
              <a:rPr lang="en-US" sz="2550" dirty="0" spc="-8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thay</a:t>
            </a:r>
            <a:r>
              <a:rPr lang="en-US" sz="2550" dirty="0" spc="1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đổi</a:t>
            </a:r>
            <a:r>
              <a:rPr lang="en-US" sz="255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25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phút.</a:t>
            </a:r>
            <a:endParaRPr lang="en-US" sz="2550" dirty="0"/>
          </a:p>
        </p:txBody>
      </p:sp>
      <p:sp>
        <p:nvSpPr>
          <p:cNvPr id="19" name="Shape 17"/>
          <p:cNvSpPr/>
          <p:nvPr/>
        </p:nvSpPr>
        <p:spPr>
          <a:xfrm>
            <a:off x="12153900" y="5334000"/>
            <a:ext cx="5219700" cy="2286000"/>
          </a:xfrm>
          <a:prstGeom prst="roundRect">
            <a:avLst>
              <a:gd name="adj" fmla="val 10000"/>
            </a:avLst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2534900" y="5581650"/>
            <a:ext cx="447675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8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KHO</a:t>
            </a:r>
            <a:r>
              <a:rPr lang="en-US" sz="1800" b="1" spc="225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ĐỐI TƯỢNG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2534900" y="6057900"/>
            <a:ext cx="4476750" cy="1333500"/>
          </a:xfrm>
          <a:prstGeom prst="rect">
            <a:avLst/>
          </a:prstGeom>
          <a:noFill/>
          <a:ln/>
        </p:spPr>
        <p:txBody>
          <a:bodyPr wrap="square" lIns="0" tIns="9700" rIns="0" bIns="-9700" rtlCol="0" anchor="t"/>
          <a:lstStyle/>
          <a:p>
            <a:pPr algn="l" indent="0" marL="0">
              <a:lnSpc>
                <a:spcPts val="3443"/>
              </a:lnSpc>
              <a:buNone/>
            </a:pPr>
            <a:r>
              <a:rPr lang="en-US" sz="2550" dirty="0" spc="-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Giữ</a:t>
            </a:r>
            <a:r>
              <a:rPr lang="en-US" sz="2550" dirty="0" spc="-1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tệp</a:t>
            </a:r>
            <a:r>
              <a:rPr lang="en-US" sz="25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lớn,</a:t>
            </a:r>
            <a:r>
              <a:rPr lang="en-US" sz="2550" dirty="0" spc="-2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rẻ,</a:t>
            </a:r>
            <a:r>
              <a:rPr lang="en-US" sz="25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lâu dài.</a:t>
            </a:r>
            <a:endParaRPr lang="en-US" sz="2550" dirty="0"/>
          </a:p>
        </p:txBody>
      </p:sp>
      <p:sp>
        <p:nvSpPr>
          <p:cNvPr id="22" name="Text 20"/>
          <p:cNvSpPr/>
          <p:nvPr/>
        </p:nvSpPr>
        <p:spPr>
          <a:xfrm>
            <a:off x="914400" y="8001000"/>
            <a:ext cx="1645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Gợi</a:t>
            </a:r>
            <a:r>
              <a:rPr lang="en-US" sz="2100" dirty="0" spc="-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ý</a:t>
            </a:r>
            <a:r>
              <a:rPr lang="en-US" sz="21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chung</a:t>
            </a:r>
            <a:r>
              <a:rPr lang="en-US" sz="21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10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1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biên</a:t>
            </a:r>
            <a:r>
              <a:rPr lang="en-US" sz="210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soạn,</a:t>
            </a:r>
            <a:r>
              <a:rPr lang="en-US" sz="21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1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</a:t>
            </a:r>
            <a:r>
              <a:rPr lang="en-US" sz="21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2100" dirty="0" spc="-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21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nguồn.</a:t>
            </a:r>
            <a:endParaRPr lang="en-US" sz="2100" dirty="0"/>
          </a:p>
        </p:txBody>
      </p:sp>
      <p:sp>
        <p:nvSpPr>
          <p:cNvPr id="23" name="Shape 21"/>
          <p:cNvSpPr/>
          <p:nvPr/>
        </p:nvSpPr>
        <p:spPr>
          <a:xfrm>
            <a:off x="9144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2573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6002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9431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2860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6289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9718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3147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657600" y="9353550"/>
            <a:ext cx="152400" cy="1524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000500" y="9353550"/>
            <a:ext cx="152400" cy="15240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14400" y="9677400"/>
            <a:ext cx="76200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15 ·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09/10</a:t>
            </a:r>
            <a:endParaRPr lang="en-US" sz="1650" dirty="0"/>
          </a:p>
        </p:txBody>
      </p:sp>
      <p:sp>
        <p:nvSpPr>
          <p:cNvPr id="34" name="Shape 32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5" name="Moda image moda-export-watermark-264c68bb-1a76-4507-b8fc-dcd083672053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762000"/>
            <a:ext cx="11430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TỪ</a:t>
            </a:r>
            <a:r>
              <a:rPr lang="en-US" sz="1950" b="1" spc="284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</a:t>
            </a:r>
            <a:r>
              <a:rPr lang="en-US" sz="1950" b="1" spc="25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95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162050"/>
            <a:ext cx="161925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300" dirty="0" spc="-4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Từ</a:t>
            </a:r>
            <a:r>
              <a:rPr lang="en-US" sz="63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viết</a:t>
            </a:r>
            <a:r>
              <a:rPr lang="en-US" sz="63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tắt</a:t>
            </a:r>
            <a:r>
              <a:rPr lang="en-US" sz="63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cần</a:t>
            </a:r>
            <a:r>
              <a:rPr lang="en-US" sz="6300" dirty="0" spc="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nhớ</a:t>
            </a:r>
            <a:endParaRPr lang="en-US" sz="63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2571750"/>
          <a:ext cx="13716000" cy="914400"/>
        </p:xfrm>
        <a:graphic>
          <a:graphicData uri="http://schemas.openxmlformats.org/drawingml/2006/table">
            <a:tbl>
              <a:tblPr/>
              <a:tblGrid>
                <a:gridCol w="2304288"/>
                <a:gridCol w="6254496"/>
                <a:gridCol w="7900416"/>
              </a:tblGrid>
              <a:tr h="11430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880"/>
                        </a:lnSpc>
                        <a:buNone/>
                      </a:pPr>
                      <a:r>
                        <a:rPr lang="en-US" sz="2400" b="1" dirty="0" spc="-83" kern="0">
                          <a:solidFill>
                            <a:srgbClr val="9AA0B5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Từ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1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880"/>
                        </a:lnSpc>
                        <a:buNone/>
                      </a:pPr>
                      <a:r>
                        <a:rPr lang="en-US" sz="2400" b="1" dirty="0" spc="-2" kern="0">
                          <a:solidFill>
                            <a:srgbClr val="9AA0B5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Dạng</a:t>
                      </a:r>
                      <a:r>
                        <a:rPr lang="en-US" sz="2400" b="1" dirty="0" spc="-1" kern="0">
                          <a:solidFill>
                            <a:srgbClr val="9AA0B5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đầy</a:t>
                      </a:r>
                      <a:r>
                        <a:rPr lang="en-US" sz="2400" b="1" dirty="0" spc="3" kern="0">
                          <a:solidFill>
                            <a:srgbClr val="9AA0B5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đủ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1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880"/>
                        </a:lnSpc>
                        <a:buNone/>
                      </a:pPr>
                      <a:r>
                        <a:rPr lang="en-US" sz="2400" b="1" dirty="0" spc="-4" kern="0">
                          <a:solidFill>
                            <a:srgbClr val="9AA0B5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Nghĩa</a:t>
                      </a:r>
                      <a:r>
                        <a:rPr lang="en-US" sz="2400" b="1" dirty="0" spc="-13" kern="0">
                          <a:solidFill>
                            <a:srgbClr val="9AA0B5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trong</a:t>
                      </a:r>
                      <a:r>
                        <a:rPr lang="en-US" sz="2400" b="1" dirty="0" spc="0" kern="0">
                          <a:solidFill>
                            <a:srgbClr val="9AA0B5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bài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12B"/>
                    </a:solidFill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880"/>
                        </a:lnSpc>
                        <a:buNone/>
                      </a:pPr>
                      <a:r>
                        <a:rPr lang="en-US" sz="2400" dirty="0" spc="10" kern="0">
                          <a:solidFill>
                            <a:srgbClr val="FF6A4D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SQL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A1D2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880"/>
                        </a:lnSpc>
                        <a:buNone/>
                      </a:pPr>
                      <a:r>
                        <a:rPr lang="en-US" sz="2400" dirty="0" spc="-11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Structured</a:t>
                      </a:r>
                      <a:r>
                        <a:rPr lang="en-US" sz="2400" dirty="0" spc="0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Query</a:t>
                      </a:r>
                      <a:r>
                        <a:rPr lang="en-US" sz="2400" dirty="0" spc="-14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Language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A1D2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880"/>
                        </a:lnSpc>
                        <a:buNone/>
                      </a:pPr>
                      <a:r>
                        <a:rPr lang="en-US" sz="2400" dirty="0" spc="-10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ngôn</a:t>
                      </a:r>
                      <a:r>
                        <a:rPr lang="en-US" sz="2400" dirty="0" spc="4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ngữ</a:t>
                      </a:r>
                      <a:r>
                        <a:rPr lang="en-US" sz="2400" dirty="0" spc="0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truy</a:t>
                      </a:r>
                      <a:r>
                        <a:rPr lang="en-US" sz="2400" dirty="0" spc="-9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vấn;</a:t>
                      </a:r>
                      <a:r>
                        <a:rPr lang="en-US" sz="2400" dirty="0" spc="1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chữ</a:t>
                      </a:r>
                      <a:r>
                        <a:rPr lang="en-US" sz="2400" dirty="0" spc="8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SQL</a:t>
                      </a:r>
                      <a:r>
                        <a:rPr lang="en-US" sz="2400" dirty="0" spc="-13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trong</a:t>
                      </a:r>
                      <a:r>
                        <a:rPr lang="en-US" sz="2400" dirty="0" spc="5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MySQL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A1D25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914400" y="5715000"/>
            <a:ext cx="11430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 ĐỐI</a:t>
            </a:r>
            <a:r>
              <a:rPr lang="en-US" sz="195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endParaRPr lang="en-US" sz="1950" dirty="0"/>
          </a:p>
        </p:txBody>
      </p:sp>
      <p:sp>
        <p:nvSpPr>
          <p:cNvPr id="6" name="Text 3"/>
          <p:cNvSpPr/>
          <p:nvPr/>
        </p:nvSpPr>
        <p:spPr>
          <a:xfrm>
            <a:off x="914400" y="6153150"/>
            <a:ext cx="16459200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ByteByteGo</a:t>
            </a:r>
            <a:r>
              <a:rPr lang="en-US" sz="2550" dirty="0" spc="-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system-design-101,</a:t>
            </a:r>
            <a:r>
              <a:rPr lang="en-US" sz="2550" dirty="0" spc="-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25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r>
              <a:rPr lang="en-US" sz="2550" dirty="0" spc="-1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tại</a:t>
            </a:r>
            <a:r>
              <a:rPr lang="en-US" sz="25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commit</a:t>
            </a:r>
            <a:r>
              <a:rPr lang="en-US" sz="25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cố</a:t>
            </a:r>
            <a:r>
              <a:rPr lang="en-US" sz="2550" dirty="0" spc="2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endParaRPr lang="en-US" sz="2550" dirty="0"/>
          </a:p>
        </p:txBody>
      </p:sp>
      <p:sp>
        <p:nvSpPr>
          <p:cNvPr id="7" name="Text 4"/>
          <p:cNvSpPr/>
          <p:nvPr/>
        </p:nvSpPr>
        <p:spPr>
          <a:xfrm>
            <a:off x="914400" y="6724650"/>
            <a:ext cx="164592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Đã</a:t>
            </a:r>
            <a:r>
              <a:rPr lang="en-US" sz="1800" dirty="0" spc="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1800" dirty="0" spc="-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r>
              <a:rPr lang="en-US" sz="1800" dirty="0" spc="-1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ngày</a:t>
            </a:r>
            <a:r>
              <a:rPr lang="en-US" sz="18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2026-10-19.</a:t>
            </a:r>
            <a:r>
              <a:rPr lang="en-US" sz="1800" dirty="0" spc="-4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Tài</a:t>
            </a: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18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kỹ</a:t>
            </a:r>
            <a:r>
              <a:rPr lang="en-US" sz="1800" dirty="0" spc="-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thuật</a:t>
            </a:r>
            <a:r>
              <a:rPr lang="en-US" sz="180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1800" dirty="0" spc="-1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Netflix</a:t>
            </a:r>
            <a:r>
              <a:rPr lang="en-US" sz="1800" dirty="0" spc="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chưa được</a:t>
            </a:r>
            <a:r>
              <a:rPr lang="en-US" sz="1800" dirty="0" spc="1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đối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chiếu.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9144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2573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6002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9431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2860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26289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29718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33147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36576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000500" y="9353550"/>
            <a:ext cx="152400" cy="1524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914400" y="9677400"/>
            <a:ext cx="76200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15 ·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10/10</a:t>
            </a:r>
            <a:endParaRPr lang="en-US" sz="1650" dirty="0"/>
          </a:p>
        </p:txBody>
      </p:sp>
      <p:sp>
        <p:nvSpPr>
          <p:cNvPr id="19" name="Shape 16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0" name="Moda image moda-export-watermark-0cae31f0-4e55-4ed9-90a3-29cf3517b40e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2026-10-19T03:30:10Z</dcterms:created>
  <dcterms:modified xsi:type="dcterms:W3CDTF">2026-10-19T03:30:10Z</dcterms:modified>
</cp:coreProperties>
</file>