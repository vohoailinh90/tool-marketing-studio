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71450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0" dirty="0" spc="-6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75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r>
              <a:rPr lang="en-US" sz="75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75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75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production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4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2850" dirty="0" spc="-20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</a:t>
            </a:r>
            <a:r>
              <a:rPr lang="en-US" sz="2850" dirty="0" spc="11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0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7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19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5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0" kern="0">
                <a:solidFill>
                  <a:srgbClr val="C9CC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0477500" y="1428750"/>
            <a:ext cx="68961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58500" y="18097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300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3000" dirty="0" spc="-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3000" dirty="0" spc="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commit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0477500" y="3238500"/>
            <a:ext cx="68961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58500" y="36195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Build</a:t>
            </a:r>
            <a:r>
              <a:rPr lang="en-US" sz="30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30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artifact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0477500" y="5048250"/>
            <a:ext cx="68961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58500" y="542925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000" dirty="0" spc="-1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30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30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deploy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0477500" y="6858000"/>
            <a:ext cx="68961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58500" y="7239000"/>
            <a:ext cx="6191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30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30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→</a:t>
            </a:r>
            <a:r>
              <a:rPr lang="en-US" sz="30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quyết</a:t>
            </a:r>
            <a:r>
              <a:rPr lang="en-US" sz="3000" dirty="0" spc="1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endParaRPr lang="en-US" sz="3000" dirty="0"/>
          </a:p>
        </p:txBody>
      </p:sp>
      <p:sp>
        <p:nvSpPr>
          <p:cNvPr id="13" name="Connector line-1792374152270-269242223"/>
          <p:cNvSpPr/>
          <p:nvPr/>
        </p:nvSpPr>
        <p:spPr>
          <a:xfrm>
            <a:off x="13925550" y="2705100"/>
            <a:ext cx="0" cy="4762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4152270-25250598"/>
          <p:cNvSpPr/>
          <p:nvPr/>
        </p:nvSpPr>
        <p:spPr>
          <a:xfrm>
            <a:off x="13925550" y="4514850"/>
            <a:ext cx="0" cy="4762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74152270-147644567"/>
          <p:cNvSpPr/>
          <p:nvPr/>
        </p:nvSpPr>
        <p:spPr>
          <a:xfrm>
            <a:off x="13925550" y="6324600"/>
            <a:ext cx="0" cy="476250"/>
          </a:xfrm>
          <a:prstGeom prst="line">
            <a:avLst/>
          </a:prstGeom>
          <a:noFill/>
          <a:ln w="38100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9334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CI,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ID,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QA, SRE,</a:t>
            </a:r>
            <a:r>
              <a:rPr lang="en-US" sz="16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UAT: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slide cuối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7a523e7-4674-4b10-b5bd-0f391a31b0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1800" b="1" spc="29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b="1" spc="30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800" b="1" spc="26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 câu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90875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667000" y="33528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31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810125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667000" y="497205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Bằng</a:t>
            </a:r>
            <a:r>
              <a:rPr lang="en-US" sz="31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tục?</a:t>
            </a:r>
            <a:endParaRPr lang="en-US" sz="3150" dirty="0"/>
          </a:p>
        </p:txBody>
      </p:sp>
      <p:sp>
        <p:nvSpPr>
          <p:cNvPr id="10" name="Shape 8"/>
          <p:cNvSpPr/>
          <p:nvPr/>
        </p:nvSpPr>
        <p:spPr>
          <a:xfrm>
            <a:off x="914400" y="6191250"/>
            <a:ext cx="16459200" cy="1333500"/>
          </a:xfrm>
          <a:prstGeom prst="roundRect">
            <a:avLst>
              <a:gd name="adj" fmla="val 1714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429375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667000" y="6591300"/>
            <a:ext cx="1428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1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31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31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xấu?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Nối</a:t>
            </a:r>
            <a:r>
              <a:rPr lang="en-US" sz="24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code,</a:t>
            </a:r>
            <a:r>
              <a:rPr lang="en-US" sz="24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artifact,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2400" dirty="0"/>
          </a:p>
        </p:txBody>
      </p:sp>
      <p:sp>
        <p:nvSpPr>
          <p:cNvPr id="14" name="Connector line-1792374178960-724652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bae2721-d5c5-4a90-965f-f1cc3d707ff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· YÊU CẦU → COMMIT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Tiêu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</a:t>
            </a:r>
            <a:r>
              <a:rPr lang="en-US" sz="72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trước,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code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0477500" cy="1428750"/>
          </a:xfrm>
          <a:prstGeom prst="roundRect">
            <a:avLst>
              <a:gd name="adj" fmla="val 16000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90875"/>
            <a:ext cx="971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667125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0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b="1" dirty="0" spc="-1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00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0477500" cy="1428750"/>
          </a:xfrm>
          <a:prstGeom prst="roundRect">
            <a:avLst>
              <a:gd name="adj" fmla="val 16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33500" y="4810125"/>
            <a:ext cx="971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2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" y="5286375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nhánh,</a:t>
            </a:r>
            <a:r>
              <a:rPr lang="en-US" sz="30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diff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191250"/>
            <a:ext cx="104775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33500" y="6429375"/>
            <a:ext cx="9715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33500" y="6905625"/>
            <a:ext cx="9715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chí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2001500" y="2952750"/>
            <a:ext cx="5372100" cy="4667250"/>
          </a:xfrm>
          <a:prstGeom prst="roundRect">
            <a:avLst>
              <a:gd name="adj" fmla="val 489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382500" y="333375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TỪ</a:t>
            </a:r>
            <a:r>
              <a:rPr lang="en-US" sz="195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382500" y="4000500"/>
            <a:ext cx="466725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Tiêu chí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·</a:t>
            </a:r>
            <a:r>
              <a:rPr lang="en-US" sz="36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review</a:t>
            </a:r>
            <a:endParaRPr lang="en-US" sz="3600" dirty="0"/>
          </a:p>
          <a:p>
            <a:pPr algn="l" indent="0" marL="0">
              <a:buNone/>
            </a:pPr>
            <a:r>
              <a:rPr lang="en-US" sz="36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·</a:t>
            </a:r>
            <a:r>
              <a:rPr lang="en-US" sz="3600" dirty="0" spc="-1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tests</a:t>
            </a:r>
            <a:endParaRPr lang="en-US" sz="3600" dirty="0"/>
          </a:p>
        </p:txBody>
      </p:sp>
      <p:sp>
        <p:nvSpPr>
          <p:cNvPr id="16" name="Connector line-1792374181023-94196246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d4865c37-3611-42ab-b336-969caebac1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· BUILD → ARTIFACT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2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bản,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5334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400" dirty="0" spc="-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7400" dirty="0"/>
          </a:p>
        </p:txBody>
      </p:sp>
      <p:sp>
        <p:nvSpPr>
          <p:cNvPr id="5" name="Shape 3"/>
          <p:cNvSpPr/>
          <p:nvPr/>
        </p:nvSpPr>
        <p:spPr>
          <a:xfrm>
            <a:off x="6667500" y="3238500"/>
            <a:ext cx="107061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3750" y="3524250"/>
            <a:ext cx="981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 BUILD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143750" y="4000500"/>
            <a:ext cx="981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artifact,</a:t>
            </a:r>
            <a:r>
              <a:rPr lang="en-US" sz="3300" b="1" dirty="0" spc="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300" b="1" dirty="0" spc="-3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33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6667500" y="5334000"/>
            <a:ext cx="10706100" cy="171450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3750" y="5619750"/>
            <a:ext cx="9810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</a:t>
            </a:r>
            <a:r>
              <a:rPr lang="en-US" sz="1950" b="1" spc="20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143750" y="6096000"/>
            <a:ext cx="9810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ID</a:t>
            </a:r>
            <a:r>
              <a:rPr lang="en-US" sz="33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3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digest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667500" y="7524750"/>
            <a:ext cx="107061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đem</a:t>
            </a:r>
            <a:r>
              <a:rPr lang="en-US" sz="2550" dirty="0" spc="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550" dirty="0"/>
          </a:p>
        </p:txBody>
      </p:sp>
      <p:sp>
        <p:nvSpPr>
          <p:cNvPr id="12" name="Connector line-1792374197309-46374841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95dc686f-d4cf-42e2-8239-3e2a420e12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· KIỂM TRA → DEPLOY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7200" dirty="0" spc="3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suốt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4191000" cy="2286000"/>
          </a:xfrm>
          <a:prstGeom prst="roundRect">
            <a:avLst>
              <a:gd name="adj" fmla="val 11667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810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6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ARTIFACT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333875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7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3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300" dirty="0" spc="7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300" dirty="0" spc="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build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7048500" y="3429000"/>
            <a:ext cx="41910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9500" y="3810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1950" b="1" spc="21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429500" y="4333875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3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phù</a:t>
            </a:r>
            <a:r>
              <a:rPr lang="en-US" sz="33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13182600" y="3429000"/>
            <a:ext cx="4191000" cy="2286000"/>
          </a:xfrm>
          <a:prstGeom prst="roundRect">
            <a:avLst>
              <a:gd name="adj" fmla="val 1166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63600" y="381000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DEPLOY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563600" y="4333875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Vẫn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3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đó</a:t>
            </a:r>
            <a:endParaRPr lang="en-US" sz="3300" dirty="0"/>
          </a:p>
        </p:txBody>
      </p:sp>
      <p:sp>
        <p:nvSpPr>
          <p:cNvPr id="13" name="Connector line-1792374221322-654852676"/>
          <p:cNvSpPr/>
          <p:nvPr/>
        </p:nvSpPr>
        <p:spPr>
          <a:xfrm>
            <a:off x="5295900" y="4572000"/>
            <a:ext cx="15621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4221322-544624186"/>
          <p:cNvSpPr/>
          <p:nvPr/>
        </p:nvSpPr>
        <p:spPr>
          <a:xfrm>
            <a:off x="11430000" y="4572000"/>
            <a:ext cx="1562100" cy="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" y="6477000"/>
            <a:ext cx="1645920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6715125"/>
            <a:ext cx="1562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550" dirty="0"/>
          </a:p>
        </p:txBody>
      </p:sp>
      <p:sp>
        <p:nvSpPr>
          <p:cNvPr id="17" name="Connector line-1792374221325-81442395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ebd94432-fed2-462f-9fff-2b028fc279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 · QUAN SÁT → QUYẾT ĐỊNH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Tiếp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tục hay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quay</a:t>
            </a:r>
            <a:r>
              <a:rPr lang="en-US" sz="72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theo</a:t>
            </a:r>
            <a:r>
              <a:rPr lang="en-US" sz="2400" dirty="0" spc="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đợt,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canary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lịch.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dõi: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28612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b="1" dirty="0" spc="-1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</a:t>
            </a: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vụ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4191000"/>
            <a:ext cx="8058150" cy="3143250"/>
          </a:xfrm>
          <a:prstGeom prst="roundRect">
            <a:avLst>
              <a:gd name="adj" fmla="val 84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0650" y="457200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spc="23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90650" y="51435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Tiếp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tục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90650" y="6286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Lỗi,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trễ,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15450" y="4191000"/>
            <a:ext cx="8058150" cy="3143250"/>
          </a:xfrm>
          <a:prstGeom prst="roundRect">
            <a:avLst>
              <a:gd name="adj" fmla="val 8485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91700" y="457200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1950" b="1" spc="2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91700" y="51435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Dừng</a:t>
            </a:r>
            <a:r>
              <a:rPr lang="en-US" sz="54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/</a:t>
            </a:r>
            <a:r>
              <a:rPr lang="en-US" sz="5400" dirty="0" spc="-1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rollback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9791700" y="6286500"/>
            <a:ext cx="714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dừng,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14400" y="7810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 hiệu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4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00" dirty="0" spc="-2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cầu,</a:t>
            </a:r>
            <a:r>
              <a:rPr lang="en-US" sz="24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test.</a:t>
            </a:r>
            <a:endParaRPr lang="en-US" sz="2400" dirty="0"/>
          </a:p>
        </p:txBody>
      </p:sp>
      <p:sp>
        <p:nvSpPr>
          <p:cNvPr id="15" name="Connector line-1792374222223-57958992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23f55a98-c0f0-4860-aad7-e8344eed57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2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72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 công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ty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2038350"/>
          </a:xfrm>
          <a:prstGeom prst="roundRect">
            <a:avLst>
              <a:gd name="adj" fmla="val 1121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1571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ĐIỀU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1950" b="1" spc="17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1950" b="1" spc="22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600450"/>
            <a:ext cx="15716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Sprint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tuần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Jenkins ·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SonarQube</a:t>
            </a:r>
            <a:endParaRPr lang="en-US" sz="2850" dirty="0"/>
          </a:p>
          <a:p>
            <a:pPr algn="l" indent="0" marL="0">
              <a:buNone/>
            </a:pPr>
            <a:r>
              <a:rPr lang="en-US" sz="2850" b="1" dirty="0" spc="-1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UAT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SRE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5143500"/>
            <a:ext cx="80581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5476875"/>
            <a:ext cx="733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ROLLBACK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60007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đảo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migration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85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15450" y="5143500"/>
            <a:ext cx="8058150" cy="2381250"/>
          </a:xfrm>
          <a:prstGeom prst="roundRect">
            <a:avLst>
              <a:gd name="adj" fmla="val 96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6450" y="5476875"/>
            <a:ext cx="7334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1950" b="1" spc="21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696450" y="600075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trò.</a:t>
            </a:r>
            <a:endParaRPr lang="en-US" sz="2850" dirty="0"/>
          </a:p>
          <a:p>
            <a:pPr algn="l" indent="0" marL="0">
              <a:buNone/>
            </a:pP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phân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85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endParaRPr lang="en-US" sz="2850" dirty="0"/>
          </a:p>
        </p:txBody>
      </p:sp>
      <p:sp>
        <p:nvSpPr>
          <p:cNvPr id="13" name="Connector line-1792374265727-29825970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e42bdea-dcd5-4b63-922d-bb0e9c35a96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Build lại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2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72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58150" cy="4762500"/>
          </a:xfrm>
          <a:prstGeom prst="roundRect">
            <a:avLst>
              <a:gd name="adj" fmla="val 56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352425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4191000"/>
            <a:ext cx="714375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Artifact</a:t>
            </a:r>
            <a:r>
              <a:rPr lang="en-US" sz="345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345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QA.</a:t>
            </a:r>
            <a:endParaRPr lang="en-US" sz="3450" dirty="0"/>
          </a:p>
          <a:p>
            <a:pPr algn="l" indent="0" marL="0">
              <a:buNone/>
            </a:pP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Bạn</a:t>
            </a:r>
            <a:r>
              <a:rPr lang="en-US" sz="34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build</a:t>
            </a:r>
            <a:r>
              <a:rPr lang="en-US" sz="34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345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source</a:t>
            </a:r>
            <a:r>
              <a:rPr lang="en-US" sz="345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deploy.</a:t>
            </a:r>
            <a:endParaRPr lang="en-US" sz="3450" dirty="0"/>
          </a:p>
          <a:p>
            <a:pPr algn="l" indent="0" marL="0">
              <a:buNone/>
            </a:pP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chắc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34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34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34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450" dirty="0" spc="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thử?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9315450" y="3048000"/>
            <a:ext cx="8058150" cy="4762500"/>
          </a:xfrm>
          <a:prstGeom prst="roundRect">
            <a:avLst>
              <a:gd name="adj" fmla="val 5600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524250"/>
            <a:ext cx="714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791700" y="4191000"/>
            <a:ext cx="714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9791700" y="5524500"/>
            <a:ext cx="714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Build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khác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dependency,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trường.</a:t>
            </a:r>
            <a:endParaRPr lang="en-US" sz="2850" dirty="0"/>
          </a:p>
          <a:p>
            <a:pPr algn="l" indent="0" marL="0">
              <a:buNone/>
            </a:pP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Triển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artifact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850" dirty="0"/>
          </a:p>
        </p:txBody>
      </p:sp>
      <p:sp>
        <p:nvSpPr>
          <p:cNvPr id="11" name="Connector line-1792374266579-43244668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5d917a44-cb0f-4ceb-a073-6440ca393b3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7200" dirty="0" spc="-5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vết</a:t>
            </a:r>
            <a:r>
              <a:rPr lang="en-US" sz="7200" dirty="0" spc="-9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72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72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endParaRPr lang="en-US" sz="7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85750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10863072"/>
              </a:tblGrid>
              <a:tr h="90487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</a:t>
                      </a:r>
                      <a:endParaRPr lang="en-US" sz="1200" dirty="0"/>
                    </a:p>
                  </a:txBody>
                  <a:tcPr marL="304800" marR="304800" marT="246698" marB="2466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5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Vì</a:t>
                      </a:r>
                      <a:r>
                        <a:rPr lang="en-US" sz="2700" b="1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sao</a:t>
                      </a:r>
                      <a:endParaRPr lang="en-US" sz="1200" dirty="0"/>
                    </a:p>
                  </a:txBody>
                  <a:tcPr marL="304800" marR="304800" marT="246698" marB="24669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DDE3FA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6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Immutable</a:t>
                      </a:r>
                      <a:r>
                        <a:rPr lang="en-US" sz="2700" b="1" dirty="0" spc="-3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artifact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Bản</a:t>
                      </a:r>
                      <a:r>
                        <a:rPr lang="en-US" sz="2700" dirty="0" spc="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70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build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 bị</a:t>
                      </a:r>
                      <a:r>
                        <a:rPr lang="en-US" sz="2700" dirty="0" spc="1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đổi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37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Lưu</a:t>
                      </a:r>
                      <a:r>
                        <a:rPr lang="en-US" sz="2700" b="1" dirty="0" spc="-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liên</a:t>
                      </a:r>
                      <a:r>
                        <a:rPr lang="en-US" sz="2700" b="1" dirty="0" spc="-4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hệ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commit → artifact → môi trường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16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Quyền,</a:t>
                      </a:r>
                      <a:r>
                        <a:rPr lang="en-US" sz="2700" b="1" dirty="0" spc="0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tiêu chí</a:t>
                      </a:r>
                      <a:r>
                        <a:rPr lang="en-US" sz="2700" b="1" dirty="0" spc="26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dừng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Phù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hợp</a:t>
                      </a:r>
                      <a:r>
                        <a:rPr lang="en-US" sz="2700" dirty="0" spc="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mức</a:t>
                      </a:r>
                      <a:r>
                        <a:rPr lang="en-US" sz="2700" dirty="0" spc="-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rủi</a:t>
                      </a:r>
                      <a:r>
                        <a:rPr lang="en-US" sz="2700" dirty="0" spc="-3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ro</a:t>
                      </a:r>
                      <a:endParaRPr lang="en-US" sz="1200" dirty="0"/>
                    </a:p>
                  </a:txBody>
                  <a:tcPr marL="304800" marR="304800" marT="270510" marB="27051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b="1" dirty="0" spc="-2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Coverage</a:t>
                      </a:r>
                      <a:r>
                        <a:rPr lang="en-US" sz="2700" b="1" dirty="0" spc="-2" kern="0">
                          <a:solidFill>
                            <a:srgbClr val="1F3FD1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cao</a:t>
                      </a:r>
                      <a:endParaRPr lang="en-US" sz="1200" dirty="0"/>
                    </a:p>
                  </a:txBody>
                  <a:tcPr marL="304800" marR="304800" marT="294323" marB="29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240"/>
                        </a:lnSpc>
                        <a:buNone/>
                      </a:pP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Không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tự</a:t>
                      </a:r>
                      <a:r>
                        <a:rPr lang="en-US" sz="2700" dirty="0" spc="1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chứng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minh</a:t>
                      </a:r>
                      <a:r>
                        <a:rPr lang="en-US" sz="2700" dirty="0" spc="-1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test</a:t>
                      </a:r>
                      <a:r>
                        <a:rPr lang="en-US" sz="2700" dirty="0" spc="-1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bắt</a:t>
                      </a:r>
                      <a:r>
                        <a:rPr lang="en-US" sz="270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lỗi</a:t>
                      </a:r>
                      <a:r>
                        <a:rPr lang="en-US" sz="270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quan</a:t>
                      </a:r>
                      <a:r>
                        <a:rPr lang="en-US" sz="270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trọng</a:t>
                      </a:r>
                      <a:endParaRPr lang="en-US" sz="1200" dirty="0"/>
                    </a:p>
                  </a:txBody>
                  <a:tcPr marL="304800" marR="304800" marT="294323" marB="29432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74267501-509807203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b12ca047-33e3-4e28-9890-36b5e11211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chữ viết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2959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00375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38250" y="36195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Continuous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Integration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8250" y="4048125"/>
            <a:ext cx="4667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tích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96050" y="2762250"/>
            <a:ext cx="52959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19900" y="3000375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6819900" y="36195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IDentifier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19900" y="4048125"/>
            <a:ext cx="4667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77700" y="2762250"/>
            <a:ext cx="52959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01550" y="3000375"/>
            <a:ext cx="4667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QA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12401550" y="3619500"/>
            <a:ext cx="4667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Quality</a:t>
            </a: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Assurance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01550" y="4048125"/>
            <a:ext cx="4667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đảm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4953000"/>
            <a:ext cx="80867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38250" y="5191125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SRE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38250" y="5810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Site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Reliability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Engineering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8250" y="6238875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dịch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286875" y="4953000"/>
            <a:ext cx="8086725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9610725" y="5191125"/>
            <a:ext cx="7429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38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UAT</a:t>
            </a:r>
            <a:endParaRPr lang="en-US" sz="3300" dirty="0"/>
          </a:p>
        </p:txBody>
      </p:sp>
      <p:sp>
        <p:nvSpPr>
          <p:cNvPr id="22" name="Text 20"/>
          <p:cNvSpPr/>
          <p:nvPr/>
        </p:nvSpPr>
        <p:spPr>
          <a:xfrm>
            <a:off x="9610725" y="5810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Acceptance</a:t>
            </a:r>
            <a:r>
              <a:rPr lang="en-US" sz="180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Testing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10725" y="6238875"/>
            <a:ext cx="7429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914400" y="73342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7762875"/>
            <a:ext cx="16459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1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 cố</a:t>
            </a:r>
            <a:r>
              <a:rPr lang="en-US" sz="21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DORA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continuous</a:t>
            </a:r>
            <a:r>
              <a:rPr lang="en-US" sz="21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delivery</a:t>
            </a:r>
            <a:r>
              <a:rPr lang="en-US" sz="21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Jenkins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Pipeline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</a:t>
            </a:r>
            <a:r>
              <a:rPr lang="en-US" sz="21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deployments</a:t>
            </a:r>
            <a:endParaRPr lang="en-US" sz="2100" dirty="0"/>
          </a:p>
        </p:txBody>
      </p:sp>
      <p:sp>
        <p:nvSpPr>
          <p:cNvPr id="26" name="Connector line-1792374268402-31406259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212955e6-ee08-4091-beab-8a72f1a25a8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2026-10-19T01:45:46Z</dcterms:created>
  <dcterms:modified xsi:type="dcterms:W3CDTF">2026-10-19T01:45:46Z</dcterms:modified>
</cp:coreProperties>
</file>