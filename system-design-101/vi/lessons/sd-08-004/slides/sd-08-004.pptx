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embeddedFontLst>
    <p:embeddedFont>
      <p:font typeface="Be Vietnam Pro"/>
      <p:regular r:id="rId17"/>
      <p:bold r:id="rId15"/>
    </p:embeddedFont>
    <p:embeddedFont>
      <p:font typeface="Bricolage Grotesque ExtraBold"/>
      <p:regular r:id="rId16"/>
    </p:embeddedFont>
    <p:embeddedFont>
      <p:font typeface="Be Vietnam Pro SemiBold"/>
      <p:regular r:id="rId18"/>
    </p:embeddedFont>
    <p:embeddedFont>
      <p:font typeface="Be Vietnam Pro Extra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334500" cy="2505075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Prime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Video</a:t>
            </a:r>
            <a:r>
              <a:rPr lang="en-US" sz="8100" dirty="0" spc="-4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gộp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1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về</a:t>
            </a:r>
            <a:r>
              <a:rPr lang="en-US" sz="81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khối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9144000" cy="10477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3000" dirty="0" spc="-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ranh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30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300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giá.</a:t>
            </a:r>
            <a:endParaRPr lang="en-US" sz="3000" dirty="0"/>
          </a:p>
        </p:txBody>
      </p:sp>
      <p:sp>
        <p:nvSpPr>
          <p:cNvPr id="5" name="Connector line-1792383638257-766361561"/>
          <p:cNvSpPr/>
          <p:nvPr/>
        </p:nvSpPr>
        <p:spPr>
          <a:xfrm>
            <a:off x="914400" y="6096000"/>
            <a:ext cx="86106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6334125"/>
            <a:ext cx="857250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10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1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100" dirty="0" spc="-2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rời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1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382250" y="257175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TRƯỚC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382250" y="3048000"/>
            <a:ext cx="1809750" cy="8001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</a:t>
            </a:r>
            <a:r>
              <a:rPr lang="en-US" sz="195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858750" y="3048000"/>
            <a:ext cx="2095500" cy="8001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195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950" b="1" dirty="0" spc="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5621000" y="3048000"/>
            <a:ext cx="1752600" cy="8001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</a:t>
            </a:r>
            <a:r>
              <a:rPr lang="en-US" sz="195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1950" dirty="0"/>
          </a:p>
        </p:txBody>
      </p:sp>
      <p:sp>
        <p:nvSpPr>
          <p:cNvPr id="11" name="Connector line-1792383638274-895085669"/>
          <p:cNvSpPr/>
          <p:nvPr/>
        </p:nvSpPr>
        <p:spPr>
          <a:xfrm>
            <a:off x="12192000" y="3448050"/>
            <a:ext cx="66675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2" name="Connector line-1792383638275-751200139"/>
          <p:cNvSpPr/>
          <p:nvPr/>
        </p:nvSpPr>
        <p:spPr>
          <a:xfrm>
            <a:off x="14954250" y="3448050"/>
            <a:ext cx="66675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3" name="Connector line-1792383638275-518377975"/>
          <p:cNvSpPr/>
          <p:nvPr/>
        </p:nvSpPr>
        <p:spPr>
          <a:xfrm>
            <a:off x="10382250" y="4762500"/>
            <a:ext cx="6991350" cy="0"/>
          </a:xfrm>
          <a:prstGeom prst="line">
            <a:avLst/>
          </a:prstGeom>
          <a:noFill/>
          <a:ln w="28575">
            <a:solidFill>
              <a:srgbClr val="3A4055"/>
            </a:solidFill>
            <a:prstDash val="lgDash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10382250" y="53340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8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382250" y="5810250"/>
            <a:ext cx="6991350" cy="9144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</a:t>
            </a:r>
            <a:r>
              <a:rPr lang="en-US" sz="210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1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</a:t>
            </a:r>
            <a:r>
              <a:rPr lang="en-US" sz="2100" b="1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</a:t>
            </a:r>
            <a:r>
              <a:rPr lang="en-US" sz="210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lỗi:</a:t>
            </a:r>
            <a:r>
              <a:rPr lang="en-US" sz="2100" b="1" dirty="0" spc="-1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100" b="1" dirty="0" spc="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 trúc phần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2719925b-c11a-4da6-89e6-f9541dc6062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190750"/>
            <a:ext cx="16459200" cy="3619500"/>
          </a:xfrm>
          <a:prstGeom prst="rect">
            <a:avLst/>
          </a:prstGeom>
          <a:noFill/>
          <a:ln/>
        </p:spPr>
        <p:txBody>
          <a:bodyPr wrap="square" lIns="0" tIns="66294" rIns="0" bIns="-66294" rtlCol="0" anchor="t"/>
          <a:lstStyle/>
          <a:p>
            <a:pPr algn="l" indent="0" marL="0">
              <a:lnSpc>
                <a:spcPts val="9396"/>
              </a:lnSpc>
              <a:buNone/>
            </a:pPr>
            <a:r>
              <a:rPr lang="en-US" sz="8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8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 dữ</a:t>
            </a:r>
            <a:r>
              <a:rPr lang="en-US" sz="87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8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87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9396"/>
              </a:lnSpc>
              <a:buNone/>
            </a:pPr>
            <a:r>
              <a:rPr lang="en-US" sz="8700" dirty="0" spc="-3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ranh</a:t>
            </a:r>
            <a:r>
              <a:rPr lang="en-US" sz="8700" dirty="0" spc="-3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giới</a:t>
            </a:r>
            <a:pPr algn="l" indent="0" marL="0">
              <a:lnSpc>
                <a:spcPts val="9396"/>
              </a:lnSpc>
              <a:buNone/>
            </a:pPr>
            <a:r>
              <a:rPr lang="en-US" sz="8700" dirty="0" spc="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đều</a:t>
            </a:r>
            <a:r>
              <a:rPr lang="en-US" sz="8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8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giá.</a:t>
            </a:r>
            <a:endParaRPr lang="en-US" sz="8700" dirty="0"/>
          </a:p>
        </p:txBody>
      </p:sp>
      <p:sp>
        <p:nvSpPr>
          <p:cNvPr id="4" name="Shape 2"/>
          <p:cNvSpPr/>
          <p:nvPr/>
        </p:nvSpPr>
        <p:spPr>
          <a:xfrm>
            <a:off x="914400" y="733425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DDE3FA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7334250"/>
            <a:ext cx="15697200" cy="1143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Bài</a:t>
            </a:r>
            <a:r>
              <a:rPr lang="en-US" sz="25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này</a:t>
            </a:r>
            <a:r>
              <a:rPr lang="en-US" sz="255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</a:t>
            </a:r>
            <a:r>
              <a:rPr lang="en-US" sz="2550" dirty="0" spc="-2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xem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</a:t>
            </a:r>
            <a:r>
              <a:rPr lang="en-US" sz="25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đó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lớn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cỡ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nào.</a:t>
            </a:r>
            <a:endParaRPr lang="en-US" sz="2550" dirty="0"/>
          </a:p>
        </p:txBody>
      </p:sp>
      <p:sp>
        <p:nvSpPr>
          <p:cNvPr id="6" name="Connector line-1792383650484-181853023"/>
          <p:cNvSpPr/>
          <p:nvPr/>
        </p:nvSpPr>
        <p:spPr>
          <a:xfrm>
            <a:off x="990600" y="9486900"/>
            <a:ext cx="22669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9" name="Shape 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02/08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854309ad-8304-44a7-9629-06f272de665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TRƯỚC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PHẦN</a:t>
            </a:r>
            <a:r>
              <a:rPr lang="en-US" sz="1800" b="1" spc="26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800" b="1" spc="28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RỜI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9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Trước: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 thao</a:t>
            </a:r>
            <a:r>
              <a:rPr lang="en-US" sz="6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tác</a:t>
            </a:r>
            <a:r>
              <a:rPr lang="en-US" sz="69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đắt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</a:t>
            </a:r>
            <a:endParaRPr lang="en-US" sz="6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762250"/>
          <a:ext cx="13716000" cy="914400"/>
        </p:xfrm>
        <a:graphic>
          <a:graphicData uri="http://schemas.openxmlformats.org/drawingml/2006/table">
            <a:tbl>
              <a:tblPr/>
              <a:tblGrid>
                <a:gridCol w="6912864"/>
                <a:gridCol w="9546336"/>
              </a:tblGrid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Thao</a:t>
                      </a:r>
                      <a:r>
                        <a:rPr lang="en-US" sz="2550" b="1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tác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FD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4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Vì</a:t>
                      </a:r>
                      <a:r>
                        <a:rPr lang="en-US" sz="2550" b="1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sao</a:t>
                      </a:r>
                      <a:r>
                        <a:rPr lang="en-US" sz="2550" b="1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đắt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FD1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4" kern="0">
                          <a:solidFill>
                            <a:srgbClr val="1F3FD1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Quy</a:t>
                      </a:r>
                      <a:r>
                        <a:rPr lang="en-US" sz="2550" dirty="0" spc="5" kern="0">
                          <a:solidFill>
                            <a:srgbClr val="1F3FD1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trình</a:t>
                      </a:r>
                      <a:r>
                        <a:rPr lang="en-US" sz="2550" dirty="0" spc="12" kern="0">
                          <a:solidFill>
                            <a:srgbClr val="1F3FD1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điều</a:t>
                      </a:r>
                      <a:r>
                        <a:rPr lang="en-US" sz="2550" dirty="0" spc="-8" kern="0">
                          <a:solidFill>
                            <a:srgbClr val="1F3FD1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phối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Tính</a:t>
                      </a: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tiền</a:t>
                      </a:r>
                      <a:r>
                        <a:rPr lang="en-US" sz="25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theo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mỗi lần</a:t>
                      </a:r>
                      <a:r>
                        <a:rPr lang="en-US" sz="2550" dirty="0" spc="-1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chuyển</a:t>
                      </a:r>
                      <a:r>
                        <a:rPr lang="en-US" sz="2550" dirty="0" spc="-1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trạng</a:t>
                      </a: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thái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9" kern="0">
                          <a:solidFill>
                            <a:srgbClr val="1F3FD1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Chuyển</a:t>
                      </a:r>
                      <a:r>
                        <a:rPr lang="en-US" sz="2550" dirty="0" spc="3" kern="0">
                          <a:solidFill>
                            <a:srgbClr val="1F3FD1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dữ</a:t>
                      </a:r>
                      <a:r>
                        <a:rPr lang="en-US" sz="2550" dirty="0" spc="-1" kern="0">
                          <a:solidFill>
                            <a:srgbClr val="1F3FD1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liệu</a:t>
                      </a:r>
                      <a:r>
                        <a:rPr lang="en-US" sz="2550" dirty="0" spc="-6" kern="0">
                          <a:solidFill>
                            <a:srgbClr val="1F3FD1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trung</a:t>
                      </a:r>
                      <a:r>
                        <a:rPr lang="en-US" sz="2550" dirty="0" spc="3" kern="0">
                          <a:solidFill>
                            <a:srgbClr val="1F3FD1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gian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Lưu</a:t>
                      </a:r>
                      <a:r>
                        <a:rPr lang="en-US" sz="2550" dirty="0" spc="-1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vào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kho</a:t>
                      </a:r>
                      <a:r>
                        <a:rPr lang="en-US" sz="2550" dirty="0" spc="1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đối</a:t>
                      </a:r>
                      <a:r>
                        <a:rPr lang="en-US" sz="2550" dirty="0" spc="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tượng,</a:t>
                      </a:r>
                      <a:r>
                        <a:rPr lang="en-US" sz="2550" dirty="0" spc="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bước</a:t>
                      </a:r>
                      <a:r>
                        <a:rPr lang="en-US" sz="255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sau</a:t>
                      </a:r>
                      <a:r>
                        <a:rPr lang="en-US" sz="2550" dirty="0" spc="-1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tải</a:t>
                      </a:r>
                      <a:r>
                        <a:rPr lang="en-US" sz="2550" dirty="0" spc="-1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về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3" kern="0">
                          <a:solidFill>
                            <a:srgbClr val="1F3FD1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Lambda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Nhanh</a:t>
                      </a:r>
                      <a:r>
                        <a:rPr lang="en-US" sz="2550" dirty="0" spc="1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để</a:t>
                      </a:r>
                      <a:r>
                        <a:rPr lang="en-US" sz="2550" dirty="0" spc="1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dựng,</a:t>
                      </a: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đắt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ở</a:t>
                      </a: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quy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mô lớn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14400" y="7762875"/>
            <a:ext cx="16459200" cy="1047750"/>
          </a:xfrm>
          <a:prstGeom prst="roundRect">
            <a:avLst>
              <a:gd name="adj" fmla="val 25455"/>
            </a:avLst>
          </a:prstGeom>
          <a:solidFill>
            <a:srgbClr val="DDE3FA"/>
          </a:solidFill>
          <a:ln/>
        </p:spPr>
      </p:sp>
      <p:sp>
        <p:nvSpPr>
          <p:cNvPr id="6" name="Text 3"/>
          <p:cNvSpPr/>
          <p:nvPr/>
        </p:nvSpPr>
        <p:spPr>
          <a:xfrm>
            <a:off x="1295400" y="7762875"/>
            <a:ext cx="15697200" cy="1047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Khối</a:t>
            </a:r>
            <a:r>
              <a:rPr lang="en-US" sz="25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lượng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lớn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thì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</a:t>
            </a:r>
            <a:r>
              <a:rPr lang="en-US" sz="25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tải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2550" dirty="0" spc="-2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rất</a:t>
            </a:r>
            <a:r>
              <a:rPr lang="en-US" sz="25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tốn</a:t>
            </a:r>
            <a:r>
              <a:rPr lang="en-US" sz="255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kém.</a:t>
            </a:r>
            <a:endParaRPr lang="en-US" sz="2550" dirty="0"/>
          </a:p>
        </p:txBody>
      </p:sp>
      <p:sp>
        <p:nvSpPr>
          <p:cNvPr id="7" name="Connector line-1792383663206-621592204"/>
          <p:cNvSpPr/>
          <p:nvPr/>
        </p:nvSpPr>
        <p:spPr>
          <a:xfrm>
            <a:off x="990600" y="9486900"/>
            <a:ext cx="22669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1" name="Shape 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03/08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81bb6059-4442-415f-84da-3a5ea54fd47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8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GỘP HAI</a:t>
            </a:r>
            <a:r>
              <a:rPr lang="en-US" sz="1800" b="1" spc="30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1800" b="1" spc="25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1800" b="1" spc="27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 TRÌNH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Trước</a:t>
            </a:r>
            <a:r>
              <a:rPr lang="en-US" sz="69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9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gộp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4286250"/>
          </a:xfrm>
          <a:prstGeom prst="roundRect">
            <a:avLst>
              <a:gd name="adj" fmla="val 7111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162300"/>
            <a:ext cx="2476500" cy="4953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Trước</a:t>
            </a:r>
            <a:endParaRPr lang="en-US" sz="1950" dirty="0"/>
          </a:p>
        </p:txBody>
      </p:sp>
      <p:sp>
        <p:nvSpPr>
          <p:cNvPr id="6" name="Text richtext-1792383684584-378833109"/>
          <p:cNvSpPr/>
          <p:nvPr/>
        </p:nvSpPr>
        <p:spPr>
          <a:xfrm>
            <a:off x="1238250" y="4000500"/>
            <a:ext cx="7353300" cy="2857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marL="323850" indent="-231371">
              <a:lnSpc>
                <a:spcPts val="3188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5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phần</a:t>
            </a: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rời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endParaRPr lang="en-US" sz="2550" dirty="0"/>
          </a:p>
          <a:p>
            <a:pPr algn="l" marL="323850" indent="-231371">
              <a:lnSpc>
                <a:spcPts val="3188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5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tượng.</a:t>
            </a:r>
            <a:endParaRPr lang="en-US" sz="2550" dirty="0"/>
          </a:p>
          <a:p>
            <a:pPr algn="l" marL="323850" indent="-231371">
              <a:lnSpc>
                <a:spcPts val="3188"/>
              </a:lnSpc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 tiền</a:t>
            </a:r>
            <a:r>
              <a:rPr lang="en-US" sz="25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372600" y="2857500"/>
            <a:ext cx="8001000" cy="4286250"/>
          </a:xfrm>
          <a:prstGeom prst="roundRect">
            <a:avLst>
              <a:gd name="adj" fmla="val 7111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6450" y="3162300"/>
            <a:ext cx="2476500" cy="4953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</a:t>
            </a:r>
            <a:endParaRPr lang="en-US" sz="1950" dirty="0"/>
          </a:p>
        </p:txBody>
      </p:sp>
      <p:sp>
        <p:nvSpPr>
          <p:cNvPr id="9" name="Text richtext-1792383684610-742253145"/>
          <p:cNvSpPr/>
          <p:nvPr/>
        </p:nvSpPr>
        <p:spPr>
          <a:xfrm>
            <a:off x="9696450" y="4000500"/>
            <a:ext cx="7353300" cy="2857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marL="323850" indent="-231371">
              <a:lnSpc>
                <a:spcPts val="3188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</a:t>
            </a:r>
            <a:r>
              <a:rPr lang="en-US" sz="25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 tiến</a:t>
            </a:r>
            <a:r>
              <a:rPr lang="en-US" sz="25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trình.</a:t>
            </a:r>
            <a:endParaRPr lang="en-US" sz="2550" dirty="0"/>
          </a:p>
          <a:p>
            <a:pPr algn="l" marL="323850" indent="-231371">
              <a:lnSpc>
                <a:spcPts val="3188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không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kho.</a:t>
            </a:r>
            <a:endParaRPr lang="en-US" sz="2550" dirty="0"/>
          </a:p>
          <a:p>
            <a:pPr algn="l" marL="323850" indent="-231371">
              <a:lnSpc>
                <a:spcPts val="3188"/>
              </a:lnSpc>
              <a:buSzPct val="100000"/>
              <a:buFont typeface="Arial"/>
              <a:buChar char="•"/>
            </a:pP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90% chi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7524750"/>
            <a:ext cx="16459200" cy="1047750"/>
          </a:xfrm>
          <a:prstGeom prst="roundRect">
            <a:avLst>
              <a:gd name="adj" fmla="val 25455"/>
            </a:avLst>
          </a:prstGeom>
          <a:solidFill>
            <a:srgbClr val="262B38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7524750"/>
            <a:ext cx="133350" cy="10477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2" name="Text 10"/>
          <p:cNvSpPr/>
          <p:nvPr/>
        </p:nvSpPr>
        <p:spPr>
          <a:xfrm>
            <a:off x="1333500" y="7524750"/>
            <a:ext cx="15659100" cy="10477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4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Vẫn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phần,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bớt</a:t>
            </a:r>
            <a:r>
              <a:rPr lang="en-US" sz="24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ranh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giới</a:t>
            </a:r>
            <a:r>
              <a:rPr lang="en-US" sz="24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giữa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24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bước</a:t>
            </a:r>
            <a:r>
              <a:rPr lang="en-US" sz="24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đầu.</a:t>
            </a:r>
            <a:endParaRPr lang="en-US" sz="2400" dirty="0"/>
          </a:p>
        </p:txBody>
      </p:sp>
      <p:sp>
        <p:nvSpPr>
          <p:cNvPr id="13" name="Connector line-1792383684622-749431366"/>
          <p:cNvSpPr/>
          <p:nvPr/>
        </p:nvSpPr>
        <p:spPr>
          <a:xfrm>
            <a:off x="990600" y="9486900"/>
            <a:ext cx="226695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 04/08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ff0c41a1-6418-4515-b73c-5cdd079919a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THỬ:</a:t>
            </a:r>
            <a:r>
              <a:rPr lang="en-US" sz="1800" b="1" spc="30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1800" b="1" spc="28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r>
              <a:rPr lang="en-US" sz="180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r>
              <a:rPr lang="en-US" sz="1800" b="1" spc="29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MEBIBYTE,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Qua</a:t>
            </a:r>
            <a:r>
              <a:rPr lang="en-US" sz="69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ranh</a:t>
            </a:r>
            <a:r>
              <a:rPr lang="en-US" sz="69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giới</a:t>
            </a:r>
            <a:r>
              <a:rPr lang="en-US" sz="69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69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tốn</a:t>
            </a:r>
            <a:r>
              <a:rPr lang="en-US" sz="69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thời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3886200" cy="4000500"/>
          </a:xfrm>
          <a:prstGeom prst="roundRect">
            <a:avLst>
              <a:gd name="adj" fmla="val 7843"/>
            </a:avLst>
          </a:prstGeom>
          <a:solidFill>
            <a:srgbClr val="F3DFB8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3162300"/>
            <a:ext cx="3276600" cy="857250"/>
          </a:xfrm>
          <a:prstGeom prst="rect">
            <a:avLst/>
          </a:prstGeom>
          <a:noFill/>
          <a:ln/>
        </p:spPr>
        <p:txBody>
          <a:bodyPr wrap="square" lIns="0" tIns="13376" rIns="0" bIns="-13376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400" b="1" dirty="0" spc="-3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Trao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19200" y="4286250"/>
            <a:ext cx="32766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5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219200" y="5238750"/>
            <a:ext cx="3276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219200" y="5715000"/>
            <a:ext cx="3276600" cy="8572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19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195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5105400" y="2857500"/>
            <a:ext cx="3886200" cy="4000500"/>
          </a:xfrm>
          <a:prstGeom prst="roundRect">
            <a:avLst>
              <a:gd name="adj" fmla="val 7843"/>
            </a:avLst>
          </a:prstGeom>
          <a:solidFill>
            <a:srgbClr val="DDE3FA"/>
          </a:solidFill>
          <a:ln/>
        </p:spPr>
      </p:sp>
      <p:sp>
        <p:nvSpPr>
          <p:cNvPr id="10" name="Text 8"/>
          <p:cNvSpPr/>
          <p:nvPr/>
        </p:nvSpPr>
        <p:spPr>
          <a:xfrm>
            <a:off x="5410200" y="3162300"/>
            <a:ext cx="3276600" cy="857250"/>
          </a:xfrm>
          <a:prstGeom prst="rect">
            <a:avLst/>
          </a:prstGeom>
          <a:noFill/>
          <a:ln/>
        </p:spPr>
        <p:txBody>
          <a:bodyPr wrap="square" lIns="0" tIns="13376" rIns="0" bIns="-13376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4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Sao</a:t>
            </a:r>
            <a:r>
              <a:rPr lang="en-US" sz="24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chép một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10200" y="4286250"/>
            <a:ext cx="32766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1,3</a:t>
            </a:r>
            <a:r>
              <a:rPr lang="en-US" sz="3900" dirty="0" spc="1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3900" dirty="0" spc="-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2,0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5410200" y="5238750"/>
            <a:ext cx="3276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ms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5410200" y="5715000"/>
            <a:ext cx="3276600" cy="8572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19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195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296400" y="2857500"/>
            <a:ext cx="3886200" cy="4000500"/>
          </a:xfrm>
          <a:prstGeom prst="roundRect">
            <a:avLst>
              <a:gd name="adj" fmla="val 7843"/>
            </a:avLst>
          </a:prstGeom>
          <a:solidFill>
            <a:srgbClr val="DDE3FA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0" y="3162300"/>
            <a:ext cx="3276600" cy="857250"/>
          </a:xfrm>
          <a:prstGeom prst="rect">
            <a:avLst/>
          </a:prstGeom>
          <a:noFill/>
          <a:ln/>
        </p:spPr>
        <p:txBody>
          <a:bodyPr wrap="square" lIns="0" tIns="13376" rIns="0" bIns="-13376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4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Socket</a:t>
            </a:r>
            <a:r>
              <a:rPr lang="en-US" sz="2400" b="1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601200" y="4286250"/>
            <a:ext cx="32766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12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7,4</a:t>
            </a:r>
            <a:r>
              <a:rPr lang="en-US" sz="3900" dirty="0" spc="1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3900" dirty="0" spc="-2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9,4</a:t>
            </a:r>
            <a:endParaRPr lang="en-US" sz="3900" dirty="0"/>
          </a:p>
        </p:txBody>
      </p:sp>
      <p:sp>
        <p:nvSpPr>
          <p:cNvPr id="17" name="Text 15"/>
          <p:cNvSpPr/>
          <p:nvPr/>
        </p:nvSpPr>
        <p:spPr>
          <a:xfrm>
            <a:off x="9601200" y="5238750"/>
            <a:ext cx="3276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ms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9601200" y="5715000"/>
            <a:ext cx="3276600" cy="8572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sang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195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3487400" y="2857500"/>
            <a:ext cx="3886200" cy="4000500"/>
          </a:xfrm>
          <a:prstGeom prst="roundRect">
            <a:avLst>
              <a:gd name="adj" fmla="val 7843"/>
            </a:avLst>
          </a:prstGeom>
          <a:solidFill>
            <a:srgbClr val="DDE3FA"/>
          </a:solidFill>
          <a:ln/>
        </p:spPr>
      </p:sp>
      <p:sp>
        <p:nvSpPr>
          <p:cNvPr id="20" name="Text 18"/>
          <p:cNvSpPr/>
          <p:nvPr/>
        </p:nvSpPr>
        <p:spPr>
          <a:xfrm>
            <a:off x="13792200" y="3162300"/>
            <a:ext cx="3276600" cy="857250"/>
          </a:xfrm>
          <a:prstGeom prst="rect">
            <a:avLst/>
          </a:prstGeom>
          <a:noFill/>
          <a:ln/>
        </p:spPr>
        <p:txBody>
          <a:bodyPr wrap="square" lIns="0" tIns="13376" rIns="0" bIns="-13376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4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3792200" y="4286250"/>
            <a:ext cx="32766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12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7,3</a:t>
            </a:r>
            <a:r>
              <a:rPr lang="en-US" sz="3900" dirty="0" spc="1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3900" dirty="0" spc="-2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12,1</a:t>
            </a:r>
            <a:endParaRPr lang="en-US" sz="3900" dirty="0"/>
          </a:p>
        </p:txBody>
      </p:sp>
      <p:sp>
        <p:nvSpPr>
          <p:cNvPr id="22" name="Text 20"/>
          <p:cNvSpPr/>
          <p:nvPr/>
        </p:nvSpPr>
        <p:spPr>
          <a:xfrm>
            <a:off x="13792200" y="5238750"/>
            <a:ext cx="3276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ms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3792200" y="5715000"/>
            <a:ext cx="3276600" cy="8572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tiến</a:t>
            </a:r>
            <a:r>
              <a:rPr lang="en-US" sz="195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19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14400" y="733425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DDE3FA"/>
          </a:solidFill>
          <a:ln/>
        </p:spPr>
      </p:sp>
      <p:sp>
        <p:nvSpPr>
          <p:cNvPr id="25" name="Text 23"/>
          <p:cNvSpPr/>
          <p:nvPr/>
        </p:nvSpPr>
        <p:spPr>
          <a:xfrm>
            <a:off x="1295400" y="7334250"/>
            <a:ext cx="15697200" cy="1143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Mới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5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5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máy:</a:t>
            </a:r>
            <a:r>
              <a:rPr lang="en-US" sz="255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tính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mạng</a:t>
            </a:r>
            <a:r>
              <a:rPr lang="en-US" sz="25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thật</a:t>
            </a:r>
            <a:r>
              <a:rPr lang="en-US" sz="255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phí kho.</a:t>
            </a:r>
            <a:endParaRPr lang="en-US" sz="2550" dirty="0"/>
          </a:p>
        </p:txBody>
      </p:sp>
      <p:sp>
        <p:nvSpPr>
          <p:cNvPr id="26" name="Connector line-1792383713472-442628036"/>
          <p:cNvSpPr/>
          <p:nvPr/>
        </p:nvSpPr>
        <p:spPr>
          <a:xfrm>
            <a:off x="990600" y="9486900"/>
            <a:ext cx="22669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2" name="Shape 3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05/08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afb5d6f5-3ccf-467a-b968-f84e072f600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Video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gấp</a:t>
            </a:r>
            <a:r>
              <a:rPr lang="en-US" sz="69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đôi</a:t>
            </a:r>
            <a:r>
              <a:rPr lang="en-US" sz="69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69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15697200" cy="1143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Video</a:t>
            </a: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gấp</a:t>
            </a:r>
            <a:r>
              <a:rPr lang="en-US" sz="27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đôi: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phí</a:t>
            </a:r>
            <a:r>
              <a:rPr lang="en-US" sz="27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chuyển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 liệu</a:t>
            </a:r>
            <a:r>
              <a:rPr lang="en-US" sz="2700" dirty="0" spc="-2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sao?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286250"/>
            <a:ext cx="16459200" cy="952500"/>
          </a:xfrm>
          <a:prstGeom prst="roundRect">
            <a:avLst>
              <a:gd name="adj" fmla="val 24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4900" y="4381500"/>
            <a:ext cx="762000" cy="762000"/>
          </a:xfrm>
          <a:prstGeom prst="ellipse">
            <a:avLst/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095500" y="4286250"/>
            <a:ext cx="14859000" cy="952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5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Tăng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 gấp</a:t>
            </a:r>
            <a:r>
              <a:rPr lang="en-US" sz="25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đôi: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tỉ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mebibyte.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" y="5391150"/>
            <a:ext cx="16459200" cy="952500"/>
          </a:xfrm>
          <a:prstGeom prst="roundRect">
            <a:avLst>
              <a:gd name="adj" fmla="val 24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04900" y="5486400"/>
            <a:ext cx="762000" cy="76200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095500" y="5391150"/>
            <a:ext cx="14859000" cy="952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Gộp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trình: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trao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chiếu,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miễn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6496050"/>
            <a:ext cx="16459200" cy="952500"/>
          </a:xfrm>
          <a:prstGeom prst="roundRect">
            <a:avLst>
              <a:gd name="adj" fmla="val 24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4900" y="6591300"/>
            <a:ext cx="762000" cy="7620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095500" y="6496050"/>
            <a:ext cx="14859000" cy="952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lại: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máy,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hành,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rộng.</a:t>
            </a:r>
            <a:endParaRPr lang="en-US" sz="2550" dirty="0"/>
          </a:p>
        </p:txBody>
      </p:sp>
      <p:sp>
        <p:nvSpPr>
          <p:cNvPr id="15" name="Connector line-1792383729969-561078070"/>
          <p:cNvSpPr/>
          <p:nvPr/>
        </p:nvSpPr>
        <p:spPr>
          <a:xfrm>
            <a:off x="990600" y="9486900"/>
            <a:ext cx="22669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 06/08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acba2cd1-737d-493f-a8cb-57f4a201ac9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 sắp</a:t>
            </a:r>
            <a:r>
              <a:rPr lang="en-US" sz="6900" dirty="0" spc="-7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xếp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9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</a:t>
            </a:r>
            <a:r>
              <a:rPr lang="en-US" sz="6900" dirty="0" spc="-8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219700" cy="4476750"/>
          </a:xfrm>
          <a:prstGeom prst="roundRect">
            <a:avLst>
              <a:gd name="adj" fmla="val 6809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181350"/>
            <a:ext cx="1428750" cy="4953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38250" y="3905250"/>
            <a:ext cx="4572000" cy="1047750"/>
          </a:xfrm>
          <a:prstGeom prst="rect">
            <a:avLst/>
          </a:prstGeom>
          <a:noFill/>
          <a:ln/>
        </p:spPr>
        <p:txBody>
          <a:bodyPr wrap="square" lIns="0" tIns="15852" rIns="0" bIns="-15852" rtlCol="0" anchor="t"/>
          <a:lstStyle/>
          <a:p>
            <a:pPr algn="l" indent="0" marL="0">
              <a:lnSpc>
                <a:spcPts val="3278"/>
              </a:lnSpc>
              <a:buNone/>
            </a:pPr>
            <a:r>
              <a:rPr lang="en-US" sz="28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8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8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Prime</a:t>
            </a: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Video</a:t>
            </a:r>
            <a:endParaRPr lang="en-US" sz="2850" dirty="0"/>
          </a:p>
        </p:txBody>
      </p:sp>
      <p:sp>
        <p:nvSpPr>
          <p:cNvPr id="7" name="Text richtext-1792383744502-644956537"/>
          <p:cNvSpPr/>
          <p:nvPr/>
        </p:nvSpPr>
        <p:spPr>
          <a:xfrm>
            <a:off x="1238250" y="5143500"/>
            <a:ext cx="4572000" cy="200025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marL="285750" indent="-204151">
              <a:lnSpc>
                <a:spcPts val="2813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Kiến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2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25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sau.</a:t>
            </a:r>
            <a:endParaRPr lang="en-US" sz="2250" dirty="0"/>
          </a:p>
          <a:p>
            <a:pPr algn="l" marL="285750" indent="-204151">
              <a:lnSpc>
                <a:spcPts val="2813"/>
              </a:lnSpc>
              <a:buSzPct val="100000"/>
              <a:buFont typeface="Arial"/>
              <a:buChar char="•"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lãnh</a:t>
            </a:r>
            <a:r>
              <a:rPr lang="en-US" sz="22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đạo.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534150" y="2857500"/>
            <a:ext cx="5219700" cy="4476750"/>
          </a:xfrm>
          <a:prstGeom prst="roundRect">
            <a:avLst>
              <a:gd name="adj" fmla="val 6809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3181350"/>
            <a:ext cx="1428750" cy="4953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858000" y="3905250"/>
            <a:ext cx="4572000" cy="1047750"/>
          </a:xfrm>
          <a:prstGeom prst="rect">
            <a:avLst/>
          </a:prstGeom>
          <a:noFill/>
          <a:ln/>
        </p:spPr>
        <p:txBody>
          <a:bodyPr wrap="square" lIns="0" tIns="15852" rIns="0" bIns="-15852" rtlCol="0" anchor="t"/>
          <a:lstStyle/>
          <a:p>
            <a:pPr algn="l" indent="0" marL="0">
              <a:lnSpc>
                <a:spcPts val="3278"/>
              </a:lnSpc>
              <a:buNone/>
            </a:pP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endParaRPr lang="en-US" sz="2850" dirty="0"/>
          </a:p>
        </p:txBody>
      </p:sp>
      <p:sp>
        <p:nvSpPr>
          <p:cNvPr id="11" name="Text richtext-1792383744521-734369046"/>
          <p:cNvSpPr/>
          <p:nvPr/>
        </p:nvSpPr>
        <p:spPr>
          <a:xfrm>
            <a:off x="6858000" y="5143500"/>
            <a:ext cx="4572000" cy="200025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marL="285750" indent="-204151">
              <a:lnSpc>
                <a:spcPts val="2813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 tiền</a:t>
            </a:r>
            <a:r>
              <a:rPr lang="en-US" sz="22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Step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Functions.</a:t>
            </a:r>
            <a:endParaRPr lang="en-US" sz="2250" dirty="0"/>
          </a:p>
          <a:p>
            <a:pPr algn="l" marL="285750" indent="-204151">
              <a:lnSpc>
                <a:spcPts val="2813"/>
              </a:lnSpc>
              <a:buSzPct val="100000"/>
              <a:buFont typeface="Arial"/>
              <a:buChar char="•"/>
            </a:pP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Phép</a:t>
            </a:r>
            <a:r>
              <a:rPr lang="en-US" sz="225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2153900" y="2857500"/>
            <a:ext cx="5219700" cy="4476750"/>
          </a:xfrm>
          <a:prstGeom prst="roundRect">
            <a:avLst>
              <a:gd name="adj" fmla="val 6809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77750" y="3181350"/>
            <a:ext cx="2190750" cy="4953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2477750" y="3905250"/>
            <a:ext cx="4572000" cy="1047750"/>
          </a:xfrm>
          <a:prstGeom prst="rect">
            <a:avLst/>
          </a:prstGeom>
          <a:noFill/>
          <a:ln/>
        </p:spPr>
        <p:txBody>
          <a:bodyPr wrap="square" lIns="0" tIns="15852" rIns="0" bIns="-15852" rtlCol="0" anchor="t"/>
          <a:lstStyle/>
          <a:p>
            <a:pPr algn="l" indent="0" marL="0">
              <a:lnSpc>
                <a:spcPts val="3278"/>
              </a:lnSpc>
              <a:buNone/>
            </a:pPr>
            <a:r>
              <a:rPr lang="en-US" sz="2850" b="1" dirty="0" spc="-3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Lấy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850" dirty="0"/>
          </a:p>
        </p:txBody>
      </p:sp>
      <p:sp>
        <p:nvSpPr>
          <p:cNvPr id="15" name="Text richtext-1792383744528-571222838"/>
          <p:cNvSpPr/>
          <p:nvPr/>
        </p:nvSpPr>
        <p:spPr>
          <a:xfrm>
            <a:off x="12477750" y="5143500"/>
            <a:ext cx="4572000" cy="200025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marL="285750" indent="-204151">
              <a:lnSpc>
                <a:spcPts val="2813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 số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90%.</a:t>
            </a:r>
            <a:endParaRPr lang="en-US" sz="2250" dirty="0"/>
          </a:p>
          <a:p>
            <a:pPr algn="l" marL="285750" indent="-204151">
              <a:lnSpc>
                <a:spcPts val="2813"/>
              </a:lnSpc>
              <a:buSzPct val="100000"/>
              <a:buFont typeface="Arial"/>
              <a:buChar char="•"/>
            </a:pPr>
            <a:r>
              <a:rPr lang="en-US" sz="2250" dirty="0" spc="-2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Lời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lãnh</a:t>
            </a:r>
            <a:r>
              <a:rPr lang="en-US" sz="22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đạo.</a:t>
            </a:r>
            <a:endParaRPr lang="en-US" sz="2250" dirty="0"/>
          </a:p>
        </p:txBody>
      </p:sp>
      <p:sp>
        <p:nvSpPr>
          <p:cNvPr id="16" name="Connector line-1792383744533-475870206"/>
          <p:cNvSpPr/>
          <p:nvPr/>
        </p:nvSpPr>
        <p:spPr>
          <a:xfrm>
            <a:off x="990600" y="9486900"/>
            <a:ext cx="226695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07/08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e789725e-a565-4da3-aa14-f26cb585254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 từ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16459200" cy="914400"/>
          </a:xfrm>
          <a:prstGeom prst="roundRect">
            <a:avLst>
              <a:gd name="adj" fmla="val 22917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04900" y="2838450"/>
            <a:ext cx="3048000" cy="5715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TCP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476750" y="2705100"/>
            <a:ext cx="12573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Transmission</a:t>
            </a: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Control</a:t>
            </a:r>
            <a:r>
              <a:rPr lang="en-US" sz="16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476750" y="3009900"/>
            <a:ext cx="1257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4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2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2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2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3733800"/>
            <a:ext cx="16459200" cy="914400"/>
          </a:xfrm>
          <a:prstGeom prst="roundRect">
            <a:avLst>
              <a:gd name="adj" fmla="val 22917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104900" y="3905250"/>
            <a:ext cx="3048000" cy="5715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Lambda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476750" y="3733800"/>
            <a:ext cx="1257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2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14400" y="4800600"/>
            <a:ext cx="16459200" cy="914400"/>
          </a:xfrm>
          <a:prstGeom prst="roundRect">
            <a:avLst>
              <a:gd name="adj" fmla="val 22917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1104900" y="4972050"/>
            <a:ext cx="3048000" cy="5715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Step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Functions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476750" y="4800600"/>
            <a:ext cx="1257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22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2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phối,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14400" y="5867400"/>
            <a:ext cx="16459200" cy="914400"/>
          </a:xfrm>
          <a:prstGeom prst="roundRect">
            <a:avLst>
              <a:gd name="adj" fmla="val 22917"/>
            </a:avLst>
          </a:prstGeom>
          <a:solidFill>
            <a:srgbClr val="1E212B"/>
          </a:solidFill>
          <a:ln/>
        </p:spPr>
      </p:sp>
      <p:sp>
        <p:nvSpPr>
          <p:cNvPr id="15" name="Text 13"/>
          <p:cNvSpPr/>
          <p:nvPr/>
        </p:nvSpPr>
        <p:spPr>
          <a:xfrm>
            <a:off x="1104900" y="6038850"/>
            <a:ext cx="3048000" cy="5715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476750" y="5867400"/>
            <a:ext cx="1257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Nơi</a:t>
            </a:r>
            <a:r>
              <a:rPr lang="en-US" sz="22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2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2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2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14400" y="7429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782955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(bản</a:t>
            </a: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195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định)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dirty="0" spc="-3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AWS:</a:t>
            </a:r>
            <a:r>
              <a:rPr lang="en-US" sz="19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r>
              <a:rPr lang="en-US" sz="19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Standard</a:t>
            </a:r>
            <a:r>
              <a:rPr lang="en-US" sz="19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Express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Step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Functions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(bản</a:t>
            </a:r>
            <a:r>
              <a:rPr lang="en-US" sz="195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2022)</a:t>
            </a: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9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9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</a:t>
            </a:r>
            <a:endParaRPr lang="en-US" sz="1950" dirty="0"/>
          </a:p>
        </p:txBody>
      </p:sp>
      <p:sp>
        <p:nvSpPr>
          <p:cNvPr id="19" name="Connector line-1792383763999-377269717"/>
          <p:cNvSpPr/>
          <p:nvPr/>
        </p:nvSpPr>
        <p:spPr>
          <a:xfrm>
            <a:off x="990600" y="9486900"/>
            <a:ext cx="226695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 08/08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1351160e-a820-442d-9ed5-8088bf173eb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2026-10-19T04:23:03Z</dcterms:created>
  <dcterms:modified xsi:type="dcterms:W3CDTF">2026-10-19T04:23:03Z</dcterms:modified>
</cp:coreProperties>
</file>