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14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1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6858000"/>
            <a:ext cx="211455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3257550" y="6858000"/>
            <a:ext cx="211455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5600700" y="6858000"/>
            <a:ext cx="211455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7943850" y="6858000"/>
            <a:ext cx="211455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7029450"/>
            <a:ext cx="21145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 spc="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3257550" y="7029450"/>
            <a:ext cx="21145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5600700" y="7029450"/>
            <a:ext cx="21145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7943850" y="7029450"/>
            <a:ext cx="21145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914400" y="7905750"/>
            <a:ext cx="2114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 toán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57550" y="7905750"/>
            <a:ext cx="2114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600700" y="7905750"/>
            <a:ext cx="2114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943850" y="7905750"/>
            <a:ext cx="2114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0858500" y="914400"/>
            <a:ext cx="6515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11239500" y="12573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7" name="Text 15"/>
          <p:cNvSpPr/>
          <p:nvPr/>
        </p:nvSpPr>
        <p:spPr>
          <a:xfrm>
            <a:off x="11239500" y="1485900"/>
            <a:ext cx="5810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1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239500" y="186690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Xếp,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11239500" y="2495550"/>
            <a:ext cx="581025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Sắp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Dijkstra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100" dirty="0" spc="-2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0858500" y="3695700"/>
            <a:ext cx="6515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39500" y="40386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2" name="Text 20"/>
          <p:cNvSpPr/>
          <p:nvPr/>
        </p:nvSpPr>
        <p:spPr>
          <a:xfrm>
            <a:off x="11239500" y="4267200"/>
            <a:ext cx="5810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1239500" y="464820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Mật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endParaRPr lang="en-US" sz="2850" dirty="0"/>
          </a:p>
        </p:txBody>
      </p:sp>
      <p:sp>
        <p:nvSpPr>
          <p:cNvPr id="24" name="Text 22"/>
          <p:cNvSpPr/>
          <p:nvPr/>
        </p:nvSpPr>
        <p:spPr>
          <a:xfrm>
            <a:off x="11239500" y="5276850"/>
            <a:ext cx="581025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RSA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 nguyên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Huffman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0858500" y="6477000"/>
            <a:ext cx="6515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26" name="Shape 24"/>
          <p:cNvSpPr/>
          <p:nvPr/>
        </p:nvSpPr>
        <p:spPr>
          <a:xfrm>
            <a:off x="11239500" y="68199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7" name="Text 25"/>
          <p:cNvSpPr/>
          <p:nvPr/>
        </p:nvSpPr>
        <p:spPr>
          <a:xfrm>
            <a:off x="11239500" y="7048500"/>
            <a:ext cx="5810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3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1239500" y="742950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850" dirty="0"/>
          </a:p>
        </p:txBody>
      </p:sp>
      <p:sp>
        <p:nvSpPr>
          <p:cNvPr id="29" name="Text 27"/>
          <p:cNvSpPr/>
          <p:nvPr/>
        </p:nvSpPr>
        <p:spPr>
          <a:xfrm>
            <a:off x="11239500" y="8058150"/>
            <a:ext cx="581025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Transformer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nơ-ron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914400" y="9486900"/>
            <a:ext cx="914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14400" y="1428750"/>
            <a:ext cx="9715500" cy="3810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dùng khắp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đời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sống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endParaRPr lang="en-US" sz="8100" dirty="0"/>
          </a:p>
        </p:txBody>
      </p:sp>
      <p:sp>
        <p:nvSpPr>
          <p:cNvPr id="32" name="Text 30"/>
          <p:cNvSpPr/>
          <p:nvPr/>
        </p:nvSpPr>
        <p:spPr>
          <a:xfrm>
            <a:off x="914400" y="5143500"/>
            <a:ext cx="9715500" cy="10668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Chín</a:t>
            </a:r>
            <a:r>
              <a:rPr lang="en-US" sz="30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tên, bảy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3000" dirty="0"/>
          </a:p>
          <a:p>
            <a:pPr algn="l" indent="0" marL="0">
              <a:lnSpc>
                <a:spcPts val="4200"/>
              </a:lnSpc>
              <a:buNone/>
            </a:pPr>
            <a:r>
              <a:rPr lang="en-US" sz="30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cái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 gì?</a:t>
            </a:r>
            <a:endParaRPr lang="en-US" sz="30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3e43703e-c8a8-44e8-86a7-f2d72e89381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dùng hằng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ngày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5524500"/>
            <a:ext cx="7620000" cy="3333750"/>
          </a:xfrm>
          <a:prstGeom prst="roundRect">
            <a:avLst>
              <a:gd name="adj" fmla="val 8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581025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525000" y="1295400"/>
            <a:ext cx="7467600" cy="2000250"/>
          </a:xfrm>
          <a:prstGeom prst="roundRect">
            <a:avLst>
              <a:gd name="adj" fmla="val 11429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9715500" y="285750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1334750" y="1543050"/>
            <a:ext cx="5429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Xếp,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11334750" y="2152650"/>
            <a:ext cx="5429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Sắp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Dijkstra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2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9525000" y="3619500"/>
            <a:ext cx="7467600" cy="2000250"/>
          </a:xfrm>
          <a:prstGeom prst="roundRect">
            <a:avLst>
              <a:gd name="adj" fmla="val 11429"/>
            </a:avLst>
          </a:prstGeom>
          <a:solidFill>
            <a:srgbClr val="F3DFB8"/>
          </a:solidFill>
          <a:ln/>
        </p:spPr>
      </p:sp>
      <p:sp>
        <p:nvSpPr>
          <p:cNvPr id="12" name="Text 10"/>
          <p:cNvSpPr/>
          <p:nvPr/>
        </p:nvSpPr>
        <p:spPr>
          <a:xfrm>
            <a:off x="9715500" y="518160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1334750" y="3867150"/>
            <a:ext cx="5429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Mật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endParaRPr lang="en-US" sz="2850" dirty="0"/>
          </a:p>
        </p:txBody>
      </p:sp>
      <p:sp>
        <p:nvSpPr>
          <p:cNvPr id="14" name="Shape 12"/>
          <p:cNvSpPr/>
          <p:nvPr/>
        </p:nvSpPr>
        <p:spPr>
          <a:xfrm>
            <a:off x="9525000" y="5943600"/>
            <a:ext cx="7467600" cy="2000250"/>
          </a:xfrm>
          <a:prstGeom prst="roundRect">
            <a:avLst>
              <a:gd name="adj" fmla="val 11429"/>
            </a:avLst>
          </a:prstGeom>
          <a:solidFill>
            <a:srgbClr val="CFE8E2"/>
          </a:solidFill>
          <a:ln/>
        </p:spPr>
      </p:sp>
      <p:sp>
        <p:nvSpPr>
          <p:cNvPr id="15" name="Text 13"/>
          <p:cNvSpPr/>
          <p:nvPr/>
        </p:nvSpPr>
        <p:spPr>
          <a:xfrm>
            <a:off x="9715500" y="750570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1334750" y="6191250"/>
            <a:ext cx="5429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850" dirty="0"/>
          </a:p>
        </p:txBody>
      </p:sp>
      <p:sp>
        <p:nvSpPr>
          <p:cNvPr id="17" name="Text 15"/>
          <p:cNvSpPr/>
          <p:nvPr/>
        </p:nvSpPr>
        <p:spPr>
          <a:xfrm>
            <a:off x="11334750" y="6800850"/>
            <a:ext cx="5429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Transformer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Mạng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nơ-ron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525000" y="81724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bài,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914400" y="3543300"/>
            <a:ext cx="7620000" cy="1714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bảy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850" dirty="0"/>
          </a:p>
        </p:txBody>
      </p:sp>
      <p:sp>
        <p:nvSpPr>
          <p:cNvPr id="30" name="Text 28"/>
          <p:cNvSpPr/>
          <p:nvPr/>
        </p:nvSpPr>
        <p:spPr>
          <a:xfrm>
            <a:off x="1295400" y="6286500"/>
            <a:ext cx="6858000" cy="2381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spcAft>
                <a:spcPts val="1050"/>
              </a:spcAft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Nhớ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550" dirty="0"/>
          </a:p>
          <a:p>
            <a:pPr algn="l" indent="0" marL="0">
              <a:lnSpc>
                <a:spcPts val="3570"/>
              </a:lnSpc>
              <a:spcAft>
                <a:spcPts val="1050"/>
              </a:spcAft>
              <a:buNone/>
            </a:pP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5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endParaRPr lang="en-US" sz="2550" dirty="0"/>
          </a:p>
        </p:txBody>
      </p:sp>
      <p:sp>
        <p:nvSpPr>
          <p:cNvPr id="31" name="Text 29"/>
          <p:cNvSpPr/>
          <p:nvPr/>
        </p:nvSpPr>
        <p:spPr>
          <a:xfrm>
            <a:off x="9715500" y="1619250"/>
            <a:ext cx="1428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00" dirty="0" spc="-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800" dirty="0"/>
          </a:p>
        </p:txBody>
      </p:sp>
      <p:sp>
        <p:nvSpPr>
          <p:cNvPr id="32" name="Text 30"/>
          <p:cNvSpPr/>
          <p:nvPr/>
        </p:nvSpPr>
        <p:spPr>
          <a:xfrm>
            <a:off x="9715500" y="3943350"/>
            <a:ext cx="1428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00" dirty="0" spc="-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7800" dirty="0"/>
          </a:p>
        </p:txBody>
      </p:sp>
      <p:sp>
        <p:nvSpPr>
          <p:cNvPr id="33" name="Text 31"/>
          <p:cNvSpPr/>
          <p:nvPr/>
        </p:nvSpPr>
        <p:spPr>
          <a:xfrm>
            <a:off x="9715500" y="6267450"/>
            <a:ext cx="1428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800" dirty="0"/>
          </a:p>
        </p:txBody>
      </p:sp>
      <p:sp>
        <p:nvSpPr>
          <p:cNvPr id="34" name="Text 32"/>
          <p:cNvSpPr/>
          <p:nvPr/>
        </p:nvSpPr>
        <p:spPr>
          <a:xfrm>
            <a:off x="11334750" y="4476750"/>
            <a:ext cx="5429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RSA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Huffman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</a:t>
            </a:r>
            <a:endParaRPr lang="en-US" sz="22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bbeea890-eaec-48c2-a10e-80b74a35dc6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1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950" b="1" spc="18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950" b="1" spc="19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9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Xếp,</a:t>
            </a:r>
            <a:r>
              <a:rPr lang="en-US" sz="69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r>
              <a:rPr lang="en-US" sz="69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62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0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0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nhau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5245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ổn</a:t>
            </a:r>
            <a:r>
              <a:rPr lang="en-US" sz="225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2914650" y="55245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D: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5105400" y="552450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c: 0,39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68580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315200"/>
            <a:ext cx="6858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963150" y="2857500"/>
            <a:ext cx="209550" cy="342900"/>
          </a:xfrm>
          <a:prstGeom prst="roundRect">
            <a:avLst>
              <a:gd name="adj" fmla="val 27273"/>
            </a:avLst>
          </a:prstGeom>
          <a:solidFill>
            <a:srgbClr val="7C93F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67950" y="2571750"/>
            <a:ext cx="209550" cy="628650"/>
          </a:xfrm>
          <a:prstGeom prst="roundRect">
            <a:avLst>
              <a:gd name="adj" fmla="val 27273"/>
            </a:avLst>
          </a:prstGeom>
          <a:solidFill>
            <a:srgbClr val="7C93F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72750" y="2286000"/>
            <a:ext cx="209550" cy="914400"/>
          </a:xfrm>
          <a:prstGeom prst="roundRect">
            <a:avLst>
              <a:gd name="adj" fmla="val 27273"/>
            </a:avLst>
          </a:prstGeom>
          <a:solidFill>
            <a:srgbClr val="7C93F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877550" y="2000250"/>
            <a:ext cx="209550" cy="1200150"/>
          </a:xfrm>
          <a:prstGeom prst="roundRect">
            <a:avLst>
              <a:gd name="adj" fmla="val 27273"/>
            </a:avLst>
          </a:prstGeom>
          <a:solidFill>
            <a:srgbClr val="7C93F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82350" y="1714500"/>
            <a:ext cx="209550" cy="1485900"/>
          </a:xfrm>
          <a:prstGeom prst="roundRect">
            <a:avLst>
              <a:gd name="adj" fmla="val 27273"/>
            </a:avLst>
          </a:prstGeom>
          <a:solidFill>
            <a:srgbClr val="7C93FF"/>
          </a:solidFill>
          <a:ln/>
        </p:spPr>
      </p:sp>
      <p:sp>
        <p:nvSpPr>
          <p:cNvPr id="18" name="Connector line-1792338842697-535748775"/>
          <p:cNvSpPr/>
          <p:nvPr/>
        </p:nvSpPr>
        <p:spPr>
          <a:xfrm>
            <a:off x="9867900" y="3276600"/>
            <a:ext cx="1619250" cy="0"/>
          </a:xfrm>
          <a:prstGeom prst="line">
            <a:avLst/>
          </a:prstGeom>
          <a:noFill/>
          <a:ln w="28575">
            <a:solidFill>
              <a:srgbClr val="9AA0B5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1772900" y="1543050"/>
            <a:ext cx="5048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Sắp</a:t>
            </a:r>
            <a:r>
              <a:rPr lang="en-US" sz="285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endParaRPr lang="en-US" sz="2850" dirty="0"/>
          </a:p>
        </p:txBody>
      </p:sp>
      <p:sp>
        <p:nvSpPr>
          <p:cNvPr id="20" name="Text 18"/>
          <p:cNvSpPr/>
          <p:nvPr/>
        </p:nvSpPr>
        <p:spPr>
          <a:xfrm>
            <a:off x="11772900" y="2152650"/>
            <a:ext cx="5048250" cy="1333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100" dirty="0"/>
          </a:p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Python: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Timsort,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ổn</a:t>
            </a:r>
            <a:r>
              <a:rPr lang="en-US" sz="2100" dirty="0" spc="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mảng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số: Dual-Pivot Quicksort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525000" y="38100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2" name="Connector line-1792338842708-665968691"/>
          <p:cNvSpPr/>
          <p:nvPr/>
        </p:nvSpPr>
        <p:spPr>
          <a:xfrm flipV="1">
            <a:off x="10077450" y="5524500"/>
            <a:ext cx="1257300" cy="114300"/>
          </a:xfrm>
          <a:prstGeom prst="line">
            <a:avLst/>
          </a:prstGeom>
          <a:noFill/>
          <a:ln w="38100">
            <a:solidFill>
              <a:srgbClr val="5A6078"/>
            </a:solidFill>
            <a:prstDash val="solid"/>
            <a:headEnd type="none"/>
            <a:tailEnd type="none"/>
          </a:ln>
        </p:spPr>
      </p:sp>
      <p:sp>
        <p:nvSpPr>
          <p:cNvPr id="23" name="Connector line-1792338842708-396170879"/>
          <p:cNvSpPr/>
          <p:nvPr/>
        </p:nvSpPr>
        <p:spPr>
          <a:xfrm flipV="1">
            <a:off x="11334750" y="4476750"/>
            <a:ext cx="0" cy="1047750"/>
          </a:xfrm>
          <a:prstGeom prst="line">
            <a:avLst/>
          </a:prstGeom>
          <a:noFill/>
          <a:ln w="38100">
            <a:solidFill>
              <a:srgbClr val="5A6078"/>
            </a:solidFill>
            <a:prstDash val="solid"/>
            <a:headEnd type="none"/>
            <a:tailEnd type="none"/>
          </a:ln>
        </p:spPr>
      </p:sp>
      <p:sp>
        <p:nvSpPr>
          <p:cNvPr id="24" name="Connector line-1792338842709-445727793"/>
          <p:cNvSpPr/>
          <p:nvPr/>
        </p:nvSpPr>
        <p:spPr>
          <a:xfrm flipV="1">
            <a:off x="10077450" y="4857750"/>
            <a:ext cx="400050" cy="781050"/>
          </a:xfrm>
          <a:prstGeom prst="line">
            <a:avLst/>
          </a:prstGeom>
          <a:noFill/>
          <a:ln w="666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25" name="Connector line-1792338842709-281077064"/>
          <p:cNvSpPr/>
          <p:nvPr/>
        </p:nvSpPr>
        <p:spPr>
          <a:xfrm flipV="1">
            <a:off x="10477500" y="4476750"/>
            <a:ext cx="857250" cy="381000"/>
          </a:xfrm>
          <a:prstGeom prst="line">
            <a:avLst/>
          </a:prstGeom>
          <a:noFill/>
          <a:ln w="666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886950" y="5448300"/>
            <a:ext cx="381000" cy="381000"/>
          </a:xfrm>
          <a:prstGeom prst="ellipse">
            <a:avLst/>
          </a:prstGeom>
          <a:solidFill>
            <a:srgbClr val="7C93FF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306050" y="4686300"/>
            <a:ext cx="342900" cy="3429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7C93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163300" y="5353050"/>
            <a:ext cx="342900" cy="3429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5A607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144250" y="4286250"/>
            <a:ext cx="381000" cy="381000"/>
          </a:xfrm>
          <a:prstGeom prst="ellipse">
            <a:avLst/>
          </a:prstGeom>
          <a:solidFill>
            <a:srgbClr val="7C93FF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772900" y="4057650"/>
            <a:ext cx="5048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 toán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Dijkstra</a:t>
            </a:r>
            <a:endParaRPr lang="en-US" sz="2850" dirty="0"/>
          </a:p>
        </p:txBody>
      </p:sp>
      <p:sp>
        <p:nvSpPr>
          <p:cNvPr id="31" name="Text 29"/>
          <p:cNvSpPr/>
          <p:nvPr/>
        </p:nvSpPr>
        <p:spPr>
          <a:xfrm>
            <a:off x="11772900" y="4667250"/>
            <a:ext cx="5048250" cy="1333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C, B,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4, không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2100" dirty="0"/>
          </a:p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NetworkX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100" dirty="0"/>
          </a:p>
          <a:p>
            <a:pPr algn="l" indent="0" marL="0">
              <a:lnSpc>
                <a:spcPts val="2835"/>
              </a:lnSpc>
              <a:buNone/>
            </a:pPr>
            <a:r>
              <a:rPr lang="en-US" sz="21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Phương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Dijkstra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9525000" y="63246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33" name="Connector line-1792338842720-853984050"/>
          <p:cNvSpPr/>
          <p:nvPr/>
        </p:nvSpPr>
        <p:spPr>
          <a:xfrm>
            <a:off x="10189845" y="6911340"/>
            <a:ext cx="217170" cy="253365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34" name="Connector line-1792338842720-714246687"/>
          <p:cNvSpPr/>
          <p:nvPr/>
        </p:nvSpPr>
        <p:spPr>
          <a:xfrm flipH="1">
            <a:off x="10938510" y="6908483"/>
            <a:ext cx="241935" cy="263842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35" name="Connector line-1792338842720-977418373"/>
          <p:cNvSpPr/>
          <p:nvPr/>
        </p:nvSpPr>
        <p:spPr>
          <a:xfrm flipV="1">
            <a:off x="10136505" y="7761922"/>
            <a:ext cx="260985" cy="284798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36" name="Connector line-1792338842720-591580493"/>
          <p:cNvSpPr/>
          <p:nvPr/>
        </p:nvSpPr>
        <p:spPr>
          <a:xfrm flipH="1" flipV="1">
            <a:off x="10947082" y="7754303"/>
            <a:ext cx="286703" cy="295275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10344150" y="7143750"/>
            <a:ext cx="647700" cy="647700"/>
          </a:xfrm>
          <a:prstGeom prst="ellipse">
            <a:avLst/>
          </a:prstGeom>
          <a:solidFill>
            <a:srgbClr val="7C93FF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925050" y="6629400"/>
            <a:ext cx="304800" cy="3048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144250" y="6629400"/>
            <a:ext cx="304800" cy="3048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867900" y="8020050"/>
            <a:ext cx="304800" cy="3048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1201400" y="8020050"/>
            <a:ext cx="304800" cy="3048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772900" y="6572250"/>
            <a:ext cx="5048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850" b="1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2850" dirty="0"/>
          </a:p>
        </p:txBody>
      </p:sp>
      <p:sp>
        <p:nvSpPr>
          <p:cNvPr id="43" name="Text 41"/>
          <p:cNvSpPr/>
          <p:nvPr/>
        </p:nvSpPr>
        <p:spPr>
          <a:xfrm>
            <a:off x="11772900" y="7181850"/>
            <a:ext cx="5048250" cy="1333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trang: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0,39</a:t>
            </a:r>
            <a:endParaRPr lang="en-US" sz="2100" dirty="0"/>
          </a:p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-4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100" dirty="0" spc="-2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tới: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0,04</a:t>
            </a:r>
            <a:endParaRPr lang="en-US" sz="2100" dirty="0"/>
          </a:p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NetworkX:</a:t>
            </a:r>
            <a:r>
              <a:rPr lang="en-US" sz="2100" dirty="0" spc="-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PageRank</a:t>
            </a:r>
            <a:endParaRPr lang="en-US" sz="2100" dirty="0"/>
          </a:p>
        </p:txBody>
      </p:sp>
      <p:sp>
        <p:nvSpPr>
          <p:cNvPr id="44" name="Shape 4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54" name="Text 52"/>
          <p:cNvSpPr/>
          <p:nvPr/>
        </p:nvSpPr>
        <p:spPr>
          <a:xfrm>
            <a:off x="914400" y="42481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tự,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đường,</a:t>
            </a: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 nút.</a:t>
            </a:r>
            <a:endParaRPr lang="en-US" sz="270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d24983b2-b009-4a9f-8f9f-14b86350071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7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1950" b="1" spc="23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17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r>
              <a:rPr lang="en-US" sz="1950" b="1" spc="21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(1/2)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4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RSA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tích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thừa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62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000" b="1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tên,</a:t>
            </a:r>
            <a:r>
              <a:rPr lang="en-US" sz="3000" b="1" dirty="0" spc="-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3000" b="1" dirty="0" spc="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300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2481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3233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61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×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53.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5717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65 → 2790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676650" y="5524500"/>
            <a:ext cx="34290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2790 → 65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8580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315200"/>
            <a:ext cx="6858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không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chút nào.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3524250"/>
          </a:xfrm>
          <a:prstGeom prst="roundRect">
            <a:avLst>
              <a:gd name="adj" fmla="val 6486"/>
            </a:avLst>
          </a:prstGeom>
          <a:solidFill>
            <a:srgbClr val="F3DFB8"/>
          </a:solidFill>
          <a:ln/>
        </p:spPr>
      </p:sp>
      <p:sp>
        <p:nvSpPr>
          <p:cNvPr id="13" name="Text 11"/>
          <p:cNvSpPr/>
          <p:nvPr/>
        </p:nvSpPr>
        <p:spPr>
          <a:xfrm>
            <a:off x="9810750" y="1504950"/>
            <a:ext cx="6896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3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RSA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9810750" y="2286000"/>
            <a:ext cx="314325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mũ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22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2753</a:t>
            </a:r>
            <a:endParaRPr lang="en-US" sz="2250" dirty="0"/>
          </a:p>
        </p:txBody>
      </p:sp>
      <p:sp>
        <p:nvSpPr>
          <p:cNvPr id="15" name="Connector line-1792339096788-72794838"/>
          <p:cNvSpPr/>
          <p:nvPr/>
        </p:nvSpPr>
        <p:spPr>
          <a:xfrm>
            <a:off x="13068300" y="3000375"/>
            <a:ext cx="5524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3735050" y="2286000"/>
            <a:ext cx="297180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65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2790,</a:t>
            </a:r>
            <a:r>
              <a:rPr lang="en-US" sz="22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65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810750" y="3905250"/>
            <a:ext cx="689610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Java:</a:t>
            </a:r>
            <a:r>
              <a:rPr lang="en-US" sz="21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RSAKeyGenParameterSpec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</a:t>
            </a: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thước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mũ công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525000" y="5048250"/>
            <a:ext cx="7467600" cy="3524250"/>
          </a:xfrm>
          <a:prstGeom prst="roundRect">
            <a:avLst>
              <a:gd name="adj" fmla="val 6486"/>
            </a:avLst>
          </a:prstGeom>
          <a:solidFill>
            <a:srgbClr val="F3DFB8"/>
          </a:solidFill>
          <a:ln/>
        </p:spPr>
      </p:sp>
      <p:sp>
        <p:nvSpPr>
          <p:cNvPr id="19" name="Text 17"/>
          <p:cNvSpPr/>
          <p:nvPr/>
        </p:nvSpPr>
        <p:spPr>
          <a:xfrm>
            <a:off x="9810750" y="5257800"/>
            <a:ext cx="6896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Phân</a:t>
            </a:r>
            <a:r>
              <a:rPr lang="en-US" sz="39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tích</a:t>
            </a:r>
            <a:r>
              <a:rPr lang="en-US" sz="3900" dirty="0" spc="-2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thừa</a:t>
            </a:r>
            <a:r>
              <a:rPr lang="en-US" sz="39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 nguyên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9810750" y="603885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3233</a:t>
            </a:r>
            <a:endParaRPr lang="en-US" sz="2100" dirty="0"/>
          </a:p>
        </p:txBody>
      </p:sp>
      <p:sp>
        <p:nvSpPr>
          <p:cNvPr id="21" name="Connector line-1792339096806-870672998"/>
          <p:cNvSpPr/>
          <p:nvPr/>
        </p:nvSpPr>
        <p:spPr>
          <a:xfrm>
            <a:off x="11868150" y="6753225"/>
            <a:ext cx="333375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2258675" y="603885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factorint(n)</a:t>
            </a:r>
            <a:endParaRPr lang="en-US" sz="1950" dirty="0"/>
          </a:p>
        </p:txBody>
      </p:sp>
      <p:sp>
        <p:nvSpPr>
          <p:cNvPr id="23" name="Connector line-1792339096809-849811239"/>
          <p:cNvSpPr/>
          <p:nvPr/>
        </p:nvSpPr>
        <p:spPr>
          <a:xfrm>
            <a:off x="14316075" y="6753225"/>
            <a:ext cx="333375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4706600" y="603885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{53: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61: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1}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810750" y="7658100"/>
            <a:ext cx="689610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SymPy:</a:t>
            </a: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factorint</a:t>
            </a:r>
            <a:r>
              <a:rPr lang="en-US" sz="21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lặp.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d08a6c31-2680-4761-90fa-20ffee24f4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7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1950" b="1" spc="23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17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r>
              <a:rPr lang="en-US" sz="1950" b="1" spc="21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(2/2)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Huffman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băm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62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b="1" dirty="0" spc="-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r>
              <a:rPr lang="en-US" sz="3000" b="1" dirty="0" spc="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300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2481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Huffman: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88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 thành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bit.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SHA-256: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64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lục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23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95650" y="55245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SHA-256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68580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315200"/>
            <a:ext cx="6858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 băm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 thành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 cố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lgDash"/>
          </a:ln>
        </p:spPr>
      </p:sp>
      <p:sp>
        <p:nvSpPr>
          <p:cNvPr id="13" name="Text 11"/>
          <p:cNvSpPr/>
          <p:nvPr/>
        </p:nvSpPr>
        <p:spPr>
          <a:xfrm>
            <a:off x="9810750" y="152400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39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Huffman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14801850" y="1619250"/>
            <a:ext cx="1905000" cy="457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18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525000" y="3810000"/>
            <a:ext cx="7467600" cy="4762500"/>
          </a:xfrm>
          <a:prstGeom prst="roundRect">
            <a:avLst>
              <a:gd name="adj" fmla="val 48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10750" y="4019550"/>
            <a:ext cx="6896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Họ</a:t>
            </a:r>
            <a:r>
              <a:rPr lang="en-US" sz="39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băm</a:t>
            </a:r>
            <a:r>
              <a:rPr lang="en-US" sz="39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9810750" y="480060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</a:t>
            </a:r>
            <a:endParaRPr lang="en-US" sz="2100" dirty="0"/>
          </a:p>
        </p:txBody>
      </p:sp>
      <p:sp>
        <p:nvSpPr>
          <p:cNvPr id="18" name="Connector line-1792339126408-239396269"/>
          <p:cNvSpPr/>
          <p:nvPr/>
        </p:nvSpPr>
        <p:spPr>
          <a:xfrm>
            <a:off x="11868150" y="5514975"/>
            <a:ext cx="3333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2258675" y="480060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Băm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SHA-256</a:t>
            </a:r>
            <a:endParaRPr lang="en-US" sz="2250" dirty="0"/>
          </a:p>
        </p:txBody>
      </p:sp>
      <p:sp>
        <p:nvSpPr>
          <p:cNvPr id="20" name="Connector line-1792339126410-597188339"/>
          <p:cNvSpPr/>
          <p:nvPr/>
        </p:nvSpPr>
        <p:spPr>
          <a:xfrm>
            <a:off x="14316075" y="5514975"/>
            <a:ext cx="3333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14706600" y="480060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64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hex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810750" y="6686550"/>
            <a:ext cx="689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(hashlib)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1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trợ: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810750" y="7162800"/>
            <a:ext cx="18097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SHA-224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1772900" y="7162800"/>
            <a:ext cx="18097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SHA-256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3735050" y="7162800"/>
            <a:ext cx="18097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SHA-384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9810750" y="7829550"/>
            <a:ext cx="18097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SHA-512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11772900" y="7829550"/>
            <a:ext cx="23812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SHA-3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9810750" y="2400300"/>
            <a:ext cx="68961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 100,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101,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110,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111.</a:t>
            </a:r>
            <a:endParaRPr lang="en-US" sz="24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4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abracadabra: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r>
              <a:rPr lang="en-US" sz="24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88.</a:t>
            </a:r>
            <a:endParaRPr lang="en-US" sz="24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f15441e8-bfe7-4fae-a89c-9e5479b295e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19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Học</a:t>
            </a:r>
            <a:r>
              <a:rPr lang="en-US" sz="84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1940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Transformer</a:t>
            </a:r>
            <a:r>
              <a:rPr lang="en-US" sz="3300" b="1" dirty="0" spc="-3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CNN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600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 chỉ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PyTorch,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PyTorch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914650" y="4953000"/>
            <a:ext cx="25717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Transformer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676900" y="49530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Conv2d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28650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CFE8E2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657225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5400" y="7029450"/>
            <a:ext cx="6858000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Conv2d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CNN: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25000" y="1295400"/>
            <a:ext cx="7467600" cy="3524250"/>
          </a:xfrm>
          <a:prstGeom prst="roundRect">
            <a:avLst>
              <a:gd name="adj" fmla="val 6486"/>
            </a:avLst>
          </a:prstGeom>
          <a:solidFill>
            <a:srgbClr val="CFE8E2"/>
          </a:solidFill>
          <a:ln/>
        </p:spPr>
      </p:sp>
      <p:sp>
        <p:nvSpPr>
          <p:cNvPr id="14" name="Text 12"/>
          <p:cNvSpPr/>
          <p:nvPr/>
        </p:nvSpPr>
        <p:spPr>
          <a:xfrm>
            <a:off x="9810750" y="1543050"/>
            <a:ext cx="6896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Transformer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9810750" y="2286000"/>
            <a:ext cx="314325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Attention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</a:t>
            </a: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All</a:t>
            </a:r>
            <a:r>
              <a:rPr lang="en-US" sz="210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</a:t>
            </a:r>
            <a:r>
              <a:rPr lang="en-US" sz="21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Need</a:t>
            </a:r>
            <a:endParaRPr lang="en-US" sz="2100" dirty="0"/>
          </a:p>
        </p:txBody>
      </p:sp>
      <p:sp>
        <p:nvSpPr>
          <p:cNvPr id="16" name="Connector line-1792339174048-998782546"/>
          <p:cNvSpPr/>
          <p:nvPr/>
        </p:nvSpPr>
        <p:spPr>
          <a:xfrm>
            <a:off x="13068300" y="3000375"/>
            <a:ext cx="5524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13735050" y="2286000"/>
            <a:ext cx="2971800" cy="1428750"/>
          </a:xfrm>
          <a:prstGeom prst="roundRect">
            <a:avLst>
              <a:gd name="adj" fmla="val 13333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2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Transformer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b="1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PyTorch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810750" y="3905250"/>
            <a:ext cx="689610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chiếu: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1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1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ý,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525000" y="5048250"/>
            <a:ext cx="7467600" cy="3524250"/>
          </a:xfrm>
          <a:prstGeom prst="roundRect">
            <a:avLst>
              <a:gd name="adj" fmla="val 6486"/>
            </a:avLst>
          </a:prstGeom>
          <a:solidFill>
            <a:srgbClr val="CFE8E2"/>
          </a:solidFill>
          <a:ln/>
        </p:spPr>
      </p:sp>
      <p:sp>
        <p:nvSpPr>
          <p:cNvPr id="20" name="Text 18"/>
          <p:cNvSpPr/>
          <p:nvPr/>
        </p:nvSpPr>
        <p:spPr>
          <a:xfrm>
            <a:off x="9810750" y="5295900"/>
            <a:ext cx="6896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Mạng</a:t>
            </a:r>
            <a:r>
              <a:rPr lang="en-US" sz="3450" dirty="0" spc="-1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nơ-ron</a:t>
            </a:r>
            <a:r>
              <a:rPr lang="en-US" sz="345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tích</a:t>
            </a:r>
            <a:r>
              <a:rPr lang="en-US" sz="345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chập</a:t>
            </a:r>
            <a:r>
              <a:rPr lang="en-US" sz="3450" dirty="0" spc="-3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(CNN)</a:t>
            </a:r>
            <a:endParaRPr lang="en-US" sz="3450" dirty="0"/>
          </a:p>
        </p:txBody>
      </p:sp>
      <p:sp>
        <p:nvSpPr>
          <p:cNvPr id="21" name="Text 19"/>
          <p:cNvSpPr/>
          <p:nvPr/>
        </p:nvSpPr>
        <p:spPr>
          <a:xfrm>
            <a:off x="9810750" y="6038850"/>
            <a:ext cx="314325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1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mặt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phẳng</a:t>
            </a:r>
            <a:endParaRPr lang="en-US" sz="2100" dirty="0"/>
          </a:p>
        </p:txBody>
      </p:sp>
      <p:sp>
        <p:nvSpPr>
          <p:cNvPr id="22" name="Connector line-1792339174059-130653712"/>
          <p:cNvSpPr/>
          <p:nvPr/>
        </p:nvSpPr>
        <p:spPr>
          <a:xfrm>
            <a:off x="13068300" y="6753225"/>
            <a:ext cx="5524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13735050" y="6038850"/>
            <a:ext cx="2971800" cy="1428750"/>
          </a:xfrm>
          <a:prstGeom prst="roundRect">
            <a:avLst>
              <a:gd name="adj" fmla="val 13333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Conv2d: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2D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9810750" y="7658100"/>
            <a:ext cx="689610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Conv2d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2D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1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mặt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phẳng.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d1a73709-6920-4d4e-835c-fa2931cb2f8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 CHUNG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62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300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30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</a:t>
            </a:r>
            <a:r>
              <a:rPr lang="en-US" sz="3000" b="1" dirty="0" spc="-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0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0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00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2481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RSA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gì;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Huffman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tính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gán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05150" y="552450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68580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315200"/>
            <a:ext cx="6858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3143250"/>
          </a:xfrm>
          <a:prstGeom prst="roundRect">
            <a:avLst>
              <a:gd name="adj" fmla="val 7273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10750" y="150495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439400" y="152400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9810750" y="2247900"/>
            <a:ext cx="219075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RSA,</a:t>
            </a: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Huffman</a:t>
            </a:r>
            <a:endParaRPr lang="en-US" sz="2250" dirty="0"/>
          </a:p>
        </p:txBody>
      </p:sp>
      <p:sp>
        <p:nvSpPr>
          <p:cNvPr id="16" name="Connector line-1792339215002-946810445"/>
          <p:cNvSpPr/>
          <p:nvPr/>
        </p:nvSpPr>
        <p:spPr>
          <a:xfrm>
            <a:off x="12115800" y="2914650"/>
            <a:ext cx="55245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12782550" y="2247900"/>
            <a:ext cx="39243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9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19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810750" y="3771900"/>
            <a:ext cx="6896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PageRank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525000" y="4667250"/>
            <a:ext cx="7467600" cy="1866900"/>
          </a:xfrm>
          <a:prstGeom prst="roundRect">
            <a:avLst>
              <a:gd name="adj" fmla="val 12245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10750" y="48768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0439400" y="48958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 tả</a:t>
            </a:r>
            <a:r>
              <a:rPr lang="en-US" sz="27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viện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9810750" y="5543550"/>
            <a:ext cx="6896100" cy="8572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OpenJDK,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NetworkX,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SymPy,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PyTorch: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10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525000" y="676275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10750" y="69723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0439400" y="69913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đọc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9810750" y="7639050"/>
            <a:ext cx="6896100" cy="8572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-2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Transformer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CNN nào.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9b9a2b73-8931-4731-9740-63251320ee3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hình,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nút của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4762500"/>
            <a:ext cx="7620000" cy="4095750"/>
          </a:xfrm>
          <a:prstGeom prst="roundRect">
            <a:avLst>
              <a:gd name="adj" fmla="val 6512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50292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5791200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295400" y="6838950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295400" y="7886700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11811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525000" y="1676400"/>
            <a:ext cx="7467600" cy="2114550"/>
          </a:xfrm>
          <a:prstGeom prst="roundRect">
            <a:avLst>
              <a:gd name="adj" fmla="val 10811"/>
            </a:avLst>
          </a:prstGeom>
          <a:solidFill>
            <a:srgbClr val="DDE3FA"/>
          </a:solidFill>
          <a:ln/>
        </p:spPr>
      </p:sp>
      <p:sp>
        <p:nvSpPr>
          <p:cNvPr id="13" name="Text 11"/>
          <p:cNvSpPr/>
          <p:nvPr/>
        </p:nvSpPr>
        <p:spPr>
          <a:xfrm>
            <a:off x="9810750" y="19431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0668000" y="1905000"/>
            <a:ext cx="60960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3300" dirty="0" spc="-1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3300" dirty="0" spc="-1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Dijkstra</a:t>
            </a:r>
            <a:endParaRPr lang="en-US" sz="3300" dirty="0"/>
          </a:p>
        </p:txBody>
      </p:sp>
      <p:sp>
        <p:nvSpPr>
          <p:cNvPr id="15" name="Shape 13"/>
          <p:cNvSpPr/>
          <p:nvPr/>
        </p:nvSpPr>
        <p:spPr>
          <a:xfrm>
            <a:off x="9525000" y="4000500"/>
            <a:ext cx="7467600" cy="2114550"/>
          </a:xfrm>
          <a:prstGeom prst="roundRect">
            <a:avLst>
              <a:gd name="adj" fmla="val 10811"/>
            </a:avLst>
          </a:prstGeom>
          <a:solidFill>
            <a:srgbClr val="DDE3FA"/>
          </a:solidFill>
          <a:ln/>
        </p:spPr>
      </p:sp>
      <p:sp>
        <p:nvSpPr>
          <p:cNvPr id="16" name="Text 14"/>
          <p:cNvSpPr/>
          <p:nvPr/>
        </p:nvSpPr>
        <p:spPr>
          <a:xfrm>
            <a:off x="9810750" y="42672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668000" y="4229100"/>
            <a:ext cx="60960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Phân</a:t>
            </a:r>
            <a:r>
              <a:rPr lang="en-US" sz="33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tích</a:t>
            </a:r>
            <a:r>
              <a:rPr lang="en-US" sz="3300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liên</a:t>
            </a:r>
            <a:r>
              <a:rPr lang="en-US" sz="3300" dirty="0" spc="-2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10668000" y="4914900"/>
            <a:ext cx="6096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PageRank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liên</a:t>
            </a:r>
            <a:r>
              <a:rPr lang="en-US" sz="225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đến;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ban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525000" y="6324600"/>
            <a:ext cx="7467600" cy="2114550"/>
          </a:xfrm>
          <a:prstGeom prst="roundRect">
            <a:avLst>
              <a:gd name="adj" fmla="val 10811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9810750" y="65913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0668000" y="6553200"/>
            <a:ext cx="60960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Họ băm</a:t>
            </a:r>
            <a:r>
              <a:rPr lang="en-US" sz="33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</a:t>
            </a:r>
            <a:endParaRPr lang="en-US" sz="33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981200" y="5562600"/>
            <a:ext cx="6286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ctr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đó?</a:t>
            </a:r>
            <a:endParaRPr lang="en-US" sz="2550" dirty="0"/>
          </a:p>
        </p:txBody>
      </p:sp>
      <p:sp>
        <p:nvSpPr>
          <p:cNvPr id="33" name="Text 31"/>
          <p:cNvSpPr/>
          <p:nvPr/>
        </p:nvSpPr>
        <p:spPr>
          <a:xfrm>
            <a:off x="1981200" y="6610350"/>
            <a:ext cx="6286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ctr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đến?</a:t>
            </a:r>
            <a:endParaRPr lang="en-US" sz="2550" dirty="0"/>
          </a:p>
        </p:txBody>
      </p:sp>
      <p:sp>
        <p:nvSpPr>
          <p:cNvPr id="34" name="Text 32"/>
          <p:cNvSpPr/>
          <p:nvPr/>
        </p:nvSpPr>
        <p:spPr>
          <a:xfrm>
            <a:off x="1981200" y="7658100"/>
            <a:ext cx="6286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ctr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ngắn?</a:t>
            </a:r>
            <a:endParaRPr lang="en-US" sz="2550" dirty="0"/>
          </a:p>
        </p:txBody>
      </p:sp>
      <p:sp>
        <p:nvSpPr>
          <p:cNvPr id="35" name="Text 33"/>
          <p:cNvSpPr/>
          <p:nvPr/>
        </p:nvSpPr>
        <p:spPr>
          <a:xfrm>
            <a:off x="10668000" y="2590800"/>
            <a:ext cx="6096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5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nhất: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A,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B,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5.</a:t>
            </a:r>
            <a:endParaRPr lang="en-US" sz="2250" dirty="0"/>
          </a:p>
        </p:txBody>
      </p:sp>
      <p:sp>
        <p:nvSpPr>
          <p:cNvPr id="36" name="Text 34"/>
          <p:cNvSpPr/>
          <p:nvPr/>
        </p:nvSpPr>
        <p:spPr>
          <a:xfrm>
            <a:off x="10668000" y="7239000"/>
            <a:ext cx="6096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SHA-256 luôn</a:t>
            </a:r>
            <a:r>
              <a:rPr lang="en-US" sz="22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64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thập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lục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phân.</a:t>
            </a:r>
            <a:endParaRPr lang="en-US" sz="22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88423f2c-a16f-44ac-8634-0a0aae2b64c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3340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95400" y="30861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3147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spc="-5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RSA</a:t>
            </a:r>
            <a:endParaRPr lang="en-US" sz="8400" dirty="0"/>
          </a:p>
        </p:txBody>
      </p:sp>
      <p:sp>
        <p:nvSpPr>
          <p:cNvPr id="7" name="Text 5"/>
          <p:cNvSpPr/>
          <p:nvPr/>
        </p:nvSpPr>
        <p:spPr>
          <a:xfrm>
            <a:off x="1295400" y="4724400"/>
            <a:ext cx="457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Rivest-Shamir-Adleman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295400" y="521970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 khóa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khai,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6477000" y="2762250"/>
            <a:ext cx="53340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0" y="30861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0" y="33147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</a:t>
            </a:r>
            <a:endParaRPr lang="en-US" sz="8400" dirty="0"/>
          </a:p>
        </p:txBody>
      </p:sp>
      <p:sp>
        <p:nvSpPr>
          <p:cNvPr id="12" name="Text 10"/>
          <p:cNvSpPr/>
          <p:nvPr/>
        </p:nvSpPr>
        <p:spPr>
          <a:xfrm>
            <a:off x="6858000" y="4724400"/>
            <a:ext cx="457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Secure</a:t>
            </a: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858000" y="521970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22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băm: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2039600" y="2762250"/>
            <a:ext cx="53340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2420600" y="30861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6" name="Text 14"/>
          <p:cNvSpPr/>
          <p:nvPr/>
        </p:nvSpPr>
        <p:spPr>
          <a:xfrm>
            <a:off x="12420600" y="33147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CNN</a:t>
            </a:r>
            <a:endParaRPr lang="en-US" sz="8400" dirty="0"/>
          </a:p>
        </p:txBody>
      </p:sp>
      <p:sp>
        <p:nvSpPr>
          <p:cNvPr id="17" name="Text 15"/>
          <p:cNvSpPr/>
          <p:nvPr/>
        </p:nvSpPr>
        <p:spPr>
          <a:xfrm>
            <a:off x="12420600" y="4724400"/>
            <a:ext cx="457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Convolutional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Neural</a:t>
            </a:r>
            <a:r>
              <a:rPr lang="en-US" sz="21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420600" y="521970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2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nơ-ron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chập: dùng phép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chập,</a:t>
            </a:r>
            <a:r>
              <a:rPr lang="en-US" sz="22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14400" y="6648450"/>
            <a:ext cx="16459200" cy="2247900"/>
          </a:xfrm>
          <a:prstGeom prst="roundRect">
            <a:avLst>
              <a:gd name="adj" fmla="val 11864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5400" y="68580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1" name="Text richtext-1792339404790-254771987"/>
          <p:cNvSpPr/>
          <p:nvPr/>
        </p:nvSpPr>
        <p:spPr>
          <a:xfrm>
            <a:off x="1295400" y="7296150"/>
            <a:ext cx="15697200" cy="952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marL="266700" indent="-190541">
              <a:lnSpc>
                <a:spcPts val="283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100" dirty="0"/>
          </a:p>
          <a:p>
            <a:pPr algn="l" marL="266700" indent="-190541">
              <a:lnSpc>
                <a:spcPts val="2835"/>
              </a:lnSpc>
              <a:buSzPct val="100000"/>
              <a:buFont typeface="Arial"/>
              <a:buChar char="•"/>
            </a:pP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OpenJDK,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NetworkX,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SymPy,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zlib,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PyTorch: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295400" y="8382000"/>
            <a:ext cx="156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414ad5dd-cf75-4574-b3b3-be548b1baf3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2026-10-19T15:23:13Z</dcterms:created>
  <dcterms:modified xsi:type="dcterms:W3CDTF">2026-10-19T15:23:13Z</dcterms:modified>
</cp:coreProperties>
</file>